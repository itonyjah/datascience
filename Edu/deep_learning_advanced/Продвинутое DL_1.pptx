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6"/>
  </p:notesMasterIdLst>
  <p:sldIdLst>
    <p:sldId id="256" r:id="rId2"/>
    <p:sldId id="257" r:id="rId3"/>
    <p:sldId id="259" r:id="rId4"/>
    <p:sldId id="352" r:id="rId5"/>
    <p:sldId id="260" r:id="rId6"/>
    <p:sldId id="261" r:id="rId7"/>
    <p:sldId id="262" r:id="rId8"/>
    <p:sldId id="263" r:id="rId9"/>
    <p:sldId id="264" r:id="rId10"/>
    <p:sldId id="265" r:id="rId11"/>
    <p:sldId id="353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354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5" r:id="rId66"/>
    <p:sldId id="326" r:id="rId67"/>
    <p:sldId id="327" r:id="rId68"/>
    <p:sldId id="328" r:id="rId69"/>
    <p:sldId id="351" r:id="rId70"/>
    <p:sldId id="332" r:id="rId71"/>
    <p:sldId id="333" r:id="rId72"/>
    <p:sldId id="334" r:id="rId73"/>
    <p:sldId id="335" r:id="rId74"/>
    <p:sldId id="336" r:id="rId75"/>
    <p:sldId id="337" r:id="rId76"/>
    <p:sldId id="338" r:id="rId77"/>
    <p:sldId id="339" r:id="rId78"/>
    <p:sldId id="340" r:id="rId79"/>
    <p:sldId id="341" r:id="rId80"/>
    <p:sldId id="342" r:id="rId81"/>
    <p:sldId id="343" r:id="rId82"/>
    <p:sldId id="344" r:id="rId83"/>
    <p:sldId id="345" r:id="rId84"/>
    <p:sldId id="348" r:id="rId85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F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97" d="100"/>
          <a:sy n="197" d="100"/>
        </p:scale>
        <p:origin x="666" y="15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tableStyles" Target="tableStyles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2F868E8-7B4D-4175-B6E3-747984A2A10D}" type="datetimeFigureOut">
              <a:rPr lang="ru-RU" smtClean="0"/>
              <a:t>27.04.2026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161FAC-3E79-4B6E-82CB-AE9B3923A07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507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25317fca73c_0_3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25317fca73c_0_3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2954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528d50a88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528d50a88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627893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387984"/>
            <a:ext cx="575564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23482" y="0"/>
            <a:ext cx="2097049" cy="163707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 5">
  <p:cSld name="Титульный слайд 5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ctrTitle"/>
          </p:nvPr>
        </p:nvSpPr>
        <p:spPr>
          <a:xfrm>
            <a:off x="209425" y="180000"/>
            <a:ext cx="5614200" cy="20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4000"/>
              <a:buFont typeface="Montserrat"/>
              <a:buNone/>
              <a:defRPr sz="40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1" name="Google Shape;21;p4" descr="Название курса" title="Название курса"/>
          <p:cNvSpPr txBox="1">
            <a:spLocks noGrp="1"/>
          </p:cNvSpPr>
          <p:nvPr>
            <p:ph type="subTitle" idx="1"/>
          </p:nvPr>
        </p:nvSpPr>
        <p:spPr>
          <a:xfrm>
            <a:off x="229875" y="1811550"/>
            <a:ext cx="4911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400"/>
              <a:buFont typeface="Montserrat"/>
              <a:buNone/>
              <a:defRPr sz="24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28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2" name="Google Shape;22;p4" descr="Название курса" title="Название курса"/>
          <p:cNvSpPr txBox="1">
            <a:spLocks noGrp="1"/>
          </p:cNvSpPr>
          <p:nvPr>
            <p:ph type="subTitle" idx="2"/>
          </p:nvPr>
        </p:nvSpPr>
        <p:spPr>
          <a:xfrm>
            <a:off x="250325" y="4132675"/>
            <a:ext cx="4911300" cy="8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1800"/>
              <a:buFont typeface="Montserrat"/>
              <a:buNone/>
              <a:defRPr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pic>
        <p:nvPicPr>
          <p:cNvPr id="23" name="Google Shape;2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4451" y="298801"/>
            <a:ext cx="2709550" cy="3971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1605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пасибо 2">
  <p:cSld name="Спасибо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3"/>
          <p:cNvSpPr txBox="1">
            <a:spLocks noGrp="1"/>
          </p:cNvSpPr>
          <p:nvPr>
            <p:ph type="title"/>
          </p:nvPr>
        </p:nvSpPr>
        <p:spPr>
          <a:xfrm>
            <a:off x="209450" y="175725"/>
            <a:ext cx="6180000" cy="19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sz="40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4800"/>
              <a:buNone/>
              <a:defRPr sz="4800">
                <a:solidFill>
                  <a:srgbClr val="181818"/>
                </a:solidFill>
              </a:defRPr>
            </a:lvl9pPr>
          </a:lstStyle>
          <a:p>
            <a:endParaRPr/>
          </a:p>
        </p:txBody>
      </p:sp>
      <p:pic>
        <p:nvPicPr>
          <p:cNvPr id="194" name="Google Shape;19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01451" y="302401"/>
            <a:ext cx="2683775" cy="393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12903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387984"/>
            <a:ext cx="7121525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90621" y="1218345"/>
            <a:ext cx="5466715" cy="3390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+TGTG6GhUh5M0NTE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7" Type="http://schemas.openxmlformats.org/officeDocument/2006/relationships/image" Target="../media/image22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3" Type="http://schemas.openxmlformats.org/officeDocument/2006/relationships/image" Target="../media/image18.jpg"/><Relationship Id="rId7" Type="http://schemas.openxmlformats.org/officeDocument/2006/relationships/image" Target="../media/image25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3" Type="http://schemas.openxmlformats.org/officeDocument/2006/relationships/image" Target="../media/image18.jpg"/><Relationship Id="rId7" Type="http://schemas.openxmlformats.org/officeDocument/2006/relationships/image" Target="../media/image2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27.jpg"/><Relationship Id="rId4" Type="http://schemas.openxmlformats.org/officeDocument/2006/relationships/image" Target="../media/image19.png"/><Relationship Id="rId9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jpg"/><Relationship Id="rId3" Type="http://schemas.openxmlformats.org/officeDocument/2006/relationships/image" Target="../media/image18.jpg"/><Relationship Id="rId7" Type="http://schemas.openxmlformats.org/officeDocument/2006/relationships/image" Target="../media/image2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27.jpg"/><Relationship Id="rId4" Type="http://schemas.openxmlformats.org/officeDocument/2006/relationships/image" Target="../media/image19.png"/><Relationship Id="rId9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jpg"/><Relationship Id="rId3" Type="http://schemas.openxmlformats.org/officeDocument/2006/relationships/image" Target="../media/image31.jpg"/><Relationship Id="rId7" Type="http://schemas.openxmlformats.org/officeDocument/2006/relationships/image" Target="../media/image35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jpg"/><Relationship Id="rId5" Type="http://schemas.openxmlformats.org/officeDocument/2006/relationships/image" Target="../media/image33.jpg"/><Relationship Id="rId4" Type="http://schemas.openxmlformats.org/officeDocument/2006/relationships/image" Target="../media/image32.jp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jpg"/><Relationship Id="rId4" Type="http://schemas.openxmlformats.org/officeDocument/2006/relationships/image" Target="../media/image44.jp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jp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jp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jp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jp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jpg"/><Relationship Id="rId4" Type="http://schemas.openxmlformats.org/officeDocument/2006/relationships/image" Target="../media/image46.jp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hyperlink" Target="https://towardsdatascience.com/light-on-math-ml-intuitive-guide-to-understanding-glove-embeddings-b13b4f19c010" TargetMode="Externa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8"/>
          <p:cNvSpPr txBox="1">
            <a:spLocks noGrp="1"/>
          </p:cNvSpPr>
          <p:nvPr>
            <p:ph type="ctrTitle"/>
          </p:nvPr>
        </p:nvSpPr>
        <p:spPr>
          <a:xfrm>
            <a:off x="209424" y="180000"/>
            <a:ext cx="5967538" cy="20526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/>
          <a:p>
            <a:pPr>
              <a:buClr>
                <a:schemeClr val="dk1"/>
              </a:buClr>
              <a:buSzPts val="1100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Продвинутое </a:t>
            </a:r>
            <a:r>
              <a:rPr lang="en-US">
                <a:latin typeface="Verdana" panose="020B0604030504040204" pitchFamily="34" charset="0"/>
                <a:ea typeface="Verdana" panose="020B0604030504040204" pitchFamily="34" charset="0"/>
              </a:rPr>
              <a:t>DL</a:t>
            </a:r>
            <a:endParaRPr dirty="0">
              <a:solidFill>
                <a:srgbClr val="FEFAEE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Google Shape;326;p68">
            <a:extLst>
              <a:ext uri="{FF2B5EF4-FFF2-40B4-BE49-F238E27FC236}">
                <a16:creationId xmlns:a16="http://schemas.microsoft.com/office/drawing/2014/main" id="{EB927237-F683-4A70-9044-2467C97BE202}"/>
              </a:ext>
            </a:extLst>
          </p:cNvPr>
          <p:cNvSpPr txBox="1">
            <a:spLocks/>
          </p:cNvSpPr>
          <p:nvPr/>
        </p:nvSpPr>
        <p:spPr>
          <a:xfrm>
            <a:off x="152400" y="3782982"/>
            <a:ext cx="4911300" cy="1232905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228600" lvl="0" indent="-2286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400"/>
              <a:buFont typeface="Montserrat"/>
              <a:buNone/>
              <a:defRPr sz="3200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685800" lvl="1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143000" lvl="2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600200" lvl="3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057400" lvl="4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514600" lvl="5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2971800" lvl="6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429000" lvl="7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3886200" lvl="8" indent="-22860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AEE"/>
              </a:buClr>
              <a:buSzPts val="2800"/>
              <a:buFont typeface="Montserrat"/>
              <a:buNone/>
              <a:defRPr sz="3733" kern="1200">
                <a:solidFill>
                  <a:srgbClr val="FEFAEE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/>
            <a:r>
              <a:rPr lang="ru-RU" sz="1500" b="1" dirty="0">
                <a:latin typeface="Verdana" panose="020B0604030504040204" pitchFamily="34" charset="0"/>
                <a:ea typeface="Verdana" panose="020B0604030504040204" pitchFamily="34" charset="0"/>
              </a:rPr>
              <a:t>Некрасов Константин Олегович</a:t>
            </a:r>
          </a:p>
          <a:p>
            <a:pPr marL="0" indent="0"/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Директор по разработке </a:t>
            </a:r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</a:rPr>
              <a:t>ML-</a:t>
            </a:r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моделей  </a:t>
            </a:r>
          </a:p>
          <a:p>
            <a:pPr marL="0" indent="0"/>
            <a:r>
              <a:rPr lang="ru-RU" sz="1500" dirty="0">
                <a:latin typeface="Verdana" panose="020B0604030504040204" pitchFamily="34" charset="0"/>
                <a:ea typeface="Verdana" panose="020B0604030504040204" pitchFamily="34" charset="0"/>
              </a:rPr>
              <a:t>АО «Газпромбанк»</a:t>
            </a:r>
          </a:p>
          <a:p>
            <a:pPr marL="0" indent="0"/>
            <a:r>
              <a:rPr lang="en-US" sz="1500" dirty="0">
                <a:latin typeface="Verdana" panose="020B0604030504040204" pitchFamily="34" charset="0"/>
                <a:ea typeface="Verdan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t.me/</a:t>
            </a:r>
            <a:r>
              <a:rPr lang="en-US" sz="1500" dirty="0" err="1">
                <a:latin typeface="Verdana" panose="020B0604030504040204" pitchFamily="34" charset="0"/>
                <a:ea typeface="Verdan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algolab</a:t>
            </a:r>
            <a:endParaRPr lang="ru-RU" sz="15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8DDAEA7-D3EE-480A-BC7F-A3AC7A236D4D}"/>
              </a:ext>
            </a:extLst>
          </p:cNvPr>
          <p:cNvSpPr/>
          <p:nvPr/>
        </p:nvSpPr>
        <p:spPr>
          <a:xfrm>
            <a:off x="6027539" y="131780"/>
            <a:ext cx="1296590" cy="682608"/>
          </a:xfrm>
          <a:prstGeom prst="rect">
            <a:avLst/>
          </a:prstGeom>
          <a:solidFill>
            <a:srgbClr val="143091"/>
          </a:solidFill>
          <a:ln>
            <a:solidFill>
              <a:srgbClr val="1430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1692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25" dirty="0"/>
              <a:t>План</a:t>
            </a:r>
            <a:r>
              <a:rPr sz="2700" spc="160" dirty="0"/>
              <a:t> </a:t>
            </a:r>
            <a:r>
              <a:rPr sz="2700" spc="-10" dirty="0"/>
              <a:t>лекции</a:t>
            </a:r>
            <a:endParaRPr sz="270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90621" y="1218345"/>
            <a:ext cx="5466715" cy="34272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  <a:tabLst>
                <a:tab pos="363855" algn="l"/>
              </a:tabLst>
            </a:pPr>
            <a:r>
              <a:rPr lang="ru-RU" dirty="0"/>
              <a:t>1. </a:t>
            </a:r>
            <a:r>
              <a:rPr dirty="0" err="1"/>
              <a:t>Задачи</a:t>
            </a:r>
            <a:r>
              <a:rPr spc="125" dirty="0"/>
              <a:t> </a:t>
            </a:r>
            <a:r>
              <a:rPr dirty="0"/>
              <a:t>обработки</a:t>
            </a:r>
            <a:r>
              <a:rPr spc="125" dirty="0"/>
              <a:t> </a:t>
            </a:r>
            <a:r>
              <a:rPr dirty="0" err="1"/>
              <a:t>естественного</a:t>
            </a:r>
            <a:r>
              <a:rPr spc="125" dirty="0"/>
              <a:t> </a:t>
            </a:r>
            <a:r>
              <a:rPr dirty="0" err="1"/>
              <a:t>языка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290"/>
              </a:spcBef>
              <a:tabLst>
                <a:tab pos="363855" algn="l"/>
              </a:tabLst>
            </a:pPr>
            <a:r>
              <a:rPr lang="ru-RU" dirty="0"/>
              <a:t>2. </a:t>
            </a:r>
            <a:r>
              <a:rPr dirty="0" err="1"/>
              <a:t>Векторные</a:t>
            </a:r>
            <a:r>
              <a:rPr spc="195" dirty="0"/>
              <a:t> </a:t>
            </a:r>
            <a:r>
              <a:rPr dirty="0"/>
              <a:t>представления</a:t>
            </a:r>
            <a:r>
              <a:rPr spc="195" dirty="0"/>
              <a:t> </a:t>
            </a:r>
            <a:r>
              <a:rPr spc="-20" dirty="0"/>
              <a:t>слов</a:t>
            </a:r>
          </a:p>
          <a:p>
            <a:pPr marL="821055" lvl="1" indent="-351790">
              <a:lnSpc>
                <a:spcPct val="100000"/>
              </a:lnSpc>
              <a:spcBef>
                <a:spcPts val="290"/>
              </a:spcBef>
              <a:buFont typeface="Tahoma"/>
              <a:buChar char="○"/>
              <a:tabLst>
                <a:tab pos="821055" algn="l"/>
              </a:tabLst>
            </a:pPr>
            <a:r>
              <a:rPr sz="1600" spc="114" dirty="0">
                <a:latin typeface="Calibri"/>
                <a:cs typeface="Calibri"/>
              </a:rPr>
              <a:t>BOW</a:t>
            </a:r>
            <a:endParaRPr sz="1600" dirty="0">
              <a:latin typeface="Calibri"/>
              <a:cs typeface="Calibri"/>
            </a:endParaRPr>
          </a:p>
          <a:p>
            <a:pPr marL="821055" lvl="1" indent="-351790">
              <a:lnSpc>
                <a:spcPct val="100000"/>
              </a:lnSpc>
              <a:spcBef>
                <a:spcPts val="285"/>
              </a:spcBef>
              <a:buFont typeface="Tahoma"/>
              <a:buChar char="○"/>
              <a:tabLst>
                <a:tab pos="821055" algn="l"/>
              </a:tabLst>
            </a:pPr>
            <a:r>
              <a:rPr sz="1600" spc="105" dirty="0">
                <a:latin typeface="Calibri"/>
                <a:cs typeface="Calibri"/>
              </a:rPr>
              <a:t>Tf-</a:t>
            </a:r>
            <a:r>
              <a:rPr sz="1600" spc="75" dirty="0">
                <a:latin typeface="Calibri"/>
                <a:cs typeface="Calibri"/>
              </a:rPr>
              <a:t>idf</a:t>
            </a:r>
            <a:endParaRPr sz="1600" dirty="0">
              <a:latin typeface="Calibri"/>
              <a:cs typeface="Calibri"/>
            </a:endParaRPr>
          </a:p>
          <a:p>
            <a:pPr marL="821055" lvl="1" indent="-351790">
              <a:lnSpc>
                <a:spcPct val="100000"/>
              </a:lnSpc>
              <a:spcBef>
                <a:spcPts val="290"/>
              </a:spcBef>
              <a:buFont typeface="Tahoma"/>
              <a:buChar char="○"/>
              <a:tabLst>
                <a:tab pos="821055" algn="l"/>
              </a:tabLst>
            </a:pPr>
            <a:r>
              <a:rPr sz="1600" spc="275" dirty="0">
                <a:latin typeface="Calibri"/>
                <a:cs typeface="Calibri"/>
              </a:rPr>
              <a:t>LSA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  <a:tabLst>
                <a:tab pos="363855" algn="l"/>
              </a:tabLst>
            </a:pPr>
            <a:r>
              <a:rPr lang="ru-RU" spc="-10" dirty="0"/>
              <a:t>3. </a:t>
            </a:r>
            <a:r>
              <a:rPr spc="-10" dirty="0" err="1"/>
              <a:t>Эмбеддинги</a:t>
            </a:r>
            <a:r>
              <a:rPr spc="-75" dirty="0"/>
              <a:t> </a:t>
            </a:r>
            <a:r>
              <a:rPr spc="-20" dirty="0"/>
              <a:t>слов:</a:t>
            </a:r>
          </a:p>
          <a:p>
            <a:pPr marL="821055" lvl="1" indent="-351790">
              <a:lnSpc>
                <a:spcPct val="100000"/>
              </a:lnSpc>
              <a:spcBef>
                <a:spcPts val="290"/>
              </a:spcBef>
              <a:buFont typeface="Tahoma"/>
              <a:buChar char="○"/>
              <a:tabLst>
                <a:tab pos="821055" algn="l"/>
              </a:tabLst>
            </a:pPr>
            <a:r>
              <a:rPr sz="1600" dirty="0">
                <a:latin typeface="Calibri"/>
                <a:cs typeface="Calibri"/>
              </a:rPr>
              <a:t>Контекстные</a:t>
            </a:r>
            <a:r>
              <a:rPr sz="1600" spc="70" dirty="0">
                <a:latin typeface="Calibri"/>
                <a:cs typeface="Calibri"/>
              </a:rPr>
              <a:t>  </a:t>
            </a:r>
            <a:r>
              <a:rPr sz="1600" spc="-10" dirty="0">
                <a:latin typeface="Calibri"/>
                <a:cs typeface="Calibri"/>
              </a:rPr>
              <a:t>эмбеддинги</a:t>
            </a:r>
            <a:endParaRPr sz="1600" dirty="0">
              <a:latin typeface="Calibri"/>
              <a:cs typeface="Calibri"/>
            </a:endParaRPr>
          </a:p>
          <a:p>
            <a:pPr marL="821055" lvl="1" indent="-351790">
              <a:lnSpc>
                <a:spcPct val="100000"/>
              </a:lnSpc>
              <a:spcBef>
                <a:spcPts val="285"/>
              </a:spcBef>
              <a:buFont typeface="Tahoma"/>
              <a:buChar char="○"/>
              <a:tabLst>
                <a:tab pos="821055" algn="l"/>
              </a:tabLst>
            </a:pPr>
            <a:r>
              <a:rPr sz="1600" spc="35" dirty="0">
                <a:latin typeface="Calibri"/>
                <a:cs typeface="Calibri"/>
              </a:rPr>
              <a:t>Word2Vec</a:t>
            </a:r>
            <a:endParaRPr sz="1600" dirty="0">
              <a:latin typeface="Calibri"/>
              <a:cs typeface="Calibri"/>
            </a:endParaRPr>
          </a:p>
          <a:p>
            <a:pPr marL="821055" lvl="1" indent="-351790">
              <a:lnSpc>
                <a:spcPct val="100000"/>
              </a:lnSpc>
              <a:spcBef>
                <a:spcPts val="290"/>
              </a:spcBef>
              <a:buFont typeface="Tahoma"/>
              <a:buChar char="○"/>
              <a:tabLst>
                <a:tab pos="821055" algn="l"/>
              </a:tabLst>
            </a:pPr>
            <a:r>
              <a:rPr sz="1600" dirty="0">
                <a:latin typeface="Calibri"/>
                <a:cs typeface="Calibri"/>
              </a:rPr>
              <a:t>GloVe,</a:t>
            </a:r>
            <a:r>
              <a:rPr sz="1600" spc="365" dirty="0">
                <a:latin typeface="Calibri"/>
                <a:cs typeface="Calibri"/>
              </a:rPr>
              <a:t> </a:t>
            </a:r>
            <a:r>
              <a:rPr sz="1600" spc="75" dirty="0">
                <a:latin typeface="Calibri"/>
                <a:cs typeface="Calibri"/>
              </a:rPr>
              <a:t>FastText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  <a:tabLst>
                <a:tab pos="363855" algn="l"/>
              </a:tabLst>
            </a:pPr>
            <a:r>
              <a:rPr lang="ru-RU" spc="-10" dirty="0"/>
              <a:t>4. </a:t>
            </a:r>
            <a:r>
              <a:rPr spc="-10" dirty="0" err="1"/>
              <a:t>Эмбеддинги</a:t>
            </a:r>
            <a:r>
              <a:rPr spc="60" dirty="0"/>
              <a:t> </a:t>
            </a:r>
            <a:r>
              <a:rPr dirty="0"/>
              <a:t>фраз</a:t>
            </a:r>
            <a:r>
              <a:rPr spc="65" dirty="0"/>
              <a:t> </a:t>
            </a:r>
            <a:r>
              <a:rPr dirty="0"/>
              <a:t>и</a:t>
            </a:r>
            <a:r>
              <a:rPr spc="60" dirty="0"/>
              <a:t> </a:t>
            </a:r>
            <a:r>
              <a:rPr spc="-10" dirty="0" err="1"/>
              <a:t>предложений</a:t>
            </a:r>
            <a:endParaRPr lang="ru-RU" spc="-10" dirty="0"/>
          </a:p>
          <a:p>
            <a:pPr marL="12700">
              <a:lnSpc>
                <a:spcPct val="100000"/>
              </a:lnSpc>
              <a:spcBef>
                <a:spcPts val="290"/>
              </a:spcBef>
              <a:tabLst>
                <a:tab pos="363855" algn="l"/>
              </a:tabLst>
            </a:pPr>
            <a:r>
              <a:rPr dirty="0" err="1"/>
              <a:t>Использование</a:t>
            </a:r>
            <a:r>
              <a:rPr spc="190" dirty="0"/>
              <a:t> </a:t>
            </a:r>
            <a:r>
              <a:rPr spc="-10" dirty="0" err="1"/>
              <a:t>эмбеддингов</a:t>
            </a:r>
            <a:endParaRPr lang="ru-RU" spc="-10" dirty="0"/>
          </a:p>
          <a:p>
            <a:pPr marL="12700">
              <a:lnSpc>
                <a:spcPct val="100000"/>
              </a:lnSpc>
              <a:spcBef>
                <a:spcPts val="290"/>
              </a:spcBef>
              <a:tabLst>
                <a:tab pos="363855" algn="l"/>
              </a:tabLst>
            </a:pPr>
            <a:r>
              <a:rPr dirty="0" err="1"/>
              <a:t>Понятие</a:t>
            </a:r>
            <a:r>
              <a:rPr spc="114" dirty="0"/>
              <a:t> </a:t>
            </a:r>
            <a:r>
              <a:rPr spc="-30" dirty="0"/>
              <a:t>эмбеддинга</a:t>
            </a:r>
            <a:r>
              <a:rPr spc="120" dirty="0"/>
              <a:t> </a:t>
            </a:r>
            <a:r>
              <a:rPr dirty="0"/>
              <a:t>в</a:t>
            </a:r>
            <a:r>
              <a:rPr spc="120" dirty="0"/>
              <a:t> </a:t>
            </a:r>
            <a:r>
              <a:rPr spc="-45" dirty="0"/>
              <a:t>общем</a:t>
            </a:r>
            <a:r>
              <a:rPr spc="114" dirty="0"/>
              <a:t> </a:t>
            </a:r>
            <a:r>
              <a:rPr spc="-20" dirty="0"/>
              <a:t>виде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536F7643-F9BD-4013-8236-411223537BC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object 3">
            <a:extLst>
              <a:ext uri="{FF2B5EF4-FFF2-40B4-BE49-F238E27FC236}">
                <a16:creationId xmlns:a16="http://schemas.microsoft.com/office/drawing/2014/main" id="{8F5A582D-E9FA-4B0F-88E9-2D1DAF5DA2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82333" y="2300626"/>
            <a:ext cx="6428192" cy="124463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07312" marR="5080" indent="-95248" algn="ctr">
              <a:lnSpc>
                <a:spcPct val="114999"/>
              </a:lnSpc>
              <a:spcBef>
                <a:spcPts val="100"/>
              </a:spcBef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1. Задачи обработки естественного языка</a:t>
            </a:r>
            <a:b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Обработка</a:t>
            </a:r>
            <a:r>
              <a:rPr spc="305" dirty="0"/>
              <a:t> </a:t>
            </a:r>
            <a:r>
              <a:rPr dirty="0"/>
              <a:t>естественного</a:t>
            </a:r>
            <a:r>
              <a:rPr spc="305" dirty="0"/>
              <a:t> </a:t>
            </a:r>
            <a:r>
              <a:rPr spc="-10" dirty="0"/>
              <a:t>языка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8345"/>
            <a:ext cx="4817745" cy="198882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dirty="0">
                <a:latin typeface="Calibri"/>
                <a:cs typeface="Calibri"/>
              </a:rPr>
              <a:t>Обработка</a:t>
            </a:r>
            <a:r>
              <a:rPr sz="1600" spc="1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естественного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языка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14999"/>
              </a:lnSpc>
            </a:pPr>
            <a:r>
              <a:rPr sz="1600" spc="65" dirty="0">
                <a:latin typeface="Calibri"/>
                <a:cs typeface="Calibri"/>
              </a:rPr>
              <a:t>(Natural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spc="75" dirty="0">
                <a:latin typeface="Calibri"/>
                <a:cs typeface="Calibri"/>
              </a:rPr>
              <a:t>Language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spc="50" dirty="0">
                <a:latin typeface="Calibri"/>
                <a:cs typeface="Calibri"/>
              </a:rPr>
              <a:t>Processing,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spc="229" dirty="0">
                <a:latin typeface="Calibri"/>
                <a:cs typeface="Calibri"/>
              </a:rPr>
              <a:t>NLP)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включает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себя </a:t>
            </a:r>
            <a:r>
              <a:rPr sz="1600" dirty="0">
                <a:latin typeface="Calibri"/>
                <a:cs typeface="Calibri"/>
              </a:rPr>
              <a:t>задачи,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связанные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текстами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на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естественном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языке.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600">
              <a:latin typeface="Calibri"/>
              <a:cs typeface="Calibri"/>
            </a:endParaRPr>
          </a:p>
          <a:p>
            <a:pPr marL="12700" marR="550545">
              <a:lnSpc>
                <a:spcPct val="114999"/>
              </a:lnSpc>
            </a:pPr>
            <a:r>
              <a:rPr sz="1600" spc="70" dirty="0">
                <a:latin typeface="Calibri"/>
                <a:cs typeface="Calibri"/>
              </a:rPr>
              <a:t>Это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spc="50" dirty="0">
                <a:latin typeface="Calibri"/>
                <a:cs typeface="Calibri"/>
              </a:rPr>
              <a:t>как</a:t>
            </a:r>
            <a:r>
              <a:rPr sz="1600" spc="90" dirty="0">
                <a:latin typeface="Calibri"/>
                <a:cs typeface="Calibri"/>
              </a:rPr>
              <a:t>  </a:t>
            </a:r>
            <a:r>
              <a:rPr sz="1600" dirty="0">
                <a:latin typeface="Calibri"/>
                <a:cs typeface="Calibri"/>
              </a:rPr>
              <a:t>задачи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понимания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языка,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spc="70" dirty="0">
                <a:latin typeface="Calibri"/>
                <a:cs typeface="Calibri"/>
              </a:rPr>
              <a:t>так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и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задачи </a:t>
            </a:r>
            <a:r>
              <a:rPr sz="1600" dirty="0">
                <a:latin typeface="Calibri"/>
                <a:cs typeface="Calibri"/>
              </a:rPr>
              <a:t>генерации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текстов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на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естественном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языке.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1600" spc="295" dirty="0">
                <a:latin typeface="Calibri"/>
                <a:cs typeface="Calibri"/>
              </a:rPr>
              <a:t>А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некоторые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задачи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включают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оба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аспекта.</a:t>
            </a:r>
            <a:endParaRPr sz="160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29682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50" dirty="0"/>
              <a:t>Задачи</a:t>
            </a:r>
            <a:r>
              <a:rPr sz="2700" spc="165" dirty="0"/>
              <a:t> </a:t>
            </a:r>
            <a:r>
              <a:rPr sz="2700" spc="445" dirty="0"/>
              <a:t>NLP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529005" y="1218347"/>
            <a:ext cx="4638040" cy="5867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25120" indent="-312420">
              <a:lnSpc>
                <a:spcPct val="100000"/>
              </a:lnSpc>
              <a:spcBef>
                <a:spcPts val="385"/>
              </a:spcBef>
              <a:buSzPct val="68750"/>
              <a:buFont typeface="Tahoma"/>
              <a:buChar char="●"/>
              <a:tabLst>
                <a:tab pos="325120" algn="l"/>
              </a:tabLst>
            </a:pPr>
            <a:r>
              <a:rPr sz="1600" spc="10" dirty="0">
                <a:latin typeface="Calibri"/>
                <a:cs typeface="Calibri"/>
              </a:rPr>
              <a:t>Классификация</a:t>
            </a:r>
            <a:r>
              <a:rPr sz="1600" spc="260" dirty="0">
                <a:latin typeface="Calibri"/>
                <a:cs typeface="Calibri"/>
              </a:rPr>
              <a:t> </a:t>
            </a:r>
            <a:r>
              <a:rPr sz="1600" spc="10" dirty="0">
                <a:latin typeface="Calibri"/>
                <a:cs typeface="Calibri"/>
              </a:rPr>
              <a:t>текста</a:t>
            </a:r>
            <a:r>
              <a:rPr sz="1600" spc="260" dirty="0">
                <a:latin typeface="Calibri"/>
                <a:cs typeface="Calibri"/>
              </a:rPr>
              <a:t> </a:t>
            </a:r>
            <a:r>
              <a:rPr sz="1600" spc="10" dirty="0">
                <a:latin typeface="Calibri"/>
                <a:cs typeface="Calibri"/>
              </a:rPr>
              <a:t>(авторство,</a:t>
            </a:r>
            <a:r>
              <a:rPr sz="1600" spc="260" dirty="0">
                <a:latin typeface="Calibri"/>
                <a:cs typeface="Calibri"/>
              </a:rPr>
              <a:t> </a:t>
            </a:r>
            <a:r>
              <a:rPr sz="1600" spc="10" dirty="0">
                <a:latin typeface="Calibri"/>
                <a:cs typeface="Calibri"/>
              </a:rPr>
              <a:t>жанр,</a:t>
            </a:r>
            <a:r>
              <a:rPr sz="1600" spc="260" dirty="0">
                <a:latin typeface="Calibri"/>
                <a:cs typeface="Calibri"/>
              </a:rPr>
              <a:t> </a:t>
            </a:r>
            <a:r>
              <a:rPr sz="1600" spc="10" dirty="0">
                <a:latin typeface="Calibri"/>
                <a:cs typeface="Calibri"/>
              </a:rPr>
              <a:t>и</a:t>
            </a:r>
            <a:r>
              <a:rPr sz="1600" spc="2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т.д.)</a:t>
            </a:r>
            <a:endParaRPr sz="1600">
              <a:latin typeface="Calibri"/>
              <a:cs typeface="Calibri"/>
            </a:endParaRPr>
          </a:p>
          <a:p>
            <a:pPr marL="325120" indent="-312420">
              <a:lnSpc>
                <a:spcPct val="100000"/>
              </a:lnSpc>
              <a:spcBef>
                <a:spcPts val="290"/>
              </a:spcBef>
              <a:buSzPct val="68750"/>
              <a:buFont typeface="Tahoma"/>
              <a:buChar char="●"/>
              <a:tabLst>
                <a:tab pos="325120" algn="l"/>
              </a:tabLst>
            </a:pPr>
            <a:r>
              <a:rPr sz="1600" spc="55" dirty="0">
                <a:latin typeface="Calibri"/>
                <a:cs typeface="Calibri"/>
              </a:rPr>
              <a:t>Анализ</a:t>
            </a:r>
            <a:r>
              <a:rPr sz="1600" spc="1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настроения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(sentiment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spc="50" dirty="0">
                <a:latin typeface="Calibri"/>
                <a:cs typeface="Calibri"/>
              </a:rPr>
              <a:t>analysis)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2183" y="3579145"/>
            <a:ext cx="2385286" cy="12749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2174" y="2079488"/>
            <a:ext cx="2992242" cy="127371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50" dirty="0"/>
              <a:t>Задачи</a:t>
            </a:r>
            <a:r>
              <a:rPr sz="2700" spc="165" dirty="0"/>
              <a:t> </a:t>
            </a:r>
            <a:r>
              <a:rPr sz="2700" spc="445" dirty="0"/>
              <a:t>NLP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529005" y="1218347"/>
            <a:ext cx="2092325" cy="58674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25120" indent="-312420">
              <a:lnSpc>
                <a:spcPct val="100000"/>
              </a:lnSpc>
              <a:spcBef>
                <a:spcPts val="385"/>
              </a:spcBef>
              <a:buSzPct val="68750"/>
              <a:buFont typeface="Tahoma"/>
              <a:buChar char="●"/>
              <a:tabLst>
                <a:tab pos="325120" algn="l"/>
              </a:tabLst>
            </a:pPr>
            <a:r>
              <a:rPr sz="1600" dirty="0">
                <a:latin typeface="Calibri"/>
                <a:cs typeface="Calibri"/>
              </a:rPr>
              <a:t>Генерация</a:t>
            </a:r>
            <a:r>
              <a:rPr sz="1600" spc="3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текста</a:t>
            </a:r>
            <a:endParaRPr sz="1600">
              <a:latin typeface="Calibri"/>
              <a:cs typeface="Calibri"/>
            </a:endParaRPr>
          </a:p>
          <a:p>
            <a:pPr marL="325120" indent="-312420">
              <a:lnSpc>
                <a:spcPct val="100000"/>
              </a:lnSpc>
              <a:spcBef>
                <a:spcPts val="290"/>
              </a:spcBef>
              <a:buSzPct val="68750"/>
              <a:buFont typeface="Tahoma"/>
              <a:buChar char="●"/>
              <a:tabLst>
                <a:tab pos="325120" algn="l"/>
              </a:tabLst>
            </a:pPr>
            <a:r>
              <a:rPr sz="1600" dirty="0">
                <a:latin typeface="Calibri"/>
                <a:cs typeface="Calibri"/>
              </a:rPr>
              <a:t>Машинный</a:t>
            </a:r>
            <a:r>
              <a:rPr sz="1600" spc="160" dirty="0">
                <a:latin typeface="Calibri"/>
                <a:cs typeface="Calibri"/>
              </a:rPr>
              <a:t> </a:t>
            </a:r>
            <a:r>
              <a:rPr sz="1600" spc="-40" dirty="0">
                <a:latin typeface="Calibri"/>
                <a:cs typeface="Calibri"/>
              </a:rPr>
              <a:t>перевод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4524" y="2245374"/>
            <a:ext cx="3848574" cy="208874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50" dirty="0"/>
              <a:t>Задачи</a:t>
            </a:r>
            <a:r>
              <a:rPr sz="2700" spc="165" dirty="0"/>
              <a:t> </a:t>
            </a:r>
            <a:r>
              <a:rPr sz="2700" spc="445" dirty="0"/>
              <a:t>NLP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529005" y="1218347"/>
            <a:ext cx="4769485" cy="86677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25120" indent="-312420">
              <a:lnSpc>
                <a:spcPct val="100000"/>
              </a:lnSpc>
              <a:spcBef>
                <a:spcPts val="385"/>
              </a:spcBef>
              <a:buSzPct val="68750"/>
              <a:buFont typeface="Tahoma"/>
              <a:buChar char="●"/>
              <a:tabLst>
                <a:tab pos="325120" algn="l"/>
              </a:tabLst>
            </a:pPr>
            <a:r>
              <a:rPr sz="1600" dirty="0">
                <a:latin typeface="Calibri"/>
                <a:cs typeface="Calibri"/>
              </a:rPr>
              <a:t>Вопросно-ответные</a:t>
            </a:r>
            <a:r>
              <a:rPr sz="1600" spc="1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системы</a:t>
            </a:r>
            <a:r>
              <a:rPr sz="1600" spc="1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(question</a:t>
            </a:r>
            <a:r>
              <a:rPr sz="1600" spc="1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answering)</a:t>
            </a:r>
            <a:endParaRPr sz="1600">
              <a:latin typeface="Calibri"/>
              <a:cs typeface="Calibri"/>
            </a:endParaRPr>
          </a:p>
          <a:p>
            <a:pPr marL="325120" indent="-312420">
              <a:lnSpc>
                <a:spcPct val="100000"/>
              </a:lnSpc>
              <a:spcBef>
                <a:spcPts val="290"/>
              </a:spcBef>
              <a:buSzPct val="68750"/>
              <a:buFont typeface="Tahoma"/>
              <a:buChar char="●"/>
              <a:tabLst>
                <a:tab pos="325120" algn="l"/>
              </a:tabLst>
            </a:pPr>
            <a:r>
              <a:rPr sz="1600" dirty="0">
                <a:latin typeface="Calibri"/>
                <a:cs typeface="Calibri"/>
              </a:rPr>
              <a:t>Суммаризация</a:t>
            </a:r>
            <a:r>
              <a:rPr sz="1600" spc="1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текста</a:t>
            </a:r>
            <a:endParaRPr sz="1600">
              <a:latin typeface="Calibri"/>
              <a:cs typeface="Calibri"/>
            </a:endParaRPr>
          </a:p>
          <a:p>
            <a:pPr marL="325120" indent="-312420">
              <a:lnSpc>
                <a:spcPct val="100000"/>
              </a:lnSpc>
              <a:spcBef>
                <a:spcPts val="285"/>
              </a:spcBef>
              <a:buSzPct val="68750"/>
              <a:buFont typeface="Tahoma"/>
              <a:buChar char="●"/>
              <a:tabLst>
                <a:tab pos="325120" algn="l"/>
              </a:tabLst>
            </a:pPr>
            <a:r>
              <a:rPr sz="1600" dirty="0">
                <a:latin typeface="Calibri"/>
                <a:cs typeface="Calibri"/>
              </a:rPr>
              <a:t>Диалоговые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системы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925" y="2404150"/>
            <a:ext cx="4273198" cy="22703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50" dirty="0"/>
              <a:t>Задачи</a:t>
            </a:r>
            <a:r>
              <a:rPr sz="2700" spc="165" dirty="0"/>
              <a:t> </a:t>
            </a:r>
            <a:r>
              <a:rPr sz="2700" spc="445" dirty="0"/>
              <a:t>NLP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529005" y="1218347"/>
            <a:ext cx="3806190" cy="586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5120" marR="5080" indent="-313055">
              <a:lnSpc>
                <a:spcPct val="114999"/>
              </a:lnSpc>
              <a:spcBef>
                <a:spcPts val="100"/>
              </a:spcBef>
              <a:buSzPct val="68750"/>
              <a:buFont typeface="Tahoma"/>
              <a:buChar char="●"/>
              <a:tabLst>
                <a:tab pos="325120" algn="l"/>
              </a:tabLst>
            </a:pPr>
            <a:r>
              <a:rPr sz="1600" dirty="0">
                <a:latin typeface="Calibri"/>
                <a:cs typeface="Calibri"/>
              </a:rPr>
              <a:t>Распознавание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именованных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объектов </a:t>
            </a:r>
            <a:r>
              <a:rPr sz="1600" spc="10" dirty="0">
                <a:latin typeface="Calibri"/>
                <a:cs typeface="Calibri"/>
              </a:rPr>
              <a:t>(Named</a:t>
            </a:r>
            <a:r>
              <a:rPr sz="1600" spc="265" dirty="0">
                <a:latin typeface="Calibri"/>
                <a:cs typeface="Calibri"/>
              </a:rPr>
              <a:t> </a:t>
            </a:r>
            <a:r>
              <a:rPr sz="1600" spc="90" dirty="0">
                <a:latin typeface="Calibri"/>
                <a:cs typeface="Calibri"/>
              </a:rPr>
              <a:t>Entity</a:t>
            </a:r>
            <a:r>
              <a:rPr sz="1600" spc="265" dirty="0">
                <a:latin typeface="Calibri"/>
                <a:cs typeface="Calibri"/>
              </a:rPr>
              <a:t> </a:t>
            </a:r>
            <a:r>
              <a:rPr sz="1600" spc="10" dirty="0">
                <a:latin typeface="Calibri"/>
                <a:cs typeface="Calibri"/>
              </a:rPr>
              <a:t>Recognition,</a:t>
            </a:r>
            <a:r>
              <a:rPr sz="1600" spc="265" dirty="0">
                <a:latin typeface="Calibri"/>
                <a:cs typeface="Calibri"/>
              </a:rPr>
              <a:t> </a:t>
            </a:r>
            <a:r>
              <a:rPr sz="1600" spc="195" dirty="0">
                <a:latin typeface="Calibri"/>
                <a:cs typeface="Calibri"/>
              </a:rPr>
              <a:t>NER)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600" y="2592128"/>
            <a:ext cx="4113297" cy="20142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50" dirty="0"/>
              <a:t>Задачи</a:t>
            </a:r>
            <a:r>
              <a:rPr sz="2700" spc="165" dirty="0"/>
              <a:t> </a:t>
            </a:r>
            <a:r>
              <a:rPr sz="2700" spc="445" dirty="0"/>
              <a:t>NLP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384725" y="1106971"/>
            <a:ext cx="3966845" cy="19456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Calibri"/>
                <a:cs typeface="Calibri"/>
              </a:rPr>
              <a:t>Мультимодальность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275" dirty="0">
                <a:latin typeface="Calibri"/>
                <a:cs typeface="Calibri"/>
              </a:rPr>
              <a:t>(CV+NLP)</a:t>
            </a:r>
            <a:endParaRPr sz="1600">
              <a:latin typeface="Calibri"/>
              <a:cs typeface="Calibri"/>
            </a:endParaRPr>
          </a:p>
          <a:p>
            <a:pPr marL="469900" marR="803275" indent="-313055">
              <a:lnSpc>
                <a:spcPct val="100000"/>
              </a:lnSpc>
              <a:spcBef>
                <a:spcPts val="1200"/>
              </a:spcBef>
              <a:buSzPct val="68750"/>
              <a:buFont typeface="Tahoma"/>
              <a:buChar char="●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Описание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изображения/видео </a:t>
            </a:r>
            <a:r>
              <a:rPr sz="1600" dirty="0">
                <a:latin typeface="Calibri"/>
                <a:cs typeface="Calibri"/>
              </a:rPr>
              <a:t>(image/video</a:t>
            </a:r>
            <a:r>
              <a:rPr sz="1600" spc="4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captioning)</a:t>
            </a:r>
            <a:endParaRPr sz="1600">
              <a:latin typeface="Calibri"/>
              <a:cs typeface="Calibri"/>
            </a:endParaRPr>
          </a:p>
          <a:p>
            <a:pPr marL="469265" indent="-312420">
              <a:lnSpc>
                <a:spcPct val="100000"/>
              </a:lnSpc>
              <a:spcBef>
                <a:spcPts val="1200"/>
              </a:spcBef>
              <a:buSzPct val="68750"/>
              <a:buFont typeface="Tahoma"/>
              <a:buChar char="●"/>
              <a:tabLst>
                <a:tab pos="469265" algn="l"/>
              </a:tabLst>
            </a:pPr>
            <a:r>
              <a:rPr sz="1600" spc="80" dirty="0">
                <a:latin typeface="Calibri"/>
                <a:cs typeface="Calibri"/>
              </a:rPr>
              <a:t>Visual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question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answering</a:t>
            </a:r>
            <a:endParaRPr sz="1600">
              <a:latin typeface="Calibri"/>
              <a:cs typeface="Calibri"/>
            </a:endParaRPr>
          </a:p>
          <a:p>
            <a:pPr marL="469900" marR="5080" indent="-313055">
              <a:lnSpc>
                <a:spcPct val="100000"/>
              </a:lnSpc>
              <a:spcBef>
                <a:spcPts val="1200"/>
              </a:spcBef>
              <a:buSzPct val="68750"/>
              <a:buFont typeface="Tahoma"/>
              <a:buChar char="●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Распознавание</a:t>
            </a:r>
            <a:r>
              <a:rPr sz="1600" spc="3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текста</a:t>
            </a:r>
            <a:r>
              <a:rPr sz="1600" spc="3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на</a:t>
            </a:r>
            <a:r>
              <a:rPr sz="1600" spc="30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изображении </a:t>
            </a:r>
            <a:r>
              <a:rPr sz="1600" spc="10" dirty="0">
                <a:latin typeface="Calibri"/>
                <a:cs typeface="Calibri"/>
              </a:rPr>
              <a:t>(Optical</a:t>
            </a:r>
            <a:r>
              <a:rPr sz="1600" spc="415" dirty="0">
                <a:latin typeface="Calibri"/>
                <a:cs typeface="Calibri"/>
              </a:rPr>
              <a:t> </a:t>
            </a:r>
            <a:r>
              <a:rPr sz="1600" spc="10" dirty="0">
                <a:latin typeface="Calibri"/>
                <a:cs typeface="Calibri"/>
              </a:rPr>
              <a:t>Character</a:t>
            </a:r>
            <a:r>
              <a:rPr sz="1600" spc="420" dirty="0">
                <a:latin typeface="Calibri"/>
                <a:cs typeface="Calibri"/>
              </a:rPr>
              <a:t> </a:t>
            </a:r>
            <a:r>
              <a:rPr sz="1600" spc="10" dirty="0">
                <a:latin typeface="Calibri"/>
                <a:cs typeface="Calibri"/>
              </a:rPr>
              <a:t>Recognition,</a:t>
            </a:r>
            <a:r>
              <a:rPr sz="1600" spc="415" dirty="0">
                <a:latin typeface="Calibri"/>
                <a:cs typeface="Calibri"/>
              </a:rPr>
              <a:t> </a:t>
            </a:r>
            <a:r>
              <a:rPr sz="1600" spc="135" dirty="0">
                <a:latin typeface="Calibri"/>
                <a:cs typeface="Calibri"/>
              </a:rPr>
              <a:t>OCR)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074" y="3236325"/>
            <a:ext cx="4059930" cy="17069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50" dirty="0"/>
              <a:t>Задачи</a:t>
            </a:r>
            <a:r>
              <a:rPr sz="2700" spc="165" dirty="0"/>
              <a:t> </a:t>
            </a:r>
            <a:r>
              <a:rPr sz="2700" spc="445" dirty="0"/>
              <a:t>NLP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384725" y="1254921"/>
            <a:ext cx="4272915" cy="702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Calibri"/>
                <a:cs typeface="Calibri"/>
              </a:rPr>
              <a:t>Мультимодальность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275" dirty="0">
                <a:latin typeface="Calibri"/>
                <a:cs typeface="Calibri"/>
              </a:rPr>
              <a:t>(CV+NLP)</a:t>
            </a:r>
            <a:endParaRPr sz="1600">
              <a:latin typeface="Calibri"/>
              <a:cs typeface="Calibri"/>
            </a:endParaRPr>
          </a:p>
          <a:p>
            <a:pPr marL="469265" indent="-312420">
              <a:lnSpc>
                <a:spcPct val="100000"/>
              </a:lnSpc>
              <a:spcBef>
                <a:spcPts val="1485"/>
              </a:spcBef>
              <a:buSzPct val="68750"/>
              <a:buFont typeface="Tahoma"/>
              <a:buChar char="●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Генерация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изображений/видео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текстам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02766" y="2238263"/>
            <a:ext cx="2367314" cy="273118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536F7643-F9BD-4013-8236-411223537BC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object 3">
            <a:extLst>
              <a:ext uri="{FF2B5EF4-FFF2-40B4-BE49-F238E27FC236}">
                <a16:creationId xmlns:a16="http://schemas.microsoft.com/office/drawing/2014/main" id="{647648BA-57F6-4CD6-BA31-36D3330753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82333" y="2512992"/>
            <a:ext cx="6428192" cy="819904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07312" marR="5080" indent="-95248" algn="ctr">
              <a:lnSpc>
                <a:spcPct val="114999"/>
              </a:lnSpc>
              <a:spcBef>
                <a:spcPts val="100"/>
              </a:spcBef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2. Векторные представления слов</a:t>
            </a:r>
            <a:b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260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/>
              <a:t>Векторные</a:t>
            </a:r>
            <a:r>
              <a:rPr sz="2700" spc="330" dirty="0"/>
              <a:t> </a:t>
            </a:r>
            <a:r>
              <a:rPr sz="2700" dirty="0"/>
              <a:t>представления</a:t>
            </a:r>
            <a:r>
              <a:rPr sz="2700" spc="335" dirty="0"/>
              <a:t> </a:t>
            </a:r>
            <a:r>
              <a:rPr sz="2700" spc="-20" dirty="0"/>
              <a:t>слов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384725" y="1254921"/>
            <a:ext cx="35013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125" dirty="0">
                <a:latin typeface="Calibri"/>
                <a:cs typeface="Calibri"/>
              </a:rPr>
              <a:t>Как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представлять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spc="55" dirty="0">
                <a:latin typeface="Calibri"/>
                <a:cs typeface="Calibri"/>
              </a:rPr>
              <a:t>текст</a:t>
            </a:r>
            <a:r>
              <a:rPr sz="1600" spc="1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компьютереṢ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4725" y="2120549"/>
            <a:ext cx="45173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75" dirty="0">
                <a:latin typeface="Calibri"/>
                <a:cs typeface="Calibri"/>
              </a:rPr>
              <a:t>Текст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spc="145" dirty="0">
                <a:latin typeface="Calibri"/>
                <a:cs typeface="Calibri"/>
              </a:rPr>
              <a:t>—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это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набор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слов.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spc="125" dirty="0">
                <a:latin typeface="Calibri"/>
                <a:cs typeface="Calibri"/>
              </a:rPr>
              <a:t>Как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представлять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словаṢ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/>
              <a:t>One-hot</a:t>
            </a:r>
            <a:r>
              <a:rPr sz="2700" spc="325" dirty="0"/>
              <a:t> </a:t>
            </a:r>
            <a:r>
              <a:rPr sz="2700" spc="-10" dirty="0"/>
              <a:t>encoding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384725" y="1254921"/>
            <a:ext cx="3954145" cy="1388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Calibri"/>
                <a:cs typeface="Calibri"/>
              </a:rPr>
              <a:t>Создадим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словарь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фиксированного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размера.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sz="1600" dirty="0">
                <a:latin typeface="Calibri"/>
                <a:cs typeface="Calibri"/>
              </a:rPr>
              <a:t>Например,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spc="165" dirty="0">
                <a:latin typeface="Calibri"/>
                <a:cs typeface="Calibri"/>
              </a:rPr>
              <a:t>n=50.000</a:t>
            </a:r>
            <a:r>
              <a:rPr sz="1600" spc="1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слов.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770"/>
              </a:spcBef>
            </a:pPr>
            <a:endParaRPr sz="1600">
              <a:latin typeface="Calibri"/>
              <a:cs typeface="Calibri"/>
            </a:endParaRPr>
          </a:p>
          <a:p>
            <a:pPr marL="257175">
              <a:lnSpc>
                <a:spcPct val="100000"/>
              </a:lnSpc>
              <a:spcBef>
                <a:spcPts val="5"/>
              </a:spcBef>
            </a:pPr>
            <a:r>
              <a:rPr sz="1400" spc="-10" dirty="0">
                <a:latin typeface="Verdana"/>
                <a:cs typeface="Verdana"/>
              </a:rPr>
              <a:t>Словарь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3549" y="2768025"/>
            <a:ext cx="1350645" cy="165417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81915" rIns="0" bIns="0" rtlCol="0">
            <a:spAutoFit/>
          </a:bodyPr>
          <a:lstStyle/>
          <a:p>
            <a:pPr marL="542290" indent="-330200">
              <a:lnSpc>
                <a:spcPct val="100000"/>
              </a:lnSpc>
              <a:spcBef>
                <a:spcPts val="645"/>
              </a:spcBef>
              <a:buAutoNum type="arabicPeriod"/>
              <a:tabLst>
                <a:tab pos="542290" algn="l"/>
              </a:tabLst>
            </a:pPr>
            <a:r>
              <a:rPr sz="1400" spc="-25" dirty="0">
                <a:solidFill>
                  <a:srgbClr val="595959"/>
                </a:solidFill>
                <a:latin typeface="Verdana"/>
                <a:cs typeface="Verdana"/>
              </a:rPr>
              <a:t>cat</a:t>
            </a:r>
            <a:endParaRPr sz="1400">
              <a:latin typeface="Verdana"/>
              <a:cs typeface="Verdana"/>
            </a:endParaRPr>
          </a:p>
          <a:p>
            <a:pPr marL="542290" indent="-368935">
              <a:lnSpc>
                <a:spcPct val="100000"/>
              </a:lnSpc>
              <a:buAutoNum type="arabicPeriod"/>
              <a:tabLst>
                <a:tab pos="542290" algn="l"/>
              </a:tabLst>
            </a:pPr>
            <a:r>
              <a:rPr sz="1400" spc="35" dirty="0">
                <a:solidFill>
                  <a:srgbClr val="595959"/>
                </a:solidFill>
                <a:latin typeface="Verdana"/>
                <a:cs typeface="Verdana"/>
              </a:rPr>
              <a:t>dog</a:t>
            </a:r>
            <a:endParaRPr sz="1400">
              <a:latin typeface="Verdana"/>
              <a:cs typeface="Verdana"/>
            </a:endParaRPr>
          </a:p>
          <a:p>
            <a:pPr marL="542290" indent="-366395">
              <a:lnSpc>
                <a:spcPct val="100000"/>
              </a:lnSpc>
              <a:buAutoNum type="arabicPeriod"/>
              <a:tabLst>
                <a:tab pos="542290" algn="l"/>
              </a:tabLst>
            </a:pPr>
            <a:r>
              <a:rPr sz="1400" spc="-305" dirty="0">
                <a:solidFill>
                  <a:srgbClr val="595959"/>
                </a:solidFill>
                <a:latin typeface="Verdana"/>
                <a:cs typeface="Verdana"/>
              </a:rPr>
              <a:t>…</a:t>
            </a:r>
            <a:endParaRPr sz="1400">
              <a:latin typeface="Verdana"/>
              <a:cs typeface="Verdana"/>
            </a:endParaRPr>
          </a:p>
          <a:p>
            <a:pPr marL="497205" lvl="1" indent="-318770">
              <a:lnSpc>
                <a:spcPct val="100000"/>
              </a:lnSpc>
              <a:spcBef>
                <a:spcPts val="1200"/>
              </a:spcBef>
              <a:buAutoNum type="romanLcPeriod"/>
              <a:tabLst>
                <a:tab pos="497205" algn="l"/>
              </a:tabLst>
            </a:pPr>
            <a:r>
              <a:rPr sz="1400" spc="-10" dirty="0">
                <a:solidFill>
                  <a:srgbClr val="595959"/>
                </a:solidFill>
                <a:latin typeface="Verdana"/>
                <a:cs typeface="Verdana"/>
              </a:rPr>
              <a:t>mother</a:t>
            </a:r>
            <a:endParaRPr sz="1400">
              <a:latin typeface="Verdana"/>
              <a:cs typeface="Verdana"/>
            </a:endParaRPr>
          </a:p>
          <a:p>
            <a:pPr marL="53340" algn="ctr">
              <a:lnSpc>
                <a:spcPct val="100000"/>
              </a:lnSpc>
              <a:spcBef>
                <a:spcPts val="1200"/>
              </a:spcBef>
            </a:pPr>
            <a:r>
              <a:rPr sz="1400" spc="-305" dirty="0">
                <a:solidFill>
                  <a:srgbClr val="595959"/>
                </a:solidFill>
                <a:latin typeface="Verdana"/>
                <a:cs typeface="Verdana"/>
              </a:rPr>
              <a:t>…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/>
              <a:t>One-hot</a:t>
            </a:r>
            <a:r>
              <a:rPr sz="2700" spc="325" dirty="0"/>
              <a:t> </a:t>
            </a:r>
            <a:r>
              <a:rPr sz="2700" spc="-10" dirty="0"/>
              <a:t>encoding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384725" y="1254921"/>
            <a:ext cx="3954145" cy="702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Calibri"/>
                <a:cs typeface="Calibri"/>
              </a:rPr>
              <a:t>Создадим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словарь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фиксированного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размера.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sz="1600" dirty="0">
                <a:latin typeface="Calibri"/>
                <a:cs typeface="Calibri"/>
              </a:rPr>
              <a:t>Например,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spc="165" dirty="0">
                <a:latin typeface="Calibri"/>
                <a:cs typeface="Calibri"/>
              </a:rPr>
              <a:t>n=50.000</a:t>
            </a:r>
            <a:r>
              <a:rPr sz="1600" spc="1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слов.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604024" y="3058287"/>
          <a:ext cx="2683509" cy="5270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1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63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9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3525">
                <a:tc>
                  <a:txBody>
                    <a:bodyPr/>
                    <a:lstStyle/>
                    <a:p>
                      <a:pPr marL="31750">
                        <a:lnSpc>
                          <a:spcPts val="1870"/>
                        </a:lnSpc>
                      </a:pPr>
                      <a:r>
                        <a:rPr sz="1600" spc="-25" dirty="0">
                          <a:latin typeface="Verdana"/>
                          <a:cs typeface="Verdana"/>
                        </a:rPr>
                        <a:t>cat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14300" algn="r">
                        <a:lnSpc>
                          <a:spcPts val="1870"/>
                        </a:lnSpc>
                      </a:pPr>
                      <a:r>
                        <a:rPr sz="1600" spc="-395" dirty="0">
                          <a:latin typeface="Verdana"/>
                          <a:cs typeface="Verdana"/>
                        </a:rPr>
                        <a:t>=</a:t>
                      </a:r>
                      <a:r>
                        <a:rPr sz="1600" spc="29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300" dirty="0">
                          <a:latin typeface="Verdana"/>
                          <a:cs typeface="Verdana"/>
                        </a:rPr>
                        <a:t>[1,</a:t>
                      </a:r>
                      <a:r>
                        <a:rPr sz="16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25" dirty="0">
                          <a:latin typeface="Verdana"/>
                          <a:cs typeface="Verdana"/>
                        </a:rPr>
                        <a:t>0,</a:t>
                      </a:r>
                      <a:r>
                        <a:rPr sz="1600" spc="-1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35" dirty="0">
                          <a:latin typeface="Verdana"/>
                          <a:cs typeface="Verdana"/>
                        </a:rPr>
                        <a:t>0,</a:t>
                      </a:r>
                      <a:endParaRPr sz="1600" dirty="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8260" algn="ctr">
                        <a:lnSpc>
                          <a:spcPts val="1870"/>
                        </a:lnSpc>
                      </a:pPr>
                      <a:r>
                        <a:rPr sz="1600" spc="-295" dirty="0">
                          <a:latin typeface="Verdana"/>
                          <a:cs typeface="Verdana"/>
                        </a:rPr>
                        <a:t>…,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090" algn="ctr">
                        <a:lnSpc>
                          <a:spcPts val="1870"/>
                        </a:lnSpc>
                      </a:pPr>
                      <a:r>
                        <a:rPr sz="1600" spc="-25" dirty="0">
                          <a:latin typeface="Verdana"/>
                          <a:cs typeface="Verdana"/>
                        </a:rPr>
                        <a:t>0]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525">
                <a:tc>
                  <a:txBody>
                    <a:bodyPr/>
                    <a:lstStyle/>
                    <a:p>
                      <a:pPr marL="31750">
                        <a:lnSpc>
                          <a:spcPts val="1900"/>
                        </a:lnSpc>
                        <a:spcBef>
                          <a:spcPts val="75"/>
                        </a:spcBef>
                      </a:pPr>
                      <a:r>
                        <a:rPr sz="1600" spc="40" dirty="0">
                          <a:latin typeface="Verdana"/>
                          <a:cs typeface="Verdana"/>
                        </a:rPr>
                        <a:t>dog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R="135890" algn="r">
                        <a:lnSpc>
                          <a:spcPts val="1900"/>
                        </a:lnSpc>
                        <a:spcBef>
                          <a:spcPts val="75"/>
                        </a:spcBef>
                      </a:pPr>
                      <a:r>
                        <a:rPr sz="1600" spc="-395" dirty="0">
                          <a:latin typeface="Verdana"/>
                          <a:cs typeface="Verdana"/>
                        </a:rPr>
                        <a:t>=</a:t>
                      </a:r>
                      <a:r>
                        <a:rPr sz="1600" spc="-1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155" dirty="0">
                          <a:latin typeface="Verdana"/>
                          <a:cs typeface="Verdana"/>
                        </a:rPr>
                        <a:t>[0,</a:t>
                      </a:r>
                      <a:r>
                        <a:rPr sz="1600" spc="-140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345" dirty="0">
                          <a:latin typeface="Verdana"/>
                          <a:cs typeface="Verdana"/>
                        </a:rPr>
                        <a:t>1,</a:t>
                      </a:r>
                      <a:r>
                        <a:rPr sz="1600" spc="-135" dirty="0">
                          <a:latin typeface="Verdana"/>
                          <a:cs typeface="Verdana"/>
                        </a:rPr>
                        <a:t> </a:t>
                      </a:r>
                      <a:r>
                        <a:rPr sz="1600" spc="-25" dirty="0">
                          <a:latin typeface="Verdana"/>
                          <a:cs typeface="Verdana"/>
                        </a:rPr>
                        <a:t>0,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900"/>
                        </a:lnSpc>
                        <a:spcBef>
                          <a:spcPts val="75"/>
                        </a:spcBef>
                      </a:pPr>
                      <a:r>
                        <a:rPr sz="1600" spc="-295" dirty="0">
                          <a:latin typeface="Verdana"/>
                          <a:cs typeface="Verdana"/>
                        </a:rPr>
                        <a:t>…,</a:t>
                      </a:r>
                      <a:endParaRPr sz="1600">
                        <a:latin typeface="Verdana"/>
                        <a:cs typeface="Verdana"/>
                      </a:endParaRPr>
                    </a:p>
                  </a:txBody>
                  <a:tcPr marL="0" marR="0" marT="9525" marB="0"/>
                </a:tc>
                <a:tc>
                  <a:txBody>
                    <a:bodyPr/>
                    <a:lstStyle/>
                    <a:p>
                      <a:pPr marL="41275" algn="ctr">
                        <a:lnSpc>
                          <a:spcPts val="1900"/>
                        </a:lnSpc>
                        <a:spcBef>
                          <a:spcPts val="75"/>
                        </a:spcBef>
                      </a:pPr>
                      <a:r>
                        <a:rPr sz="1600" spc="-25" dirty="0">
                          <a:latin typeface="Verdana"/>
                          <a:cs typeface="Verdana"/>
                        </a:rPr>
                        <a:t>0]</a:t>
                      </a:r>
                      <a:endParaRPr sz="1600" dirty="0">
                        <a:latin typeface="Verdana"/>
                        <a:cs typeface="Verdana"/>
                      </a:endParaRPr>
                    </a:p>
                  </a:txBody>
                  <a:tcPr marL="0" marR="0" marT="95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623074" y="3599916"/>
            <a:ext cx="9626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Verdana"/>
                <a:cs typeface="Verdana"/>
              </a:rPr>
              <a:t>mother</a:t>
            </a:r>
            <a:r>
              <a:rPr sz="1600" spc="25" dirty="0">
                <a:latin typeface="Verdana"/>
                <a:cs typeface="Verdana"/>
              </a:rPr>
              <a:t> </a:t>
            </a:r>
            <a:r>
              <a:rPr sz="1600" spc="-445" dirty="0">
                <a:latin typeface="Verdana"/>
                <a:cs typeface="Verdana"/>
              </a:rPr>
              <a:t>=</a:t>
            </a:r>
            <a:endParaRPr sz="16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719948" y="3599916"/>
            <a:ext cx="160083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55" dirty="0">
                <a:latin typeface="Verdana"/>
                <a:cs typeface="Verdana"/>
              </a:rPr>
              <a:t>[0,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-125" dirty="0">
                <a:latin typeface="Verdana"/>
                <a:cs typeface="Verdana"/>
              </a:rPr>
              <a:t>0,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-125" dirty="0">
                <a:latin typeface="Verdana"/>
                <a:cs typeface="Verdana"/>
              </a:rPr>
              <a:t>0,</a:t>
            </a:r>
            <a:r>
              <a:rPr sz="1600" spc="-130" dirty="0">
                <a:latin typeface="Verdana"/>
                <a:cs typeface="Verdana"/>
              </a:rPr>
              <a:t> </a:t>
            </a:r>
            <a:r>
              <a:rPr sz="1600" spc="-270" dirty="0">
                <a:latin typeface="Verdana"/>
                <a:cs typeface="Verdana"/>
              </a:rPr>
              <a:t>…,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-345" dirty="0">
                <a:latin typeface="Verdana"/>
                <a:cs typeface="Verdana"/>
              </a:rPr>
              <a:t>1,</a:t>
            </a:r>
            <a:r>
              <a:rPr sz="1600" spc="-130" dirty="0">
                <a:latin typeface="Verdana"/>
                <a:cs typeface="Verdana"/>
              </a:rPr>
              <a:t> </a:t>
            </a:r>
            <a:r>
              <a:rPr sz="1600" spc="-270" dirty="0">
                <a:latin typeface="Verdana"/>
                <a:cs typeface="Verdana"/>
              </a:rPr>
              <a:t>…,</a:t>
            </a:r>
            <a:r>
              <a:rPr sz="1600" spc="-135" dirty="0">
                <a:latin typeface="Verdana"/>
                <a:cs typeface="Verdana"/>
              </a:rPr>
              <a:t> </a:t>
            </a:r>
            <a:r>
              <a:rPr sz="1600" spc="-25" dirty="0">
                <a:latin typeface="Verdana"/>
                <a:cs typeface="Verdana"/>
              </a:rPr>
              <a:t>0]</a:t>
            </a:r>
            <a:endParaRPr sz="16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703587" y="3980956"/>
            <a:ext cx="41910" cy="601980"/>
            <a:chOff x="4703587" y="3980956"/>
            <a:chExt cx="41910" cy="601980"/>
          </a:xfrm>
        </p:grpSpPr>
        <p:sp>
          <p:nvSpPr>
            <p:cNvPr id="8" name="object 8"/>
            <p:cNvSpPr/>
            <p:nvPr/>
          </p:nvSpPr>
          <p:spPr>
            <a:xfrm>
              <a:off x="4708349" y="4028925"/>
              <a:ext cx="16510" cy="549275"/>
            </a:xfrm>
            <a:custGeom>
              <a:avLst/>
              <a:gdLst/>
              <a:ahLst/>
              <a:cxnLst/>
              <a:rect l="l" t="t" r="r" b="b"/>
              <a:pathLst>
                <a:path w="16510" h="549275">
                  <a:moveTo>
                    <a:pt x="0" y="548874"/>
                  </a:moveTo>
                  <a:lnTo>
                    <a:pt x="16031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708655" y="398571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51" y="43666"/>
                  </a:moveTo>
                  <a:lnTo>
                    <a:pt x="0" y="42747"/>
                  </a:lnTo>
                  <a:lnTo>
                    <a:pt x="16987" y="0"/>
                  </a:lnTo>
                  <a:lnTo>
                    <a:pt x="31451" y="4366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708655" y="3985718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51" y="43666"/>
                  </a:moveTo>
                  <a:lnTo>
                    <a:pt x="16987" y="0"/>
                  </a:lnTo>
                  <a:lnTo>
                    <a:pt x="0" y="42747"/>
                  </a:lnTo>
                  <a:lnTo>
                    <a:pt x="31451" y="4366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250575" y="4610508"/>
            <a:ext cx="129540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60" dirty="0">
                <a:latin typeface="Verdana"/>
                <a:cs typeface="Verdana"/>
              </a:rPr>
              <a:t>i-</a:t>
            </a:r>
            <a:r>
              <a:rPr sz="1300" dirty="0">
                <a:latin typeface="Verdana"/>
                <a:cs typeface="Verdana"/>
              </a:rPr>
              <a:t>я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координата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624900" y="2834987"/>
            <a:ext cx="1536065" cy="139700"/>
          </a:xfrm>
          <a:custGeom>
            <a:avLst/>
            <a:gdLst/>
            <a:ahLst/>
            <a:cxnLst/>
            <a:rect l="l" t="t" r="r" b="b"/>
            <a:pathLst>
              <a:path w="1536064" h="139700">
                <a:moveTo>
                  <a:pt x="0" y="139199"/>
                </a:moveTo>
                <a:lnTo>
                  <a:pt x="5469" y="112108"/>
                </a:lnTo>
                <a:lnTo>
                  <a:pt x="20385" y="89985"/>
                </a:lnTo>
                <a:lnTo>
                  <a:pt x="42508" y="75069"/>
                </a:lnTo>
                <a:lnTo>
                  <a:pt x="69599" y="69599"/>
                </a:lnTo>
                <a:lnTo>
                  <a:pt x="698399" y="69599"/>
                </a:lnTo>
                <a:lnTo>
                  <a:pt x="725491" y="64130"/>
                </a:lnTo>
                <a:lnTo>
                  <a:pt x="747614" y="49214"/>
                </a:lnTo>
                <a:lnTo>
                  <a:pt x="762530" y="27091"/>
                </a:lnTo>
                <a:lnTo>
                  <a:pt x="767999" y="0"/>
                </a:lnTo>
                <a:lnTo>
                  <a:pt x="773469" y="27091"/>
                </a:lnTo>
                <a:lnTo>
                  <a:pt x="788385" y="49214"/>
                </a:lnTo>
                <a:lnTo>
                  <a:pt x="810508" y="64130"/>
                </a:lnTo>
                <a:lnTo>
                  <a:pt x="837599" y="69599"/>
                </a:lnTo>
                <a:lnTo>
                  <a:pt x="1466399" y="69599"/>
                </a:lnTo>
                <a:lnTo>
                  <a:pt x="1493491" y="75069"/>
                </a:lnTo>
                <a:lnTo>
                  <a:pt x="1515614" y="89985"/>
                </a:lnTo>
                <a:lnTo>
                  <a:pt x="1530530" y="112108"/>
                </a:lnTo>
                <a:lnTo>
                  <a:pt x="1535999" y="139199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490682" y="2249983"/>
            <a:ext cx="171767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84480">
              <a:lnSpc>
                <a:spcPct val="100000"/>
              </a:lnSpc>
              <a:spcBef>
                <a:spcPts val="100"/>
              </a:spcBef>
            </a:pPr>
            <a:r>
              <a:rPr sz="1300" spc="50" dirty="0">
                <a:latin typeface="Verdana"/>
                <a:cs typeface="Verdana"/>
              </a:rPr>
              <a:t>Размер</a:t>
            </a:r>
            <a:r>
              <a:rPr sz="1300" spc="-110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каждого </a:t>
            </a:r>
            <a:r>
              <a:rPr sz="1300" dirty="0">
                <a:latin typeface="Verdana"/>
                <a:cs typeface="Verdana"/>
              </a:rPr>
              <a:t>вектора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320" dirty="0">
                <a:latin typeface="Verdana"/>
                <a:cs typeface="Verdana"/>
              </a:rPr>
              <a:t>=</a:t>
            </a:r>
            <a:r>
              <a:rPr sz="1300" spc="-95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n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(50.000)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3549" y="2768025"/>
            <a:ext cx="1350645" cy="1654175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81915" rIns="0" bIns="0" rtlCol="0">
            <a:spAutoFit/>
          </a:bodyPr>
          <a:lstStyle/>
          <a:p>
            <a:pPr marL="542290" indent="-330200">
              <a:lnSpc>
                <a:spcPct val="100000"/>
              </a:lnSpc>
              <a:spcBef>
                <a:spcPts val="645"/>
              </a:spcBef>
              <a:buAutoNum type="arabicPeriod"/>
              <a:tabLst>
                <a:tab pos="542290" algn="l"/>
              </a:tabLst>
            </a:pPr>
            <a:r>
              <a:rPr sz="1400" spc="-25" dirty="0">
                <a:solidFill>
                  <a:srgbClr val="595959"/>
                </a:solidFill>
                <a:latin typeface="Verdana"/>
                <a:cs typeface="Verdana"/>
              </a:rPr>
              <a:t>cat</a:t>
            </a:r>
            <a:endParaRPr sz="1400">
              <a:latin typeface="Verdana"/>
              <a:cs typeface="Verdana"/>
            </a:endParaRPr>
          </a:p>
          <a:p>
            <a:pPr marL="542290" indent="-368935">
              <a:lnSpc>
                <a:spcPct val="100000"/>
              </a:lnSpc>
              <a:buAutoNum type="arabicPeriod"/>
              <a:tabLst>
                <a:tab pos="542290" algn="l"/>
              </a:tabLst>
            </a:pPr>
            <a:r>
              <a:rPr sz="1400" spc="35" dirty="0">
                <a:solidFill>
                  <a:srgbClr val="595959"/>
                </a:solidFill>
                <a:latin typeface="Verdana"/>
                <a:cs typeface="Verdana"/>
              </a:rPr>
              <a:t>dog</a:t>
            </a:r>
            <a:endParaRPr sz="1400">
              <a:latin typeface="Verdana"/>
              <a:cs typeface="Verdana"/>
            </a:endParaRPr>
          </a:p>
          <a:p>
            <a:pPr marL="542290" indent="-366395">
              <a:lnSpc>
                <a:spcPct val="100000"/>
              </a:lnSpc>
              <a:buAutoNum type="arabicPeriod"/>
              <a:tabLst>
                <a:tab pos="542290" algn="l"/>
              </a:tabLst>
            </a:pPr>
            <a:r>
              <a:rPr sz="1400" spc="-305" dirty="0">
                <a:solidFill>
                  <a:srgbClr val="595959"/>
                </a:solidFill>
                <a:latin typeface="Verdana"/>
                <a:cs typeface="Verdana"/>
              </a:rPr>
              <a:t>…</a:t>
            </a:r>
            <a:endParaRPr sz="1400">
              <a:latin typeface="Verdana"/>
              <a:cs typeface="Verdana"/>
            </a:endParaRPr>
          </a:p>
          <a:p>
            <a:pPr marL="497205" lvl="1" indent="-318770">
              <a:lnSpc>
                <a:spcPct val="100000"/>
              </a:lnSpc>
              <a:spcBef>
                <a:spcPts val="1200"/>
              </a:spcBef>
              <a:buAutoNum type="romanLcPeriod"/>
              <a:tabLst>
                <a:tab pos="497205" algn="l"/>
              </a:tabLst>
            </a:pPr>
            <a:r>
              <a:rPr sz="1400" spc="-10" dirty="0">
                <a:solidFill>
                  <a:srgbClr val="595959"/>
                </a:solidFill>
                <a:latin typeface="Verdana"/>
                <a:cs typeface="Verdana"/>
              </a:rPr>
              <a:t>mother</a:t>
            </a:r>
            <a:endParaRPr sz="1400">
              <a:latin typeface="Verdana"/>
              <a:cs typeface="Verdana"/>
            </a:endParaRPr>
          </a:p>
          <a:p>
            <a:pPr marL="53340" algn="ctr">
              <a:lnSpc>
                <a:spcPct val="100000"/>
              </a:lnSpc>
              <a:spcBef>
                <a:spcPts val="1200"/>
              </a:spcBef>
            </a:pPr>
            <a:r>
              <a:rPr sz="1400" spc="-305" dirty="0">
                <a:solidFill>
                  <a:srgbClr val="595959"/>
                </a:solidFill>
                <a:latin typeface="Verdana"/>
                <a:cs typeface="Verdana"/>
              </a:rPr>
              <a:t>…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9275" y="2404638"/>
            <a:ext cx="8077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Verdana"/>
                <a:cs typeface="Verdana"/>
              </a:rPr>
              <a:t>Словарь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/>
              <a:t>One-hot</a:t>
            </a:r>
            <a:r>
              <a:rPr sz="2700" spc="325" dirty="0"/>
              <a:t> </a:t>
            </a:r>
            <a:r>
              <a:rPr sz="2700" spc="-10" dirty="0"/>
              <a:t>encoding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384725" y="1218345"/>
            <a:ext cx="5708015" cy="254952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spc="-10" dirty="0">
                <a:latin typeface="Calibri"/>
                <a:cs typeface="Calibri"/>
              </a:rPr>
              <a:t>Недостатки:</a:t>
            </a:r>
            <a:endParaRPr sz="1600">
              <a:latin typeface="Calibri"/>
              <a:cs typeface="Calibri"/>
            </a:endParaRPr>
          </a:p>
          <a:p>
            <a:pPr marL="469265" indent="-303530">
              <a:lnSpc>
                <a:spcPct val="100000"/>
              </a:lnSpc>
              <a:spcBef>
                <a:spcPts val="290"/>
              </a:spcBef>
              <a:buChar char="-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Векторы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не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отражают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смысл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слова.</a:t>
            </a:r>
            <a:endParaRPr sz="16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90"/>
              </a:spcBef>
            </a:pPr>
            <a:r>
              <a:rPr sz="1600" dirty="0">
                <a:latin typeface="Calibri"/>
                <a:cs typeface="Calibri"/>
              </a:rPr>
              <a:t>Нельзя</a:t>
            </a:r>
            <a:r>
              <a:rPr sz="1600" spc="1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измерить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“похожесть”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двух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смыслу;</a:t>
            </a:r>
            <a:endParaRPr sz="1600">
              <a:latin typeface="Calibri"/>
              <a:cs typeface="Calibri"/>
            </a:endParaRPr>
          </a:p>
          <a:p>
            <a:pPr marL="469900" marR="419100" indent="-304165">
              <a:lnSpc>
                <a:spcPct val="114999"/>
              </a:lnSpc>
              <a:buChar char="-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Векторы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spc="-35" dirty="0">
                <a:latin typeface="Calibri"/>
                <a:cs typeface="Calibri"/>
              </a:rPr>
              <a:t>довольно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разрежены,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требуют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много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лишней памяти;</a:t>
            </a:r>
            <a:endParaRPr sz="1600">
              <a:latin typeface="Calibri"/>
              <a:cs typeface="Calibri"/>
            </a:endParaRPr>
          </a:p>
          <a:p>
            <a:pPr marL="469265" indent="-303530">
              <a:lnSpc>
                <a:spcPct val="100000"/>
              </a:lnSpc>
              <a:spcBef>
                <a:spcPts val="285"/>
              </a:spcBef>
              <a:buChar char="-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Размер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словаря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ограничен.</a:t>
            </a:r>
            <a:endParaRPr sz="16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90"/>
              </a:spcBef>
            </a:pPr>
            <a:r>
              <a:rPr sz="1600" dirty="0">
                <a:latin typeface="Calibri"/>
                <a:cs typeface="Calibri"/>
              </a:rPr>
              <a:t>Слова,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не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попавшие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словарь,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не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могут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быть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обработаны.</a:t>
            </a:r>
            <a:endParaRPr sz="1600">
              <a:latin typeface="Calibri"/>
              <a:cs typeface="Calibri"/>
            </a:endParaRPr>
          </a:p>
          <a:p>
            <a:pPr marL="469900" marR="325120" indent="-304165">
              <a:lnSpc>
                <a:spcPct val="114999"/>
              </a:lnSpc>
              <a:buChar char="-"/>
              <a:tabLst>
                <a:tab pos="469900" algn="l"/>
              </a:tabLst>
            </a:pPr>
            <a:r>
              <a:rPr sz="1600" spc="80" dirty="0">
                <a:latin typeface="Calibri"/>
                <a:cs typeface="Calibri"/>
              </a:rPr>
              <a:t>При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изменении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размера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словаря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нужно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пересчитывать </a:t>
            </a:r>
            <a:r>
              <a:rPr sz="1600" dirty="0">
                <a:latin typeface="Calibri"/>
                <a:cs typeface="Calibri"/>
              </a:rPr>
              <a:t>векторы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заново.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Мешок</a:t>
            </a:r>
            <a:r>
              <a:rPr spc="114" dirty="0"/>
              <a:t> </a:t>
            </a:r>
            <a:r>
              <a:rPr dirty="0"/>
              <a:t>слов</a:t>
            </a:r>
            <a:r>
              <a:rPr spc="120" dirty="0"/>
              <a:t> </a:t>
            </a:r>
            <a:r>
              <a:rPr spc="215" dirty="0"/>
              <a:t>(Bag</a:t>
            </a:r>
            <a:r>
              <a:rPr spc="120" dirty="0"/>
              <a:t> </a:t>
            </a:r>
            <a:r>
              <a:rPr dirty="0"/>
              <a:t>of</a:t>
            </a:r>
            <a:r>
              <a:rPr spc="114" dirty="0"/>
              <a:t> </a:t>
            </a:r>
            <a:r>
              <a:rPr spc="75" dirty="0"/>
              <a:t>Words,</a:t>
            </a:r>
            <a:r>
              <a:rPr spc="120" dirty="0"/>
              <a:t> </a:t>
            </a:r>
            <a:r>
              <a:rPr spc="175" dirty="0"/>
              <a:t>BoG)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8345"/>
            <a:ext cx="4885690" cy="1147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600" spc="140" dirty="0">
                <a:latin typeface="Calibri"/>
                <a:cs typeface="Calibri"/>
              </a:rPr>
              <a:t>На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основе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one-hot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кодирования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можно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построить </a:t>
            </a:r>
            <a:r>
              <a:rPr sz="1600" spc="-20" dirty="0">
                <a:latin typeface="Calibri"/>
                <a:cs typeface="Calibri"/>
              </a:rPr>
              <a:t>кодирование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предложений.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Вектор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предложения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spc="145" dirty="0">
                <a:latin typeface="Calibri"/>
                <a:cs typeface="Calibri"/>
              </a:rPr>
              <a:t>—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сумма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векторов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его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слов.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Мешок</a:t>
            </a:r>
            <a:r>
              <a:rPr spc="114" dirty="0"/>
              <a:t> </a:t>
            </a:r>
            <a:r>
              <a:rPr dirty="0"/>
              <a:t>слов</a:t>
            </a:r>
            <a:r>
              <a:rPr spc="120" dirty="0"/>
              <a:t> </a:t>
            </a:r>
            <a:r>
              <a:rPr spc="215" dirty="0"/>
              <a:t>(Bag</a:t>
            </a:r>
            <a:r>
              <a:rPr spc="120" dirty="0"/>
              <a:t> </a:t>
            </a:r>
            <a:r>
              <a:rPr dirty="0"/>
              <a:t>of</a:t>
            </a:r>
            <a:r>
              <a:rPr spc="114" dirty="0"/>
              <a:t> </a:t>
            </a:r>
            <a:r>
              <a:rPr spc="75" dirty="0"/>
              <a:t>Words,</a:t>
            </a:r>
            <a:r>
              <a:rPr spc="120" dirty="0"/>
              <a:t> </a:t>
            </a:r>
            <a:r>
              <a:rPr spc="175" dirty="0"/>
              <a:t>BoG)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11371" y="1823650"/>
            <a:ext cx="30346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4335" indent="-34480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394335" algn="l"/>
              </a:tabLst>
            </a:pPr>
            <a:r>
              <a:rPr sz="1400" b="1" spc="-75" dirty="0">
                <a:latin typeface="Verdana"/>
                <a:cs typeface="Verdana"/>
              </a:rPr>
              <a:t>a </a:t>
            </a:r>
            <a:r>
              <a:rPr sz="1400" b="1" spc="-45" dirty="0">
                <a:latin typeface="Verdana"/>
                <a:cs typeface="Verdana"/>
              </a:rPr>
              <a:t>cat</a:t>
            </a:r>
            <a:r>
              <a:rPr sz="1400" b="1" spc="-75" dirty="0">
                <a:latin typeface="Verdana"/>
                <a:cs typeface="Verdana"/>
              </a:rPr>
              <a:t> </a:t>
            </a:r>
            <a:r>
              <a:rPr sz="1400" b="1" spc="-50" dirty="0">
                <a:latin typeface="Verdana"/>
                <a:cs typeface="Verdana"/>
              </a:rPr>
              <a:t>and</a:t>
            </a:r>
            <a:r>
              <a:rPr sz="1400" b="1" spc="-75" dirty="0">
                <a:latin typeface="Verdana"/>
                <a:cs typeface="Verdana"/>
              </a:rPr>
              <a:t> a</a:t>
            </a:r>
            <a:r>
              <a:rPr sz="1400" b="1" spc="-70" dirty="0">
                <a:latin typeface="Verdana"/>
                <a:cs typeface="Verdana"/>
              </a:rPr>
              <a:t> </a:t>
            </a:r>
            <a:r>
              <a:rPr sz="1400" b="1" spc="-20" dirty="0">
                <a:latin typeface="Verdana"/>
                <a:cs typeface="Verdana"/>
              </a:rPr>
              <a:t>dog</a:t>
            </a:r>
            <a:r>
              <a:rPr sz="1400" b="1" spc="-75" dirty="0">
                <a:latin typeface="Verdana"/>
                <a:cs typeface="Verdana"/>
              </a:rPr>
              <a:t> </a:t>
            </a:r>
            <a:r>
              <a:rPr sz="1400" b="1" spc="-90" dirty="0">
                <a:latin typeface="Verdana"/>
                <a:cs typeface="Verdana"/>
              </a:rPr>
              <a:t>are</a:t>
            </a:r>
            <a:r>
              <a:rPr sz="1400" b="1" spc="-75" dirty="0">
                <a:latin typeface="Verdana"/>
                <a:cs typeface="Verdana"/>
              </a:rPr>
              <a:t> </a:t>
            </a:r>
            <a:r>
              <a:rPr sz="1400" b="1" spc="-25" dirty="0">
                <a:latin typeface="Verdana"/>
                <a:cs typeface="Verdana"/>
              </a:rPr>
              <a:t>sleeping</a:t>
            </a:r>
            <a:endParaRPr sz="1400">
              <a:latin typeface="Verdana"/>
              <a:cs typeface="Verdana"/>
            </a:endParaRPr>
          </a:p>
          <a:p>
            <a:pPr marL="394335" indent="-381635">
              <a:lnSpc>
                <a:spcPct val="100000"/>
              </a:lnSpc>
              <a:buAutoNum type="arabicPeriod"/>
              <a:tabLst>
                <a:tab pos="394335" algn="l"/>
              </a:tabLst>
            </a:pPr>
            <a:r>
              <a:rPr sz="1400" b="1" spc="-75" dirty="0">
                <a:latin typeface="Verdana"/>
                <a:cs typeface="Verdana"/>
              </a:rPr>
              <a:t>a</a:t>
            </a:r>
            <a:r>
              <a:rPr sz="1400" b="1" spc="-80" dirty="0">
                <a:latin typeface="Verdana"/>
                <a:cs typeface="Verdana"/>
              </a:rPr>
              <a:t> </a:t>
            </a:r>
            <a:r>
              <a:rPr sz="1400" b="1" spc="-20" dirty="0">
                <a:latin typeface="Verdana"/>
                <a:cs typeface="Verdana"/>
              </a:rPr>
              <a:t>dog</a:t>
            </a:r>
            <a:r>
              <a:rPr sz="1400" b="1" spc="-80" dirty="0">
                <a:latin typeface="Verdana"/>
                <a:cs typeface="Verdana"/>
              </a:rPr>
              <a:t> is </a:t>
            </a:r>
            <a:r>
              <a:rPr sz="1400" b="1" spc="-10" dirty="0">
                <a:latin typeface="Verdana"/>
                <a:cs typeface="Verdana"/>
              </a:rPr>
              <a:t>walking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24165" y="3197075"/>
            <a:ext cx="40239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381000" algn="l"/>
              </a:tabLst>
            </a:pPr>
            <a:r>
              <a:rPr sz="1400" spc="-330" dirty="0">
                <a:latin typeface="Verdana"/>
                <a:cs typeface="Verdana"/>
              </a:rPr>
              <a:t>1.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204" dirty="0">
                <a:latin typeface="Verdana"/>
                <a:cs typeface="Verdana"/>
              </a:rPr>
              <a:t>[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60" dirty="0">
                <a:latin typeface="Verdana"/>
                <a:cs typeface="Verdana"/>
              </a:rPr>
              <a:t>2,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305" dirty="0">
                <a:latin typeface="Verdana"/>
                <a:cs typeface="Verdana"/>
              </a:rPr>
              <a:t>1,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0,</a:t>
            </a:r>
            <a:r>
              <a:rPr sz="1400" spc="15" dirty="0">
                <a:latin typeface="Verdana"/>
                <a:cs typeface="Verdana"/>
              </a:rPr>
              <a:t> </a:t>
            </a:r>
            <a:r>
              <a:rPr sz="1400" spc="-254" dirty="0">
                <a:latin typeface="Verdana"/>
                <a:cs typeface="Verdana"/>
              </a:rPr>
              <a:t>…</a:t>
            </a:r>
            <a:r>
              <a:rPr sz="1400" spc="215" dirty="0">
                <a:latin typeface="Verdana"/>
                <a:cs typeface="Verdana"/>
              </a:rPr>
              <a:t> </a:t>
            </a:r>
            <a:r>
              <a:rPr sz="1400" spc="-305" dirty="0">
                <a:latin typeface="Verdana"/>
                <a:cs typeface="Verdana"/>
              </a:rPr>
              <a:t>1,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0,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14" dirty="0">
                <a:latin typeface="Verdana"/>
                <a:cs typeface="Verdana"/>
              </a:rPr>
              <a:t>…,</a:t>
            </a:r>
            <a:r>
              <a:rPr sz="1400" spc="210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0,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305" dirty="0">
                <a:latin typeface="Verdana"/>
                <a:cs typeface="Verdana"/>
              </a:rPr>
              <a:t>1,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0,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254" dirty="0">
                <a:latin typeface="Verdana"/>
                <a:cs typeface="Verdana"/>
              </a:rPr>
              <a:t>…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305" dirty="0">
                <a:latin typeface="Verdana"/>
                <a:cs typeface="Verdana"/>
              </a:rPr>
              <a:t>1,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05" dirty="0">
                <a:latin typeface="Verdana"/>
                <a:cs typeface="Verdana"/>
              </a:rPr>
              <a:t>0,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240" dirty="0">
                <a:latin typeface="Verdana"/>
                <a:cs typeface="Verdana"/>
              </a:rPr>
              <a:t>…,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0,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240" dirty="0">
                <a:latin typeface="Verdana"/>
                <a:cs typeface="Verdana"/>
              </a:rPr>
              <a:t>…,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305" dirty="0">
                <a:latin typeface="Verdana"/>
                <a:cs typeface="Verdana"/>
              </a:rPr>
              <a:t>1,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254" dirty="0">
                <a:latin typeface="Verdana"/>
                <a:cs typeface="Verdana"/>
              </a:rPr>
              <a:t>…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0]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tabLst>
                <a:tab pos="381000" algn="l"/>
              </a:tabLst>
            </a:pPr>
            <a:r>
              <a:rPr sz="1400" spc="-25" dirty="0">
                <a:latin typeface="Verdana"/>
                <a:cs typeface="Verdana"/>
              </a:rPr>
              <a:t>2.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204" dirty="0">
                <a:latin typeface="Verdana"/>
                <a:cs typeface="Verdana"/>
              </a:rPr>
              <a:t>[</a:t>
            </a:r>
            <a:r>
              <a:rPr sz="1400" spc="-140" dirty="0">
                <a:latin typeface="Verdana"/>
                <a:cs typeface="Verdana"/>
              </a:rPr>
              <a:t> </a:t>
            </a:r>
            <a:r>
              <a:rPr sz="1400" spc="-305" dirty="0">
                <a:latin typeface="Verdana"/>
                <a:cs typeface="Verdana"/>
              </a:rPr>
              <a:t>1,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0,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0,</a:t>
            </a:r>
            <a:r>
              <a:rPr sz="1400" spc="10" dirty="0">
                <a:latin typeface="Verdana"/>
                <a:cs typeface="Verdana"/>
              </a:rPr>
              <a:t> </a:t>
            </a:r>
            <a:r>
              <a:rPr sz="1400" spc="-254" dirty="0">
                <a:latin typeface="Verdana"/>
                <a:cs typeface="Verdana"/>
              </a:rPr>
              <a:t>…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0,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0,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240" dirty="0">
                <a:latin typeface="Verdana"/>
                <a:cs typeface="Verdana"/>
              </a:rPr>
              <a:t>…,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0,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0,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0,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295" dirty="0">
                <a:latin typeface="Verdana"/>
                <a:cs typeface="Verdana"/>
              </a:rPr>
              <a:t>…1,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0,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14" dirty="0">
                <a:latin typeface="Verdana"/>
                <a:cs typeface="Verdana"/>
              </a:rPr>
              <a:t>…,</a:t>
            </a:r>
            <a:r>
              <a:rPr sz="1400" spc="215" dirty="0">
                <a:latin typeface="Verdana"/>
                <a:cs typeface="Verdana"/>
              </a:rPr>
              <a:t> </a:t>
            </a:r>
            <a:r>
              <a:rPr sz="1400" spc="-305" dirty="0">
                <a:latin typeface="Verdana"/>
                <a:cs typeface="Verdana"/>
              </a:rPr>
              <a:t>1,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240" dirty="0">
                <a:latin typeface="Verdana"/>
                <a:cs typeface="Verdana"/>
              </a:rPr>
              <a:t>…,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0,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…0]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842779" y="3770199"/>
            <a:ext cx="41275" cy="182245"/>
            <a:chOff x="2842779" y="3770199"/>
            <a:chExt cx="41275" cy="182245"/>
          </a:xfrm>
        </p:grpSpPr>
        <p:sp>
          <p:nvSpPr>
            <p:cNvPr id="6" name="object 6"/>
            <p:cNvSpPr/>
            <p:nvPr/>
          </p:nvSpPr>
          <p:spPr>
            <a:xfrm>
              <a:off x="2863275" y="3818187"/>
              <a:ext cx="0" cy="134620"/>
            </a:xfrm>
            <a:custGeom>
              <a:avLst/>
              <a:gdLst/>
              <a:ahLst/>
              <a:cxnLst/>
              <a:rect l="l" t="t" r="r" b="b"/>
              <a:pathLst>
                <a:path h="134620">
                  <a:moveTo>
                    <a:pt x="0" y="134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47542" y="3774961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47542" y="3774961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805775" y="4075691"/>
            <a:ext cx="290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34343"/>
                </a:solidFill>
                <a:latin typeface="Tahoma"/>
                <a:cs typeface="Tahoma"/>
              </a:rPr>
              <a:t>1</a:t>
            </a:r>
            <a:r>
              <a:rPr sz="1200" spc="360" dirty="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434343"/>
                </a:solidFill>
                <a:latin typeface="Tahoma"/>
                <a:cs typeface="Tahoma"/>
              </a:rPr>
              <a:t>2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11996" y="4075691"/>
            <a:ext cx="202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434343"/>
                </a:solidFill>
                <a:latin typeface="Tahoma"/>
                <a:cs typeface="Tahoma"/>
              </a:rPr>
              <a:t>14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306458" y="4075691"/>
            <a:ext cx="7912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3080" algn="l"/>
              </a:tabLst>
            </a:pPr>
            <a:r>
              <a:rPr sz="1200" spc="-25" dirty="0">
                <a:solidFill>
                  <a:srgbClr val="434343"/>
                </a:solidFill>
                <a:latin typeface="Tahoma"/>
                <a:cs typeface="Tahoma"/>
              </a:rPr>
              <a:t>145</a:t>
            </a:r>
            <a:r>
              <a:rPr sz="1200" dirty="0">
                <a:solidFill>
                  <a:srgbClr val="434343"/>
                </a:solidFill>
                <a:latin typeface="Tahoma"/>
                <a:cs typeface="Tahoma"/>
              </a:rPr>
              <a:t>	</a:t>
            </a:r>
            <a:r>
              <a:rPr sz="1200" spc="-25" dirty="0">
                <a:solidFill>
                  <a:srgbClr val="434343"/>
                </a:solidFill>
                <a:latin typeface="Tahoma"/>
                <a:cs typeface="Tahoma"/>
              </a:rPr>
              <a:t>257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425074" y="4075691"/>
            <a:ext cx="762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34343"/>
                </a:solidFill>
                <a:latin typeface="Tahoma"/>
                <a:cs typeface="Tahoma"/>
              </a:rPr>
              <a:t>678</a:t>
            </a:r>
            <a:r>
              <a:rPr sz="1200" spc="155" dirty="0">
                <a:solidFill>
                  <a:srgbClr val="434343"/>
                </a:solidFill>
                <a:latin typeface="Tahoma"/>
                <a:cs typeface="Tahoma"/>
              </a:rPr>
              <a:t>  </a:t>
            </a:r>
            <a:r>
              <a:rPr sz="1200" spc="-20" dirty="0">
                <a:solidFill>
                  <a:srgbClr val="434343"/>
                </a:solidFill>
                <a:latin typeface="Tahoma"/>
                <a:cs typeface="Tahoma"/>
              </a:rPr>
              <a:t>1537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44475" y="2782600"/>
            <a:ext cx="26790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70" dirty="0">
                <a:latin typeface="Verdana"/>
                <a:cs typeface="Verdana"/>
              </a:rPr>
              <a:t>BoW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для</a:t>
            </a:r>
            <a:r>
              <a:rPr sz="1400" spc="-10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этих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предложений: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012579" y="3770199"/>
            <a:ext cx="41275" cy="182245"/>
            <a:chOff x="3012579" y="3770199"/>
            <a:chExt cx="41275" cy="182245"/>
          </a:xfrm>
        </p:grpSpPr>
        <p:sp>
          <p:nvSpPr>
            <p:cNvPr id="15" name="object 15"/>
            <p:cNvSpPr/>
            <p:nvPr/>
          </p:nvSpPr>
          <p:spPr>
            <a:xfrm>
              <a:off x="3033074" y="3818187"/>
              <a:ext cx="0" cy="134620"/>
            </a:xfrm>
            <a:custGeom>
              <a:avLst/>
              <a:gdLst/>
              <a:ahLst/>
              <a:cxnLst/>
              <a:rect l="l" t="t" r="r" b="b"/>
              <a:pathLst>
                <a:path h="134620">
                  <a:moveTo>
                    <a:pt x="0" y="134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17342" y="3774961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017342" y="3774961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8" name="object 18"/>
          <p:cNvGrpSpPr/>
          <p:nvPr/>
        </p:nvGrpSpPr>
        <p:grpSpPr>
          <a:xfrm>
            <a:off x="3626229" y="3770199"/>
            <a:ext cx="41275" cy="182245"/>
            <a:chOff x="3626229" y="3770199"/>
            <a:chExt cx="41275" cy="182245"/>
          </a:xfrm>
        </p:grpSpPr>
        <p:sp>
          <p:nvSpPr>
            <p:cNvPr id="19" name="object 19"/>
            <p:cNvSpPr/>
            <p:nvPr/>
          </p:nvSpPr>
          <p:spPr>
            <a:xfrm>
              <a:off x="3646725" y="3818187"/>
              <a:ext cx="0" cy="134620"/>
            </a:xfrm>
            <a:custGeom>
              <a:avLst/>
              <a:gdLst/>
              <a:ahLst/>
              <a:cxnLst/>
              <a:rect l="l" t="t" r="r" b="b"/>
              <a:pathLst>
                <a:path h="134620">
                  <a:moveTo>
                    <a:pt x="0" y="134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30992" y="3774961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30992" y="3774961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4440079" y="3770199"/>
            <a:ext cx="41275" cy="182245"/>
            <a:chOff x="4440079" y="3770199"/>
            <a:chExt cx="41275" cy="182245"/>
          </a:xfrm>
        </p:grpSpPr>
        <p:sp>
          <p:nvSpPr>
            <p:cNvPr id="23" name="object 23"/>
            <p:cNvSpPr/>
            <p:nvPr/>
          </p:nvSpPr>
          <p:spPr>
            <a:xfrm>
              <a:off x="4460575" y="3818187"/>
              <a:ext cx="0" cy="134620"/>
            </a:xfrm>
            <a:custGeom>
              <a:avLst/>
              <a:gdLst/>
              <a:ahLst/>
              <a:cxnLst/>
              <a:rect l="l" t="t" r="r" b="b"/>
              <a:pathLst>
                <a:path h="134620">
                  <a:moveTo>
                    <a:pt x="0" y="134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44842" y="3774961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444842" y="3774961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4949304" y="3755924"/>
            <a:ext cx="41275" cy="182245"/>
            <a:chOff x="4949304" y="3755924"/>
            <a:chExt cx="41275" cy="182245"/>
          </a:xfrm>
        </p:grpSpPr>
        <p:sp>
          <p:nvSpPr>
            <p:cNvPr id="27" name="object 27"/>
            <p:cNvSpPr/>
            <p:nvPr/>
          </p:nvSpPr>
          <p:spPr>
            <a:xfrm>
              <a:off x="4969800" y="3803912"/>
              <a:ext cx="0" cy="134620"/>
            </a:xfrm>
            <a:custGeom>
              <a:avLst/>
              <a:gdLst/>
              <a:ahLst/>
              <a:cxnLst/>
              <a:rect l="l" t="t" r="r" b="b"/>
              <a:pathLst>
                <a:path h="134620">
                  <a:moveTo>
                    <a:pt x="0" y="134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954067" y="376068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954067" y="376068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5554254" y="3755924"/>
            <a:ext cx="41275" cy="182245"/>
            <a:chOff x="5554254" y="3755924"/>
            <a:chExt cx="41275" cy="182245"/>
          </a:xfrm>
        </p:grpSpPr>
        <p:sp>
          <p:nvSpPr>
            <p:cNvPr id="31" name="object 31"/>
            <p:cNvSpPr/>
            <p:nvPr/>
          </p:nvSpPr>
          <p:spPr>
            <a:xfrm>
              <a:off x="5574750" y="3803912"/>
              <a:ext cx="0" cy="134620"/>
            </a:xfrm>
            <a:custGeom>
              <a:avLst/>
              <a:gdLst/>
              <a:ahLst/>
              <a:cxnLst/>
              <a:rect l="l" t="t" r="r" b="b"/>
              <a:pathLst>
                <a:path h="134620">
                  <a:moveTo>
                    <a:pt x="0" y="134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559017" y="376068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559017" y="376068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5932954" y="3770199"/>
            <a:ext cx="41275" cy="182245"/>
            <a:chOff x="5932954" y="3770199"/>
            <a:chExt cx="41275" cy="182245"/>
          </a:xfrm>
        </p:grpSpPr>
        <p:sp>
          <p:nvSpPr>
            <p:cNvPr id="35" name="object 35"/>
            <p:cNvSpPr/>
            <p:nvPr/>
          </p:nvSpPr>
          <p:spPr>
            <a:xfrm>
              <a:off x="5953450" y="3818187"/>
              <a:ext cx="0" cy="134620"/>
            </a:xfrm>
            <a:custGeom>
              <a:avLst/>
              <a:gdLst/>
              <a:ahLst/>
              <a:cxnLst/>
              <a:rect l="l" t="t" r="r" b="b"/>
              <a:pathLst>
                <a:path h="134620">
                  <a:moveTo>
                    <a:pt x="0" y="134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937717" y="3774961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5937717" y="3774961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146249" y="1528625"/>
            <a:ext cx="1664335" cy="3014980"/>
          </a:xfrm>
          <a:prstGeom prst="rect">
            <a:avLst/>
          </a:prstGeom>
          <a:ln w="9524">
            <a:solidFill>
              <a:srgbClr val="000000"/>
            </a:solidFill>
          </a:ln>
        </p:spPr>
        <p:txBody>
          <a:bodyPr vert="horz" wrap="square" lIns="0" tIns="254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"/>
              </a:spcBef>
            </a:pPr>
            <a:endParaRPr sz="1200">
              <a:latin typeface="Times New Roman"/>
              <a:cs typeface="Times New Roman"/>
            </a:endParaRPr>
          </a:p>
          <a:p>
            <a:pPr marL="748665" indent="-315595">
              <a:lnSpc>
                <a:spcPct val="100000"/>
              </a:lnSpc>
              <a:buAutoNum type="arabicPeriod"/>
              <a:tabLst>
                <a:tab pos="748665" algn="l"/>
              </a:tabLst>
            </a:pPr>
            <a:r>
              <a:rPr sz="1200" spc="-50" dirty="0">
                <a:solidFill>
                  <a:srgbClr val="434343"/>
                </a:solidFill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  <a:p>
            <a:pPr marL="716280" indent="-280035">
              <a:lnSpc>
                <a:spcPct val="100000"/>
              </a:lnSpc>
              <a:spcBef>
                <a:spcPts val="980"/>
              </a:spcBef>
              <a:buAutoNum type="arabicPeriod"/>
              <a:tabLst>
                <a:tab pos="716280" algn="l"/>
              </a:tabLst>
            </a:pPr>
            <a:r>
              <a:rPr sz="1200" spc="-25" dirty="0">
                <a:solidFill>
                  <a:srgbClr val="595959"/>
                </a:solidFill>
                <a:latin typeface="Verdana"/>
                <a:cs typeface="Verdana"/>
              </a:rPr>
              <a:t>and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200">
              <a:latin typeface="Verdana"/>
              <a:cs typeface="Verdana"/>
            </a:endParaRPr>
          </a:p>
          <a:p>
            <a:pPr marL="316865">
              <a:lnSpc>
                <a:spcPct val="100000"/>
              </a:lnSpc>
              <a:tabLst>
                <a:tab pos="707390" algn="l"/>
              </a:tabLst>
            </a:pPr>
            <a:r>
              <a:rPr sz="1200" spc="-25" dirty="0">
                <a:solidFill>
                  <a:srgbClr val="595959"/>
                </a:solidFill>
                <a:latin typeface="Verdana"/>
                <a:cs typeface="Verdana"/>
              </a:rPr>
              <a:t>14.</a:t>
            </a:r>
            <a:r>
              <a:rPr sz="1200" dirty="0">
                <a:solidFill>
                  <a:srgbClr val="595959"/>
                </a:solidFill>
                <a:latin typeface="Verdana"/>
                <a:cs typeface="Verdana"/>
              </a:rPr>
              <a:t>	</a:t>
            </a:r>
            <a:r>
              <a:rPr sz="1200" spc="-25" dirty="0">
                <a:solidFill>
                  <a:srgbClr val="595959"/>
                </a:solidFill>
                <a:latin typeface="Verdana"/>
                <a:cs typeface="Verdana"/>
              </a:rPr>
              <a:t>are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200">
              <a:latin typeface="Verdana"/>
              <a:cs typeface="Verdana"/>
            </a:endParaRPr>
          </a:p>
          <a:p>
            <a:pPr marL="236854">
              <a:lnSpc>
                <a:spcPct val="100000"/>
              </a:lnSpc>
              <a:tabLst>
                <a:tab pos="710565" algn="l"/>
              </a:tabLst>
            </a:pPr>
            <a:r>
              <a:rPr sz="1200" spc="-20" dirty="0">
                <a:solidFill>
                  <a:srgbClr val="595959"/>
                </a:solidFill>
                <a:latin typeface="Verdana"/>
                <a:cs typeface="Verdana"/>
              </a:rPr>
              <a:t>145.</a:t>
            </a:r>
            <a:r>
              <a:rPr sz="1200" dirty="0">
                <a:solidFill>
                  <a:srgbClr val="595959"/>
                </a:solidFill>
                <a:latin typeface="Verdana"/>
                <a:cs typeface="Verdana"/>
              </a:rPr>
              <a:t>	</a:t>
            </a:r>
            <a:r>
              <a:rPr sz="1200" spc="-25" dirty="0">
                <a:solidFill>
                  <a:srgbClr val="595959"/>
                </a:solidFill>
                <a:latin typeface="Verdana"/>
                <a:cs typeface="Verdana"/>
              </a:rPr>
              <a:t>cat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65"/>
              </a:spcBef>
            </a:pPr>
            <a:endParaRPr sz="1200">
              <a:latin typeface="Verdana"/>
              <a:cs typeface="Verdana"/>
            </a:endParaRPr>
          </a:p>
          <a:p>
            <a:pPr marL="236854">
              <a:lnSpc>
                <a:spcPct val="100000"/>
              </a:lnSpc>
              <a:tabLst>
                <a:tab pos="721360" algn="l"/>
              </a:tabLst>
            </a:pPr>
            <a:r>
              <a:rPr sz="1200" spc="-20" dirty="0">
                <a:solidFill>
                  <a:srgbClr val="595959"/>
                </a:solidFill>
                <a:latin typeface="Verdana"/>
                <a:cs typeface="Verdana"/>
              </a:rPr>
              <a:t>257.</a:t>
            </a:r>
            <a:r>
              <a:rPr sz="1200" dirty="0">
                <a:solidFill>
                  <a:srgbClr val="595959"/>
                </a:solidFill>
                <a:latin typeface="Verdana"/>
                <a:cs typeface="Verdana"/>
              </a:rPr>
              <a:t>	</a:t>
            </a:r>
            <a:r>
              <a:rPr sz="1200" spc="25" dirty="0">
                <a:solidFill>
                  <a:srgbClr val="595959"/>
                </a:solidFill>
                <a:latin typeface="Verdana"/>
                <a:cs typeface="Verdana"/>
              </a:rPr>
              <a:t>dog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200">
              <a:latin typeface="Verdana"/>
              <a:cs typeface="Verdana"/>
            </a:endParaRPr>
          </a:p>
          <a:p>
            <a:pPr marL="236854">
              <a:lnSpc>
                <a:spcPct val="100000"/>
              </a:lnSpc>
              <a:tabLst>
                <a:tab pos="746125" algn="l"/>
              </a:tabLst>
            </a:pPr>
            <a:r>
              <a:rPr sz="1200" spc="-20" dirty="0">
                <a:solidFill>
                  <a:srgbClr val="595959"/>
                </a:solidFill>
                <a:latin typeface="Verdana"/>
                <a:cs typeface="Verdana"/>
              </a:rPr>
              <a:t>678.</a:t>
            </a:r>
            <a:r>
              <a:rPr sz="1200" dirty="0">
                <a:solidFill>
                  <a:srgbClr val="595959"/>
                </a:solidFill>
                <a:latin typeface="Verdana"/>
                <a:cs typeface="Verdana"/>
              </a:rPr>
              <a:t>	</a:t>
            </a:r>
            <a:r>
              <a:rPr sz="1200" spc="-25" dirty="0">
                <a:solidFill>
                  <a:srgbClr val="595959"/>
                </a:solidFill>
                <a:latin typeface="Verdana"/>
                <a:cs typeface="Verdana"/>
              </a:rPr>
              <a:t>is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1200">
              <a:latin typeface="Verdana"/>
              <a:cs typeface="Verdana"/>
            </a:endParaRPr>
          </a:p>
          <a:p>
            <a:pPr marL="156845">
              <a:lnSpc>
                <a:spcPct val="100000"/>
              </a:lnSpc>
              <a:tabLst>
                <a:tab pos="735330" algn="l"/>
              </a:tabLst>
            </a:pPr>
            <a:r>
              <a:rPr sz="1200" spc="-10" dirty="0">
                <a:solidFill>
                  <a:srgbClr val="595959"/>
                </a:solidFill>
                <a:latin typeface="Verdana"/>
                <a:cs typeface="Verdana"/>
              </a:rPr>
              <a:t>1537.</a:t>
            </a:r>
            <a:r>
              <a:rPr sz="1200" dirty="0">
                <a:solidFill>
                  <a:srgbClr val="595959"/>
                </a:solidFill>
                <a:latin typeface="Verdana"/>
                <a:cs typeface="Verdana"/>
              </a:rPr>
              <a:t>	</a:t>
            </a:r>
            <a:r>
              <a:rPr sz="1200" spc="-10" dirty="0">
                <a:solidFill>
                  <a:srgbClr val="595959"/>
                </a:solidFill>
                <a:latin typeface="Verdana"/>
                <a:cs typeface="Verdana"/>
              </a:rPr>
              <a:t>sleeping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25375" y="1244437"/>
            <a:ext cx="80772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Verdana"/>
                <a:cs typeface="Verdana"/>
              </a:rPr>
              <a:t>Словарь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00" dirty="0"/>
              <a:t>Bag</a:t>
            </a:r>
            <a:r>
              <a:rPr sz="2700" spc="135" dirty="0"/>
              <a:t> </a:t>
            </a:r>
            <a:r>
              <a:rPr sz="2700" dirty="0"/>
              <a:t>of</a:t>
            </a:r>
            <a:r>
              <a:rPr sz="2700" spc="135" dirty="0"/>
              <a:t> </a:t>
            </a:r>
            <a:r>
              <a:rPr sz="2700" spc="65" dirty="0"/>
              <a:t>Words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384725" y="1218345"/>
            <a:ext cx="4970780" cy="311023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dirty="0">
                <a:latin typeface="Calibri"/>
                <a:cs typeface="Calibri"/>
              </a:rPr>
              <a:t>Наследуются</a:t>
            </a:r>
            <a:r>
              <a:rPr sz="1600" spc="2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все</a:t>
            </a:r>
            <a:r>
              <a:rPr sz="1600" spc="2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недостатки</a:t>
            </a:r>
            <a:r>
              <a:rPr sz="1600" spc="2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one-hot</a:t>
            </a:r>
            <a:r>
              <a:rPr sz="1600" spc="2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encoding:</a:t>
            </a:r>
            <a:endParaRPr sz="1600">
              <a:latin typeface="Calibri"/>
              <a:cs typeface="Calibri"/>
            </a:endParaRPr>
          </a:p>
          <a:p>
            <a:pPr marL="469900" marR="5080" indent="-304165">
              <a:lnSpc>
                <a:spcPct val="114999"/>
              </a:lnSpc>
              <a:buChar char="-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Векторы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предложений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не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очень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хорошо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отражают смысл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предложения.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Порядок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не</a:t>
            </a:r>
            <a:r>
              <a:rPr sz="1600" spc="5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учитывается;</a:t>
            </a:r>
            <a:endParaRPr sz="1600">
              <a:latin typeface="Calibri"/>
              <a:cs typeface="Calibri"/>
            </a:endParaRPr>
          </a:p>
          <a:p>
            <a:pPr marL="469900" marR="419734" indent="-304165">
              <a:lnSpc>
                <a:spcPct val="114999"/>
              </a:lnSpc>
              <a:buChar char="-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Векторы</a:t>
            </a:r>
            <a:r>
              <a:rPr sz="1600" spc="145" dirty="0">
                <a:latin typeface="Calibri"/>
                <a:cs typeface="Calibri"/>
              </a:rPr>
              <a:t> </a:t>
            </a:r>
            <a:r>
              <a:rPr sz="1600" spc="-35" dirty="0">
                <a:latin typeface="Calibri"/>
                <a:cs typeface="Calibri"/>
              </a:rPr>
              <a:t>довольно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разрежены,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требуют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много </a:t>
            </a:r>
            <a:r>
              <a:rPr sz="1600" dirty="0">
                <a:latin typeface="Calibri"/>
                <a:cs typeface="Calibri"/>
              </a:rPr>
              <a:t>лишней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памяти;</a:t>
            </a:r>
            <a:endParaRPr sz="1600">
              <a:latin typeface="Calibri"/>
              <a:cs typeface="Calibri"/>
            </a:endParaRPr>
          </a:p>
          <a:p>
            <a:pPr marL="469265" indent="-303530">
              <a:lnSpc>
                <a:spcPct val="100000"/>
              </a:lnSpc>
              <a:spcBef>
                <a:spcPts val="290"/>
              </a:spcBef>
              <a:buChar char="-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Фиксированный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размер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словаря.</a:t>
            </a:r>
            <a:endParaRPr sz="1600">
              <a:latin typeface="Calibri"/>
              <a:cs typeface="Calibri"/>
            </a:endParaRPr>
          </a:p>
          <a:p>
            <a:pPr marL="469900" marR="431800">
              <a:lnSpc>
                <a:spcPct val="114999"/>
              </a:lnSpc>
            </a:pPr>
            <a:r>
              <a:rPr sz="1600" dirty="0">
                <a:latin typeface="Calibri"/>
                <a:cs typeface="Calibri"/>
              </a:rPr>
              <a:t>Слова,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не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попавшие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словарь,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не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могут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быть </a:t>
            </a:r>
            <a:r>
              <a:rPr sz="1600" spc="-10" dirty="0">
                <a:latin typeface="Calibri"/>
                <a:cs typeface="Calibri"/>
              </a:rPr>
              <a:t>обработаны.</a:t>
            </a:r>
            <a:endParaRPr sz="1600">
              <a:latin typeface="Calibri"/>
              <a:cs typeface="Calibri"/>
            </a:endParaRPr>
          </a:p>
          <a:p>
            <a:pPr marL="469900" marR="966469" indent="-304165">
              <a:lnSpc>
                <a:spcPct val="114999"/>
              </a:lnSpc>
              <a:buChar char="-"/>
              <a:tabLst>
                <a:tab pos="469900" algn="l"/>
              </a:tabLst>
            </a:pPr>
            <a:r>
              <a:rPr sz="1600" spc="80" dirty="0">
                <a:latin typeface="Calibri"/>
                <a:cs typeface="Calibri"/>
              </a:rPr>
              <a:t>При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изменении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размера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словаря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нужно </a:t>
            </a:r>
            <a:r>
              <a:rPr sz="1600" dirty="0">
                <a:latin typeface="Calibri"/>
                <a:cs typeface="Calibri"/>
              </a:rPr>
              <a:t>пересчитывать</a:t>
            </a:r>
            <a:r>
              <a:rPr sz="1600" spc="2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векторы</a:t>
            </a:r>
            <a:r>
              <a:rPr sz="1600" spc="2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заново.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200" dirty="0"/>
              <a:t>Bag</a:t>
            </a:r>
            <a:r>
              <a:rPr sz="2700" spc="135" dirty="0"/>
              <a:t> </a:t>
            </a:r>
            <a:r>
              <a:rPr sz="2700" dirty="0"/>
              <a:t>of</a:t>
            </a:r>
            <a:r>
              <a:rPr sz="2700" spc="135" dirty="0"/>
              <a:t> </a:t>
            </a:r>
            <a:r>
              <a:rPr sz="2700" spc="65" dirty="0"/>
              <a:t>Words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384725" y="1218345"/>
            <a:ext cx="4255135" cy="2835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600" spc="80" dirty="0">
                <a:latin typeface="Calibri"/>
                <a:cs typeface="Calibri"/>
              </a:rPr>
              <a:t>Еще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один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недостаток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spc="145" dirty="0">
                <a:latin typeface="Calibri"/>
                <a:cs typeface="Calibri"/>
              </a:rPr>
              <a:t>BoW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spc="145" dirty="0">
                <a:latin typeface="Calibri"/>
                <a:cs typeface="Calibri"/>
              </a:rPr>
              <a:t>—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различные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слова </a:t>
            </a:r>
            <a:r>
              <a:rPr sz="1600" dirty="0">
                <a:latin typeface="Calibri"/>
                <a:cs typeface="Calibri"/>
              </a:rPr>
              <a:t>могут</a:t>
            </a:r>
            <a:r>
              <a:rPr sz="1600" spc="1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иметь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разную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важность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для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текста.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80"/>
              </a:spcBef>
            </a:pPr>
            <a:endParaRPr sz="1600">
              <a:latin typeface="Calibri"/>
              <a:cs typeface="Calibri"/>
            </a:endParaRPr>
          </a:p>
          <a:p>
            <a:pPr marL="597535" indent="-344805">
              <a:lnSpc>
                <a:spcPct val="100000"/>
              </a:lnSpc>
              <a:buAutoNum type="arabicPeriod"/>
              <a:tabLst>
                <a:tab pos="597535" algn="l"/>
              </a:tabLst>
            </a:pPr>
            <a:r>
              <a:rPr sz="1400" b="1" spc="-75" dirty="0">
                <a:latin typeface="Verdana"/>
                <a:cs typeface="Verdana"/>
              </a:rPr>
              <a:t>a </a:t>
            </a:r>
            <a:r>
              <a:rPr sz="1400" b="1" spc="-45" dirty="0">
                <a:latin typeface="Verdana"/>
                <a:cs typeface="Verdana"/>
              </a:rPr>
              <a:t>cat</a:t>
            </a:r>
            <a:r>
              <a:rPr sz="1400" b="1" spc="-75" dirty="0">
                <a:latin typeface="Verdana"/>
                <a:cs typeface="Verdana"/>
              </a:rPr>
              <a:t> </a:t>
            </a:r>
            <a:r>
              <a:rPr sz="1400" b="1" spc="-50" dirty="0">
                <a:latin typeface="Verdana"/>
                <a:cs typeface="Verdana"/>
              </a:rPr>
              <a:t>and</a:t>
            </a:r>
            <a:r>
              <a:rPr sz="1400" b="1" spc="-75" dirty="0">
                <a:latin typeface="Verdana"/>
                <a:cs typeface="Verdana"/>
              </a:rPr>
              <a:t> a</a:t>
            </a:r>
            <a:r>
              <a:rPr sz="1400" b="1" spc="-70" dirty="0">
                <a:latin typeface="Verdana"/>
                <a:cs typeface="Verdana"/>
              </a:rPr>
              <a:t> </a:t>
            </a:r>
            <a:r>
              <a:rPr sz="1400" b="1" spc="-20" dirty="0">
                <a:latin typeface="Verdana"/>
                <a:cs typeface="Verdana"/>
              </a:rPr>
              <a:t>dog</a:t>
            </a:r>
            <a:r>
              <a:rPr sz="1400" b="1" spc="-75" dirty="0">
                <a:latin typeface="Verdana"/>
                <a:cs typeface="Verdana"/>
              </a:rPr>
              <a:t> </a:t>
            </a:r>
            <a:r>
              <a:rPr sz="1400" b="1" spc="-90" dirty="0">
                <a:latin typeface="Verdana"/>
                <a:cs typeface="Verdana"/>
              </a:rPr>
              <a:t>are</a:t>
            </a:r>
            <a:r>
              <a:rPr sz="1400" b="1" spc="-75" dirty="0">
                <a:latin typeface="Verdana"/>
                <a:cs typeface="Verdana"/>
              </a:rPr>
              <a:t> </a:t>
            </a:r>
            <a:r>
              <a:rPr sz="1400" b="1" spc="-10" dirty="0">
                <a:latin typeface="Verdana"/>
                <a:cs typeface="Verdana"/>
              </a:rPr>
              <a:t>sleeping</a:t>
            </a:r>
            <a:endParaRPr sz="1400">
              <a:latin typeface="Verdana"/>
              <a:cs typeface="Verdana"/>
            </a:endParaRPr>
          </a:p>
          <a:p>
            <a:pPr marL="597535" indent="-381635">
              <a:lnSpc>
                <a:spcPct val="100000"/>
              </a:lnSpc>
              <a:buAutoNum type="arabicPeriod"/>
              <a:tabLst>
                <a:tab pos="597535" algn="l"/>
              </a:tabLst>
            </a:pPr>
            <a:r>
              <a:rPr sz="1400" b="1" spc="-75" dirty="0">
                <a:latin typeface="Verdana"/>
                <a:cs typeface="Verdana"/>
              </a:rPr>
              <a:t>a</a:t>
            </a:r>
            <a:r>
              <a:rPr sz="1400" b="1" spc="-80" dirty="0">
                <a:latin typeface="Verdana"/>
                <a:cs typeface="Verdana"/>
              </a:rPr>
              <a:t> </a:t>
            </a:r>
            <a:r>
              <a:rPr sz="1400" b="1" spc="-20" dirty="0">
                <a:latin typeface="Verdana"/>
                <a:cs typeface="Verdana"/>
              </a:rPr>
              <a:t>dog</a:t>
            </a:r>
            <a:r>
              <a:rPr sz="1400" b="1" spc="-80" dirty="0">
                <a:latin typeface="Verdana"/>
                <a:cs typeface="Verdana"/>
              </a:rPr>
              <a:t> is </a:t>
            </a:r>
            <a:r>
              <a:rPr sz="1400" b="1" spc="-10" dirty="0">
                <a:latin typeface="Verdana"/>
                <a:cs typeface="Verdana"/>
              </a:rPr>
              <a:t>walking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400">
              <a:latin typeface="Verdana"/>
              <a:cs typeface="Verdana"/>
            </a:endParaRPr>
          </a:p>
          <a:p>
            <a:pPr marL="248920">
              <a:lnSpc>
                <a:spcPct val="100000"/>
              </a:lnSpc>
            </a:pPr>
            <a:r>
              <a:rPr sz="1400" spc="70" dirty="0">
                <a:latin typeface="Verdana"/>
                <a:cs typeface="Verdana"/>
              </a:rPr>
              <a:t>BoW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для</a:t>
            </a:r>
            <a:r>
              <a:rPr sz="1400" spc="-10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этих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предложений:</a:t>
            </a:r>
            <a:endParaRPr sz="1400">
              <a:latin typeface="Verdana"/>
              <a:cs typeface="Verdana"/>
            </a:endParaRPr>
          </a:p>
          <a:p>
            <a:pPr marL="267335">
              <a:lnSpc>
                <a:spcPct val="100000"/>
              </a:lnSpc>
              <a:spcBef>
                <a:spcPts val="1585"/>
              </a:spcBef>
              <a:tabLst>
                <a:tab pos="597535" algn="l"/>
              </a:tabLst>
            </a:pPr>
            <a:r>
              <a:rPr sz="1400" spc="-330" dirty="0">
                <a:latin typeface="Verdana"/>
                <a:cs typeface="Verdana"/>
              </a:rPr>
              <a:t>1.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204" dirty="0">
                <a:latin typeface="Verdana"/>
                <a:cs typeface="Verdana"/>
              </a:rPr>
              <a:t>[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60" dirty="0">
                <a:latin typeface="Verdana"/>
                <a:cs typeface="Verdana"/>
              </a:rPr>
              <a:t>2,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305" dirty="0">
                <a:latin typeface="Verdana"/>
                <a:cs typeface="Verdana"/>
              </a:rPr>
              <a:t>1,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0,</a:t>
            </a:r>
            <a:r>
              <a:rPr sz="1400" spc="15" dirty="0">
                <a:latin typeface="Verdana"/>
                <a:cs typeface="Verdana"/>
              </a:rPr>
              <a:t> </a:t>
            </a:r>
            <a:r>
              <a:rPr sz="1400" spc="-254" dirty="0">
                <a:latin typeface="Verdana"/>
                <a:cs typeface="Verdana"/>
              </a:rPr>
              <a:t>…</a:t>
            </a:r>
            <a:r>
              <a:rPr sz="1400" spc="215" dirty="0">
                <a:latin typeface="Verdana"/>
                <a:cs typeface="Verdana"/>
              </a:rPr>
              <a:t> </a:t>
            </a:r>
            <a:r>
              <a:rPr sz="1400" spc="-305" dirty="0">
                <a:latin typeface="Verdana"/>
                <a:cs typeface="Verdana"/>
              </a:rPr>
              <a:t>1,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0,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14" dirty="0">
                <a:latin typeface="Verdana"/>
                <a:cs typeface="Verdana"/>
              </a:rPr>
              <a:t>…,</a:t>
            </a:r>
            <a:r>
              <a:rPr sz="1400" spc="210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0,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305" dirty="0">
                <a:latin typeface="Verdana"/>
                <a:cs typeface="Verdana"/>
              </a:rPr>
              <a:t>1,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0,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254" dirty="0">
                <a:latin typeface="Verdana"/>
                <a:cs typeface="Verdana"/>
              </a:rPr>
              <a:t>…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305" dirty="0">
                <a:latin typeface="Verdana"/>
                <a:cs typeface="Verdana"/>
              </a:rPr>
              <a:t>1,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05" dirty="0">
                <a:latin typeface="Verdana"/>
                <a:cs typeface="Verdana"/>
              </a:rPr>
              <a:t>0,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240" dirty="0">
                <a:latin typeface="Verdana"/>
                <a:cs typeface="Verdana"/>
              </a:rPr>
              <a:t>…,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0,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240" dirty="0">
                <a:latin typeface="Verdana"/>
                <a:cs typeface="Verdana"/>
              </a:rPr>
              <a:t>…,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305" dirty="0">
                <a:latin typeface="Verdana"/>
                <a:cs typeface="Verdana"/>
              </a:rPr>
              <a:t>1,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254" dirty="0">
                <a:latin typeface="Verdana"/>
                <a:cs typeface="Verdana"/>
              </a:rPr>
              <a:t>…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0]</a:t>
            </a:r>
            <a:endParaRPr sz="1400">
              <a:latin typeface="Verdana"/>
              <a:cs typeface="Verdana"/>
            </a:endParaRPr>
          </a:p>
          <a:p>
            <a:pPr marL="228600">
              <a:lnSpc>
                <a:spcPct val="100000"/>
              </a:lnSpc>
              <a:tabLst>
                <a:tab pos="597535" algn="l"/>
              </a:tabLst>
            </a:pPr>
            <a:r>
              <a:rPr sz="1400" spc="-25" dirty="0">
                <a:latin typeface="Verdana"/>
                <a:cs typeface="Verdana"/>
              </a:rPr>
              <a:t>2.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204" dirty="0">
                <a:latin typeface="Verdana"/>
                <a:cs typeface="Verdana"/>
              </a:rPr>
              <a:t>[</a:t>
            </a:r>
            <a:r>
              <a:rPr sz="1400" spc="-140" dirty="0">
                <a:latin typeface="Verdana"/>
                <a:cs typeface="Verdana"/>
              </a:rPr>
              <a:t> </a:t>
            </a:r>
            <a:r>
              <a:rPr sz="1400" spc="-305" dirty="0">
                <a:latin typeface="Verdana"/>
                <a:cs typeface="Verdana"/>
              </a:rPr>
              <a:t>1,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0,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0,</a:t>
            </a:r>
            <a:r>
              <a:rPr sz="1400" spc="10" dirty="0">
                <a:latin typeface="Verdana"/>
                <a:cs typeface="Verdana"/>
              </a:rPr>
              <a:t> </a:t>
            </a:r>
            <a:r>
              <a:rPr sz="1400" spc="-254" dirty="0">
                <a:latin typeface="Verdana"/>
                <a:cs typeface="Verdana"/>
              </a:rPr>
              <a:t>…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0,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0,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240" dirty="0">
                <a:latin typeface="Verdana"/>
                <a:cs typeface="Verdana"/>
              </a:rPr>
              <a:t>…,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0,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0,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0,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295" dirty="0">
                <a:latin typeface="Verdana"/>
                <a:cs typeface="Verdana"/>
              </a:rPr>
              <a:t>…1,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0,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14" dirty="0">
                <a:latin typeface="Verdana"/>
                <a:cs typeface="Verdana"/>
              </a:rPr>
              <a:t>…,</a:t>
            </a:r>
            <a:r>
              <a:rPr sz="1400" spc="215" dirty="0">
                <a:latin typeface="Verdana"/>
                <a:cs typeface="Verdana"/>
              </a:rPr>
              <a:t> </a:t>
            </a:r>
            <a:r>
              <a:rPr sz="1400" spc="-305" dirty="0">
                <a:latin typeface="Verdana"/>
                <a:cs typeface="Verdana"/>
              </a:rPr>
              <a:t>1,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240" dirty="0">
                <a:latin typeface="Verdana"/>
                <a:cs typeface="Verdana"/>
              </a:rPr>
              <a:t>…,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0,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…0]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19579" y="4174824"/>
            <a:ext cx="41275" cy="182245"/>
            <a:chOff x="1119579" y="4174824"/>
            <a:chExt cx="41275" cy="182245"/>
          </a:xfrm>
        </p:grpSpPr>
        <p:sp>
          <p:nvSpPr>
            <p:cNvPr id="5" name="object 5"/>
            <p:cNvSpPr/>
            <p:nvPr/>
          </p:nvSpPr>
          <p:spPr>
            <a:xfrm>
              <a:off x="1140074" y="4222812"/>
              <a:ext cx="0" cy="134620"/>
            </a:xfrm>
            <a:custGeom>
              <a:avLst/>
              <a:gdLst/>
              <a:ahLst/>
              <a:cxnLst/>
              <a:rect l="l" t="t" r="r" b="b"/>
              <a:pathLst>
                <a:path h="134620">
                  <a:moveTo>
                    <a:pt x="0" y="134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24342" y="417958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124342" y="417958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082575" y="4480316"/>
            <a:ext cx="2908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34343"/>
                </a:solidFill>
                <a:latin typeface="Tahoma"/>
                <a:cs typeface="Tahoma"/>
              </a:rPr>
              <a:t>1</a:t>
            </a:r>
            <a:r>
              <a:rPr sz="1200" spc="360" dirty="0">
                <a:solidFill>
                  <a:srgbClr val="434343"/>
                </a:solidFill>
                <a:latin typeface="Tahoma"/>
                <a:cs typeface="Tahoma"/>
              </a:rPr>
              <a:t> </a:t>
            </a:r>
            <a:r>
              <a:rPr sz="1200" spc="-50" dirty="0">
                <a:solidFill>
                  <a:srgbClr val="434343"/>
                </a:solidFill>
                <a:latin typeface="Tahoma"/>
                <a:cs typeface="Tahoma"/>
              </a:rPr>
              <a:t>2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88796" y="4480316"/>
            <a:ext cx="2025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434343"/>
                </a:solidFill>
                <a:latin typeface="Tahoma"/>
                <a:cs typeface="Tahoma"/>
              </a:rPr>
              <a:t>14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83258" y="4480316"/>
            <a:ext cx="7912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3080" algn="l"/>
              </a:tabLst>
            </a:pPr>
            <a:r>
              <a:rPr sz="1200" spc="-25" dirty="0">
                <a:solidFill>
                  <a:srgbClr val="434343"/>
                </a:solidFill>
                <a:latin typeface="Tahoma"/>
                <a:cs typeface="Tahoma"/>
              </a:rPr>
              <a:t>145</a:t>
            </a:r>
            <a:r>
              <a:rPr sz="1200" dirty="0">
                <a:solidFill>
                  <a:srgbClr val="434343"/>
                </a:solidFill>
                <a:latin typeface="Tahoma"/>
                <a:cs typeface="Tahoma"/>
              </a:rPr>
              <a:t>	</a:t>
            </a:r>
            <a:r>
              <a:rPr sz="1200" spc="-25" dirty="0">
                <a:solidFill>
                  <a:srgbClr val="434343"/>
                </a:solidFill>
                <a:latin typeface="Tahoma"/>
                <a:cs typeface="Tahoma"/>
              </a:rPr>
              <a:t>257</a:t>
            </a:r>
            <a:endParaRPr sz="12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701874" y="4480316"/>
            <a:ext cx="762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34343"/>
                </a:solidFill>
                <a:latin typeface="Tahoma"/>
                <a:cs typeface="Tahoma"/>
              </a:rPr>
              <a:t>678</a:t>
            </a:r>
            <a:r>
              <a:rPr sz="1200" spc="155" dirty="0">
                <a:solidFill>
                  <a:srgbClr val="434343"/>
                </a:solidFill>
                <a:latin typeface="Tahoma"/>
                <a:cs typeface="Tahoma"/>
              </a:rPr>
              <a:t>  </a:t>
            </a:r>
            <a:r>
              <a:rPr sz="1200" spc="-20" dirty="0">
                <a:solidFill>
                  <a:srgbClr val="434343"/>
                </a:solidFill>
                <a:latin typeface="Tahoma"/>
                <a:cs typeface="Tahoma"/>
              </a:rPr>
              <a:t>1537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289379" y="4174824"/>
            <a:ext cx="41275" cy="182245"/>
            <a:chOff x="1289379" y="4174824"/>
            <a:chExt cx="41275" cy="182245"/>
          </a:xfrm>
        </p:grpSpPr>
        <p:sp>
          <p:nvSpPr>
            <p:cNvPr id="13" name="object 13"/>
            <p:cNvSpPr/>
            <p:nvPr/>
          </p:nvSpPr>
          <p:spPr>
            <a:xfrm>
              <a:off x="1309874" y="4222812"/>
              <a:ext cx="0" cy="134620"/>
            </a:xfrm>
            <a:custGeom>
              <a:avLst/>
              <a:gdLst/>
              <a:ahLst/>
              <a:cxnLst/>
              <a:rect l="l" t="t" r="r" b="b"/>
              <a:pathLst>
                <a:path h="134620">
                  <a:moveTo>
                    <a:pt x="0" y="134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94142" y="417958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94142" y="417958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6" name="object 16"/>
          <p:cNvGrpSpPr/>
          <p:nvPr/>
        </p:nvGrpSpPr>
        <p:grpSpPr>
          <a:xfrm>
            <a:off x="1903029" y="4174824"/>
            <a:ext cx="41275" cy="182245"/>
            <a:chOff x="1903029" y="4174824"/>
            <a:chExt cx="41275" cy="182245"/>
          </a:xfrm>
        </p:grpSpPr>
        <p:sp>
          <p:nvSpPr>
            <p:cNvPr id="17" name="object 17"/>
            <p:cNvSpPr/>
            <p:nvPr/>
          </p:nvSpPr>
          <p:spPr>
            <a:xfrm>
              <a:off x="1923525" y="4222812"/>
              <a:ext cx="0" cy="134620"/>
            </a:xfrm>
            <a:custGeom>
              <a:avLst/>
              <a:gdLst/>
              <a:ahLst/>
              <a:cxnLst/>
              <a:rect l="l" t="t" r="r" b="b"/>
              <a:pathLst>
                <a:path h="134620">
                  <a:moveTo>
                    <a:pt x="0" y="134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907792" y="417958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07792" y="417958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2716879" y="4174824"/>
            <a:ext cx="41275" cy="182245"/>
            <a:chOff x="2716879" y="4174824"/>
            <a:chExt cx="41275" cy="182245"/>
          </a:xfrm>
        </p:grpSpPr>
        <p:sp>
          <p:nvSpPr>
            <p:cNvPr id="21" name="object 21"/>
            <p:cNvSpPr/>
            <p:nvPr/>
          </p:nvSpPr>
          <p:spPr>
            <a:xfrm>
              <a:off x="2737374" y="4222812"/>
              <a:ext cx="0" cy="134620"/>
            </a:xfrm>
            <a:custGeom>
              <a:avLst/>
              <a:gdLst/>
              <a:ahLst/>
              <a:cxnLst/>
              <a:rect l="l" t="t" r="r" b="b"/>
              <a:pathLst>
                <a:path h="134620">
                  <a:moveTo>
                    <a:pt x="0" y="134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21642" y="417958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21642" y="417958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3226104" y="4160549"/>
            <a:ext cx="41275" cy="182245"/>
            <a:chOff x="3226104" y="4160549"/>
            <a:chExt cx="41275" cy="182245"/>
          </a:xfrm>
        </p:grpSpPr>
        <p:sp>
          <p:nvSpPr>
            <p:cNvPr id="25" name="object 25"/>
            <p:cNvSpPr/>
            <p:nvPr/>
          </p:nvSpPr>
          <p:spPr>
            <a:xfrm>
              <a:off x="3246600" y="4208537"/>
              <a:ext cx="0" cy="134620"/>
            </a:xfrm>
            <a:custGeom>
              <a:avLst/>
              <a:gdLst/>
              <a:ahLst/>
              <a:cxnLst/>
              <a:rect l="l" t="t" r="r" b="b"/>
              <a:pathLst>
                <a:path h="134620">
                  <a:moveTo>
                    <a:pt x="0" y="134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30867" y="416531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30867" y="416531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3831054" y="4160549"/>
            <a:ext cx="41275" cy="182245"/>
            <a:chOff x="3831054" y="4160549"/>
            <a:chExt cx="41275" cy="182245"/>
          </a:xfrm>
        </p:grpSpPr>
        <p:sp>
          <p:nvSpPr>
            <p:cNvPr id="29" name="object 29"/>
            <p:cNvSpPr/>
            <p:nvPr/>
          </p:nvSpPr>
          <p:spPr>
            <a:xfrm>
              <a:off x="3851550" y="4208537"/>
              <a:ext cx="0" cy="134620"/>
            </a:xfrm>
            <a:custGeom>
              <a:avLst/>
              <a:gdLst/>
              <a:ahLst/>
              <a:cxnLst/>
              <a:rect l="l" t="t" r="r" b="b"/>
              <a:pathLst>
                <a:path h="134620">
                  <a:moveTo>
                    <a:pt x="0" y="134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835817" y="416531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835817" y="4165312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4209754" y="4174824"/>
            <a:ext cx="41275" cy="182245"/>
            <a:chOff x="4209754" y="4174824"/>
            <a:chExt cx="41275" cy="182245"/>
          </a:xfrm>
        </p:grpSpPr>
        <p:sp>
          <p:nvSpPr>
            <p:cNvPr id="33" name="object 33"/>
            <p:cNvSpPr/>
            <p:nvPr/>
          </p:nvSpPr>
          <p:spPr>
            <a:xfrm>
              <a:off x="4230249" y="4222812"/>
              <a:ext cx="0" cy="134620"/>
            </a:xfrm>
            <a:custGeom>
              <a:avLst/>
              <a:gdLst/>
              <a:ahLst/>
              <a:cxnLst/>
              <a:rect l="l" t="t" r="r" b="b"/>
              <a:pathLst>
                <a:path h="134620">
                  <a:moveTo>
                    <a:pt x="0" y="1342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214517" y="417958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4343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214517" y="417958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43434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70" dirty="0"/>
              <a:t>Tf-</a:t>
            </a:r>
            <a:r>
              <a:rPr spc="425" dirty="0"/>
              <a:t>IDF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5720" y="2023993"/>
            <a:ext cx="3334926" cy="27335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4725" y="1250897"/>
            <a:ext cx="3824604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07135">
              <a:lnSpc>
                <a:spcPct val="100000"/>
              </a:lnSpc>
              <a:spcBef>
                <a:spcPts val="130"/>
              </a:spcBef>
            </a:pPr>
            <a:r>
              <a:rPr sz="1600" spc="145" dirty="0">
                <a:latin typeface="Calibri"/>
                <a:cs typeface="Calibri"/>
              </a:rPr>
              <a:t>—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это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spc="-30" dirty="0">
                <a:latin typeface="Calibri"/>
                <a:cs typeface="Calibri"/>
              </a:rPr>
              <a:t>мера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важности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слова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b="1" i="1" spc="-50" dirty="0">
                <a:latin typeface="Calibri"/>
                <a:cs typeface="Calibri"/>
              </a:rPr>
              <a:t>t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для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документа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b="1" i="1" dirty="0">
                <a:latin typeface="Calibri"/>
                <a:cs typeface="Calibri"/>
              </a:rPr>
              <a:t>d</a:t>
            </a:r>
            <a:r>
              <a:rPr sz="1600" b="1" i="1" spc="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наборе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документов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b="1" i="1" spc="114" dirty="0">
                <a:latin typeface="Calibri"/>
                <a:cs typeface="Calibri"/>
              </a:rPr>
              <a:t>D</a:t>
            </a:r>
            <a:r>
              <a:rPr sz="1600" spc="114" dirty="0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5993" y="1309008"/>
            <a:ext cx="1147385" cy="22447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70" dirty="0"/>
              <a:t>Tf-</a:t>
            </a:r>
            <a:r>
              <a:rPr spc="425" dirty="0"/>
              <a:t>IDF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812" y="1566526"/>
            <a:ext cx="1536106" cy="138252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4097" y="3582750"/>
            <a:ext cx="1560081" cy="138431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1662" y="1188325"/>
            <a:ext cx="11652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87755" algn="l"/>
              </a:tabLst>
            </a:pPr>
            <a:r>
              <a:rPr sz="1400" spc="-10" dirty="0">
                <a:latin typeface="Verdana"/>
                <a:cs typeface="Verdana"/>
              </a:rPr>
              <a:t>Документ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445" dirty="0">
                <a:latin typeface="Verdana"/>
                <a:cs typeface="Verdana"/>
              </a:rPr>
              <a:t>1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9300" y="1251825"/>
            <a:ext cx="117475" cy="1270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93284" y="3146675"/>
            <a:ext cx="12020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87755" algn="l"/>
              </a:tabLst>
            </a:pPr>
            <a:r>
              <a:rPr sz="1400" spc="-10" dirty="0">
                <a:latin typeface="Verdana"/>
                <a:cs typeface="Verdana"/>
              </a:rPr>
              <a:t>Документ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50" dirty="0">
                <a:latin typeface="Verdana"/>
                <a:cs typeface="Verdana"/>
              </a:rPr>
              <a:t>2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0923" y="3210175"/>
            <a:ext cx="117475" cy="127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70" dirty="0"/>
              <a:t>Tf-</a:t>
            </a:r>
            <a:r>
              <a:rPr spc="425" dirty="0"/>
              <a:t>IDF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812" y="1566526"/>
            <a:ext cx="1536106" cy="138252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4097" y="3582750"/>
            <a:ext cx="1560081" cy="138431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1662" y="1188325"/>
            <a:ext cx="11652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87755" algn="l"/>
              </a:tabLst>
            </a:pPr>
            <a:r>
              <a:rPr sz="1400" spc="-10" dirty="0">
                <a:latin typeface="Verdana"/>
                <a:cs typeface="Verdana"/>
              </a:rPr>
              <a:t>Документ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445" dirty="0">
                <a:latin typeface="Verdana"/>
                <a:cs typeface="Verdana"/>
              </a:rPr>
              <a:t>1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9300" y="1251825"/>
            <a:ext cx="117475" cy="1270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93284" y="3146675"/>
            <a:ext cx="12020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87755" algn="l"/>
              </a:tabLst>
            </a:pPr>
            <a:r>
              <a:rPr sz="1400" spc="-10" dirty="0">
                <a:latin typeface="Verdana"/>
                <a:cs typeface="Verdana"/>
              </a:rPr>
              <a:t>Документ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50" dirty="0">
                <a:latin typeface="Verdana"/>
                <a:cs typeface="Verdana"/>
              </a:rPr>
              <a:t>2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0923" y="3210175"/>
            <a:ext cx="117475" cy="1270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285662" y="1341458"/>
            <a:ext cx="137731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spc="-20" dirty="0">
                <a:latin typeface="Verdana"/>
                <a:cs typeface="Verdana"/>
              </a:rPr>
              <a:t>Term</a:t>
            </a:r>
            <a:r>
              <a:rPr sz="1300" spc="-100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Frequency документа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40337" y="1341458"/>
            <a:ext cx="191960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Verdana"/>
                <a:cs typeface="Verdana"/>
              </a:rPr>
              <a:t>считается</a:t>
            </a:r>
            <a:r>
              <a:rPr sz="1300" spc="-80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для</a:t>
            </a:r>
            <a:r>
              <a:rPr sz="1300" spc="-80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слова</a:t>
            </a:r>
            <a:r>
              <a:rPr sz="1300" spc="-80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и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85662" y="4157488"/>
            <a:ext cx="22510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5" dirty="0">
                <a:latin typeface="Verdana"/>
                <a:cs typeface="Verdana"/>
              </a:rPr>
              <a:t>tf(”a”,</a:t>
            </a:r>
            <a:r>
              <a:rPr sz="1400" spc="-114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doc_1) </a:t>
            </a:r>
            <a:r>
              <a:rPr sz="1400" spc="-345" dirty="0">
                <a:latin typeface="Verdana"/>
                <a:cs typeface="Verdana"/>
              </a:rPr>
              <a:t>=</a:t>
            </a:r>
            <a:r>
              <a:rPr sz="1400" spc="280" dirty="0">
                <a:latin typeface="Verdana"/>
                <a:cs typeface="Verdana"/>
              </a:rPr>
              <a:t> </a:t>
            </a:r>
            <a:r>
              <a:rPr sz="1400" spc="-395" dirty="0">
                <a:latin typeface="Verdana"/>
                <a:cs typeface="Verdana"/>
              </a:rPr>
              <a:t>1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180" dirty="0">
                <a:latin typeface="Verdana"/>
                <a:cs typeface="Verdana"/>
              </a:rPr>
              <a:t>/</a:t>
            </a:r>
            <a:r>
              <a:rPr sz="1400" spc="-114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4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345" dirty="0">
                <a:latin typeface="Verdana"/>
                <a:cs typeface="Verdana"/>
              </a:rPr>
              <a:t>=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0.25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spc="-105" dirty="0">
                <a:latin typeface="Verdana"/>
                <a:cs typeface="Verdana"/>
              </a:rPr>
              <a:t>tf(”a”,</a:t>
            </a:r>
            <a:r>
              <a:rPr sz="1400" spc="-114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doc_2)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345" dirty="0">
                <a:latin typeface="Verdana"/>
                <a:cs typeface="Verdana"/>
              </a:rPr>
              <a:t>=</a:t>
            </a:r>
            <a:r>
              <a:rPr sz="1400" spc="275" dirty="0">
                <a:latin typeface="Verdana"/>
                <a:cs typeface="Verdana"/>
              </a:rPr>
              <a:t> </a:t>
            </a:r>
            <a:r>
              <a:rPr sz="1400" spc="-395" dirty="0">
                <a:latin typeface="Verdana"/>
                <a:cs typeface="Verdana"/>
              </a:rPr>
              <a:t>1</a:t>
            </a:r>
            <a:r>
              <a:rPr sz="1400" spc="-114" dirty="0">
                <a:latin typeface="Verdana"/>
                <a:cs typeface="Verdana"/>
              </a:rPr>
              <a:t> </a:t>
            </a:r>
            <a:r>
              <a:rPr sz="1400" spc="-180" dirty="0">
                <a:latin typeface="Verdana"/>
                <a:cs typeface="Verdana"/>
              </a:rPr>
              <a:t>/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4</a:t>
            </a:r>
            <a:r>
              <a:rPr sz="1400" spc="-114" dirty="0">
                <a:latin typeface="Verdana"/>
                <a:cs typeface="Verdana"/>
              </a:rPr>
              <a:t> </a:t>
            </a:r>
            <a:r>
              <a:rPr sz="1400" spc="-345" dirty="0">
                <a:latin typeface="Verdana"/>
                <a:cs typeface="Verdana"/>
              </a:rPr>
              <a:t>=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55" dirty="0">
                <a:latin typeface="Verdana"/>
                <a:cs typeface="Verdana"/>
              </a:rPr>
              <a:t>0.25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215740" y="2431192"/>
            <a:ext cx="2184400" cy="837565"/>
            <a:chOff x="2215740" y="2431192"/>
            <a:chExt cx="2184400" cy="83756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15740" y="2431192"/>
              <a:ext cx="1750897" cy="615544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908935" y="3083417"/>
              <a:ext cx="486409" cy="180340"/>
            </a:xfrm>
            <a:custGeom>
              <a:avLst/>
              <a:gdLst/>
              <a:ahLst/>
              <a:cxnLst/>
              <a:rect l="l" t="t" r="r" b="b"/>
              <a:pathLst>
                <a:path w="486410" h="180339">
                  <a:moveTo>
                    <a:pt x="486114" y="180232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68406" y="3068390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4" h="29844">
                  <a:moveTo>
                    <a:pt x="35060" y="29778"/>
                  </a:moveTo>
                  <a:lnTo>
                    <a:pt x="0" y="0"/>
                  </a:lnTo>
                  <a:lnTo>
                    <a:pt x="45998" y="275"/>
                  </a:lnTo>
                  <a:lnTo>
                    <a:pt x="35060" y="2977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868406" y="3068390"/>
              <a:ext cx="46355" cy="29845"/>
            </a:xfrm>
            <a:custGeom>
              <a:avLst/>
              <a:gdLst/>
              <a:ahLst/>
              <a:cxnLst/>
              <a:rect l="l" t="t" r="r" b="b"/>
              <a:pathLst>
                <a:path w="46354" h="29844">
                  <a:moveTo>
                    <a:pt x="45998" y="275"/>
                  </a:moveTo>
                  <a:lnTo>
                    <a:pt x="0" y="0"/>
                  </a:lnTo>
                  <a:lnTo>
                    <a:pt x="35060" y="29778"/>
                  </a:lnTo>
                  <a:lnTo>
                    <a:pt x="45998" y="27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724052" y="1394831"/>
            <a:ext cx="458804" cy="183527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3667430" y="2146349"/>
            <a:ext cx="579755" cy="198120"/>
            <a:chOff x="3667430" y="2146349"/>
            <a:chExt cx="579755" cy="198120"/>
          </a:xfrm>
        </p:grpSpPr>
        <p:sp>
          <p:nvSpPr>
            <p:cNvPr id="19" name="object 19"/>
            <p:cNvSpPr/>
            <p:nvPr/>
          </p:nvSpPr>
          <p:spPr>
            <a:xfrm>
              <a:off x="3713262" y="2151112"/>
              <a:ext cx="528955" cy="173990"/>
            </a:xfrm>
            <a:custGeom>
              <a:avLst/>
              <a:gdLst/>
              <a:ahLst/>
              <a:cxnLst/>
              <a:rect l="l" t="t" r="r" b="b"/>
              <a:pathLst>
                <a:path w="528954" h="173989">
                  <a:moveTo>
                    <a:pt x="528899" y="0"/>
                  </a:moveTo>
                  <a:lnTo>
                    <a:pt x="0" y="17357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72192" y="2309743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45975" y="29896"/>
                  </a:moveTo>
                  <a:lnTo>
                    <a:pt x="0" y="28427"/>
                  </a:lnTo>
                  <a:lnTo>
                    <a:pt x="36163" y="0"/>
                  </a:lnTo>
                  <a:lnTo>
                    <a:pt x="45975" y="2989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72192" y="2309743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80">
                  <a:moveTo>
                    <a:pt x="36163" y="0"/>
                  </a:moveTo>
                  <a:lnTo>
                    <a:pt x="0" y="28427"/>
                  </a:lnTo>
                  <a:lnTo>
                    <a:pt x="45975" y="29896"/>
                  </a:lnTo>
                  <a:lnTo>
                    <a:pt x="36163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367412" y="1967899"/>
            <a:ext cx="1182370" cy="695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595959"/>
                </a:solidFill>
                <a:latin typeface="Verdana"/>
                <a:cs typeface="Verdana"/>
              </a:rPr>
              <a:t>количество</a:t>
            </a:r>
            <a:r>
              <a:rPr sz="1100" spc="-5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100" spc="-35" dirty="0">
                <a:solidFill>
                  <a:srgbClr val="595959"/>
                </a:solidFill>
                <a:latin typeface="Verdana"/>
                <a:cs typeface="Verdana"/>
              </a:rPr>
              <a:t>раз, </a:t>
            </a:r>
            <a:r>
              <a:rPr sz="1100" dirty="0">
                <a:solidFill>
                  <a:srgbClr val="595959"/>
                </a:solidFill>
                <a:latin typeface="Verdana"/>
                <a:cs typeface="Verdana"/>
              </a:rPr>
              <a:t>которое</a:t>
            </a:r>
            <a:r>
              <a:rPr sz="1100" spc="-20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595959"/>
                </a:solidFill>
                <a:latin typeface="Verdana"/>
                <a:cs typeface="Verdana"/>
              </a:rPr>
              <a:t>слово</a:t>
            </a:r>
            <a:r>
              <a:rPr sz="1100" spc="-30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100" b="1" i="1" spc="-50" dirty="0">
                <a:solidFill>
                  <a:srgbClr val="595959"/>
                </a:solidFill>
                <a:latin typeface="Verdana"/>
                <a:cs typeface="Verdana"/>
              </a:rPr>
              <a:t>t </a:t>
            </a:r>
            <a:r>
              <a:rPr sz="1100" spc="-10" dirty="0">
                <a:solidFill>
                  <a:srgbClr val="595959"/>
                </a:solidFill>
                <a:latin typeface="Verdana"/>
                <a:cs typeface="Verdana"/>
              </a:rPr>
              <a:t>встречается</a:t>
            </a:r>
            <a:endParaRPr sz="1100">
              <a:latin typeface="Verdana"/>
              <a:cs typeface="Verdana"/>
            </a:endParaRPr>
          </a:p>
          <a:p>
            <a:pPr marL="12700" algn="just">
              <a:lnSpc>
                <a:spcPct val="100000"/>
              </a:lnSpc>
            </a:pPr>
            <a:r>
              <a:rPr sz="1100" dirty="0">
                <a:solidFill>
                  <a:srgbClr val="595959"/>
                </a:solidFill>
                <a:latin typeface="Verdana"/>
                <a:cs typeface="Verdana"/>
              </a:rPr>
              <a:t>в</a:t>
            </a:r>
            <a:r>
              <a:rPr sz="1100" spc="-40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100" dirty="0">
                <a:solidFill>
                  <a:srgbClr val="595959"/>
                </a:solidFill>
                <a:latin typeface="Verdana"/>
                <a:cs typeface="Verdana"/>
              </a:rPr>
              <a:t>документе</a:t>
            </a:r>
            <a:r>
              <a:rPr sz="1100" spc="-45" dirty="0">
                <a:solidFill>
                  <a:srgbClr val="595959"/>
                </a:solidFill>
                <a:latin typeface="Verdana"/>
                <a:cs typeface="Verdana"/>
              </a:rPr>
              <a:t> </a:t>
            </a:r>
            <a:r>
              <a:rPr sz="1100" b="1" i="1" spc="-50" dirty="0">
                <a:solidFill>
                  <a:srgbClr val="595959"/>
                </a:solidFill>
                <a:latin typeface="Verdana"/>
                <a:cs typeface="Verdana"/>
              </a:rPr>
              <a:t>d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68062" y="3148212"/>
            <a:ext cx="118935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595959"/>
                </a:solidFill>
                <a:latin typeface="Tahoma"/>
                <a:cs typeface="Tahoma"/>
              </a:rPr>
              <a:t>количество</a:t>
            </a:r>
            <a:r>
              <a:rPr sz="1100" spc="-9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595959"/>
                </a:solidFill>
                <a:latin typeface="Tahoma"/>
                <a:cs typeface="Tahoma"/>
              </a:rPr>
              <a:t>слов</a:t>
            </a:r>
            <a:r>
              <a:rPr sz="1100" spc="-9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595959"/>
                </a:solidFill>
                <a:latin typeface="Tahoma"/>
                <a:cs typeface="Tahoma"/>
              </a:rPr>
              <a:t>в </a:t>
            </a:r>
            <a:r>
              <a:rPr sz="1100" dirty="0">
                <a:solidFill>
                  <a:srgbClr val="595959"/>
                </a:solidFill>
                <a:latin typeface="Tahoma"/>
                <a:cs typeface="Tahoma"/>
              </a:rPr>
              <a:t>документе</a:t>
            </a:r>
            <a:r>
              <a:rPr sz="1100" spc="-12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i="1" spc="-50" dirty="0">
                <a:solidFill>
                  <a:srgbClr val="595959"/>
                </a:solidFill>
                <a:latin typeface="Calibri"/>
                <a:cs typeface="Calibri"/>
              </a:rPr>
              <a:t>d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24" name="object 2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29550" y="4143237"/>
            <a:ext cx="221762" cy="49016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70" dirty="0"/>
              <a:t>Tf-</a:t>
            </a:r>
            <a:r>
              <a:rPr spc="425" dirty="0"/>
              <a:t>IDF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812" y="1566526"/>
            <a:ext cx="1536106" cy="138252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4097" y="3582750"/>
            <a:ext cx="1560081" cy="138431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1662" y="1188325"/>
            <a:ext cx="11652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87755" algn="l"/>
              </a:tabLst>
            </a:pPr>
            <a:r>
              <a:rPr sz="1400" spc="-10" dirty="0">
                <a:latin typeface="Verdana"/>
                <a:cs typeface="Verdana"/>
              </a:rPr>
              <a:t>Документ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445" dirty="0">
                <a:latin typeface="Verdana"/>
                <a:cs typeface="Verdana"/>
              </a:rPr>
              <a:t>1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9300" y="1251825"/>
            <a:ext cx="117475" cy="1270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93284" y="3146675"/>
            <a:ext cx="12020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87755" algn="l"/>
              </a:tabLst>
            </a:pPr>
            <a:r>
              <a:rPr sz="1400" spc="-10" dirty="0">
                <a:latin typeface="Verdana"/>
                <a:cs typeface="Verdana"/>
              </a:rPr>
              <a:t>Документ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50" dirty="0">
                <a:latin typeface="Verdana"/>
                <a:cs typeface="Verdana"/>
              </a:rPr>
              <a:t>2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0923" y="3210175"/>
            <a:ext cx="117475" cy="1270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285662" y="1341458"/>
            <a:ext cx="365760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50" dirty="0">
                <a:latin typeface="Verdana"/>
                <a:cs typeface="Verdana"/>
              </a:rPr>
              <a:t>Inverse</a:t>
            </a:r>
            <a:r>
              <a:rPr sz="1300" spc="100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document</a:t>
            </a:r>
            <a:r>
              <a:rPr sz="1300" spc="100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frequency</a:t>
            </a:r>
            <a:endParaRPr sz="1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300" spc="-10" dirty="0">
                <a:latin typeface="Verdana"/>
                <a:cs typeface="Verdana"/>
              </a:rPr>
              <a:t>считается</a:t>
            </a:r>
            <a:r>
              <a:rPr sz="1300" spc="-65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для</a:t>
            </a:r>
            <a:r>
              <a:rPr sz="1300" spc="-60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слова</a:t>
            </a:r>
            <a:r>
              <a:rPr sz="1300" spc="-60" dirty="0">
                <a:latin typeface="Verdana"/>
                <a:cs typeface="Verdana"/>
              </a:rPr>
              <a:t> </a:t>
            </a:r>
            <a:r>
              <a:rPr sz="1300" spc="50" dirty="0">
                <a:latin typeface="Verdana"/>
                <a:cs typeface="Verdana"/>
              </a:rPr>
              <a:t>и</a:t>
            </a:r>
            <a:r>
              <a:rPr sz="1300" spc="-60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набора</a:t>
            </a:r>
            <a:r>
              <a:rPr sz="1300" spc="-60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документов</a:t>
            </a:r>
            <a:endParaRPr sz="1300">
              <a:latin typeface="Verdana"/>
              <a:cs typeface="Verdan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68625" y="1314125"/>
            <a:ext cx="670999" cy="28072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49549" y="2784907"/>
            <a:ext cx="3062429" cy="583326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3784699" y="2142074"/>
            <a:ext cx="21342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595959"/>
                </a:solidFill>
                <a:latin typeface="Tahoma"/>
                <a:cs typeface="Tahoma"/>
              </a:rPr>
              <a:t>количество</a:t>
            </a:r>
            <a:r>
              <a:rPr sz="1100" spc="-10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595959"/>
                </a:solidFill>
                <a:latin typeface="Tahoma"/>
                <a:cs typeface="Tahoma"/>
              </a:rPr>
              <a:t>документов</a:t>
            </a:r>
            <a:r>
              <a:rPr sz="1100" spc="-9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595959"/>
                </a:solidFill>
                <a:latin typeface="Tahoma"/>
                <a:cs typeface="Tahoma"/>
              </a:rPr>
              <a:t>в</a:t>
            </a:r>
            <a:r>
              <a:rPr sz="1100" spc="-9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595959"/>
                </a:solidFill>
                <a:latin typeface="Tahoma"/>
                <a:cs typeface="Tahoma"/>
              </a:rPr>
              <a:t>наборе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38384" y="2479600"/>
            <a:ext cx="165852" cy="195075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238474" y="3772387"/>
            <a:ext cx="3479165" cy="938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42110" marR="508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595959"/>
                </a:solidFill>
                <a:latin typeface="Tahoma"/>
                <a:cs typeface="Tahoma"/>
              </a:rPr>
              <a:t>количество</a:t>
            </a:r>
            <a:r>
              <a:rPr sz="1100" spc="-7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595959"/>
                </a:solidFill>
                <a:latin typeface="Tahoma"/>
                <a:cs typeface="Tahoma"/>
              </a:rPr>
              <a:t>документов,</a:t>
            </a:r>
            <a:r>
              <a:rPr sz="1100" spc="-7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595959"/>
                </a:solidFill>
                <a:latin typeface="Tahoma"/>
                <a:cs typeface="Tahoma"/>
              </a:rPr>
              <a:t>в </a:t>
            </a:r>
            <a:r>
              <a:rPr sz="1100" spc="-20" dirty="0">
                <a:solidFill>
                  <a:srgbClr val="595959"/>
                </a:solidFill>
                <a:latin typeface="Tahoma"/>
                <a:cs typeface="Tahoma"/>
              </a:rPr>
              <a:t>которых</a:t>
            </a:r>
            <a:r>
              <a:rPr sz="1100" spc="-6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595959"/>
                </a:solidFill>
                <a:latin typeface="Tahoma"/>
                <a:cs typeface="Tahoma"/>
              </a:rPr>
              <a:t>встречается</a:t>
            </a:r>
            <a:r>
              <a:rPr sz="1100" spc="-60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595959"/>
                </a:solidFill>
                <a:latin typeface="Tahoma"/>
                <a:cs typeface="Tahoma"/>
              </a:rPr>
              <a:t>слово</a:t>
            </a:r>
            <a:r>
              <a:rPr sz="1100" spc="-65" dirty="0">
                <a:solidFill>
                  <a:srgbClr val="595959"/>
                </a:solidFill>
                <a:latin typeface="Tahoma"/>
                <a:cs typeface="Tahoma"/>
              </a:rPr>
              <a:t> </a:t>
            </a:r>
            <a:r>
              <a:rPr sz="1100" b="1" i="1" spc="-50" dirty="0">
                <a:solidFill>
                  <a:srgbClr val="595959"/>
                </a:solidFill>
                <a:latin typeface="Calibri"/>
                <a:cs typeface="Calibri"/>
              </a:rPr>
              <a:t>t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90" dirty="0">
                <a:latin typeface="Verdana"/>
                <a:cs typeface="Verdana"/>
              </a:rPr>
              <a:t>idf(”a”,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D)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345" dirty="0">
                <a:latin typeface="Verdana"/>
                <a:cs typeface="Verdana"/>
              </a:rPr>
              <a:t>=</a:t>
            </a:r>
            <a:r>
              <a:rPr sz="1400" spc="29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log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145" dirty="0">
                <a:latin typeface="Verdana"/>
                <a:cs typeface="Verdana"/>
              </a:rPr>
              <a:t>(2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180" dirty="0">
                <a:latin typeface="Verdana"/>
                <a:cs typeface="Verdana"/>
              </a:rPr>
              <a:t>/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145" dirty="0">
                <a:latin typeface="Verdana"/>
                <a:cs typeface="Verdana"/>
              </a:rPr>
              <a:t>2)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345" dirty="0">
                <a:latin typeface="Verdana"/>
                <a:cs typeface="Verdana"/>
              </a:rPr>
              <a:t>=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114" dirty="0">
                <a:latin typeface="Verdana"/>
                <a:cs typeface="Verdana"/>
              </a:rPr>
              <a:t>log(1)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345" dirty="0">
                <a:latin typeface="Verdana"/>
                <a:cs typeface="Verdana"/>
              </a:rPr>
              <a:t>=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0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342232" y="3485398"/>
            <a:ext cx="571500" cy="248285"/>
            <a:chOff x="4342232" y="3485398"/>
            <a:chExt cx="571500" cy="248285"/>
          </a:xfrm>
        </p:grpSpPr>
        <p:sp>
          <p:nvSpPr>
            <p:cNvPr id="16" name="object 16"/>
            <p:cNvSpPr/>
            <p:nvPr/>
          </p:nvSpPr>
          <p:spPr>
            <a:xfrm>
              <a:off x="4386790" y="3507034"/>
              <a:ext cx="521970" cy="221615"/>
            </a:xfrm>
            <a:custGeom>
              <a:avLst/>
              <a:gdLst/>
              <a:ahLst/>
              <a:cxnLst/>
              <a:rect l="l" t="t" r="r" b="b"/>
              <a:pathLst>
                <a:path w="521970" h="221614">
                  <a:moveTo>
                    <a:pt x="521884" y="22128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46995" y="3490160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4" h="31750">
                  <a:moveTo>
                    <a:pt x="33653" y="31358"/>
                  </a:moveTo>
                  <a:lnTo>
                    <a:pt x="0" y="0"/>
                  </a:lnTo>
                  <a:lnTo>
                    <a:pt x="45936" y="2389"/>
                  </a:lnTo>
                  <a:lnTo>
                    <a:pt x="33653" y="3135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46995" y="3490160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4" h="31750">
                  <a:moveTo>
                    <a:pt x="45936" y="2389"/>
                  </a:moveTo>
                  <a:lnTo>
                    <a:pt x="0" y="0"/>
                  </a:lnTo>
                  <a:lnTo>
                    <a:pt x="33653" y="31358"/>
                  </a:lnTo>
                  <a:lnTo>
                    <a:pt x="45936" y="238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65459" y="4489100"/>
            <a:ext cx="330590" cy="24359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70" dirty="0"/>
              <a:t>Tf-</a:t>
            </a:r>
            <a:r>
              <a:rPr spc="425" dirty="0"/>
              <a:t>IDF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812" y="1566526"/>
            <a:ext cx="1536106" cy="138252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4097" y="3582750"/>
            <a:ext cx="1560081" cy="138431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1662" y="1188325"/>
            <a:ext cx="11652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87755" algn="l"/>
              </a:tabLst>
            </a:pPr>
            <a:r>
              <a:rPr sz="1400" spc="-10" dirty="0">
                <a:latin typeface="Verdana"/>
                <a:cs typeface="Verdana"/>
              </a:rPr>
              <a:t>Документ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445" dirty="0">
                <a:latin typeface="Verdana"/>
                <a:cs typeface="Verdana"/>
              </a:rPr>
              <a:t>1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9300" y="1251825"/>
            <a:ext cx="117475" cy="1270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93284" y="3146675"/>
            <a:ext cx="12020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87755" algn="l"/>
              </a:tabLst>
            </a:pPr>
            <a:r>
              <a:rPr sz="1400" spc="-10" dirty="0">
                <a:latin typeface="Verdana"/>
                <a:cs typeface="Verdana"/>
              </a:rPr>
              <a:t>Документ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50" dirty="0">
                <a:latin typeface="Verdana"/>
                <a:cs typeface="Verdana"/>
              </a:rPr>
              <a:t>2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0923" y="3210175"/>
            <a:ext cx="117475" cy="1270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285662" y="1341458"/>
            <a:ext cx="3954779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81405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Verdana"/>
                <a:cs typeface="Verdana"/>
              </a:rPr>
              <a:t>—</a:t>
            </a:r>
            <a:r>
              <a:rPr sz="1300" spc="-55" dirty="0">
                <a:latin typeface="Verdana"/>
                <a:cs typeface="Verdana"/>
              </a:rPr>
              <a:t> </a:t>
            </a:r>
            <a:r>
              <a:rPr sz="1300" spc="-20" dirty="0">
                <a:latin typeface="Verdana"/>
                <a:cs typeface="Verdana"/>
              </a:rPr>
              <a:t>это</a:t>
            </a:r>
            <a:r>
              <a:rPr sz="1300" spc="-55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мера</a:t>
            </a:r>
            <a:r>
              <a:rPr sz="1300" spc="-50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важности</a:t>
            </a:r>
            <a:r>
              <a:rPr sz="1300" spc="-55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слова</a:t>
            </a:r>
            <a:r>
              <a:rPr sz="1300" spc="-65" dirty="0">
                <a:latin typeface="Verdana"/>
                <a:cs typeface="Verdana"/>
              </a:rPr>
              <a:t> </a:t>
            </a:r>
            <a:r>
              <a:rPr sz="1300" b="1" i="1" spc="-25" dirty="0">
                <a:latin typeface="Verdana"/>
                <a:cs typeface="Verdana"/>
              </a:rPr>
              <a:t>t</a:t>
            </a:r>
            <a:r>
              <a:rPr sz="1300" b="1" i="1" spc="-40" dirty="0">
                <a:latin typeface="Verdana"/>
                <a:cs typeface="Verdana"/>
              </a:rPr>
              <a:t> </a:t>
            </a:r>
            <a:r>
              <a:rPr sz="1300" spc="-25" dirty="0">
                <a:latin typeface="Verdana"/>
                <a:cs typeface="Verdana"/>
              </a:rPr>
              <a:t>для </a:t>
            </a:r>
            <a:r>
              <a:rPr sz="1300" dirty="0">
                <a:latin typeface="Verdana"/>
                <a:cs typeface="Verdana"/>
              </a:rPr>
              <a:t>документа</a:t>
            </a:r>
            <a:r>
              <a:rPr sz="1300" spc="-25" dirty="0">
                <a:latin typeface="Verdana"/>
                <a:cs typeface="Verdana"/>
              </a:rPr>
              <a:t> </a:t>
            </a:r>
            <a:r>
              <a:rPr sz="1300" b="1" i="1" spc="-20" dirty="0">
                <a:latin typeface="Verdana"/>
                <a:cs typeface="Verdana"/>
              </a:rPr>
              <a:t>d</a:t>
            </a:r>
            <a:r>
              <a:rPr sz="1300" b="1" i="1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в</a:t>
            </a:r>
            <a:r>
              <a:rPr sz="1300" spc="-15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наборе</a:t>
            </a:r>
            <a:r>
              <a:rPr sz="1300" spc="-20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документов</a:t>
            </a:r>
            <a:r>
              <a:rPr sz="1300" spc="-20" dirty="0">
                <a:latin typeface="Verdana"/>
                <a:cs typeface="Verdana"/>
              </a:rPr>
              <a:t> </a:t>
            </a:r>
            <a:r>
              <a:rPr sz="1300" b="1" i="1" spc="-25" dirty="0">
                <a:latin typeface="Verdana"/>
                <a:cs typeface="Verdana"/>
              </a:rPr>
              <a:t>D</a:t>
            </a:r>
            <a:r>
              <a:rPr sz="1300" spc="-25" dirty="0">
                <a:latin typeface="Verdana"/>
                <a:cs typeface="Verdana"/>
              </a:rPr>
              <a:t>.</a:t>
            </a:r>
            <a:endParaRPr sz="1300">
              <a:latin typeface="Verdana"/>
              <a:cs typeface="Verdan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56175" y="1313614"/>
            <a:ext cx="1062149" cy="27988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60796" y="2026293"/>
            <a:ext cx="3061981" cy="25098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392375" y="2866409"/>
            <a:ext cx="2251075" cy="51625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400" spc="-105" dirty="0">
                <a:latin typeface="Verdana"/>
                <a:cs typeface="Verdana"/>
              </a:rPr>
              <a:t>tf(”a”,</a:t>
            </a:r>
            <a:r>
              <a:rPr sz="1400" spc="-114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doc_1) </a:t>
            </a:r>
            <a:r>
              <a:rPr sz="1400" spc="-345" dirty="0">
                <a:latin typeface="Verdana"/>
                <a:cs typeface="Verdana"/>
              </a:rPr>
              <a:t>=</a:t>
            </a:r>
            <a:r>
              <a:rPr sz="1400" spc="280" dirty="0">
                <a:latin typeface="Verdana"/>
                <a:cs typeface="Verdana"/>
              </a:rPr>
              <a:t> </a:t>
            </a:r>
            <a:r>
              <a:rPr sz="1400" spc="-395" dirty="0">
                <a:latin typeface="Verdana"/>
                <a:cs typeface="Verdana"/>
              </a:rPr>
              <a:t>1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180" dirty="0">
                <a:latin typeface="Verdana"/>
                <a:cs typeface="Verdana"/>
              </a:rPr>
              <a:t>/</a:t>
            </a:r>
            <a:r>
              <a:rPr sz="1400" spc="-114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4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345" dirty="0">
                <a:latin typeface="Verdana"/>
                <a:cs typeface="Verdana"/>
              </a:rPr>
              <a:t>=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0.25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400" spc="-105" dirty="0">
                <a:latin typeface="Verdana"/>
                <a:cs typeface="Verdana"/>
              </a:rPr>
              <a:t>tf(”a”,</a:t>
            </a:r>
            <a:r>
              <a:rPr sz="1400" spc="-114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doc_2)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345" dirty="0">
                <a:latin typeface="Verdana"/>
                <a:cs typeface="Verdana"/>
              </a:rPr>
              <a:t>=</a:t>
            </a:r>
            <a:r>
              <a:rPr sz="1400" spc="275" dirty="0">
                <a:latin typeface="Verdana"/>
                <a:cs typeface="Verdana"/>
              </a:rPr>
              <a:t> </a:t>
            </a:r>
            <a:r>
              <a:rPr sz="1400" spc="-395" dirty="0">
                <a:latin typeface="Verdana"/>
                <a:cs typeface="Verdana"/>
              </a:rPr>
              <a:t>1</a:t>
            </a:r>
            <a:r>
              <a:rPr sz="1400" spc="-114" dirty="0">
                <a:latin typeface="Verdana"/>
                <a:cs typeface="Verdana"/>
              </a:rPr>
              <a:t> </a:t>
            </a:r>
            <a:r>
              <a:rPr sz="1400" spc="-180" dirty="0">
                <a:latin typeface="Verdana"/>
                <a:cs typeface="Verdana"/>
              </a:rPr>
              <a:t>/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4</a:t>
            </a:r>
            <a:r>
              <a:rPr sz="1400" spc="-114" dirty="0">
                <a:latin typeface="Verdana"/>
                <a:cs typeface="Verdana"/>
              </a:rPr>
              <a:t> </a:t>
            </a:r>
            <a:r>
              <a:rPr sz="1400" spc="-345" dirty="0">
                <a:latin typeface="Verdana"/>
                <a:cs typeface="Verdana"/>
              </a:rPr>
              <a:t>=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55" dirty="0">
                <a:latin typeface="Verdana"/>
                <a:cs typeface="Verdana"/>
              </a:rPr>
              <a:t>0.25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92375" y="3634505"/>
            <a:ext cx="2853690" cy="975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90" dirty="0">
                <a:latin typeface="Verdana"/>
                <a:cs typeface="Verdana"/>
              </a:rPr>
              <a:t>idf(”a”,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D)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345" dirty="0">
                <a:latin typeface="Verdana"/>
                <a:cs typeface="Verdana"/>
              </a:rPr>
              <a:t>=</a:t>
            </a:r>
            <a:r>
              <a:rPr sz="1400" spc="29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log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145" dirty="0">
                <a:latin typeface="Verdana"/>
                <a:cs typeface="Verdana"/>
              </a:rPr>
              <a:t>(2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180" dirty="0">
                <a:latin typeface="Verdana"/>
                <a:cs typeface="Verdana"/>
              </a:rPr>
              <a:t>/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145" dirty="0">
                <a:latin typeface="Verdana"/>
                <a:cs typeface="Verdana"/>
              </a:rPr>
              <a:t>2)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345" dirty="0">
                <a:latin typeface="Verdana"/>
                <a:cs typeface="Verdana"/>
              </a:rPr>
              <a:t>=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114" dirty="0">
                <a:latin typeface="Verdana"/>
                <a:cs typeface="Verdana"/>
              </a:rPr>
              <a:t>log(1)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345" dirty="0">
                <a:latin typeface="Verdana"/>
                <a:cs typeface="Verdana"/>
              </a:rPr>
              <a:t>=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0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spc="-20" dirty="0">
                <a:latin typeface="Verdana"/>
                <a:cs typeface="Verdana"/>
              </a:rPr>
              <a:t>tf-</a:t>
            </a:r>
            <a:r>
              <a:rPr sz="1400" spc="-25" dirty="0">
                <a:latin typeface="Verdana"/>
                <a:cs typeface="Verdana"/>
              </a:rPr>
              <a:t>id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140" dirty="0">
                <a:latin typeface="Verdana"/>
                <a:cs typeface="Verdana"/>
              </a:rPr>
              <a:t>(“a”,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114" dirty="0">
                <a:latin typeface="Verdana"/>
                <a:cs typeface="Verdana"/>
              </a:rPr>
              <a:t>doc_1,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D)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345" dirty="0">
                <a:latin typeface="Verdana"/>
                <a:cs typeface="Verdana"/>
              </a:rPr>
              <a:t>=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105" dirty="0">
                <a:latin typeface="Verdana"/>
                <a:cs typeface="Verdana"/>
              </a:rPr>
              <a:t>0.25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355" dirty="0">
                <a:latin typeface="Verdana"/>
                <a:cs typeface="Verdana"/>
              </a:rPr>
              <a:t>*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0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345" dirty="0">
                <a:latin typeface="Verdana"/>
                <a:cs typeface="Verdana"/>
              </a:rPr>
              <a:t>=</a:t>
            </a:r>
            <a:r>
              <a:rPr sz="1400" spc="-120" dirty="0">
                <a:latin typeface="Verdana"/>
                <a:cs typeface="Verdana"/>
              </a:rPr>
              <a:t> </a:t>
            </a:r>
            <a:r>
              <a:rPr sz="1400" b="1" spc="-50" dirty="0">
                <a:latin typeface="Verdana"/>
                <a:cs typeface="Verdana"/>
              </a:rPr>
              <a:t>0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400" spc="-20" dirty="0">
                <a:latin typeface="Verdana"/>
                <a:cs typeface="Verdana"/>
              </a:rPr>
              <a:t>tf-</a:t>
            </a:r>
            <a:r>
              <a:rPr sz="1400" spc="-25" dirty="0">
                <a:latin typeface="Verdana"/>
                <a:cs typeface="Verdana"/>
              </a:rPr>
              <a:t>id</a:t>
            </a:r>
            <a:r>
              <a:rPr sz="1400" spc="-114" dirty="0">
                <a:latin typeface="Verdana"/>
                <a:cs typeface="Verdana"/>
              </a:rPr>
              <a:t> </a:t>
            </a:r>
            <a:r>
              <a:rPr sz="1400" spc="-140" dirty="0">
                <a:latin typeface="Verdana"/>
                <a:cs typeface="Verdana"/>
              </a:rPr>
              <a:t>(“a”,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55" dirty="0">
                <a:latin typeface="Verdana"/>
                <a:cs typeface="Verdana"/>
              </a:rPr>
              <a:t>doc_2,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D)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345" dirty="0">
                <a:latin typeface="Verdana"/>
                <a:cs typeface="Verdana"/>
              </a:rPr>
              <a:t>=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105" dirty="0">
                <a:latin typeface="Verdana"/>
                <a:cs typeface="Verdana"/>
              </a:rPr>
              <a:t>0.25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355" dirty="0">
                <a:latin typeface="Verdana"/>
                <a:cs typeface="Verdana"/>
              </a:rPr>
              <a:t>*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0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345" dirty="0">
                <a:latin typeface="Verdana"/>
                <a:cs typeface="Verdana"/>
              </a:rPr>
              <a:t>=</a:t>
            </a:r>
            <a:r>
              <a:rPr sz="1400" spc="-120" dirty="0">
                <a:latin typeface="Verdana"/>
                <a:cs typeface="Verdana"/>
              </a:rPr>
              <a:t> </a:t>
            </a:r>
            <a:r>
              <a:rPr sz="1400" b="1" spc="-50" dirty="0">
                <a:latin typeface="Verdana"/>
                <a:cs typeface="Verdana"/>
              </a:rPr>
              <a:t>0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310588" y="2920275"/>
            <a:ext cx="222250" cy="492125"/>
            <a:chOff x="2310588" y="2920275"/>
            <a:chExt cx="222250" cy="492125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10588" y="2920275"/>
              <a:ext cx="221762" cy="2523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10588" y="3159825"/>
              <a:ext cx="221762" cy="252349"/>
            </a:xfrm>
            <a:prstGeom prst="rect">
              <a:avLst/>
            </a:prstGeom>
          </p:spPr>
        </p:pic>
      </p:grpSp>
      <p:sp>
        <p:nvSpPr>
          <p:cNvPr id="17" name="object 17"/>
          <p:cNvSpPr/>
          <p:nvPr/>
        </p:nvSpPr>
        <p:spPr>
          <a:xfrm>
            <a:off x="2296300" y="2905987"/>
            <a:ext cx="250825" cy="520700"/>
          </a:xfrm>
          <a:custGeom>
            <a:avLst/>
            <a:gdLst/>
            <a:ahLst/>
            <a:cxnLst/>
            <a:rect l="l" t="t" r="r" b="b"/>
            <a:pathLst>
              <a:path w="250825" h="520700">
                <a:moveTo>
                  <a:pt x="0" y="0"/>
                </a:moveTo>
                <a:lnTo>
                  <a:pt x="250337" y="0"/>
                </a:lnTo>
                <a:lnTo>
                  <a:pt x="250337" y="280924"/>
                </a:lnTo>
                <a:lnTo>
                  <a:pt x="0" y="280924"/>
                </a:lnTo>
                <a:lnTo>
                  <a:pt x="0" y="0"/>
                </a:lnTo>
                <a:close/>
              </a:path>
              <a:path w="250825" h="520700">
                <a:moveTo>
                  <a:pt x="0" y="239549"/>
                </a:moveTo>
                <a:lnTo>
                  <a:pt x="250337" y="239549"/>
                </a:lnTo>
                <a:lnTo>
                  <a:pt x="250337" y="520474"/>
                </a:lnTo>
                <a:lnTo>
                  <a:pt x="0" y="520474"/>
                </a:lnTo>
                <a:lnTo>
                  <a:pt x="0" y="239549"/>
                </a:lnTo>
                <a:close/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10609" y="3654687"/>
            <a:ext cx="330590" cy="24359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319340" y="4140775"/>
            <a:ext cx="511559" cy="48314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70" dirty="0"/>
              <a:t>Tf-</a:t>
            </a:r>
            <a:r>
              <a:rPr spc="425" dirty="0"/>
              <a:t>IDF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9812" y="1566526"/>
            <a:ext cx="1536106" cy="138252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4097" y="3582750"/>
            <a:ext cx="1560081" cy="138431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31662" y="1188325"/>
            <a:ext cx="116522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87755" algn="l"/>
              </a:tabLst>
            </a:pPr>
            <a:r>
              <a:rPr sz="1400" spc="-10" dirty="0">
                <a:latin typeface="Verdana"/>
                <a:cs typeface="Verdana"/>
              </a:rPr>
              <a:t>Документ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445" dirty="0">
                <a:latin typeface="Verdana"/>
                <a:cs typeface="Verdana"/>
              </a:rPr>
              <a:t>1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99300" y="1251825"/>
            <a:ext cx="117475" cy="1270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93284" y="3146675"/>
            <a:ext cx="12020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87755" algn="l"/>
              </a:tabLst>
            </a:pPr>
            <a:r>
              <a:rPr sz="1400" spc="-10" dirty="0">
                <a:latin typeface="Verdana"/>
                <a:cs typeface="Verdana"/>
              </a:rPr>
              <a:t>Документ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50" dirty="0">
                <a:latin typeface="Verdana"/>
                <a:cs typeface="Verdana"/>
              </a:rPr>
              <a:t>2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0923" y="3210175"/>
            <a:ext cx="117475" cy="1270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285662" y="1341458"/>
            <a:ext cx="3954779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81405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Verdana"/>
                <a:cs typeface="Verdana"/>
              </a:rPr>
              <a:t>—</a:t>
            </a:r>
            <a:r>
              <a:rPr sz="1300" spc="-55" dirty="0">
                <a:latin typeface="Verdana"/>
                <a:cs typeface="Verdana"/>
              </a:rPr>
              <a:t> </a:t>
            </a:r>
            <a:r>
              <a:rPr sz="1300" spc="-20" dirty="0">
                <a:latin typeface="Verdana"/>
                <a:cs typeface="Verdana"/>
              </a:rPr>
              <a:t>это</a:t>
            </a:r>
            <a:r>
              <a:rPr sz="1300" spc="-55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мера</a:t>
            </a:r>
            <a:r>
              <a:rPr sz="1300" spc="-50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важности</a:t>
            </a:r>
            <a:r>
              <a:rPr sz="1300" spc="-55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слова</a:t>
            </a:r>
            <a:r>
              <a:rPr sz="1300" spc="-65" dirty="0">
                <a:latin typeface="Verdana"/>
                <a:cs typeface="Verdana"/>
              </a:rPr>
              <a:t> </a:t>
            </a:r>
            <a:r>
              <a:rPr sz="1300" b="1" i="1" spc="-25" dirty="0">
                <a:latin typeface="Verdana"/>
                <a:cs typeface="Verdana"/>
              </a:rPr>
              <a:t>t</a:t>
            </a:r>
            <a:r>
              <a:rPr sz="1300" b="1" i="1" spc="-40" dirty="0">
                <a:latin typeface="Verdana"/>
                <a:cs typeface="Verdana"/>
              </a:rPr>
              <a:t> </a:t>
            </a:r>
            <a:r>
              <a:rPr sz="1300" spc="-25" dirty="0">
                <a:latin typeface="Verdana"/>
                <a:cs typeface="Verdana"/>
              </a:rPr>
              <a:t>для </a:t>
            </a:r>
            <a:r>
              <a:rPr sz="1300" dirty="0">
                <a:latin typeface="Verdana"/>
                <a:cs typeface="Verdana"/>
              </a:rPr>
              <a:t>документа</a:t>
            </a:r>
            <a:r>
              <a:rPr sz="1300" spc="-25" dirty="0">
                <a:latin typeface="Verdana"/>
                <a:cs typeface="Verdana"/>
              </a:rPr>
              <a:t> </a:t>
            </a:r>
            <a:r>
              <a:rPr sz="1300" b="1" i="1" spc="-20" dirty="0">
                <a:latin typeface="Verdana"/>
                <a:cs typeface="Verdana"/>
              </a:rPr>
              <a:t>d</a:t>
            </a:r>
            <a:r>
              <a:rPr sz="1300" b="1" i="1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в</a:t>
            </a:r>
            <a:r>
              <a:rPr sz="1300" spc="-15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наборе</a:t>
            </a:r>
            <a:r>
              <a:rPr sz="1300" spc="-20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документов</a:t>
            </a:r>
            <a:r>
              <a:rPr sz="1300" spc="-20" dirty="0">
                <a:latin typeface="Verdana"/>
                <a:cs typeface="Verdana"/>
              </a:rPr>
              <a:t> </a:t>
            </a:r>
            <a:r>
              <a:rPr sz="1300" b="1" i="1" spc="-25" dirty="0">
                <a:latin typeface="Verdana"/>
                <a:cs typeface="Verdana"/>
              </a:rPr>
              <a:t>D</a:t>
            </a:r>
            <a:r>
              <a:rPr sz="1300" spc="-25" dirty="0">
                <a:latin typeface="Verdana"/>
                <a:cs typeface="Verdana"/>
              </a:rPr>
              <a:t>.</a:t>
            </a:r>
            <a:endParaRPr sz="1300">
              <a:latin typeface="Verdana"/>
              <a:cs typeface="Verdan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56175" y="1313614"/>
            <a:ext cx="1062149" cy="27988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360796" y="2026293"/>
            <a:ext cx="3061981" cy="25098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392375" y="2866409"/>
            <a:ext cx="2574925" cy="51625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400" spc="-60" dirty="0">
                <a:latin typeface="Verdana"/>
                <a:cs typeface="Verdana"/>
              </a:rPr>
              <a:t>tf(”meat”,</a:t>
            </a:r>
            <a:r>
              <a:rPr sz="1400" spc="-114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doc_1) </a:t>
            </a:r>
            <a:r>
              <a:rPr sz="1400" spc="-345" dirty="0">
                <a:latin typeface="Verdana"/>
                <a:cs typeface="Verdana"/>
              </a:rPr>
              <a:t>=</a:t>
            </a:r>
            <a:r>
              <a:rPr sz="1400" spc="275" dirty="0">
                <a:latin typeface="Verdana"/>
                <a:cs typeface="Verdana"/>
              </a:rPr>
              <a:t> </a:t>
            </a:r>
            <a:r>
              <a:rPr sz="1400" spc="-395" dirty="0">
                <a:latin typeface="Verdana"/>
                <a:cs typeface="Verdana"/>
              </a:rPr>
              <a:t>1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180" dirty="0">
                <a:latin typeface="Verdana"/>
                <a:cs typeface="Verdana"/>
              </a:rPr>
              <a:t>/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4</a:t>
            </a:r>
            <a:r>
              <a:rPr sz="1400" spc="-114" dirty="0">
                <a:latin typeface="Verdana"/>
                <a:cs typeface="Verdana"/>
              </a:rPr>
              <a:t> </a:t>
            </a:r>
            <a:r>
              <a:rPr sz="1400" spc="-345" dirty="0">
                <a:latin typeface="Verdana"/>
                <a:cs typeface="Verdana"/>
              </a:rPr>
              <a:t>=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0.25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400" spc="-60" dirty="0">
                <a:latin typeface="Verdana"/>
                <a:cs typeface="Verdana"/>
              </a:rPr>
              <a:t>tf(”meat”,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doc_2)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345" dirty="0">
                <a:latin typeface="Verdana"/>
                <a:cs typeface="Verdana"/>
              </a:rPr>
              <a:t>=</a:t>
            </a:r>
            <a:r>
              <a:rPr sz="1400" spc="2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0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180" dirty="0">
                <a:latin typeface="Verdana"/>
                <a:cs typeface="Verdana"/>
              </a:rPr>
              <a:t>/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4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345" dirty="0">
                <a:latin typeface="Verdana"/>
                <a:cs typeface="Verdana"/>
              </a:rPr>
              <a:t>=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0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92374" y="3634505"/>
            <a:ext cx="3703625" cy="9771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Verdana"/>
                <a:cs typeface="Verdana"/>
              </a:rPr>
              <a:t>idf(”meat”,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D)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345" dirty="0">
                <a:latin typeface="Verdana"/>
                <a:cs typeface="Verdana"/>
              </a:rPr>
              <a:t>=</a:t>
            </a:r>
            <a:r>
              <a:rPr sz="1400" spc="28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log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145" dirty="0">
                <a:latin typeface="Verdana"/>
                <a:cs typeface="Verdana"/>
              </a:rPr>
              <a:t>(2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180" dirty="0">
                <a:latin typeface="Verdana"/>
                <a:cs typeface="Verdana"/>
              </a:rPr>
              <a:t>/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285" dirty="0">
                <a:latin typeface="Verdana"/>
                <a:cs typeface="Verdana"/>
              </a:rPr>
              <a:t>1)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345" dirty="0">
                <a:latin typeface="Verdana"/>
                <a:cs typeface="Verdana"/>
              </a:rPr>
              <a:t>=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70" dirty="0">
                <a:latin typeface="Verdana"/>
                <a:cs typeface="Verdana"/>
              </a:rPr>
              <a:t>log(2)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345" dirty="0">
                <a:latin typeface="Verdana"/>
                <a:cs typeface="Verdana"/>
              </a:rPr>
              <a:t>≈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0.3</a:t>
            </a:r>
            <a:endParaRPr sz="14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80"/>
              </a:spcBef>
            </a:pPr>
            <a:endParaRPr sz="1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400" spc="-20" dirty="0">
                <a:latin typeface="Verdana"/>
                <a:cs typeface="Verdana"/>
              </a:rPr>
              <a:t>tf-</a:t>
            </a:r>
            <a:r>
              <a:rPr sz="1400" spc="-25" dirty="0">
                <a:latin typeface="Verdana"/>
                <a:cs typeface="Verdana"/>
              </a:rPr>
              <a:t>id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70" dirty="0">
                <a:latin typeface="Verdana"/>
                <a:cs typeface="Verdana"/>
              </a:rPr>
              <a:t>(“meat”,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114" dirty="0">
                <a:latin typeface="Verdana"/>
                <a:cs typeface="Verdana"/>
              </a:rPr>
              <a:t>doc_1,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D)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345" dirty="0">
                <a:latin typeface="Verdana"/>
                <a:cs typeface="Verdana"/>
              </a:rPr>
              <a:t>=</a:t>
            </a:r>
            <a:r>
              <a:rPr sz="1400" spc="-105" dirty="0">
                <a:latin typeface="Verdana"/>
                <a:cs typeface="Verdana"/>
              </a:rPr>
              <a:t> 0.25 </a:t>
            </a:r>
            <a:r>
              <a:rPr sz="1400" spc="-355" dirty="0">
                <a:latin typeface="Verdana"/>
                <a:cs typeface="Verdana"/>
              </a:rPr>
              <a:t>*</a:t>
            </a:r>
            <a:r>
              <a:rPr sz="1400" spc="-110" dirty="0">
                <a:latin typeface="Verdana"/>
                <a:cs typeface="Verdana"/>
              </a:rPr>
              <a:t> 0.3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345" dirty="0">
                <a:latin typeface="Verdana"/>
                <a:cs typeface="Verdana"/>
              </a:rPr>
              <a:t>=</a:t>
            </a:r>
            <a:r>
              <a:rPr sz="1400" spc="-114" dirty="0">
                <a:latin typeface="Verdana"/>
                <a:cs typeface="Verdana"/>
              </a:rPr>
              <a:t> </a:t>
            </a:r>
            <a:r>
              <a:rPr sz="1400" b="1" spc="-75" dirty="0">
                <a:latin typeface="Verdana"/>
                <a:cs typeface="Verdana"/>
              </a:rPr>
              <a:t>0.75</a:t>
            </a:r>
            <a:endParaRPr sz="1400" dirty="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400" spc="-20" dirty="0">
                <a:latin typeface="Verdana"/>
                <a:cs typeface="Verdana"/>
              </a:rPr>
              <a:t>tf-</a:t>
            </a:r>
            <a:r>
              <a:rPr sz="1400" spc="-25" dirty="0">
                <a:latin typeface="Verdana"/>
                <a:cs typeface="Verdana"/>
              </a:rPr>
              <a:t>id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70" dirty="0">
                <a:latin typeface="Verdana"/>
                <a:cs typeface="Verdana"/>
              </a:rPr>
              <a:t>(“meat”,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55" dirty="0">
                <a:latin typeface="Verdana"/>
                <a:cs typeface="Verdana"/>
              </a:rPr>
              <a:t>doc_2,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D)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345" dirty="0">
                <a:latin typeface="Verdana"/>
                <a:cs typeface="Verdana"/>
              </a:rPr>
              <a:t>=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0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355" dirty="0">
                <a:latin typeface="Verdana"/>
                <a:cs typeface="Verdana"/>
              </a:rPr>
              <a:t>*</a:t>
            </a:r>
            <a:r>
              <a:rPr sz="1400" spc="-105" dirty="0">
                <a:latin typeface="Verdana"/>
                <a:cs typeface="Verdana"/>
              </a:rPr>
              <a:t> 0.3</a:t>
            </a:r>
            <a:r>
              <a:rPr sz="1400" spc="-110" dirty="0">
                <a:latin typeface="Verdana"/>
                <a:cs typeface="Verdana"/>
              </a:rPr>
              <a:t> </a:t>
            </a:r>
            <a:r>
              <a:rPr sz="1400" spc="-345" dirty="0">
                <a:latin typeface="Verdana"/>
                <a:cs typeface="Verdana"/>
              </a:rPr>
              <a:t>=</a:t>
            </a:r>
            <a:r>
              <a:rPr sz="1400" spc="-114" dirty="0">
                <a:latin typeface="Verdana"/>
                <a:cs typeface="Verdana"/>
              </a:rPr>
              <a:t> </a:t>
            </a:r>
            <a:r>
              <a:rPr sz="1400" b="1" spc="-50" dirty="0">
                <a:latin typeface="Verdana"/>
                <a:cs typeface="Verdana"/>
              </a:rPr>
              <a:t>0</a:t>
            </a:r>
            <a:endParaRPr sz="1400" dirty="0">
              <a:latin typeface="Verdana"/>
              <a:cs typeface="Verdan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310588" y="2920275"/>
            <a:ext cx="222250" cy="492125"/>
            <a:chOff x="2310588" y="2920275"/>
            <a:chExt cx="222250" cy="492125"/>
          </a:xfrm>
        </p:grpSpPr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10588" y="2920275"/>
              <a:ext cx="221762" cy="2523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10588" y="3159825"/>
              <a:ext cx="221762" cy="252349"/>
            </a:xfrm>
            <a:prstGeom prst="rect">
              <a:avLst/>
            </a:prstGeom>
          </p:spPr>
        </p:pic>
      </p:grpSp>
      <p:sp>
        <p:nvSpPr>
          <p:cNvPr id="17" name="object 17"/>
          <p:cNvSpPr/>
          <p:nvPr/>
        </p:nvSpPr>
        <p:spPr>
          <a:xfrm>
            <a:off x="2296300" y="2905987"/>
            <a:ext cx="250825" cy="520700"/>
          </a:xfrm>
          <a:custGeom>
            <a:avLst/>
            <a:gdLst/>
            <a:ahLst/>
            <a:cxnLst/>
            <a:rect l="l" t="t" r="r" b="b"/>
            <a:pathLst>
              <a:path w="250825" h="520700">
                <a:moveTo>
                  <a:pt x="0" y="0"/>
                </a:moveTo>
                <a:lnTo>
                  <a:pt x="250337" y="0"/>
                </a:lnTo>
                <a:lnTo>
                  <a:pt x="250337" y="280924"/>
                </a:lnTo>
                <a:lnTo>
                  <a:pt x="0" y="280924"/>
                </a:lnTo>
                <a:lnTo>
                  <a:pt x="0" y="0"/>
                </a:lnTo>
                <a:close/>
              </a:path>
              <a:path w="250825" h="520700">
                <a:moveTo>
                  <a:pt x="0" y="239549"/>
                </a:moveTo>
                <a:lnTo>
                  <a:pt x="250337" y="239549"/>
                </a:lnTo>
                <a:lnTo>
                  <a:pt x="250337" y="520474"/>
                </a:lnTo>
                <a:lnTo>
                  <a:pt x="0" y="520474"/>
                </a:lnTo>
                <a:lnTo>
                  <a:pt x="0" y="239549"/>
                </a:lnTo>
                <a:close/>
              </a:path>
            </a:pathLst>
          </a:custGeom>
          <a:ln w="2857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10609" y="3654687"/>
            <a:ext cx="330590" cy="24359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319340" y="4140775"/>
            <a:ext cx="511559" cy="48314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65" dirty="0"/>
              <a:t>Tf-</a:t>
            </a:r>
            <a:r>
              <a:rPr sz="2700" spc="135" dirty="0"/>
              <a:t>idf</a:t>
            </a:r>
            <a:endParaRPr sz="2700"/>
          </a:p>
        </p:txBody>
      </p:sp>
      <p:grpSp>
        <p:nvGrpSpPr>
          <p:cNvPr id="3" name="object 3"/>
          <p:cNvGrpSpPr/>
          <p:nvPr/>
        </p:nvGrpSpPr>
        <p:grpSpPr>
          <a:xfrm>
            <a:off x="1662262" y="2172737"/>
            <a:ext cx="1776730" cy="1713864"/>
            <a:chOff x="1662262" y="2172737"/>
            <a:chExt cx="1776730" cy="1713864"/>
          </a:xfrm>
        </p:grpSpPr>
        <p:sp>
          <p:nvSpPr>
            <p:cNvPr id="4" name="object 4"/>
            <p:cNvSpPr/>
            <p:nvPr/>
          </p:nvSpPr>
          <p:spPr>
            <a:xfrm>
              <a:off x="1667014" y="2177503"/>
              <a:ext cx="1767205" cy="1704339"/>
            </a:xfrm>
            <a:custGeom>
              <a:avLst/>
              <a:gdLst/>
              <a:ahLst/>
              <a:cxnLst/>
              <a:rect l="l" t="t" r="r" b="b"/>
              <a:pathLst>
                <a:path w="1767204" h="1704339">
                  <a:moveTo>
                    <a:pt x="541553" y="126326"/>
                  </a:moveTo>
                  <a:lnTo>
                    <a:pt x="0" y="126326"/>
                  </a:lnTo>
                  <a:lnTo>
                    <a:pt x="0" y="1703997"/>
                  </a:lnTo>
                  <a:lnTo>
                    <a:pt x="541553" y="1703997"/>
                  </a:lnTo>
                  <a:lnTo>
                    <a:pt x="541553" y="126326"/>
                  </a:lnTo>
                  <a:close/>
                </a:path>
                <a:path w="1767204" h="1704339">
                  <a:moveTo>
                    <a:pt x="541553" y="0"/>
                  </a:moveTo>
                  <a:lnTo>
                    <a:pt x="0" y="0"/>
                  </a:lnTo>
                  <a:lnTo>
                    <a:pt x="0" y="10528"/>
                  </a:lnTo>
                  <a:lnTo>
                    <a:pt x="541553" y="10528"/>
                  </a:lnTo>
                  <a:lnTo>
                    <a:pt x="541553" y="0"/>
                  </a:lnTo>
                  <a:close/>
                </a:path>
                <a:path w="1767204" h="1704339">
                  <a:moveTo>
                    <a:pt x="1767001" y="126326"/>
                  </a:moveTo>
                  <a:lnTo>
                    <a:pt x="662749" y="126326"/>
                  </a:lnTo>
                  <a:lnTo>
                    <a:pt x="662749" y="1703997"/>
                  </a:lnTo>
                  <a:lnTo>
                    <a:pt x="1767001" y="1703997"/>
                  </a:lnTo>
                  <a:lnTo>
                    <a:pt x="1767001" y="126326"/>
                  </a:lnTo>
                  <a:close/>
                </a:path>
                <a:path w="1767204" h="1704339">
                  <a:moveTo>
                    <a:pt x="1767001" y="0"/>
                  </a:moveTo>
                  <a:lnTo>
                    <a:pt x="662749" y="0"/>
                  </a:lnTo>
                  <a:lnTo>
                    <a:pt x="662749" y="10528"/>
                  </a:lnTo>
                  <a:lnTo>
                    <a:pt x="1767001" y="10528"/>
                  </a:lnTo>
                  <a:lnTo>
                    <a:pt x="1767001" y="0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667024" y="2177500"/>
              <a:ext cx="1767205" cy="1704339"/>
            </a:xfrm>
            <a:custGeom>
              <a:avLst/>
              <a:gdLst/>
              <a:ahLst/>
              <a:cxnLst/>
              <a:rect l="l" t="t" r="r" b="b"/>
              <a:pathLst>
                <a:path w="1767204" h="1704339">
                  <a:moveTo>
                    <a:pt x="0" y="0"/>
                  </a:moveTo>
                  <a:lnTo>
                    <a:pt x="1766999" y="0"/>
                  </a:lnTo>
                  <a:lnTo>
                    <a:pt x="1766999" y="1703999"/>
                  </a:lnTo>
                  <a:lnTo>
                    <a:pt x="0" y="1703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3025" y="2097812"/>
            <a:ext cx="89535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Verdana"/>
                <a:cs typeface="Verdana"/>
              </a:rPr>
              <a:t>document</a:t>
            </a:r>
            <a:r>
              <a:rPr sz="1100" spc="170" dirty="0">
                <a:latin typeface="Verdana"/>
                <a:cs typeface="Verdana"/>
              </a:rPr>
              <a:t> </a:t>
            </a:r>
            <a:r>
              <a:rPr sz="1100" spc="5" dirty="0">
                <a:latin typeface="Verdana"/>
                <a:cs typeface="Verdana"/>
              </a:rPr>
              <a:t>d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11550" y="2152712"/>
            <a:ext cx="2837180" cy="1804670"/>
            <a:chOff x="611550" y="2152712"/>
            <a:chExt cx="2837180" cy="1804670"/>
          </a:xfrm>
        </p:grpSpPr>
        <p:sp>
          <p:nvSpPr>
            <p:cNvPr id="8" name="object 8"/>
            <p:cNvSpPr/>
            <p:nvPr/>
          </p:nvSpPr>
          <p:spPr>
            <a:xfrm>
              <a:off x="1109824" y="2245924"/>
              <a:ext cx="342900" cy="4445"/>
            </a:xfrm>
            <a:custGeom>
              <a:avLst/>
              <a:gdLst/>
              <a:ahLst/>
              <a:cxnLst/>
              <a:rect l="l" t="t" r="r" b="b"/>
              <a:pathLst>
                <a:path w="342900" h="4444">
                  <a:moveTo>
                    <a:pt x="0" y="0"/>
                  </a:moveTo>
                  <a:lnTo>
                    <a:pt x="342754" y="437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452379" y="223456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3"/>
                  </a:moveTo>
                  <a:lnTo>
                    <a:pt x="401" y="0"/>
                  </a:lnTo>
                  <a:lnTo>
                    <a:pt x="43422" y="16282"/>
                  </a:lnTo>
                  <a:lnTo>
                    <a:pt x="0" y="31463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452379" y="223456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3"/>
                  </a:moveTo>
                  <a:lnTo>
                    <a:pt x="43422" y="16282"/>
                  </a:lnTo>
                  <a:lnTo>
                    <a:pt x="401" y="0"/>
                  </a:lnTo>
                  <a:lnTo>
                    <a:pt x="0" y="3146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67050" y="2188024"/>
              <a:ext cx="1767205" cy="116205"/>
            </a:xfrm>
            <a:custGeom>
              <a:avLst/>
              <a:gdLst/>
              <a:ahLst/>
              <a:cxnLst/>
              <a:rect l="l" t="t" r="r" b="b"/>
              <a:pathLst>
                <a:path w="1767204" h="116205">
                  <a:moveTo>
                    <a:pt x="1766999" y="115799"/>
                  </a:moveTo>
                  <a:lnTo>
                    <a:pt x="0" y="115799"/>
                  </a:lnTo>
                  <a:lnTo>
                    <a:pt x="0" y="0"/>
                  </a:lnTo>
                  <a:lnTo>
                    <a:pt x="1766999" y="0"/>
                  </a:lnTo>
                  <a:lnTo>
                    <a:pt x="1766999" y="115799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67050" y="2188024"/>
              <a:ext cx="1767205" cy="116205"/>
            </a:xfrm>
            <a:custGeom>
              <a:avLst/>
              <a:gdLst/>
              <a:ahLst/>
              <a:cxnLst/>
              <a:rect l="l" t="t" r="r" b="b"/>
              <a:pathLst>
                <a:path w="1767204" h="116205">
                  <a:moveTo>
                    <a:pt x="0" y="0"/>
                  </a:moveTo>
                  <a:lnTo>
                    <a:pt x="1766999" y="0"/>
                  </a:lnTo>
                  <a:lnTo>
                    <a:pt x="1766999" y="115799"/>
                  </a:lnTo>
                  <a:lnTo>
                    <a:pt x="0" y="1157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208575" y="2166999"/>
              <a:ext cx="121285" cy="1725295"/>
            </a:xfrm>
            <a:custGeom>
              <a:avLst/>
              <a:gdLst/>
              <a:ahLst/>
              <a:cxnLst/>
              <a:rect l="l" t="t" r="r" b="b"/>
              <a:pathLst>
                <a:path w="121285" h="1725295">
                  <a:moveTo>
                    <a:pt x="121199" y="1724999"/>
                  </a:moveTo>
                  <a:lnTo>
                    <a:pt x="0" y="1724999"/>
                  </a:lnTo>
                  <a:lnTo>
                    <a:pt x="0" y="0"/>
                  </a:lnTo>
                  <a:lnTo>
                    <a:pt x="121199" y="0"/>
                  </a:lnTo>
                  <a:lnTo>
                    <a:pt x="121199" y="1724999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208575" y="2166999"/>
              <a:ext cx="121285" cy="1725295"/>
            </a:xfrm>
            <a:custGeom>
              <a:avLst/>
              <a:gdLst/>
              <a:ahLst/>
              <a:cxnLst/>
              <a:rect l="l" t="t" r="r" b="b"/>
              <a:pathLst>
                <a:path w="121285" h="1725295">
                  <a:moveTo>
                    <a:pt x="0" y="1724999"/>
                  </a:moveTo>
                  <a:lnTo>
                    <a:pt x="0" y="0"/>
                  </a:lnTo>
                  <a:lnTo>
                    <a:pt x="121199" y="0"/>
                  </a:lnTo>
                  <a:lnTo>
                    <a:pt x="121199" y="1724999"/>
                  </a:lnTo>
                  <a:lnTo>
                    <a:pt x="0" y="1724999"/>
                  </a:lnTo>
                  <a:close/>
                </a:path>
              </a:pathLst>
            </a:custGeom>
            <a:ln w="2857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64775" y="2278506"/>
              <a:ext cx="1196975" cy="830580"/>
            </a:xfrm>
            <a:custGeom>
              <a:avLst/>
              <a:gdLst/>
              <a:ahLst/>
              <a:cxnLst/>
              <a:rect l="l" t="t" r="r" b="b"/>
              <a:pathLst>
                <a:path w="1196975" h="830580">
                  <a:moveTo>
                    <a:pt x="0" y="830518"/>
                  </a:moveTo>
                  <a:lnTo>
                    <a:pt x="119684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152652" y="2253863"/>
              <a:ext cx="45085" cy="38100"/>
            </a:xfrm>
            <a:custGeom>
              <a:avLst/>
              <a:gdLst/>
              <a:ahLst/>
              <a:cxnLst/>
              <a:rect l="l" t="t" r="r" b="b"/>
              <a:pathLst>
                <a:path w="45085" h="38100">
                  <a:moveTo>
                    <a:pt x="17938" y="37568"/>
                  </a:moveTo>
                  <a:lnTo>
                    <a:pt x="0" y="11717"/>
                  </a:lnTo>
                  <a:lnTo>
                    <a:pt x="44481" y="0"/>
                  </a:lnTo>
                  <a:lnTo>
                    <a:pt x="17938" y="3756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152652" y="2253863"/>
              <a:ext cx="45085" cy="38100"/>
            </a:xfrm>
            <a:custGeom>
              <a:avLst/>
              <a:gdLst/>
              <a:ahLst/>
              <a:cxnLst/>
              <a:rect l="l" t="t" r="r" b="b"/>
              <a:pathLst>
                <a:path w="45085" h="38100">
                  <a:moveTo>
                    <a:pt x="17938" y="37568"/>
                  </a:moveTo>
                  <a:lnTo>
                    <a:pt x="44481" y="0"/>
                  </a:lnTo>
                  <a:lnTo>
                    <a:pt x="0" y="11717"/>
                  </a:lnTo>
                  <a:lnTo>
                    <a:pt x="17938" y="3756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1550" y="3031010"/>
              <a:ext cx="399898" cy="23993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896425" y="3361431"/>
              <a:ext cx="1090295" cy="591185"/>
            </a:xfrm>
            <a:custGeom>
              <a:avLst/>
              <a:gdLst/>
              <a:ahLst/>
              <a:cxnLst/>
              <a:rect l="l" t="t" r="r" b="b"/>
              <a:pathLst>
                <a:path w="1090295" h="591185">
                  <a:moveTo>
                    <a:pt x="0" y="590768"/>
                  </a:moveTo>
                  <a:lnTo>
                    <a:pt x="1090054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78983" y="3340834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19" h="34925">
                  <a:moveTo>
                    <a:pt x="14992" y="34428"/>
                  </a:moveTo>
                  <a:lnTo>
                    <a:pt x="0" y="6764"/>
                  </a:lnTo>
                  <a:lnTo>
                    <a:pt x="45499" y="0"/>
                  </a:lnTo>
                  <a:lnTo>
                    <a:pt x="14992" y="3442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978983" y="3340834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19" h="34925">
                  <a:moveTo>
                    <a:pt x="14992" y="34428"/>
                  </a:moveTo>
                  <a:lnTo>
                    <a:pt x="45499" y="0"/>
                  </a:lnTo>
                  <a:lnTo>
                    <a:pt x="0" y="6764"/>
                  </a:lnTo>
                  <a:lnTo>
                    <a:pt x="14992" y="3442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2268244" y="4043261"/>
            <a:ext cx="2540" cy="311150"/>
          </a:xfrm>
          <a:custGeom>
            <a:avLst/>
            <a:gdLst/>
            <a:ahLst/>
            <a:cxnLst/>
            <a:rect l="l" t="t" r="r" b="b"/>
            <a:pathLst>
              <a:path w="2539" h="311150">
                <a:moveTo>
                  <a:pt x="2280" y="310951"/>
                </a:move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2247749" y="3995274"/>
            <a:ext cx="41275" cy="53340"/>
            <a:chOff x="2247749" y="3995274"/>
            <a:chExt cx="41275" cy="53340"/>
          </a:xfrm>
        </p:grpSpPr>
        <p:sp>
          <p:nvSpPr>
            <p:cNvPr id="24" name="object 24"/>
            <p:cNvSpPr/>
            <p:nvPr/>
          </p:nvSpPr>
          <p:spPr>
            <a:xfrm>
              <a:off x="2252511" y="400003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43339"/>
                  </a:moveTo>
                  <a:lnTo>
                    <a:pt x="15415" y="0"/>
                  </a:lnTo>
                  <a:lnTo>
                    <a:pt x="31464" y="43108"/>
                  </a:lnTo>
                  <a:lnTo>
                    <a:pt x="0" y="4333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252511" y="4000036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4" y="43108"/>
                  </a:moveTo>
                  <a:lnTo>
                    <a:pt x="15415" y="0"/>
                  </a:lnTo>
                  <a:lnTo>
                    <a:pt x="0" y="43339"/>
                  </a:lnTo>
                  <a:lnTo>
                    <a:pt x="31464" y="43108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2167582" y="4548789"/>
            <a:ext cx="196215" cy="460375"/>
          </a:xfrm>
          <a:prstGeom prst="rect">
            <a:avLst/>
          </a:prstGeom>
        </p:spPr>
        <p:txBody>
          <a:bodyPr vert="vert270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100" dirty="0">
                <a:latin typeface="Verdana"/>
                <a:cs typeface="Verdana"/>
              </a:rPr>
              <a:t>term</a:t>
            </a:r>
            <a:r>
              <a:rPr sz="1100" spc="-6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t</a:t>
            </a:r>
            <a:endParaRPr sz="1100">
              <a:latin typeface="Verdana"/>
              <a:cs typeface="Verdan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145400" y="425795"/>
            <a:ext cx="2658745" cy="1095375"/>
            <a:chOff x="4145400" y="425795"/>
            <a:chExt cx="2658745" cy="1095375"/>
          </a:xfrm>
        </p:grpSpPr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34667" y="425795"/>
              <a:ext cx="1472908" cy="49096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145400" y="902900"/>
              <a:ext cx="2658368" cy="618000"/>
            </a:xfrm>
            <a:prstGeom prst="rect">
              <a:avLst/>
            </a:prstGeom>
          </p:spPr>
        </p:pic>
      </p:grpSp>
      <p:sp>
        <p:nvSpPr>
          <p:cNvPr id="30" name="object 30"/>
          <p:cNvSpPr/>
          <p:nvPr/>
        </p:nvSpPr>
        <p:spPr>
          <a:xfrm>
            <a:off x="1636199" y="1904575"/>
            <a:ext cx="1784350" cy="168910"/>
          </a:xfrm>
          <a:custGeom>
            <a:avLst/>
            <a:gdLst/>
            <a:ahLst/>
            <a:cxnLst/>
            <a:rect l="l" t="t" r="r" b="b"/>
            <a:pathLst>
              <a:path w="1784350" h="168910">
                <a:moveTo>
                  <a:pt x="0" y="168299"/>
                </a:moveTo>
                <a:lnTo>
                  <a:pt x="6612" y="135545"/>
                </a:lnTo>
                <a:lnTo>
                  <a:pt x="24646" y="108796"/>
                </a:lnTo>
                <a:lnTo>
                  <a:pt x="51395" y="90762"/>
                </a:lnTo>
                <a:lnTo>
                  <a:pt x="84149" y="84149"/>
                </a:lnTo>
                <a:lnTo>
                  <a:pt x="807899" y="84149"/>
                </a:lnTo>
                <a:lnTo>
                  <a:pt x="840654" y="77537"/>
                </a:lnTo>
                <a:lnTo>
                  <a:pt x="867403" y="59503"/>
                </a:lnTo>
                <a:lnTo>
                  <a:pt x="885437" y="32754"/>
                </a:lnTo>
                <a:lnTo>
                  <a:pt x="892049" y="0"/>
                </a:lnTo>
                <a:lnTo>
                  <a:pt x="898662" y="32754"/>
                </a:lnTo>
                <a:lnTo>
                  <a:pt x="916696" y="59503"/>
                </a:lnTo>
                <a:lnTo>
                  <a:pt x="943445" y="77537"/>
                </a:lnTo>
                <a:lnTo>
                  <a:pt x="976199" y="84149"/>
                </a:lnTo>
                <a:lnTo>
                  <a:pt x="1699949" y="84149"/>
                </a:lnTo>
                <a:lnTo>
                  <a:pt x="1732704" y="90762"/>
                </a:lnTo>
                <a:lnTo>
                  <a:pt x="1759452" y="108796"/>
                </a:lnTo>
                <a:lnTo>
                  <a:pt x="1777487" y="135545"/>
                </a:lnTo>
                <a:lnTo>
                  <a:pt x="1784099" y="168299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object 3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3719" y="1527900"/>
            <a:ext cx="563897" cy="274116"/>
          </a:xfrm>
          <a:prstGeom prst="rect">
            <a:avLst/>
          </a:prstGeom>
        </p:spPr>
      </p:pic>
      <p:grpSp>
        <p:nvGrpSpPr>
          <p:cNvPr id="32" name="object 32"/>
          <p:cNvGrpSpPr/>
          <p:nvPr/>
        </p:nvGrpSpPr>
        <p:grpSpPr>
          <a:xfrm>
            <a:off x="3666037" y="2125337"/>
            <a:ext cx="661035" cy="1808480"/>
            <a:chOff x="3666037" y="2125337"/>
            <a:chExt cx="661035" cy="1808480"/>
          </a:xfrm>
        </p:grpSpPr>
        <p:sp>
          <p:nvSpPr>
            <p:cNvPr id="33" name="object 33"/>
            <p:cNvSpPr/>
            <p:nvPr/>
          </p:nvSpPr>
          <p:spPr>
            <a:xfrm>
              <a:off x="3670799" y="2130100"/>
              <a:ext cx="168910" cy="1798955"/>
            </a:xfrm>
            <a:custGeom>
              <a:avLst/>
              <a:gdLst/>
              <a:ahLst/>
              <a:cxnLst/>
              <a:rect l="l" t="t" r="r" b="b"/>
              <a:pathLst>
                <a:path w="168910" h="1798954">
                  <a:moveTo>
                    <a:pt x="0" y="0"/>
                  </a:moveTo>
                  <a:lnTo>
                    <a:pt x="32754" y="6612"/>
                  </a:lnTo>
                  <a:lnTo>
                    <a:pt x="59502" y="24646"/>
                  </a:lnTo>
                  <a:lnTo>
                    <a:pt x="77537" y="51395"/>
                  </a:lnTo>
                  <a:lnTo>
                    <a:pt x="84149" y="84149"/>
                  </a:lnTo>
                  <a:lnTo>
                    <a:pt x="84149" y="815249"/>
                  </a:lnTo>
                  <a:lnTo>
                    <a:pt x="90762" y="848004"/>
                  </a:lnTo>
                  <a:lnTo>
                    <a:pt x="108797" y="874753"/>
                  </a:lnTo>
                  <a:lnTo>
                    <a:pt x="135545" y="892787"/>
                  </a:lnTo>
                  <a:lnTo>
                    <a:pt x="168299" y="899399"/>
                  </a:lnTo>
                  <a:lnTo>
                    <a:pt x="135545" y="906012"/>
                  </a:lnTo>
                  <a:lnTo>
                    <a:pt x="108797" y="924046"/>
                  </a:lnTo>
                  <a:lnTo>
                    <a:pt x="90762" y="950795"/>
                  </a:lnTo>
                  <a:lnTo>
                    <a:pt x="84149" y="983549"/>
                  </a:lnTo>
                  <a:lnTo>
                    <a:pt x="84149" y="1714649"/>
                  </a:lnTo>
                  <a:lnTo>
                    <a:pt x="77537" y="1747404"/>
                  </a:lnTo>
                  <a:lnTo>
                    <a:pt x="59502" y="1774152"/>
                  </a:lnTo>
                  <a:lnTo>
                    <a:pt x="32754" y="1792187"/>
                  </a:lnTo>
                  <a:lnTo>
                    <a:pt x="0" y="179879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39098" y="2824073"/>
              <a:ext cx="487743" cy="368099"/>
            </a:xfrm>
            <a:prstGeom prst="rect">
              <a:avLst/>
            </a:prstGeom>
          </p:spPr>
        </p:pic>
      </p:grpSp>
      <p:pic>
        <p:nvPicPr>
          <p:cNvPr id="35" name="object 3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04986" y="1653355"/>
            <a:ext cx="2411578" cy="241158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29214" y="4177410"/>
            <a:ext cx="1489327" cy="226636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171525" y="3948937"/>
            <a:ext cx="1939289" cy="1031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Verdana"/>
                <a:cs typeface="Verdana"/>
              </a:rPr>
              <a:t>значение</a:t>
            </a:r>
            <a:r>
              <a:rPr sz="1100" spc="5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выражения</a:t>
            </a:r>
            <a:endParaRPr sz="11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300"/>
              </a:spcBef>
            </a:pPr>
            <a:endParaRPr sz="1100">
              <a:latin typeface="Verdana"/>
              <a:cs typeface="Verdana"/>
            </a:endParaRPr>
          </a:p>
          <a:p>
            <a:pPr marL="12700" marR="5080">
              <a:lnSpc>
                <a:spcPct val="100000"/>
              </a:lnSpc>
              <a:tabLst>
                <a:tab pos="1840864" algn="l"/>
              </a:tabLst>
            </a:pPr>
            <a:r>
              <a:rPr sz="1100" dirty="0">
                <a:latin typeface="Verdana"/>
                <a:cs typeface="Verdana"/>
              </a:rPr>
              <a:t>—</a:t>
            </a:r>
            <a:r>
              <a:rPr sz="1100" spc="-90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это</a:t>
            </a:r>
            <a:r>
              <a:rPr sz="1100" spc="-8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количество ненулевых</a:t>
            </a:r>
            <a:r>
              <a:rPr sz="1100" spc="-2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элементов</a:t>
            </a:r>
            <a:r>
              <a:rPr sz="1100" dirty="0">
                <a:latin typeface="Verdana"/>
                <a:cs typeface="Verdana"/>
              </a:rPr>
              <a:t>	</a:t>
            </a:r>
            <a:r>
              <a:rPr sz="1100" spc="-50" dirty="0">
                <a:latin typeface="Verdana"/>
                <a:cs typeface="Verdana"/>
              </a:rPr>
              <a:t>в </a:t>
            </a:r>
            <a:r>
              <a:rPr sz="1100" spc="-10" dirty="0">
                <a:latin typeface="Verdana"/>
                <a:cs typeface="Verdana"/>
              </a:rPr>
              <a:t>столбце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582749" y="1186887"/>
            <a:ext cx="184340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Verdana"/>
                <a:cs typeface="Verdana"/>
              </a:rPr>
              <a:t>сумма</a:t>
            </a:r>
            <a:r>
              <a:rPr sz="1100" spc="80" dirty="0">
                <a:latin typeface="Verdana"/>
                <a:cs typeface="Verdana"/>
              </a:rPr>
              <a:t> </a:t>
            </a:r>
            <a:r>
              <a:rPr sz="1100" dirty="0">
                <a:latin typeface="Verdana"/>
                <a:cs typeface="Verdana"/>
              </a:rPr>
              <a:t>элементов</a:t>
            </a:r>
            <a:r>
              <a:rPr sz="1100" spc="8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строки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942507" y="3393544"/>
            <a:ext cx="196215" cy="1310640"/>
          </a:xfrm>
          <a:prstGeom prst="rect">
            <a:avLst/>
          </a:prstGeom>
        </p:spPr>
        <p:txBody>
          <a:bodyPr vert="vert270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1100" dirty="0">
                <a:latin typeface="Verdana"/>
                <a:cs typeface="Verdana"/>
              </a:rPr>
              <a:t>количество</a:t>
            </a:r>
            <a:r>
              <a:rPr sz="1100" spc="-5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строк</a:t>
            </a:r>
            <a:endParaRPr sz="11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25" dirty="0"/>
              <a:t>Tf-</a:t>
            </a:r>
            <a:r>
              <a:rPr spc="365" dirty="0"/>
              <a:t>iDF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8345"/>
            <a:ext cx="3686810" cy="19202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600" spc="140" dirty="0">
                <a:latin typeface="Calibri"/>
                <a:cs typeface="Calibri"/>
              </a:rPr>
              <a:t>На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основе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spc="265" dirty="0">
                <a:latin typeface="Calibri"/>
                <a:cs typeface="Calibri"/>
              </a:rPr>
              <a:t>TF-</a:t>
            </a:r>
            <a:r>
              <a:rPr sz="1600" spc="280" dirty="0">
                <a:latin typeface="Calibri"/>
                <a:cs typeface="Calibri"/>
              </a:rPr>
              <a:t>IDF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значений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spc="-40" dirty="0">
                <a:latin typeface="Calibri"/>
                <a:cs typeface="Calibri"/>
              </a:rPr>
              <a:t>можно </a:t>
            </a:r>
            <a:r>
              <a:rPr sz="1600" dirty="0">
                <a:latin typeface="Calibri"/>
                <a:cs typeface="Calibri"/>
              </a:rPr>
              <a:t>построить</a:t>
            </a:r>
            <a:r>
              <a:rPr sz="1600" spc="1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векторы</a:t>
            </a:r>
            <a:r>
              <a:rPr sz="1600" spc="1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документов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70"/>
              </a:spcBef>
            </a:pPr>
            <a:endParaRPr sz="1600">
              <a:latin typeface="Calibri"/>
              <a:cs typeface="Calibri"/>
            </a:endParaRPr>
          </a:p>
          <a:p>
            <a:pPr marL="469265" indent="-34480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1400" b="1" spc="-75" dirty="0">
                <a:latin typeface="Verdana"/>
                <a:cs typeface="Verdana"/>
              </a:rPr>
              <a:t>a</a:t>
            </a:r>
            <a:r>
              <a:rPr sz="1400" b="1" spc="-85" dirty="0">
                <a:latin typeface="Verdana"/>
                <a:cs typeface="Verdana"/>
              </a:rPr>
              <a:t> </a:t>
            </a:r>
            <a:r>
              <a:rPr sz="1400" b="1" spc="-20" dirty="0">
                <a:latin typeface="Verdana"/>
                <a:cs typeface="Verdana"/>
              </a:rPr>
              <a:t>dog</a:t>
            </a:r>
            <a:r>
              <a:rPr sz="1400" b="1" spc="-85" dirty="0">
                <a:latin typeface="Verdana"/>
                <a:cs typeface="Verdana"/>
              </a:rPr>
              <a:t> </a:t>
            </a:r>
            <a:r>
              <a:rPr sz="1400" b="1" spc="-65" dirty="0">
                <a:latin typeface="Verdana"/>
                <a:cs typeface="Verdana"/>
              </a:rPr>
              <a:t>eats</a:t>
            </a:r>
            <a:r>
              <a:rPr sz="1400" b="1" spc="-85" dirty="0">
                <a:latin typeface="Verdana"/>
                <a:cs typeface="Verdana"/>
              </a:rPr>
              <a:t> </a:t>
            </a:r>
            <a:r>
              <a:rPr sz="1400" b="1" spc="-20" dirty="0">
                <a:latin typeface="Verdana"/>
                <a:cs typeface="Verdana"/>
              </a:rPr>
              <a:t>meat</a:t>
            </a:r>
            <a:endParaRPr sz="1400">
              <a:latin typeface="Verdana"/>
              <a:cs typeface="Verdana"/>
            </a:endParaRPr>
          </a:p>
          <a:p>
            <a:pPr marL="469265" indent="-38163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1400" b="1" spc="-75" dirty="0">
                <a:latin typeface="Verdana"/>
                <a:cs typeface="Verdana"/>
              </a:rPr>
              <a:t>a</a:t>
            </a:r>
            <a:r>
              <a:rPr sz="1400" b="1" spc="-85" dirty="0">
                <a:latin typeface="Verdana"/>
                <a:cs typeface="Verdana"/>
              </a:rPr>
              <a:t> </a:t>
            </a:r>
            <a:r>
              <a:rPr sz="1400" b="1" spc="-20" dirty="0">
                <a:latin typeface="Verdana"/>
                <a:cs typeface="Verdana"/>
              </a:rPr>
              <a:t>dog</a:t>
            </a:r>
            <a:r>
              <a:rPr sz="1400" b="1" spc="-85" dirty="0">
                <a:latin typeface="Verdana"/>
                <a:cs typeface="Verdana"/>
              </a:rPr>
              <a:t> </a:t>
            </a:r>
            <a:r>
              <a:rPr sz="1400" b="1" spc="-45" dirty="0">
                <a:latin typeface="Verdana"/>
                <a:cs typeface="Verdana"/>
              </a:rPr>
              <a:t>hunts</a:t>
            </a:r>
            <a:r>
              <a:rPr sz="1400" b="1" spc="-85" dirty="0">
                <a:latin typeface="Verdana"/>
                <a:cs typeface="Verdana"/>
              </a:rPr>
              <a:t> </a:t>
            </a:r>
            <a:r>
              <a:rPr sz="1400" b="1" spc="-25" dirty="0">
                <a:latin typeface="Verdana"/>
                <a:cs typeface="Verdana"/>
              </a:rPr>
              <a:t>cat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400">
              <a:latin typeface="Verdana"/>
              <a:cs typeface="Verdana"/>
            </a:endParaRPr>
          </a:p>
          <a:p>
            <a:pPr marL="137795">
              <a:lnSpc>
                <a:spcPct val="100000"/>
              </a:lnSpc>
              <a:spcBef>
                <a:spcPts val="5"/>
              </a:spcBef>
            </a:pPr>
            <a:r>
              <a:rPr sz="1300" spc="-20" dirty="0">
                <a:latin typeface="Verdana"/>
                <a:cs typeface="Verdana"/>
              </a:rPr>
              <a:t>TF-</a:t>
            </a:r>
            <a:r>
              <a:rPr sz="1300" spc="-25" dirty="0">
                <a:latin typeface="Verdana"/>
                <a:cs typeface="Verdana"/>
              </a:rPr>
              <a:t>IDF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векторы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для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30" dirty="0">
                <a:latin typeface="Verdana"/>
                <a:cs typeface="Verdana"/>
              </a:rPr>
              <a:t>этих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предложений: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18577" y="3437838"/>
            <a:ext cx="7639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8145" algn="l"/>
              </a:tabLst>
            </a:pPr>
            <a:r>
              <a:rPr sz="1400" spc="-25" dirty="0">
                <a:latin typeface="Verdana"/>
                <a:cs typeface="Verdana"/>
              </a:rPr>
              <a:t>…,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110" dirty="0">
                <a:latin typeface="Verdana"/>
                <a:cs typeface="Verdana"/>
              </a:rPr>
              <a:t>0,</a:t>
            </a:r>
            <a:r>
              <a:rPr sz="1400" spc="-114" dirty="0">
                <a:latin typeface="Verdana"/>
                <a:cs typeface="Verdana"/>
              </a:rPr>
              <a:t> </a:t>
            </a:r>
            <a:r>
              <a:rPr sz="1400" spc="-200" dirty="0">
                <a:latin typeface="Verdana"/>
                <a:cs typeface="Verdana"/>
              </a:rPr>
              <a:t>…,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69400" y="3437838"/>
            <a:ext cx="58356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8780" algn="l"/>
              </a:tabLst>
            </a:pPr>
            <a:r>
              <a:rPr sz="1400" spc="-25" dirty="0">
                <a:latin typeface="Verdana"/>
                <a:cs typeface="Verdana"/>
              </a:rPr>
              <a:t>0,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200" dirty="0">
                <a:latin typeface="Verdana"/>
                <a:cs typeface="Verdana"/>
              </a:rPr>
              <a:t>…]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72940" y="3437838"/>
            <a:ext cx="24917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381000" algn="l"/>
                <a:tab pos="2324735" algn="l"/>
              </a:tabLst>
            </a:pPr>
            <a:r>
              <a:rPr sz="1400" spc="-330" dirty="0">
                <a:latin typeface="Verdana"/>
                <a:cs typeface="Verdana"/>
              </a:rPr>
              <a:t>1.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204" dirty="0">
                <a:latin typeface="Verdana"/>
                <a:cs typeface="Verdana"/>
              </a:rPr>
              <a:t>[</a:t>
            </a:r>
            <a:r>
              <a:rPr sz="1400" spc="-120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0,</a:t>
            </a:r>
            <a:r>
              <a:rPr sz="1400" spc="-114" dirty="0">
                <a:latin typeface="Verdana"/>
                <a:cs typeface="Verdana"/>
              </a:rPr>
              <a:t> </a:t>
            </a:r>
            <a:r>
              <a:rPr sz="1400" spc="-240" dirty="0">
                <a:latin typeface="Verdana"/>
                <a:cs typeface="Verdana"/>
              </a:rPr>
              <a:t>…,</a:t>
            </a:r>
            <a:r>
              <a:rPr sz="1400" spc="-114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0,</a:t>
            </a:r>
            <a:r>
              <a:rPr sz="1400" spc="-114" dirty="0">
                <a:latin typeface="Verdana"/>
                <a:cs typeface="Verdana"/>
              </a:rPr>
              <a:t> </a:t>
            </a:r>
            <a:r>
              <a:rPr sz="1400" spc="-254" dirty="0">
                <a:latin typeface="Verdana"/>
                <a:cs typeface="Verdana"/>
              </a:rPr>
              <a:t>…</a:t>
            </a:r>
            <a:r>
              <a:rPr sz="1400" spc="-114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0.075,</a:t>
            </a:r>
            <a:r>
              <a:rPr sz="1400" spc="-114" dirty="0">
                <a:latin typeface="Verdana"/>
                <a:cs typeface="Verdana"/>
              </a:rPr>
              <a:t> </a:t>
            </a:r>
            <a:r>
              <a:rPr sz="1400" spc="-25" dirty="0">
                <a:latin typeface="Verdana"/>
                <a:cs typeface="Verdana"/>
              </a:rPr>
              <a:t>….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75" dirty="0">
                <a:latin typeface="Verdana"/>
                <a:cs typeface="Verdana"/>
              </a:rPr>
              <a:t>0,</a:t>
            </a: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tabLst>
                <a:tab pos="381000" algn="l"/>
                <a:tab pos="1431925" algn="l"/>
                <a:tab pos="1818005" algn="l"/>
              </a:tabLst>
            </a:pPr>
            <a:r>
              <a:rPr sz="1400" spc="-25" dirty="0">
                <a:latin typeface="Verdana"/>
                <a:cs typeface="Verdana"/>
              </a:rPr>
              <a:t>2.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204" dirty="0">
                <a:latin typeface="Verdana"/>
                <a:cs typeface="Verdana"/>
              </a:rPr>
              <a:t>[</a:t>
            </a:r>
            <a:r>
              <a:rPr sz="1400" spc="-120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0,</a:t>
            </a:r>
            <a:r>
              <a:rPr sz="1400" spc="-114" dirty="0">
                <a:latin typeface="Verdana"/>
                <a:cs typeface="Verdana"/>
              </a:rPr>
              <a:t> </a:t>
            </a:r>
            <a:r>
              <a:rPr sz="1400" spc="-240" dirty="0">
                <a:latin typeface="Verdana"/>
                <a:cs typeface="Verdana"/>
              </a:rPr>
              <a:t>…,</a:t>
            </a:r>
            <a:r>
              <a:rPr sz="1400" spc="-120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0,</a:t>
            </a:r>
            <a:r>
              <a:rPr sz="1400" spc="-114" dirty="0">
                <a:latin typeface="Verdana"/>
                <a:cs typeface="Verdana"/>
              </a:rPr>
              <a:t> </a:t>
            </a:r>
            <a:r>
              <a:rPr sz="1400" spc="-305" dirty="0">
                <a:latin typeface="Verdana"/>
                <a:cs typeface="Verdana"/>
              </a:rPr>
              <a:t>…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25" dirty="0">
                <a:latin typeface="Verdana"/>
                <a:cs typeface="Verdana"/>
              </a:rPr>
              <a:t>0,</a:t>
            </a:r>
            <a:r>
              <a:rPr sz="1400" dirty="0">
                <a:latin typeface="Verdana"/>
                <a:cs typeface="Verdana"/>
              </a:rPr>
              <a:t>	</a:t>
            </a:r>
            <a:r>
              <a:rPr sz="1400" spc="-25" dirty="0">
                <a:latin typeface="Verdana"/>
                <a:cs typeface="Verdana"/>
              </a:rPr>
              <a:t>…,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64375" y="3651198"/>
            <a:ext cx="69469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10" dirty="0">
                <a:latin typeface="Verdana"/>
                <a:cs typeface="Verdana"/>
              </a:rPr>
              <a:t>0.075,</a:t>
            </a:r>
            <a:r>
              <a:rPr sz="1400" spc="-95" dirty="0">
                <a:latin typeface="Verdana"/>
                <a:cs typeface="Verdana"/>
              </a:rPr>
              <a:t> </a:t>
            </a:r>
            <a:r>
              <a:rPr sz="1400" spc="-305" dirty="0">
                <a:latin typeface="Verdana"/>
                <a:cs typeface="Verdana"/>
              </a:rPr>
              <a:t>…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473365" y="3651198"/>
            <a:ext cx="155130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10" dirty="0">
                <a:latin typeface="Verdana"/>
                <a:cs typeface="Verdana"/>
              </a:rPr>
              <a:t>0.075,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14" dirty="0">
                <a:latin typeface="Verdana"/>
                <a:cs typeface="Verdana"/>
              </a:rPr>
              <a:t>…,</a:t>
            </a:r>
            <a:r>
              <a:rPr sz="1400" spc="70" dirty="0">
                <a:latin typeface="Verdana"/>
                <a:cs typeface="Verdana"/>
              </a:rPr>
              <a:t> </a:t>
            </a:r>
            <a:r>
              <a:rPr sz="1400" spc="-110" dirty="0">
                <a:latin typeface="Verdana"/>
                <a:cs typeface="Verdana"/>
              </a:rPr>
              <a:t>0.075,</a:t>
            </a:r>
            <a:r>
              <a:rPr sz="1400" spc="-130" dirty="0">
                <a:latin typeface="Verdana"/>
                <a:cs typeface="Verdana"/>
              </a:rPr>
              <a:t> </a:t>
            </a:r>
            <a:r>
              <a:rPr sz="1400" spc="-140" dirty="0">
                <a:latin typeface="Verdana"/>
                <a:cs typeface="Verdana"/>
              </a:rPr>
              <a:t>…]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961354" y="3996687"/>
            <a:ext cx="41275" cy="156210"/>
            <a:chOff x="961354" y="3996687"/>
            <a:chExt cx="41275" cy="156210"/>
          </a:xfrm>
        </p:grpSpPr>
        <p:sp>
          <p:nvSpPr>
            <p:cNvPr id="10" name="object 10"/>
            <p:cNvSpPr/>
            <p:nvPr/>
          </p:nvSpPr>
          <p:spPr>
            <a:xfrm>
              <a:off x="981850" y="4044675"/>
              <a:ext cx="0" cy="108585"/>
            </a:xfrm>
            <a:custGeom>
              <a:avLst/>
              <a:gdLst/>
              <a:ahLst/>
              <a:cxnLst/>
              <a:rect l="l" t="t" r="r" b="b"/>
              <a:pathLst>
                <a:path h="108585">
                  <a:moveTo>
                    <a:pt x="0" y="1081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966117" y="40014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966117" y="40014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409679" y="3996687"/>
            <a:ext cx="41275" cy="156210"/>
            <a:chOff x="1409679" y="3996687"/>
            <a:chExt cx="41275" cy="156210"/>
          </a:xfrm>
        </p:grpSpPr>
        <p:sp>
          <p:nvSpPr>
            <p:cNvPr id="14" name="object 14"/>
            <p:cNvSpPr/>
            <p:nvPr/>
          </p:nvSpPr>
          <p:spPr>
            <a:xfrm>
              <a:off x="1430174" y="4044675"/>
              <a:ext cx="0" cy="108585"/>
            </a:xfrm>
            <a:custGeom>
              <a:avLst/>
              <a:gdLst/>
              <a:ahLst/>
              <a:cxnLst/>
              <a:rect l="l" t="t" r="r" b="b"/>
              <a:pathLst>
                <a:path h="108585">
                  <a:moveTo>
                    <a:pt x="0" y="1081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414442" y="40014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14442" y="40014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1971079" y="3996687"/>
            <a:ext cx="41275" cy="156210"/>
            <a:chOff x="1971079" y="3996687"/>
            <a:chExt cx="41275" cy="156210"/>
          </a:xfrm>
        </p:grpSpPr>
        <p:sp>
          <p:nvSpPr>
            <p:cNvPr id="18" name="object 18"/>
            <p:cNvSpPr/>
            <p:nvPr/>
          </p:nvSpPr>
          <p:spPr>
            <a:xfrm>
              <a:off x="1991574" y="4044675"/>
              <a:ext cx="0" cy="108585"/>
            </a:xfrm>
            <a:custGeom>
              <a:avLst/>
              <a:gdLst/>
              <a:ahLst/>
              <a:cxnLst/>
              <a:rect l="l" t="t" r="r" b="b"/>
              <a:pathLst>
                <a:path h="108585">
                  <a:moveTo>
                    <a:pt x="0" y="1081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975842" y="40014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975842" y="40014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1" name="object 21"/>
          <p:cNvGrpSpPr/>
          <p:nvPr/>
        </p:nvGrpSpPr>
        <p:grpSpPr>
          <a:xfrm>
            <a:off x="2923404" y="3996687"/>
            <a:ext cx="41275" cy="156210"/>
            <a:chOff x="2923404" y="3996687"/>
            <a:chExt cx="41275" cy="156210"/>
          </a:xfrm>
        </p:grpSpPr>
        <p:sp>
          <p:nvSpPr>
            <p:cNvPr id="22" name="object 22"/>
            <p:cNvSpPr/>
            <p:nvPr/>
          </p:nvSpPr>
          <p:spPr>
            <a:xfrm>
              <a:off x="2943899" y="4044675"/>
              <a:ext cx="0" cy="108585"/>
            </a:xfrm>
            <a:custGeom>
              <a:avLst/>
              <a:gdLst/>
              <a:ahLst/>
              <a:cxnLst/>
              <a:rect l="l" t="t" r="r" b="b"/>
              <a:pathLst>
                <a:path h="108585">
                  <a:moveTo>
                    <a:pt x="0" y="1081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28167" y="40014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928167" y="40014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3772854" y="3996687"/>
            <a:ext cx="41275" cy="156210"/>
            <a:chOff x="3772854" y="3996687"/>
            <a:chExt cx="41275" cy="156210"/>
          </a:xfrm>
        </p:grpSpPr>
        <p:sp>
          <p:nvSpPr>
            <p:cNvPr id="26" name="object 26"/>
            <p:cNvSpPr/>
            <p:nvPr/>
          </p:nvSpPr>
          <p:spPr>
            <a:xfrm>
              <a:off x="3793349" y="4044675"/>
              <a:ext cx="0" cy="108585"/>
            </a:xfrm>
            <a:custGeom>
              <a:avLst/>
              <a:gdLst/>
              <a:ahLst/>
              <a:cxnLst/>
              <a:rect l="l" t="t" r="r" b="b"/>
              <a:pathLst>
                <a:path h="108585">
                  <a:moveTo>
                    <a:pt x="0" y="1081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777617" y="40014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777617" y="40014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9" name="object 29"/>
          <p:cNvGrpSpPr/>
          <p:nvPr/>
        </p:nvGrpSpPr>
        <p:grpSpPr>
          <a:xfrm>
            <a:off x="4604054" y="3996687"/>
            <a:ext cx="41275" cy="156210"/>
            <a:chOff x="4604054" y="3996687"/>
            <a:chExt cx="41275" cy="156210"/>
          </a:xfrm>
        </p:grpSpPr>
        <p:sp>
          <p:nvSpPr>
            <p:cNvPr id="30" name="object 30"/>
            <p:cNvSpPr/>
            <p:nvPr/>
          </p:nvSpPr>
          <p:spPr>
            <a:xfrm>
              <a:off x="4624549" y="4044675"/>
              <a:ext cx="0" cy="108585"/>
            </a:xfrm>
            <a:custGeom>
              <a:avLst/>
              <a:gdLst/>
              <a:ahLst/>
              <a:cxnLst/>
              <a:rect l="l" t="t" r="r" b="b"/>
              <a:pathLst>
                <a:path h="108585">
                  <a:moveTo>
                    <a:pt x="0" y="1081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608817" y="40014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608817" y="40014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915675" y="4218738"/>
            <a:ext cx="127254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03530" algn="l"/>
                <a:tab pos="890269" algn="l"/>
              </a:tabLst>
            </a:pPr>
            <a:r>
              <a:rPr sz="1400" spc="-50" dirty="0">
                <a:solidFill>
                  <a:srgbClr val="595959"/>
                </a:solidFill>
                <a:latin typeface="Verdana"/>
                <a:cs typeface="Verdana"/>
              </a:rPr>
              <a:t>a</a:t>
            </a:r>
            <a:r>
              <a:rPr sz="1400" dirty="0">
                <a:solidFill>
                  <a:srgbClr val="595959"/>
                </a:solidFill>
                <a:latin typeface="Verdana"/>
                <a:cs typeface="Verdana"/>
              </a:rPr>
              <a:t>	</a:t>
            </a:r>
            <a:r>
              <a:rPr sz="1400" spc="35" dirty="0">
                <a:solidFill>
                  <a:srgbClr val="595959"/>
                </a:solidFill>
                <a:latin typeface="Verdana"/>
                <a:cs typeface="Verdana"/>
              </a:rPr>
              <a:t>dog</a:t>
            </a:r>
            <a:r>
              <a:rPr sz="1400" dirty="0">
                <a:solidFill>
                  <a:srgbClr val="595959"/>
                </a:solidFill>
                <a:latin typeface="Verdana"/>
                <a:cs typeface="Verdana"/>
              </a:rPr>
              <a:t>	</a:t>
            </a:r>
            <a:r>
              <a:rPr sz="1400" spc="-20" dirty="0">
                <a:solidFill>
                  <a:srgbClr val="595959"/>
                </a:solidFill>
                <a:latin typeface="Verdana"/>
                <a:cs typeface="Verdana"/>
              </a:rPr>
              <a:t>eats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628244" y="4218738"/>
            <a:ext cx="54483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595959"/>
                </a:solidFill>
                <a:latin typeface="Verdana"/>
                <a:cs typeface="Verdana"/>
              </a:rPr>
              <a:t>hunts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612901" y="4218738"/>
            <a:ext cx="30289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595959"/>
                </a:solidFill>
                <a:latin typeface="Verdana"/>
                <a:cs typeface="Verdana"/>
              </a:rPr>
              <a:t>cat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355927" y="4218738"/>
            <a:ext cx="49657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solidFill>
                  <a:srgbClr val="595959"/>
                </a:solidFill>
                <a:latin typeface="Verdana"/>
                <a:cs typeface="Verdana"/>
              </a:rPr>
              <a:t>meat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25" dirty="0"/>
              <a:t>Tf-</a:t>
            </a:r>
            <a:r>
              <a:rPr spc="365" dirty="0"/>
              <a:t>iDF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8345"/>
            <a:ext cx="5008880" cy="86677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spc="80" dirty="0">
                <a:latin typeface="Calibri"/>
                <a:cs typeface="Calibri"/>
              </a:rPr>
              <a:t>Еще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примеры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использования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240" dirty="0">
                <a:latin typeface="Calibri"/>
                <a:cs typeface="Calibri"/>
              </a:rPr>
              <a:t>TF-</a:t>
            </a:r>
            <a:r>
              <a:rPr sz="1600" spc="204" dirty="0">
                <a:latin typeface="Calibri"/>
                <a:cs typeface="Calibri"/>
              </a:rPr>
              <a:t>IDF:</a:t>
            </a:r>
            <a:endParaRPr sz="1600">
              <a:latin typeface="Calibri"/>
              <a:cs typeface="Calibri"/>
            </a:endParaRPr>
          </a:p>
          <a:p>
            <a:pPr marL="469265" indent="-303530">
              <a:lnSpc>
                <a:spcPct val="100000"/>
              </a:lnSpc>
              <a:spcBef>
                <a:spcPts val="290"/>
              </a:spcBef>
              <a:buChar char="-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Ранжирование</a:t>
            </a:r>
            <a:r>
              <a:rPr sz="1600" spc="1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поисковой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выдачи;</a:t>
            </a:r>
            <a:endParaRPr sz="1600">
              <a:latin typeface="Calibri"/>
              <a:cs typeface="Calibri"/>
            </a:endParaRPr>
          </a:p>
          <a:p>
            <a:pPr marL="469265" indent="-303530">
              <a:lnSpc>
                <a:spcPct val="100000"/>
              </a:lnSpc>
              <a:spcBef>
                <a:spcPts val="290"/>
              </a:spcBef>
              <a:buChar char="-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Выделение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ключевых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и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суммаризация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текста.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25" dirty="0"/>
              <a:t>Tf-</a:t>
            </a:r>
            <a:r>
              <a:rPr spc="365" dirty="0"/>
              <a:t>iDF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8345"/>
            <a:ext cx="5348605" cy="282956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spc="-10" dirty="0">
                <a:latin typeface="Calibri"/>
                <a:cs typeface="Calibri"/>
              </a:rPr>
              <a:t>Плюсы:</a:t>
            </a:r>
            <a:endParaRPr sz="1600">
              <a:latin typeface="Calibri"/>
              <a:cs typeface="Calibri"/>
            </a:endParaRPr>
          </a:p>
          <a:p>
            <a:pPr marL="469265" indent="-303530">
              <a:lnSpc>
                <a:spcPct val="100000"/>
              </a:lnSpc>
              <a:spcBef>
                <a:spcPts val="290"/>
              </a:spcBef>
              <a:buChar char="-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Векторы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имеют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больший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смысл,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чем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при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95" dirty="0">
                <a:latin typeface="Calibri"/>
                <a:cs typeface="Calibri"/>
              </a:rPr>
              <a:t>BoW;</a:t>
            </a:r>
            <a:endParaRPr sz="1600">
              <a:latin typeface="Calibri"/>
              <a:cs typeface="Calibri"/>
            </a:endParaRPr>
          </a:p>
          <a:p>
            <a:pPr marL="469900" marR="5080" indent="-304165">
              <a:lnSpc>
                <a:spcPct val="114999"/>
              </a:lnSpc>
              <a:buChar char="-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Возможность</a:t>
            </a:r>
            <a:r>
              <a:rPr sz="1600" spc="1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решать</a:t>
            </a:r>
            <a:r>
              <a:rPr sz="1600" spc="1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такие</a:t>
            </a:r>
            <a:r>
              <a:rPr sz="1600" spc="1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задачи,</a:t>
            </a:r>
            <a:r>
              <a:rPr sz="1600" spc="165" dirty="0">
                <a:latin typeface="Calibri"/>
                <a:cs typeface="Calibri"/>
              </a:rPr>
              <a:t> </a:t>
            </a:r>
            <a:r>
              <a:rPr sz="1600" spc="50" dirty="0">
                <a:latin typeface="Calibri"/>
                <a:cs typeface="Calibri"/>
              </a:rPr>
              <a:t>как</a:t>
            </a:r>
            <a:r>
              <a:rPr sz="1600" spc="1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ранжирование документов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и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выделение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ключевых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слов;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40"/>
              </a:spcBef>
              <a:buFont typeface="Calibri"/>
              <a:buChar char="-"/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Недостатки:</a:t>
            </a:r>
            <a:endParaRPr sz="1600">
              <a:latin typeface="Calibri"/>
              <a:cs typeface="Calibri"/>
            </a:endParaRPr>
          </a:p>
          <a:p>
            <a:pPr marL="469265" indent="-303530">
              <a:lnSpc>
                <a:spcPct val="100000"/>
              </a:lnSpc>
              <a:spcBef>
                <a:spcPts val="290"/>
              </a:spcBef>
              <a:buChar char="-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Векторы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spc="-35" dirty="0">
                <a:latin typeface="Calibri"/>
                <a:cs typeface="Calibri"/>
              </a:rPr>
              <a:t>довольно</a:t>
            </a:r>
            <a:r>
              <a:rPr sz="1600" spc="1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разрежены;</a:t>
            </a:r>
            <a:endParaRPr sz="1600">
              <a:latin typeface="Calibri"/>
              <a:cs typeface="Calibri"/>
            </a:endParaRPr>
          </a:p>
          <a:p>
            <a:pPr marL="469265" indent="-303530">
              <a:lnSpc>
                <a:spcPct val="100000"/>
              </a:lnSpc>
              <a:spcBef>
                <a:spcPts val="290"/>
              </a:spcBef>
              <a:buChar char="-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Фиксированный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размер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словаря.</a:t>
            </a:r>
            <a:endParaRPr sz="1600">
              <a:latin typeface="Calibri"/>
              <a:cs typeface="Calibri"/>
            </a:endParaRPr>
          </a:p>
          <a:p>
            <a:pPr marL="469900" marR="636905" indent="-304165">
              <a:lnSpc>
                <a:spcPct val="114999"/>
              </a:lnSpc>
              <a:buChar char="-"/>
              <a:tabLst>
                <a:tab pos="469900" algn="l"/>
              </a:tabLst>
            </a:pPr>
            <a:r>
              <a:rPr sz="1600" spc="80" dirty="0">
                <a:latin typeface="Calibri"/>
                <a:cs typeface="Calibri"/>
              </a:rPr>
              <a:t>При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изменении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коллекции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документов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векторы </a:t>
            </a:r>
            <a:r>
              <a:rPr sz="1600" dirty="0">
                <a:latin typeface="Calibri"/>
                <a:cs typeface="Calibri"/>
              </a:rPr>
              <a:t>нужно</a:t>
            </a:r>
            <a:r>
              <a:rPr sz="1600" spc="1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пересчитывать.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95" dirty="0"/>
              <a:t>Латентный</a:t>
            </a:r>
            <a:r>
              <a:rPr sz="2700" spc="155" dirty="0"/>
              <a:t> </a:t>
            </a:r>
            <a:r>
              <a:rPr sz="2700" dirty="0"/>
              <a:t>семантический</a:t>
            </a:r>
            <a:r>
              <a:rPr sz="2700" spc="155" dirty="0"/>
              <a:t> </a:t>
            </a:r>
            <a:r>
              <a:rPr sz="2700" spc="-10" dirty="0"/>
              <a:t>анализ</a:t>
            </a:r>
            <a:endParaRPr sz="2700"/>
          </a:p>
        </p:txBody>
      </p:sp>
      <p:grpSp>
        <p:nvGrpSpPr>
          <p:cNvPr id="3" name="object 3"/>
          <p:cNvGrpSpPr/>
          <p:nvPr/>
        </p:nvGrpSpPr>
        <p:grpSpPr>
          <a:xfrm>
            <a:off x="2780137" y="1408864"/>
            <a:ext cx="2155190" cy="1311910"/>
            <a:chOff x="2780137" y="1408864"/>
            <a:chExt cx="2155190" cy="1311910"/>
          </a:xfrm>
        </p:grpSpPr>
        <p:sp>
          <p:nvSpPr>
            <p:cNvPr id="4" name="object 4"/>
            <p:cNvSpPr/>
            <p:nvPr/>
          </p:nvSpPr>
          <p:spPr>
            <a:xfrm>
              <a:off x="3542004" y="1704187"/>
              <a:ext cx="1378585" cy="881380"/>
            </a:xfrm>
            <a:custGeom>
              <a:avLst/>
              <a:gdLst/>
              <a:ahLst/>
              <a:cxnLst/>
              <a:rect l="l" t="t" r="r" b="b"/>
              <a:pathLst>
                <a:path w="1378585" h="881380">
                  <a:moveTo>
                    <a:pt x="678840" y="0"/>
                  </a:moveTo>
                  <a:lnTo>
                    <a:pt x="0" y="0"/>
                  </a:lnTo>
                  <a:lnTo>
                    <a:pt x="0" y="880935"/>
                  </a:lnTo>
                  <a:lnTo>
                    <a:pt x="678840" y="880935"/>
                  </a:lnTo>
                  <a:lnTo>
                    <a:pt x="678840" y="0"/>
                  </a:lnTo>
                  <a:close/>
                </a:path>
                <a:path w="1378585" h="881380">
                  <a:moveTo>
                    <a:pt x="1378508" y="0"/>
                  </a:moveTo>
                  <a:lnTo>
                    <a:pt x="754138" y="0"/>
                  </a:lnTo>
                  <a:lnTo>
                    <a:pt x="754138" y="880935"/>
                  </a:lnTo>
                  <a:lnTo>
                    <a:pt x="1378508" y="880935"/>
                  </a:lnTo>
                  <a:lnTo>
                    <a:pt x="1378508" y="0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42015" y="1625720"/>
              <a:ext cx="1378585" cy="959485"/>
            </a:xfrm>
            <a:custGeom>
              <a:avLst/>
              <a:gdLst/>
              <a:ahLst/>
              <a:cxnLst/>
              <a:rect l="l" t="t" r="r" b="b"/>
              <a:pathLst>
                <a:path w="1378585" h="959485">
                  <a:moveTo>
                    <a:pt x="0" y="0"/>
                  </a:moveTo>
                  <a:lnTo>
                    <a:pt x="1378499" y="0"/>
                  </a:lnTo>
                  <a:lnTo>
                    <a:pt x="1378499" y="959399"/>
                  </a:lnTo>
                  <a:lnTo>
                    <a:pt x="0" y="95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41997" y="1625277"/>
              <a:ext cx="1378585" cy="79375"/>
            </a:xfrm>
            <a:custGeom>
              <a:avLst/>
              <a:gdLst/>
              <a:ahLst/>
              <a:cxnLst/>
              <a:rect l="l" t="t" r="r" b="b"/>
              <a:pathLst>
                <a:path w="1378585" h="79375">
                  <a:moveTo>
                    <a:pt x="1378499" y="78899"/>
                  </a:moveTo>
                  <a:lnTo>
                    <a:pt x="0" y="78899"/>
                  </a:lnTo>
                  <a:lnTo>
                    <a:pt x="0" y="0"/>
                  </a:lnTo>
                  <a:lnTo>
                    <a:pt x="1378499" y="0"/>
                  </a:lnTo>
                  <a:lnTo>
                    <a:pt x="1378499" y="78899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41997" y="1625277"/>
              <a:ext cx="1378585" cy="79375"/>
            </a:xfrm>
            <a:custGeom>
              <a:avLst/>
              <a:gdLst/>
              <a:ahLst/>
              <a:cxnLst/>
              <a:rect l="l" t="t" r="r" b="b"/>
              <a:pathLst>
                <a:path w="1378585" h="79375">
                  <a:moveTo>
                    <a:pt x="0" y="0"/>
                  </a:moveTo>
                  <a:lnTo>
                    <a:pt x="1378499" y="0"/>
                  </a:lnTo>
                  <a:lnTo>
                    <a:pt x="1378499" y="78899"/>
                  </a:lnTo>
                  <a:lnTo>
                    <a:pt x="0" y="78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E0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20849" y="1619153"/>
              <a:ext cx="75565" cy="972185"/>
            </a:xfrm>
            <a:custGeom>
              <a:avLst/>
              <a:gdLst/>
              <a:ahLst/>
              <a:cxnLst/>
              <a:rect l="l" t="t" r="r" b="b"/>
              <a:pathLst>
                <a:path w="75564" h="972185">
                  <a:moveTo>
                    <a:pt x="75299" y="972000"/>
                  </a:moveTo>
                  <a:lnTo>
                    <a:pt x="0" y="972000"/>
                  </a:lnTo>
                  <a:lnTo>
                    <a:pt x="0" y="0"/>
                  </a:lnTo>
                  <a:lnTo>
                    <a:pt x="75299" y="0"/>
                  </a:lnTo>
                  <a:lnTo>
                    <a:pt x="75299" y="972000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20849" y="1619153"/>
              <a:ext cx="75565" cy="972185"/>
            </a:xfrm>
            <a:custGeom>
              <a:avLst/>
              <a:gdLst/>
              <a:ahLst/>
              <a:cxnLst/>
              <a:rect l="l" t="t" r="r" b="b"/>
              <a:pathLst>
                <a:path w="75564" h="972185">
                  <a:moveTo>
                    <a:pt x="0" y="972000"/>
                  </a:moveTo>
                  <a:lnTo>
                    <a:pt x="0" y="0"/>
                  </a:lnTo>
                  <a:lnTo>
                    <a:pt x="75299" y="0"/>
                  </a:lnTo>
                  <a:lnTo>
                    <a:pt x="75299" y="972000"/>
                  </a:lnTo>
                  <a:lnTo>
                    <a:pt x="0" y="972000"/>
                  </a:lnTo>
                  <a:close/>
                </a:path>
              </a:pathLst>
            </a:custGeom>
            <a:ln w="28574">
              <a:solidFill>
                <a:srgbClr val="E0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76296" y="1413627"/>
              <a:ext cx="318770" cy="219075"/>
            </a:xfrm>
            <a:custGeom>
              <a:avLst/>
              <a:gdLst/>
              <a:ahLst/>
              <a:cxnLst/>
              <a:rect l="l" t="t" r="r" b="b"/>
              <a:pathLst>
                <a:path w="318770" h="219075">
                  <a:moveTo>
                    <a:pt x="0" y="0"/>
                  </a:moveTo>
                  <a:lnTo>
                    <a:pt x="318586" y="21875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85978" y="1619408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44538" y="37436"/>
                  </a:moveTo>
                  <a:lnTo>
                    <a:pt x="0" y="25939"/>
                  </a:lnTo>
                  <a:lnTo>
                    <a:pt x="17810" y="0"/>
                  </a:lnTo>
                  <a:lnTo>
                    <a:pt x="44538" y="3743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85978" y="1619408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0" y="25939"/>
                  </a:moveTo>
                  <a:lnTo>
                    <a:pt x="44538" y="37436"/>
                  </a:lnTo>
                  <a:lnTo>
                    <a:pt x="17810" y="0"/>
                  </a:lnTo>
                  <a:lnTo>
                    <a:pt x="0" y="2593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84899" y="2595964"/>
              <a:ext cx="1416685" cy="120014"/>
            </a:xfrm>
            <a:custGeom>
              <a:avLst/>
              <a:gdLst/>
              <a:ahLst/>
              <a:cxnLst/>
              <a:rect l="l" t="t" r="r" b="b"/>
              <a:pathLst>
                <a:path w="1416685" h="120014">
                  <a:moveTo>
                    <a:pt x="0" y="119688"/>
                  </a:moveTo>
                  <a:lnTo>
                    <a:pt x="1416652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00228" y="2580287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2648" y="31353"/>
                  </a:moveTo>
                  <a:lnTo>
                    <a:pt x="0" y="0"/>
                  </a:lnTo>
                  <a:lnTo>
                    <a:pt x="44396" y="12037"/>
                  </a:lnTo>
                  <a:lnTo>
                    <a:pt x="2648" y="31353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00228" y="2580287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2648" y="31353"/>
                  </a:moveTo>
                  <a:lnTo>
                    <a:pt x="44396" y="12037"/>
                  </a:lnTo>
                  <a:lnTo>
                    <a:pt x="0" y="0"/>
                  </a:lnTo>
                  <a:lnTo>
                    <a:pt x="2648" y="3135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54900" y="1208166"/>
            <a:ext cx="2803525" cy="14751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33905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Verdana"/>
                <a:cs typeface="Verdana"/>
              </a:rPr>
              <a:t>документ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220"/>
              </a:spcBef>
            </a:pPr>
            <a:endParaRPr sz="1200">
              <a:latin typeface="Verdana"/>
              <a:cs typeface="Verdana"/>
            </a:endParaRPr>
          </a:p>
          <a:p>
            <a:pPr marL="12700" marR="1446530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Матрица </a:t>
            </a:r>
            <a:r>
              <a:rPr sz="1400" dirty="0">
                <a:latin typeface="Calibri"/>
                <a:cs typeface="Calibri"/>
              </a:rPr>
              <a:t>документы-</a:t>
            </a:r>
            <a:r>
              <a:rPr sz="1400" spc="-10" dirty="0">
                <a:latin typeface="Calibri"/>
                <a:cs typeface="Calibri"/>
              </a:rPr>
              <a:t>слова размера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35" dirty="0">
                <a:latin typeface="Calibri"/>
                <a:cs typeface="Calibri"/>
              </a:rPr>
              <a:t>n</a:t>
            </a:r>
            <a:r>
              <a:rPr sz="1100" spc="35" dirty="0">
                <a:latin typeface="Calibri"/>
                <a:cs typeface="Calibri"/>
              </a:rPr>
              <a:t>x</a:t>
            </a:r>
            <a:r>
              <a:rPr sz="1400" spc="35" dirty="0">
                <a:latin typeface="Calibri"/>
                <a:cs typeface="Calibri"/>
              </a:rPr>
              <a:t>k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400">
              <a:latin typeface="Calibri"/>
              <a:cs typeface="Calibri"/>
            </a:endParaRPr>
          </a:p>
          <a:p>
            <a:pPr marL="2033905">
              <a:lnSpc>
                <a:spcPct val="100000"/>
              </a:lnSpc>
            </a:pPr>
            <a:r>
              <a:rPr sz="1200" spc="-10" dirty="0">
                <a:latin typeface="Verdana"/>
                <a:cs typeface="Verdana"/>
              </a:rPr>
              <a:t>слово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95" dirty="0"/>
              <a:t>Латентный</a:t>
            </a:r>
            <a:r>
              <a:rPr sz="2700" spc="155" dirty="0"/>
              <a:t> </a:t>
            </a:r>
            <a:r>
              <a:rPr sz="2700" dirty="0"/>
              <a:t>семантический</a:t>
            </a:r>
            <a:r>
              <a:rPr sz="2700" spc="155" dirty="0"/>
              <a:t> </a:t>
            </a:r>
            <a:r>
              <a:rPr sz="2700" spc="-10" dirty="0"/>
              <a:t>анализ</a:t>
            </a:r>
            <a:endParaRPr sz="2700"/>
          </a:p>
        </p:txBody>
      </p:sp>
      <p:grpSp>
        <p:nvGrpSpPr>
          <p:cNvPr id="3" name="object 3"/>
          <p:cNvGrpSpPr/>
          <p:nvPr/>
        </p:nvGrpSpPr>
        <p:grpSpPr>
          <a:xfrm>
            <a:off x="2780137" y="1408864"/>
            <a:ext cx="2155190" cy="1311910"/>
            <a:chOff x="2780137" y="1408864"/>
            <a:chExt cx="2155190" cy="1311910"/>
          </a:xfrm>
        </p:grpSpPr>
        <p:sp>
          <p:nvSpPr>
            <p:cNvPr id="4" name="object 4"/>
            <p:cNvSpPr/>
            <p:nvPr/>
          </p:nvSpPr>
          <p:spPr>
            <a:xfrm>
              <a:off x="3542004" y="1704187"/>
              <a:ext cx="1378585" cy="881380"/>
            </a:xfrm>
            <a:custGeom>
              <a:avLst/>
              <a:gdLst/>
              <a:ahLst/>
              <a:cxnLst/>
              <a:rect l="l" t="t" r="r" b="b"/>
              <a:pathLst>
                <a:path w="1378585" h="881380">
                  <a:moveTo>
                    <a:pt x="678840" y="0"/>
                  </a:moveTo>
                  <a:lnTo>
                    <a:pt x="0" y="0"/>
                  </a:lnTo>
                  <a:lnTo>
                    <a:pt x="0" y="880935"/>
                  </a:lnTo>
                  <a:lnTo>
                    <a:pt x="678840" y="880935"/>
                  </a:lnTo>
                  <a:lnTo>
                    <a:pt x="678840" y="0"/>
                  </a:lnTo>
                  <a:close/>
                </a:path>
                <a:path w="1378585" h="881380">
                  <a:moveTo>
                    <a:pt x="1378508" y="0"/>
                  </a:moveTo>
                  <a:lnTo>
                    <a:pt x="754138" y="0"/>
                  </a:lnTo>
                  <a:lnTo>
                    <a:pt x="754138" y="880935"/>
                  </a:lnTo>
                  <a:lnTo>
                    <a:pt x="1378508" y="880935"/>
                  </a:lnTo>
                  <a:lnTo>
                    <a:pt x="1378508" y="0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42015" y="1625720"/>
              <a:ext cx="1378585" cy="959485"/>
            </a:xfrm>
            <a:custGeom>
              <a:avLst/>
              <a:gdLst/>
              <a:ahLst/>
              <a:cxnLst/>
              <a:rect l="l" t="t" r="r" b="b"/>
              <a:pathLst>
                <a:path w="1378585" h="959485">
                  <a:moveTo>
                    <a:pt x="0" y="0"/>
                  </a:moveTo>
                  <a:lnTo>
                    <a:pt x="1378499" y="0"/>
                  </a:lnTo>
                  <a:lnTo>
                    <a:pt x="1378499" y="959399"/>
                  </a:lnTo>
                  <a:lnTo>
                    <a:pt x="0" y="95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41997" y="1625277"/>
              <a:ext cx="1378585" cy="79375"/>
            </a:xfrm>
            <a:custGeom>
              <a:avLst/>
              <a:gdLst/>
              <a:ahLst/>
              <a:cxnLst/>
              <a:rect l="l" t="t" r="r" b="b"/>
              <a:pathLst>
                <a:path w="1378585" h="79375">
                  <a:moveTo>
                    <a:pt x="1378499" y="78899"/>
                  </a:moveTo>
                  <a:lnTo>
                    <a:pt x="0" y="78899"/>
                  </a:lnTo>
                  <a:lnTo>
                    <a:pt x="0" y="0"/>
                  </a:lnTo>
                  <a:lnTo>
                    <a:pt x="1378499" y="0"/>
                  </a:lnTo>
                  <a:lnTo>
                    <a:pt x="1378499" y="78899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41997" y="1625277"/>
              <a:ext cx="1378585" cy="79375"/>
            </a:xfrm>
            <a:custGeom>
              <a:avLst/>
              <a:gdLst/>
              <a:ahLst/>
              <a:cxnLst/>
              <a:rect l="l" t="t" r="r" b="b"/>
              <a:pathLst>
                <a:path w="1378585" h="79375">
                  <a:moveTo>
                    <a:pt x="0" y="0"/>
                  </a:moveTo>
                  <a:lnTo>
                    <a:pt x="1378499" y="0"/>
                  </a:lnTo>
                  <a:lnTo>
                    <a:pt x="1378499" y="78899"/>
                  </a:lnTo>
                  <a:lnTo>
                    <a:pt x="0" y="78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E0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20849" y="1619153"/>
              <a:ext cx="75565" cy="972185"/>
            </a:xfrm>
            <a:custGeom>
              <a:avLst/>
              <a:gdLst/>
              <a:ahLst/>
              <a:cxnLst/>
              <a:rect l="l" t="t" r="r" b="b"/>
              <a:pathLst>
                <a:path w="75564" h="972185">
                  <a:moveTo>
                    <a:pt x="75299" y="972000"/>
                  </a:moveTo>
                  <a:lnTo>
                    <a:pt x="0" y="972000"/>
                  </a:lnTo>
                  <a:lnTo>
                    <a:pt x="0" y="0"/>
                  </a:lnTo>
                  <a:lnTo>
                    <a:pt x="75299" y="0"/>
                  </a:lnTo>
                  <a:lnTo>
                    <a:pt x="75299" y="972000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20849" y="1619153"/>
              <a:ext cx="75565" cy="972185"/>
            </a:xfrm>
            <a:custGeom>
              <a:avLst/>
              <a:gdLst/>
              <a:ahLst/>
              <a:cxnLst/>
              <a:rect l="l" t="t" r="r" b="b"/>
              <a:pathLst>
                <a:path w="75564" h="972185">
                  <a:moveTo>
                    <a:pt x="0" y="972000"/>
                  </a:moveTo>
                  <a:lnTo>
                    <a:pt x="0" y="0"/>
                  </a:lnTo>
                  <a:lnTo>
                    <a:pt x="75299" y="0"/>
                  </a:lnTo>
                  <a:lnTo>
                    <a:pt x="75299" y="972000"/>
                  </a:lnTo>
                  <a:lnTo>
                    <a:pt x="0" y="972000"/>
                  </a:lnTo>
                  <a:close/>
                </a:path>
              </a:pathLst>
            </a:custGeom>
            <a:ln w="28574">
              <a:solidFill>
                <a:srgbClr val="E0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76296" y="1413627"/>
              <a:ext cx="318770" cy="219075"/>
            </a:xfrm>
            <a:custGeom>
              <a:avLst/>
              <a:gdLst/>
              <a:ahLst/>
              <a:cxnLst/>
              <a:rect l="l" t="t" r="r" b="b"/>
              <a:pathLst>
                <a:path w="318770" h="219075">
                  <a:moveTo>
                    <a:pt x="0" y="0"/>
                  </a:moveTo>
                  <a:lnTo>
                    <a:pt x="318586" y="21875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85978" y="1619408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44538" y="37436"/>
                  </a:moveTo>
                  <a:lnTo>
                    <a:pt x="0" y="25939"/>
                  </a:lnTo>
                  <a:lnTo>
                    <a:pt x="17810" y="0"/>
                  </a:lnTo>
                  <a:lnTo>
                    <a:pt x="44538" y="3743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85978" y="1619408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0" y="25939"/>
                  </a:moveTo>
                  <a:lnTo>
                    <a:pt x="44538" y="37436"/>
                  </a:lnTo>
                  <a:lnTo>
                    <a:pt x="17810" y="0"/>
                  </a:lnTo>
                  <a:lnTo>
                    <a:pt x="0" y="2593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84899" y="2595964"/>
              <a:ext cx="1416685" cy="120014"/>
            </a:xfrm>
            <a:custGeom>
              <a:avLst/>
              <a:gdLst/>
              <a:ahLst/>
              <a:cxnLst/>
              <a:rect l="l" t="t" r="r" b="b"/>
              <a:pathLst>
                <a:path w="1416685" h="120014">
                  <a:moveTo>
                    <a:pt x="0" y="119688"/>
                  </a:moveTo>
                  <a:lnTo>
                    <a:pt x="1416652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00228" y="2580287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2648" y="31353"/>
                  </a:moveTo>
                  <a:lnTo>
                    <a:pt x="0" y="0"/>
                  </a:lnTo>
                  <a:lnTo>
                    <a:pt x="44396" y="12037"/>
                  </a:lnTo>
                  <a:lnTo>
                    <a:pt x="2648" y="31353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00228" y="2580287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2648" y="31353"/>
                  </a:moveTo>
                  <a:lnTo>
                    <a:pt x="44396" y="12037"/>
                  </a:lnTo>
                  <a:lnTo>
                    <a:pt x="0" y="0"/>
                  </a:lnTo>
                  <a:lnTo>
                    <a:pt x="2648" y="3135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276411" y="1208166"/>
            <a:ext cx="781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Verdana"/>
                <a:cs typeface="Verdana"/>
              </a:rPr>
              <a:t>документ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76412" y="2474778"/>
            <a:ext cx="491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Verdana"/>
                <a:cs typeface="Verdana"/>
              </a:rPr>
              <a:t>слово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4890" y="3881663"/>
            <a:ext cx="2209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60" dirty="0">
                <a:latin typeface="Tahoma"/>
                <a:cs typeface="Tahoma"/>
              </a:rPr>
              <a:t>≈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94159" y="3521848"/>
            <a:ext cx="1049655" cy="977265"/>
            <a:chOff x="794159" y="3521848"/>
            <a:chExt cx="1049655" cy="977265"/>
          </a:xfrm>
        </p:grpSpPr>
        <p:sp>
          <p:nvSpPr>
            <p:cNvPr id="20" name="object 20"/>
            <p:cNvSpPr/>
            <p:nvPr/>
          </p:nvSpPr>
          <p:spPr>
            <a:xfrm>
              <a:off x="798921" y="3526611"/>
              <a:ext cx="1040130" cy="967740"/>
            </a:xfrm>
            <a:custGeom>
              <a:avLst/>
              <a:gdLst/>
              <a:ahLst/>
              <a:cxnLst/>
              <a:rect l="l" t="t" r="r" b="b"/>
              <a:pathLst>
                <a:path w="1040130" h="967739">
                  <a:moveTo>
                    <a:pt x="1040100" y="967499"/>
                  </a:moveTo>
                  <a:lnTo>
                    <a:pt x="0" y="967499"/>
                  </a:lnTo>
                  <a:lnTo>
                    <a:pt x="0" y="0"/>
                  </a:lnTo>
                  <a:lnTo>
                    <a:pt x="1040100" y="0"/>
                  </a:lnTo>
                  <a:lnTo>
                    <a:pt x="1040100" y="9674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98921" y="3526611"/>
              <a:ext cx="1040130" cy="967740"/>
            </a:xfrm>
            <a:custGeom>
              <a:avLst/>
              <a:gdLst/>
              <a:ahLst/>
              <a:cxnLst/>
              <a:rect l="l" t="t" r="r" b="b"/>
              <a:pathLst>
                <a:path w="1040130" h="967739">
                  <a:moveTo>
                    <a:pt x="0" y="0"/>
                  </a:moveTo>
                  <a:lnTo>
                    <a:pt x="1040100" y="0"/>
                  </a:lnTo>
                  <a:lnTo>
                    <a:pt x="1040100" y="967499"/>
                  </a:lnTo>
                  <a:lnTo>
                    <a:pt x="0" y="967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25049" y="3775004"/>
            <a:ext cx="37655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25" dirty="0">
                <a:latin typeface="Verdana"/>
                <a:cs typeface="Verdana"/>
              </a:rPr>
              <a:t>SVD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23246" y="4694032"/>
            <a:ext cx="5473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70" dirty="0">
                <a:latin typeface="Verdana"/>
                <a:cs typeface="Verdana"/>
              </a:rPr>
              <a:t>U</a:t>
            </a:r>
            <a:r>
              <a:rPr sz="1200" spc="-110" dirty="0">
                <a:latin typeface="Verdana"/>
                <a:cs typeface="Verdana"/>
              </a:rPr>
              <a:t> </a:t>
            </a:r>
            <a:r>
              <a:rPr sz="1200" spc="-75" dirty="0">
                <a:latin typeface="Verdana"/>
                <a:cs typeface="Verdana"/>
              </a:rPr>
              <a:t>(kxk)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21654" y="3881954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MS PGothic"/>
                <a:cs typeface="MS PGothic"/>
              </a:rPr>
              <a:t>✕</a:t>
            </a:r>
            <a:endParaRPr sz="1400">
              <a:latin typeface="MS PGothic"/>
              <a:cs typeface="MS PGothic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06100" y="4566529"/>
            <a:ext cx="1558925" cy="36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>
              <a:lnSpc>
                <a:spcPct val="100000"/>
              </a:lnSpc>
              <a:spcBef>
                <a:spcPts val="100"/>
              </a:spcBef>
            </a:pPr>
            <a:r>
              <a:rPr sz="1200" spc="-100" dirty="0">
                <a:latin typeface="Verdana"/>
                <a:cs typeface="Verdana"/>
              </a:rPr>
              <a:t>S</a:t>
            </a:r>
            <a:r>
              <a:rPr sz="1200" spc="-10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(kxn)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Verdana"/>
                <a:cs typeface="Verdana"/>
              </a:rPr>
              <a:t>диагональная</a:t>
            </a:r>
            <a:r>
              <a:rPr sz="1000" spc="-2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матрица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10683" y="4694042"/>
            <a:ext cx="628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Verdana"/>
                <a:cs typeface="Verdana"/>
              </a:rPr>
              <a:t>V</a:t>
            </a:r>
            <a:r>
              <a:rPr sz="1200" spc="-15" baseline="31250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(nxn)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2395893" y="3505334"/>
            <a:ext cx="1466215" cy="1007744"/>
            <a:chOff x="2395893" y="3505334"/>
            <a:chExt cx="1466215" cy="1007744"/>
          </a:xfrm>
        </p:grpSpPr>
        <p:sp>
          <p:nvSpPr>
            <p:cNvPr id="28" name="object 28"/>
            <p:cNvSpPr/>
            <p:nvPr/>
          </p:nvSpPr>
          <p:spPr>
            <a:xfrm>
              <a:off x="2433064" y="3530607"/>
              <a:ext cx="1424305" cy="955040"/>
            </a:xfrm>
            <a:custGeom>
              <a:avLst/>
              <a:gdLst/>
              <a:ahLst/>
              <a:cxnLst/>
              <a:rect l="l" t="t" r="r" b="b"/>
              <a:pathLst>
                <a:path w="1424304" h="955039">
                  <a:moveTo>
                    <a:pt x="1424100" y="954899"/>
                  </a:moveTo>
                  <a:lnTo>
                    <a:pt x="0" y="954899"/>
                  </a:lnTo>
                  <a:lnTo>
                    <a:pt x="0" y="0"/>
                  </a:lnTo>
                  <a:lnTo>
                    <a:pt x="1424100" y="0"/>
                  </a:lnTo>
                  <a:lnTo>
                    <a:pt x="1424100" y="9548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433064" y="3530607"/>
              <a:ext cx="1424305" cy="955040"/>
            </a:xfrm>
            <a:custGeom>
              <a:avLst/>
              <a:gdLst/>
              <a:ahLst/>
              <a:cxnLst/>
              <a:rect l="l" t="t" r="r" b="b"/>
              <a:pathLst>
                <a:path w="1424304" h="955039">
                  <a:moveTo>
                    <a:pt x="0" y="0"/>
                  </a:moveTo>
                  <a:lnTo>
                    <a:pt x="1424100" y="0"/>
                  </a:lnTo>
                  <a:lnTo>
                    <a:pt x="1424100" y="954899"/>
                  </a:lnTo>
                  <a:lnTo>
                    <a:pt x="0" y="954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414943" y="3524384"/>
              <a:ext cx="1099820" cy="969644"/>
            </a:xfrm>
            <a:custGeom>
              <a:avLst/>
              <a:gdLst/>
              <a:ahLst/>
              <a:cxnLst/>
              <a:rect l="l" t="t" r="r" b="b"/>
              <a:pathLst>
                <a:path w="1099820" h="969645">
                  <a:moveTo>
                    <a:pt x="0" y="0"/>
                  </a:moveTo>
                  <a:lnTo>
                    <a:pt x="1099500" y="969299"/>
                  </a:lnTo>
                </a:path>
              </a:pathLst>
            </a:custGeom>
            <a:ln w="3809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4297705" y="3386366"/>
            <a:ext cx="1433830" cy="1175385"/>
            <a:chOff x="4297705" y="3386366"/>
            <a:chExt cx="1433830" cy="1175385"/>
          </a:xfrm>
        </p:grpSpPr>
        <p:sp>
          <p:nvSpPr>
            <p:cNvPr id="32" name="object 32"/>
            <p:cNvSpPr/>
            <p:nvPr/>
          </p:nvSpPr>
          <p:spPr>
            <a:xfrm>
              <a:off x="4302468" y="3391129"/>
              <a:ext cx="1424305" cy="1165860"/>
            </a:xfrm>
            <a:custGeom>
              <a:avLst/>
              <a:gdLst/>
              <a:ahLst/>
              <a:cxnLst/>
              <a:rect l="l" t="t" r="r" b="b"/>
              <a:pathLst>
                <a:path w="1424304" h="1165860">
                  <a:moveTo>
                    <a:pt x="1424099" y="1165799"/>
                  </a:moveTo>
                  <a:lnTo>
                    <a:pt x="0" y="1165799"/>
                  </a:lnTo>
                  <a:lnTo>
                    <a:pt x="0" y="0"/>
                  </a:lnTo>
                  <a:lnTo>
                    <a:pt x="1424099" y="0"/>
                  </a:lnTo>
                  <a:lnTo>
                    <a:pt x="1424099" y="11657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302468" y="3391129"/>
              <a:ext cx="1424305" cy="1165860"/>
            </a:xfrm>
            <a:custGeom>
              <a:avLst/>
              <a:gdLst/>
              <a:ahLst/>
              <a:cxnLst/>
              <a:rect l="l" t="t" r="r" b="b"/>
              <a:pathLst>
                <a:path w="1424304" h="1165860">
                  <a:moveTo>
                    <a:pt x="0" y="0"/>
                  </a:moveTo>
                  <a:lnTo>
                    <a:pt x="1424099" y="0"/>
                  </a:lnTo>
                  <a:lnTo>
                    <a:pt x="1424099" y="1165799"/>
                  </a:lnTo>
                  <a:lnTo>
                    <a:pt x="0" y="1165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254900" y="1604212"/>
            <a:ext cx="136144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Матрица </a:t>
            </a:r>
            <a:r>
              <a:rPr sz="1400" dirty="0">
                <a:latin typeface="Calibri"/>
                <a:cs typeface="Calibri"/>
              </a:rPr>
              <a:t>документы-</a:t>
            </a:r>
            <a:r>
              <a:rPr sz="1400" spc="-10" dirty="0">
                <a:latin typeface="Calibri"/>
                <a:cs typeface="Calibri"/>
              </a:rPr>
              <a:t>слова размера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35" dirty="0">
                <a:latin typeface="Calibri"/>
                <a:cs typeface="Calibri"/>
              </a:rPr>
              <a:t>n</a:t>
            </a:r>
            <a:r>
              <a:rPr sz="1100" spc="35" dirty="0">
                <a:latin typeface="Calibri"/>
                <a:cs typeface="Calibri"/>
              </a:rPr>
              <a:t>x</a:t>
            </a:r>
            <a:r>
              <a:rPr sz="1400" spc="35" dirty="0">
                <a:latin typeface="Calibri"/>
                <a:cs typeface="Calibri"/>
              </a:rPr>
              <a:t>k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160240" y="1871150"/>
            <a:ext cx="2209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60" dirty="0">
                <a:latin typeface="Tahoma"/>
                <a:cs typeface="Tahoma"/>
              </a:rPr>
              <a:t>≈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3974504" y="3907554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MS PGothic"/>
                <a:cs typeface="MS PGothic"/>
              </a:rPr>
              <a:t>✕</a:t>
            </a:r>
            <a:endParaRPr sz="1400">
              <a:latin typeface="MS PGothic"/>
              <a:cs typeface="MS PGothi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95" dirty="0"/>
              <a:t>Латентный</a:t>
            </a:r>
            <a:r>
              <a:rPr sz="2700" spc="155" dirty="0"/>
              <a:t> </a:t>
            </a:r>
            <a:r>
              <a:rPr sz="2700" dirty="0"/>
              <a:t>семантический</a:t>
            </a:r>
            <a:r>
              <a:rPr sz="2700" spc="155" dirty="0"/>
              <a:t> </a:t>
            </a:r>
            <a:r>
              <a:rPr sz="2700" spc="-10" dirty="0"/>
              <a:t>анализ</a:t>
            </a:r>
            <a:endParaRPr sz="2700"/>
          </a:p>
        </p:txBody>
      </p:sp>
      <p:grpSp>
        <p:nvGrpSpPr>
          <p:cNvPr id="3" name="object 3"/>
          <p:cNvGrpSpPr/>
          <p:nvPr/>
        </p:nvGrpSpPr>
        <p:grpSpPr>
          <a:xfrm>
            <a:off x="2780137" y="1408864"/>
            <a:ext cx="2155190" cy="1311910"/>
            <a:chOff x="2780137" y="1408864"/>
            <a:chExt cx="2155190" cy="1311910"/>
          </a:xfrm>
        </p:grpSpPr>
        <p:sp>
          <p:nvSpPr>
            <p:cNvPr id="4" name="object 4"/>
            <p:cNvSpPr/>
            <p:nvPr/>
          </p:nvSpPr>
          <p:spPr>
            <a:xfrm>
              <a:off x="3542004" y="1704187"/>
              <a:ext cx="1378585" cy="881380"/>
            </a:xfrm>
            <a:custGeom>
              <a:avLst/>
              <a:gdLst/>
              <a:ahLst/>
              <a:cxnLst/>
              <a:rect l="l" t="t" r="r" b="b"/>
              <a:pathLst>
                <a:path w="1378585" h="881380">
                  <a:moveTo>
                    <a:pt x="678840" y="0"/>
                  </a:moveTo>
                  <a:lnTo>
                    <a:pt x="0" y="0"/>
                  </a:lnTo>
                  <a:lnTo>
                    <a:pt x="0" y="880935"/>
                  </a:lnTo>
                  <a:lnTo>
                    <a:pt x="678840" y="880935"/>
                  </a:lnTo>
                  <a:lnTo>
                    <a:pt x="678840" y="0"/>
                  </a:lnTo>
                  <a:close/>
                </a:path>
                <a:path w="1378585" h="881380">
                  <a:moveTo>
                    <a:pt x="1378508" y="0"/>
                  </a:moveTo>
                  <a:lnTo>
                    <a:pt x="754138" y="0"/>
                  </a:lnTo>
                  <a:lnTo>
                    <a:pt x="754138" y="880935"/>
                  </a:lnTo>
                  <a:lnTo>
                    <a:pt x="1378508" y="880935"/>
                  </a:lnTo>
                  <a:lnTo>
                    <a:pt x="1378508" y="0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42015" y="1625720"/>
              <a:ext cx="1378585" cy="959485"/>
            </a:xfrm>
            <a:custGeom>
              <a:avLst/>
              <a:gdLst/>
              <a:ahLst/>
              <a:cxnLst/>
              <a:rect l="l" t="t" r="r" b="b"/>
              <a:pathLst>
                <a:path w="1378585" h="959485">
                  <a:moveTo>
                    <a:pt x="0" y="0"/>
                  </a:moveTo>
                  <a:lnTo>
                    <a:pt x="1378499" y="0"/>
                  </a:lnTo>
                  <a:lnTo>
                    <a:pt x="1378499" y="959399"/>
                  </a:lnTo>
                  <a:lnTo>
                    <a:pt x="0" y="95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41997" y="1625277"/>
              <a:ext cx="1378585" cy="79375"/>
            </a:xfrm>
            <a:custGeom>
              <a:avLst/>
              <a:gdLst/>
              <a:ahLst/>
              <a:cxnLst/>
              <a:rect l="l" t="t" r="r" b="b"/>
              <a:pathLst>
                <a:path w="1378585" h="79375">
                  <a:moveTo>
                    <a:pt x="1378499" y="78899"/>
                  </a:moveTo>
                  <a:lnTo>
                    <a:pt x="0" y="78899"/>
                  </a:lnTo>
                  <a:lnTo>
                    <a:pt x="0" y="0"/>
                  </a:lnTo>
                  <a:lnTo>
                    <a:pt x="1378499" y="0"/>
                  </a:lnTo>
                  <a:lnTo>
                    <a:pt x="1378499" y="78899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41997" y="1625277"/>
              <a:ext cx="1378585" cy="79375"/>
            </a:xfrm>
            <a:custGeom>
              <a:avLst/>
              <a:gdLst/>
              <a:ahLst/>
              <a:cxnLst/>
              <a:rect l="l" t="t" r="r" b="b"/>
              <a:pathLst>
                <a:path w="1378585" h="79375">
                  <a:moveTo>
                    <a:pt x="0" y="0"/>
                  </a:moveTo>
                  <a:lnTo>
                    <a:pt x="1378499" y="0"/>
                  </a:lnTo>
                  <a:lnTo>
                    <a:pt x="1378499" y="78899"/>
                  </a:lnTo>
                  <a:lnTo>
                    <a:pt x="0" y="78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E0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20849" y="1619153"/>
              <a:ext cx="75565" cy="972185"/>
            </a:xfrm>
            <a:custGeom>
              <a:avLst/>
              <a:gdLst/>
              <a:ahLst/>
              <a:cxnLst/>
              <a:rect l="l" t="t" r="r" b="b"/>
              <a:pathLst>
                <a:path w="75564" h="972185">
                  <a:moveTo>
                    <a:pt x="75299" y="972000"/>
                  </a:moveTo>
                  <a:lnTo>
                    <a:pt x="0" y="972000"/>
                  </a:lnTo>
                  <a:lnTo>
                    <a:pt x="0" y="0"/>
                  </a:lnTo>
                  <a:lnTo>
                    <a:pt x="75299" y="0"/>
                  </a:lnTo>
                  <a:lnTo>
                    <a:pt x="75299" y="972000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20849" y="1619153"/>
              <a:ext cx="75565" cy="972185"/>
            </a:xfrm>
            <a:custGeom>
              <a:avLst/>
              <a:gdLst/>
              <a:ahLst/>
              <a:cxnLst/>
              <a:rect l="l" t="t" r="r" b="b"/>
              <a:pathLst>
                <a:path w="75564" h="972185">
                  <a:moveTo>
                    <a:pt x="0" y="972000"/>
                  </a:moveTo>
                  <a:lnTo>
                    <a:pt x="0" y="0"/>
                  </a:lnTo>
                  <a:lnTo>
                    <a:pt x="75299" y="0"/>
                  </a:lnTo>
                  <a:lnTo>
                    <a:pt x="75299" y="972000"/>
                  </a:lnTo>
                  <a:lnTo>
                    <a:pt x="0" y="972000"/>
                  </a:lnTo>
                  <a:close/>
                </a:path>
              </a:pathLst>
            </a:custGeom>
            <a:ln w="28574">
              <a:solidFill>
                <a:srgbClr val="E0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76296" y="1413627"/>
              <a:ext cx="318770" cy="219075"/>
            </a:xfrm>
            <a:custGeom>
              <a:avLst/>
              <a:gdLst/>
              <a:ahLst/>
              <a:cxnLst/>
              <a:rect l="l" t="t" r="r" b="b"/>
              <a:pathLst>
                <a:path w="318770" h="219075">
                  <a:moveTo>
                    <a:pt x="0" y="0"/>
                  </a:moveTo>
                  <a:lnTo>
                    <a:pt x="318586" y="21875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85978" y="1619408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44538" y="37436"/>
                  </a:moveTo>
                  <a:lnTo>
                    <a:pt x="0" y="25939"/>
                  </a:lnTo>
                  <a:lnTo>
                    <a:pt x="17810" y="0"/>
                  </a:lnTo>
                  <a:lnTo>
                    <a:pt x="44538" y="3743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85978" y="1619408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0" y="25939"/>
                  </a:moveTo>
                  <a:lnTo>
                    <a:pt x="44538" y="37436"/>
                  </a:lnTo>
                  <a:lnTo>
                    <a:pt x="17810" y="0"/>
                  </a:lnTo>
                  <a:lnTo>
                    <a:pt x="0" y="2593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84899" y="2595964"/>
              <a:ext cx="1416685" cy="120014"/>
            </a:xfrm>
            <a:custGeom>
              <a:avLst/>
              <a:gdLst/>
              <a:ahLst/>
              <a:cxnLst/>
              <a:rect l="l" t="t" r="r" b="b"/>
              <a:pathLst>
                <a:path w="1416685" h="120014">
                  <a:moveTo>
                    <a:pt x="0" y="119688"/>
                  </a:moveTo>
                  <a:lnTo>
                    <a:pt x="1416652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00228" y="2580287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2648" y="31353"/>
                  </a:moveTo>
                  <a:lnTo>
                    <a:pt x="0" y="0"/>
                  </a:lnTo>
                  <a:lnTo>
                    <a:pt x="44396" y="12037"/>
                  </a:lnTo>
                  <a:lnTo>
                    <a:pt x="2648" y="31353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00228" y="2580287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2648" y="31353"/>
                  </a:moveTo>
                  <a:lnTo>
                    <a:pt x="44396" y="12037"/>
                  </a:lnTo>
                  <a:lnTo>
                    <a:pt x="0" y="0"/>
                  </a:lnTo>
                  <a:lnTo>
                    <a:pt x="2648" y="3135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276411" y="1208166"/>
            <a:ext cx="781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Verdana"/>
                <a:cs typeface="Verdana"/>
              </a:rPr>
              <a:t>документ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4890" y="3881663"/>
            <a:ext cx="2209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60" dirty="0">
                <a:latin typeface="Tahoma"/>
                <a:cs typeface="Tahoma"/>
              </a:rPr>
              <a:t>≈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84631" y="3224526"/>
            <a:ext cx="1068705" cy="1274445"/>
            <a:chOff x="784631" y="3224526"/>
            <a:chExt cx="1068705" cy="1274445"/>
          </a:xfrm>
        </p:grpSpPr>
        <p:sp>
          <p:nvSpPr>
            <p:cNvPr id="19" name="object 19"/>
            <p:cNvSpPr/>
            <p:nvPr/>
          </p:nvSpPr>
          <p:spPr>
            <a:xfrm>
              <a:off x="798918" y="3526612"/>
              <a:ext cx="1040130" cy="967740"/>
            </a:xfrm>
            <a:custGeom>
              <a:avLst/>
              <a:gdLst/>
              <a:ahLst/>
              <a:cxnLst/>
              <a:rect l="l" t="t" r="r" b="b"/>
              <a:pathLst>
                <a:path w="1040130" h="967739">
                  <a:moveTo>
                    <a:pt x="1040091" y="84861"/>
                  </a:moveTo>
                  <a:lnTo>
                    <a:pt x="0" y="84861"/>
                  </a:lnTo>
                  <a:lnTo>
                    <a:pt x="0" y="967511"/>
                  </a:lnTo>
                  <a:lnTo>
                    <a:pt x="1040091" y="967511"/>
                  </a:lnTo>
                  <a:lnTo>
                    <a:pt x="1040091" y="84861"/>
                  </a:lnTo>
                  <a:close/>
                </a:path>
                <a:path w="1040130" h="967739">
                  <a:moveTo>
                    <a:pt x="1040091" y="0"/>
                  </a:moveTo>
                  <a:lnTo>
                    <a:pt x="0" y="0"/>
                  </a:lnTo>
                  <a:lnTo>
                    <a:pt x="0" y="5956"/>
                  </a:lnTo>
                  <a:lnTo>
                    <a:pt x="1040091" y="5956"/>
                  </a:lnTo>
                  <a:lnTo>
                    <a:pt x="1040091" y="0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98921" y="3526611"/>
              <a:ext cx="1040130" cy="967740"/>
            </a:xfrm>
            <a:custGeom>
              <a:avLst/>
              <a:gdLst/>
              <a:ahLst/>
              <a:cxnLst/>
              <a:rect l="l" t="t" r="r" b="b"/>
              <a:pathLst>
                <a:path w="1040130" h="967739">
                  <a:moveTo>
                    <a:pt x="0" y="0"/>
                  </a:moveTo>
                  <a:lnTo>
                    <a:pt x="1040100" y="0"/>
                  </a:lnTo>
                  <a:lnTo>
                    <a:pt x="1040100" y="967499"/>
                  </a:lnTo>
                  <a:lnTo>
                    <a:pt x="0" y="967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98919" y="3532562"/>
              <a:ext cx="1040130" cy="79375"/>
            </a:xfrm>
            <a:custGeom>
              <a:avLst/>
              <a:gdLst/>
              <a:ahLst/>
              <a:cxnLst/>
              <a:rect l="l" t="t" r="r" b="b"/>
              <a:pathLst>
                <a:path w="1040130" h="79375">
                  <a:moveTo>
                    <a:pt x="1040099" y="78899"/>
                  </a:moveTo>
                  <a:lnTo>
                    <a:pt x="0" y="78899"/>
                  </a:lnTo>
                  <a:lnTo>
                    <a:pt x="0" y="0"/>
                  </a:lnTo>
                  <a:lnTo>
                    <a:pt x="1040099" y="0"/>
                  </a:lnTo>
                  <a:lnTo>
                    <a:pt x="1040099" y="78899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98919" y="3532562"/>
              <a:ext cx="1040130" cy="79375"/>
            </a:xfrm>
            <a:custGeom>
              <a:avLst/>
              <a:gdLst/>
              <a:ahLst/>
              <a:cxnLst/>
              <a:rect l="l" t="t" r="r" b="b"/>
              <a:pathLst>
                <a:path w="1040130" h="79375">
                  <a:moveTo>
                    <a:pt x="0" y="0"/>
                  </a:moveTo>
                  <a:lnTo>
                    <a:pt x="1040099" y="0"/>
                  </a:lnTo>
                  <a:lnTo>
                    <a:pt x="1040099" y="78899"/>
                  </a:lnTo>
                  <a:lnTo>
                    <a:pt x="0" y="78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E0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78685" y="3229289"/>
              <a:ext cx="533400" cy="230504"/>
            </a:xfrm>
            <a:custGeom>
              <a:avLst/>
              <a:gdLst/>
              <a:ahLst/>
              <a:cxnLst/>
              <a:rect l="l" t="t" r="r" b="b"/>
              <a:pathLst>
                <a:path w="533400" h="230504">
                  <a:moveTo>
                    <a:pt x="533133" y="0"/>
                  </a:moveTo>
                  <a:lnTo>
                    <a:pt x="0" y="23024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39002" y="3445087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5" h="31750">
                  <a:moveTo>
                    <a:pt x="0" y="31581"/>
                  </a:moveTo>
                  <a:lnTo>
                    <a:pt x="33445" y="0"/>
                  </a:lnTo>
                  <a:lnTo>
                    <a:pt x="45920" y="28886"/>
                  </a:lnTo>
                  <a:lnTo>
                    <a:pt x="0" y="3158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39002" y="3445087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5" h="31750">
                  <a:moveTo>
                    <a:pt x="33445" y="0"/>
                  </a:moveTo>
                  <a:lnTo>
                    <a:pt x="0" y="31581"/>
                  </a:lnTo>
                  <a:lnTo>
                    <a:pt x="45920" y="28886"/>
                  </a:lnTo>
                  <a:lnTo>
                    <a:pt x="33445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638790" y="3459779"/>
            <a:ext cx="13779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15" dirty="0">
                <a:latin typeface="Verdana"/>
                <a:cs typeface="Verdana"/>
              </a:rPr>
              <a:t>d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25049" y="3775004"/>
            <a:ext cx="37655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25" dirty="0">
                <a:latin typeface="Verdana"/>
                <a:cs typeface="Verdana"/>
              </a:rPr>
              <a:t>SVD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682124" y="3071941"/>
            <a:ext cx="8705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34343"/>
                </a:solidFill>
                <a:latin typeface="Verdana"/>
                <a:cs typeface="Verdana"/>
              </a:rPr>
              <a:t>вектор документа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23246" y="4694032"/>
            <a:ext cx="5473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70" dirty="0">
                <a:latin typeface="Verdana"/>
                <a:cs typeface="Verdana"/>
              </a:rPr>
              <a:t>U</a:t>
            </a:r>
            <a:r>
              <a:rPr sz="1200" spc="-110" dirty="0">
                <a:latin typeface="Verdana"/>
                <a:cs typeface="Verdana"/>
              </a:rPr>
              <a:t> </a:t>
            </a:r>
            <a:r>
              <a:rPr sz="1200" spc="-75" dirty="0">
                <a:latin typeface="Verdana"/>
                <a:cs typeface="Verdana"/>
              </a:rPr>
              <a:t>(kxk)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021654" y="3881954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MS PGothic"/>
                <a:cs typeface="MS PGothic"/>
              </a:rPr>
              <a:t>✕</a:t>
            </a:r>
            <a:endParaRPr sz="1400">
              <a:latin typeface="MS PGothic"/>
              <a:cs typeface="MS PGothic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95024" y="3137920"/>
            <a:ext cx="1822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30" dirty="0">
                <a:latin typeface="Verdana"/>
                <a:cs typeface="Verdana"/>
              </a:rPr>
              <a:t>w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276412" y="2474778"/>
            <a:ext cx="2235835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Verdana"/>
                <a:cs typeface="Verdana"/>
              </a:rPr>
              <a:t>слово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200">
              <a:latin typeface="Verdana"/>
              <a:cs typeface="Verdana"/>
            </a:endParaRPr>
          </a:p>
          <a:p>
            <a:pPr marL="1181100">
              <a:lnSpc>
                <a:spcPct val="100000"/>
              </a:lnSpc>
            </a:pPr>
            <a:r>
              <a:rPr sz="1200" dirty="0">
                <a:solidFill>
                  <a:srgbClr val="434343"/>
                </a:solidFill>
                <a:latin typeface="Verdana"/>
                <a:cs typeface="Verdana"/>
              </a:rPr>
              <a:t>вектор</a:t>
            </a:r>
            <a:r>
              <a:rPr sz="1200" spc="-70" dirty="0">
                <a:solidFill>
                  <a:srgbClr val="434343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34343"/>
                </a:solidFill>
                <a:latin typeface="Verdana"/>
                <a:cs typeface="Verdana"/>
              </a:rPr>
              <a:t>слова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06100" y="4566529"/>
            <a:ext cx="1558925" cy="36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>
              <a:lnSpc>
                <a:spcPct val="100000"/>
              </a:lnSpc>
              <a:spcBef>
                <a:spcPts val="100"/>
              </a:spcBef>
            </a:pPr>
            <a:r>
              <a:rPr sz="1200" spc="-100" dirty="0">
                <a:latin typeface="Verdana"/>
                <a:cs typeface="Verdana"/>
              </a:rPr>
              <a:t>S</a:t>
            </a:r>
            <a:r>
              <a:rPr sz="1200" spc="-10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(kxn)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Verdana"/>
                <a:cs typeface="Verdana"/>
              </a:rPr>
              <a:t>диагональная</a:t>
            </a:r>
            <a:r>
              <a:rPr sz="1000" spc="-2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матрица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710683" y="4694042"/>
            <a:ext cx="628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Verdana"/>
                <a:cs typeface="Verdana"/>
              </a:rPr>
              <a:t>V</a:t>
            </a:r>
            <a:r>
              <a:rPr sz="1200" spc="-15" baseline="31250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(nxn)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395893" y="3505334"/>
            <a:ext cx="1466215" cy="1007744"/>
            <a:chOff x="2395893" y="3505334"/>
            <a:chExt cx="1466215" cy="1007744"/>
          </a:xfrm>
        </p:grpSpPr>
        <p:sp>
          <p:nvSpPr>
            <p:cNvPr id="36" name="object 36"/>
            <p:cNvSpPr/>
            <p:nvPr/>
          </p:nvSpPr>
          <p:spPr>
            <a:xfrm>
              <a:off x="2433064" y="3530607"/>
              <a:ext cx="1424305" cy="955040"/>
            </a:xfrm>
            <a:custGeom>
              <a:avLst/>
              <a:gdLst/>
              <a:ahLst/>
              <a:cxnLst/>
              <a:rect l="l" t="t" r="r" b="b"/>
              <a:pathLst>
                <a:path w="1424304" h="955039">
                  <a:moveTo>
                    <a:pt x="1424100" y="954899"/>
                  </a:moveTo>
                  <a:lnTo>
                    <a:pt x="0" y="954899"/>
                  </a:lnTo>
                  <a:lnTo>
                    <a:pt x="0" y="0"/>
                  </a:lnTo>
                  <a:lnTo>
                    <a:pt x="1424100" y="0"/>
                  </a:lnTo>
                  <a:lnTo>
                    <a:pt x="1424100" y="9548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433064" y="3530607"/>
              <a:ext cx="1424305" cy="955040"/>
            </a:xfrm>
            <a:custGeom>
              <a:avLst/>
              <a:gdLst/>
              <a:ahLst/>
              <a:cxnLst/>
              <a:rect l="l" t="t" r="r" b="b"/>
              <a:pathLst>
                <a:path w="1424304" h="955039">
                  <a:moveTo>
                    <a:pt x="0" y="0"/>
                  </a:moveTo>
                  <a:lnTo>
                    <a:pt x="1424100" y="0"/>
                  </a:lnTo>
                  <a:lnTo>
                    <a:pt x="1424100" y="954899"/>
                  </a:lnTo>
                  <a:lnTo>
                    <a:pt x="0" y="954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414943" y="3524384"/>
              <a:ext cx="1099820" cy="969644"/>
            </a:xfrm>
            <a:custGeom>
              <a:avLst/>
              <a:gdLst/>
              <a:ahLst/>
              <a:cxnLst/>
              <a:rect l="l" t="t" r="r" b="b"/>
              <a:pathLst>
                <a:path w="1099820" h="969645">
                  <a:moveTo>
                    <a:pt x="0" y="0"/>
                  </a:moveTo>
                  <a:lnTo>
                    <a:pt x="1099500" y="969299"/>
                  </a:lnTo>
                </a:path>
              </a:pathLst>
            </a:custGeom>
            <a:ln w="3809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4297705" y="3383185"/>
          <a:ext cx="1423035" cy="1165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2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65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0" name="object 40"/>
          <p:cNvGrpSpPr/>
          <p:nvPr/>
        </p:nvGrpSpPr>
        <p:grpSpPr>
          <a:xfrm>
            <a:off x="4065598" y="3117894"/>
            <a:ext cx="447040" cy="191770"/>
            <a:chOff x="4065598" y="3117894"/>
            <a:chExt cx="447040" cy="191770"/>
          </a:xfrm>
        </p:grpSpPr>
        <p:sp>
          <p:nvSpPr>
            <p:cNvPr id="41" name="object 41"/>
            <p:cNvSpPr/>
            <p:nvPr/>
          </p:nvSpPr>
          <p:spPr>
            <a:xfrm>
              <a:off x="4070360" y="3122657"/>
              <a:ext cx="398145" cy="165735"/>
            </a:xfrm>
            <a:custGeom>
              <a:avLst/>
              <a:gdLst/>
              <a:ahLst/>
              <a:cxnLst/>
              <a:rect l="l" t="t" r="r" b="b"/>
              <a:pathLst>
                <a:path w="398145" h="165735">
                  <a:moveTo>
                    <a:pt x="0" y="0"/>
                  </a:moveTo>
                  <a:lnTo>
                    <a:pt x="397540" y="16553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461854" y="3273665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4" h="31750">
                  <a:moveTo>
                    <a:pt x="45951" y="31139"/>
                  </a:moveTo>
                  <a:lnTo>
                    <a:pt x="0" y="29047"/>
                  </a:lnTo>
                  <a:lnTo>
                    <a:pt x="12095" y="0"/>
                  </a:lnTo>
                  <a:lnTo>
                    <a:pt x="45951" y="3113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461854" y="3273665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4" h="31750">
                  <a:moveTo>
                    <a:pt x="0" y="29047"/>
                  </a:moveTo>
                  <a:lnTo>
                    <a:pt x="45951" y="31139"/>
                  </a:lnTo>
                  <a:lnTo>
                    <a:pt x="12095" y="0"/>
                  </a:lnTo>
                  <a:lnTo>
                    <a:pt x="0" y="2904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54900" y="1604212"/>
            <a:ext cx="136144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Матрица </a:t>
            </a:r>
            <a:r>
              <a:rPr sz="1400" dirty="0">
                <a:latin typeface="Calibri"/>
                <a:cs typeface="Calibri"/>
              </a:rPr>
              <a:t>документы-</a:t>
            </a:r>
            <a:r>
              <a:rPr sz="1400" spc="-10" dirty="0">
                <a:latin typeface="Calibri"/>
                <a:cs typeface="Calibri"/>
              </a:rPr>
              <a:t>слова размера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35" dirty="0">
                <a:latin typeface="Calibri"/>
                <a:cs typeface="Calibri"/>
              </a:rPr>
              <a:t>n</a:t>
            </a:r>
            <a:r>
              <a:rPr sz="1100" spc="35" dirty="0">
                <a:latin typeface="Calibri"/>
                <a:cs typeface="Calibri"/>
              </a:rPr>
              <a:t>x</a:t>
            </a:r>
            <a:r>
              <a:rPr sz="1400" spc="35" dirty="0">
                <a:latin typeface="Calibri"/>
                <a:cs typeface="Calibri"/>
              </a:rPr>
              <a:t>k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160240" y="1871150"/>
            <a:ext cx="2209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60" dirty="0">
                <a:latin typeface="Tahoma"/>
                <a:cs typeface="Tahoma"/>
              </a:rPr>
              <a:t>≈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974504" y="3907554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MS PGothic"/>
                <a:cs typeface="MS PGothic"/>
              </a:rPr>
              <a:t>✕</a:t>
            </a:r>
            <a:endParaRPr sz="1400">
              <a:latin typeface="MS PGothic"/>
              <a:cs typeface="MS PGothi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Латентный</a:t>
            </a:r>
            <a:r>
              <a:rPr spc="170" dirty="0"/>
              <a:t> </a:t>
            </a:r>
            <a:r>
              <a:rPr dirty="0"/>
              <a:t>семантический</a:t>
            </a:r>
            <a:r>
              <a:rPr spc="175" dirty="0"/>
              <a:t> </a:t>
            </a:r>
            <a:r>
              <a:rPr spc="-10" dirty="0"/>
              <a:t>анализ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4864" y="2114413"/>
            <a:ext cx="3068838" cy="244965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25574" y="1258187"/>
            <a:ext cx="431546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Применим</a:t>
            </a:r>
            <a:r>
              <a:rPr sz="14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-40" dirty="0">
                <a:solidFill>
                  <a:srgbClr val="595959"/>
                </a:solidFill>
                <a:latin typeface="Calibri"/>
                <a:cs typeface="Calibri"/>
              </a:rPr>
              <a:t>метод</a:t>
            </a:r>
            <a:r>
              <a:rPr sz="14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снижения</a:t>
            </a:r>
            <a:r>
              <a:rPr sz="1400" spc="2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размерности</a:t>
            </a:r>
            <a:r>
              <a:rPr sz="14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50" dirty="0">
                <a:solidFill>
                  <a:srgbClr val="595959"/>
                </a:solidFill>
                <a:latin typeface="Calibri"/>
                <a:cs typeface="Calibri"/>
              </a:rPr>
              <a:t>к</a:t>
            </a:r>
            <a:r>
              <a:rPr sz="1400" spc="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Calibri"/>
                <a:cs typeface="Calibri"/>
              </a:rPr>
              <a:t>векторам документов</a:t>
            </a:r>
            <a:r>
              <a:rPr sz="1400" spc="7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и</a:t>
            </a:r>
            <a:r>
              <a:rPr sz="1400" spc="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Calibri"/>
                <a:cs typeface="Calibri"/>
              </a:rPr>
              <a:t>визуализируем</a:t>
            </a:r>
            <a:r>
              <a:rPr sz="1400" spc="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их</a:t>
            </a:r>
            <a:r>
              <a:rPr sz="1400" spc="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точками</a:t>
            </a:r>
            <a:r>
              <a:rPr sz="1400" spc="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на</a:t>
            </a:r>
            <a:r>
              <a:rPr sz="1400" spc="7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Calibri"/>
                <a:cs typeface="Calibri"/>
              </a:rPr>
              <a:t>плоскости.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Видно,</a:t>
            </a:r>
            <a:r>
              <a:rPr sz="1400" spc="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что</a:t>
            </a:r>
            <a:r>
              <a:rPr sz="1400" spc="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точки</a:t>
            </a:r>
            <a:r>
              <a:rPr sz="1400" spc="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разбились</a:t>
            </a:r>
            <a:r>
              <a:rPr sz="1400" spc="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на</a:t>
            </a:r>
            <a:r>
              <a:rPr sz="1400" spc="130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три</a:t>
            </a:r>
            <a:r>
              <a:rPr sz="1400" spc="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кластера</a:t>
            </a:r>
            <a:r>
              <a:rPr sz="1400" spc="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595959"/>
                </a:solidFill>
                <a:latin typeface="Calibri"/>
                <a:cs typeface="Calibri"/>
              </a:rPr>
              <a:t>по</a:t>
            </a:r>
            <a:r>
              <a:rPr sz="1400" spc="135" dirty="0">
                <a:solidFill>
                  <a:srgbClr val="595959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595959"/>
                </a:solidFill>
                <a:latin typeface="Calibri"/>
                <a:cs typeface="Calibri"/>
              </a:rPr>
              <a:t>темам.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39400" y="4681053"/>
            <a:ext cx="16560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0" dirty="0">
                <a:solidFill>
                  <a:srgbClr val="595959"/>
                </a:solidFill>
                <a:latin typeface="Tahoma"/>
                <a:cs typeface="Tahoma"/>
              </a:rPr>
              <a:t>https://habr.com/ru/post/110078/</a:t>
            </a:r>
            <a:endParaRPr sz="9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95" dirty="0"/>
              <a:t>Латентный</a:t>
            </a:r>
            <a:r>
              <a:rPr sz="2700" spc="155" dirty="0"/>
              <a:t> </a:t>
            </a:r>
            <a:r>
              <a:rPr sz="2700" dirty="0"/>
              <a:t>семантический</a:t>
            </a:r>
            <a:r>
              <a:rPr sz="2700" spc="155" dirty="0"/>
              <a:t> </a:t>
            </a:r>
            <a:r>
              <a:rPr sz="2700" spc="-10" dirty="0"/>
              <a:t>анализ</a:t>
            </a:r>
            <a:endParaRPr sz="2700"/>
          </a:p>
        </p:txBody>
      </p:sp>
      <p:grpSp>
        <p:nvGrpSpPr>
          <p:cNvPr id="3" name="object 3"/>
          <p:cNvGrpSpPr/>
          <p:nvPr/>
        </p:nvGrpSpPr>
        <p:grpSpPr>
          <a:xfrm>
            <a:off x="2780137" y="1408864"/>
            <a:ext cx="2155190" cy="1311910"/>
            <a:chOff x="2780137" y="1408864"/>
            <a:chExt cx="2155190" cy="1311910"/>
          </a:xfrm>
        </p:grpSpPr>
        <p:sp>
          <p:nvSpPr>
            <p:cNvPr id="4" name="object 4"/>
            <p:cNvSpPr/>
            <p:nvPr/>
          </p:nvSpPr>
          <p:spPr>
            <a:xfrm>
              <a:off x="3542004" y="1704187"/>
              <a:ext cx="1378585" cy="881380"/>
            </a:xfrm>
            <a:custGeom>
              <a:avLst/>
              <a:gdLst/>
              <a:ahLst/>
              <a:cxnLst/>
              <a:rect l="l" t="t" r="r" b="b"/>
              <a:pathLst>
                <a:path w="1378585" h="881380">
                  <a:moveTo>
                    <a:pt x="678840" y="0"/>
                  </a:moveTo>
                  <a:lnTo>
                    <a:pt x="0" y="0"/>
                  </a:lnTo>
                  <a:lnTo>
                    <a:pt x="0" y="880935"/>
                  </a:lnTo>
                  <a:lnTo>
                    <a:pt x="678840" y="880935"/>
                  </a:lnTo>
                  <a:lnTo>
                    <a:pt x="678840" y="0"/>
                  </a:lnTo>
                  <a:close/>
                </a:path>
                <a:path w="1378585" h="881380">
                  <a:moveTo>
                    <a:pt x="1378508" y="0"/>
                  </a:moveTo>
                  <a:lnTo>
                    <a:pt x="754138" y="0"/>
                  </a:lnTo>
                  <a:lnTo>
                    <a:pt x="754138" y="880935"/>
                  </a:lnTo>
                  <a:lnTo>
                    <a:pt x="1378508" y="880935"/>
                  </a:lnTo>
                  <a:lnTo>
                    <a:pt x="1378508" y="0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42015" y="1625720"/>
              <a:ext cx="1378585" cy="959485"/>
            </a:xfrm>
            <a:custGeom>
              <a:avLst/>
              <a:gdLst/>
              <a:ahLst/>
              <a:cxnLst/>
              <a:rect l="l" t="t" r="r" b="b"/>
              <a:pathLst>
                <a:path w="1378585" h="959485">
                  <a:moveTo>
                    <a:pt x="0" y="0"/>
                  </a:moveTo>
                  <a:lnTo>
                    <a:pt x="1378499" y="0"/>
                  </a:lnTo>
                  <a:lnTo>
                    <a:pt x="1378499" y="959399"/>
                  </a:lnTo>
                  <a:lnTo>
                    <a:pt x="0" y="95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41997" y="1625277"/>
              <a:ext cx="1378585" cy="79375"/>
            </a:xfrm>
            <a:custGeom>
              <a:avLst/>
              <a:gdLst/>
              <a:ahLst/>
              <a:cxnLst/>
              <a:rect l="l" t="t" r="r" b="b"/>
              <a:pathLst>
                <a:path w="1378585" h="79375">
                  <a:moveTo>
                    <a:pt x="1378499" y="78899"/>
                  </a:moveTo>
                  <a:lnTo>
                    <a:pt x="0" y="78899"/>
                  </a:lnTo>
                  <a:lnTo>
                    <a:pt x="0" y="0"/>
                  </a:lnTo>
                  <a:lnTo>
                    <a:pt x="1378499" y="0"/>
                  </a:lnTo>
                  <a:lnTo>
                    <a:pt x="1378499" y="78899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41997" y="1625277"/>
              <a:ext cx="1378585" cy="79375"/>
            </a:xfrm>
            <a:custGeom>
              <a:avLst/>
              <a:gdLst/>
              <a:ahLst/>
              <a:cxnLst/>
              <a:rect l="l" t="t" r="r" b="b"/>
              <a:pathLst>
                <a:path w="1378585" h="79375">
                  <a:moveTo>
                    <a:pt x="0" y="0"/>
                  </a:moveTo>
                  <a:lnTo>
                    <a:pt x="1378499" y="0"/>
                  </a:lnTo>
                  <a:lnTo>
                    <a:pt x="1378499" y="78899"/>
                  </a:lnTo>
                  <a:lnTo>
                    <a:pt x="0" y="78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E0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20849" y="1619153"/>
              <a:ext cx="75565" cy="972185"/>
            </a:xfrm>
            <a:custGeom>
              <a:avLst/>
              <a:gdLst/>
              <a:ahLst/>
              <a:cxnLst/>
              <a:rect l="l" t="t" r="r" b="b"/>
              <a:pathLst>
                <a:path w="75564" h="972185">
                  <a:moveTo>
                    <a:pt x="75299" y="972000"/>
                  </a:moveTo>
                  <a:lnTo>
                    <a:pt x="0" y="972000"/>
                  </a:lnTo>
                  <a:lnTo>
                    <a:pt x="0" y="0"/>
                  </a:lnTo>
                  <a:lnTo>
                    <a:pt x="75299" y="0"/>
                  </a:lnTo>
                  <a:lnTo>
                    <a:pt x="75299" y="972000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20849" y="1619153"/>
              <a:ext cx="75565" cy="972185"/>
            </a:xfrm>
            <a:custGeom>
              <a:avLst/>
              <a:gdLst/>
              <a:ahLst/>
              <a:cxnLst/>
              <a:rect l="l" t="t" r="r" b="b"/>
              <a:pathLst>
                <a:path w="75564" h="972185">
                  <a:moveTo>
                    <a:pt x="0" y="972000"/>
                  </a:moveTo>
                  <a:lnTo>
                    <a:pt x="0" y="0"/>
                  </a:lnTo>
                  <a:lnTo>
                    <a:pt x="75299" y="0"/>
                  </a:lnTo>
                  <a:lnTo>
                    <a:pt x="75299" y="972000"/>
                  </a:lnTo>
                  <a:lnTo>
                    <a:pt x="0" y="972000"/>
                  </a:lnTo>
                  <a:close/>
                </a:path>
              </a:pathLst>
            </a:custGeom>
            <a:ln w="28574">
              <a:solidFill>
                <a:srgbClr val="E0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76296" y="1413627"/>
              <a:ext cx="318770" cy="219075"/>
            </a:xfrm>
            <a:custGeom>
              <a:avLst/>
              <a:gdLst/>
              <a:ahLst/>
              <a:cxnLst/>
              <a:rect l="l" t="t" r="r" b="b"/>
              <a:pathLst>
                <a:path w="318770" h="219075">
                  <a:moveTo>
                    <a:pt x="0" y="0"/>
                  </a:moveTo>
                  <a:lnTo>
                    <a:pt x="318586" y="21875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85978" y="1619408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44538" y="37436"/>
                  </a:moveTo>
                  <a:lnTo>
                    <a:pt x="0" y="25939"/>
                  </a:lnTo>
                  <a:lnTo>
                    <a:pt x="17810" y="0"/>
                  </a:lnTo>
                  <a:lnTo>
                    <a:pt x="44538" y="3743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85978" y="1619408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0" y="25939"/>
                  </a:moveTo>
                  <a:lnTo>
                    <a:pt x="44538" y="37436"/>
                  </a:lnTo>
                  <a:lnTo>
                    <a:pt x="17810" y="0"/>
                  </a:lnTo>
                  <a:lnTo>
                    <a:pt x="0" y="2593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84899" y="2595964"/>
              <a:ext cx="1416685" cy="120014"/>
            </a:xfrm>
            <a:custGeom>
              <a:avLst/>
              <a:gdLst/>
              <a:ahLst/>
              <a:cxnLst/>
              <a:rect l="l" t="t" r="r" b="b"/>
              <a:pathLst>
                <a:path w="1416685" h="120014">
                  <a:moveTo>
                    <a:pt x="0" y="119688"/>
                  </a:moveTo>
                  <a:lnTo>
                    <a:pt x="1416652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00228" y="2580287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2648" y="31353"/>
                  </a:moveTo>
                  <a:lnTo>
                    <a:pt x="0" y="0"/>
                  </a:lnTo>
                  <a:lnTo>
                    <a:pt x="44396" y="12037"/>
                  </a:lnTo>
                  <a:lnTo>
                    <a:pt x="2648" y="31353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00228" y="2580287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2648" y="31353"/>
                  </a:moveTo>
                  <a:lnTo>
                    <a:pt x="44396" y="12037"/>
                  </a:lnTo>
                  <a:lnTo>
                    <a:pt x="0" y="0"/>
                  </a:lnTo>
                  <a:lnTo>
                    <a:pt x="2648" y="3135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276411" y="1208166"/>
            <a:ext cx="781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Verdana"/>
                <a:cs typeface="Verdana"/>
              </a:rPr>
              <a:t>документ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4890" y="3881663"/>
            <a:ext cx="2209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60" dirty="0">
                <a:latin typeface="Tahoma"/>
                <a:cs typeface="Tahoma"/>
              </a:rPr>
              <a:t>≈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84631" y="3224526"/>
            <a:ext cx="1068705" cy="1274445"/>
            <a:chOff x="784631" y="3224526"/>
            <a:chExt cx="1068705" cy="1274445"/>
          </a:xfrm>
        </p:grpSpPr>
        <p:sp>
          <p:nvSpPr>
            <p:cNvPr id="19" name="object 19"/>
            <p:cNvSpPr/>
            <p:nvPr/>
          </p:nvSpPr>
          <p:spPr>
            <a:xfrm>
              <a:off x="798918" y="3526612"/>
              <a:ext cx="1040130" cy="967740"/>
            </a:xfrm>
            <a:custGeom>
              <a:avLst/>
              <a:gdLst/>
              <a:ahLst/>
              <a:cxnLst/>
              <a:rect l="l" t="t" r="r" b="b"/>
              <a:pathLst>
                <a:path w="1040130" h="967739">
                  <a:moveTo>
                    <a:pt x="1040091" y="84861"/>
                  </a:moveTo>
                  <a:lnTo>
                    <a:pt x="0" y="84861"/>
                  </a:lnTo>
                  <a:lnTo>
                    <a:pt x="0" y="967511"/>
                  </a:lnTo>
                  <a:lnTo>
                    <a:pt x="1040091" y="967511"/>
                  </a:lnTo>
                  <a:lnTo>
                    <a:pt x="1040091" y="84861"/>
                  </a:lnTo>
                  <a:close/>
                </a:path>
                <a:path w="1040130" h="967739">
                  <a:moveTo>
                    <a:pt x="1040091" y="0"/>
                  </a:moveTo>
                  <a:lnTo>
                    <a:pt x="0" y="0"/>
                  </a:lnTo>
                  <a:lnTo>
                    <a:pt x="0" y="5956"/>
                  </a:lnTo>
                  <a:lnTo>
                    <a:pt x="1040091" y="5956"/>
                  </a:lnTo>
                  <a:lnTo>
                    <a:pt x="1040091" y="0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98921" y="3526611"/>
              <a:ext cx="1040130" cy="967740"/>
            </a:xfrm>
            <a:custGeom>
              <a:avLst/>
              <a:gdLst/>
              <a:ahLst/>
              <a:cxnLst/>
              <a:rect l="l" t="t" r="r" b="b"/>
              <a:pathLst>
                <a:path w="1040130" h="967739">
                  <a:moveTo>
                    <a:pt x="0" y="0"/>
                  </a:moveTo>
                  <a:lnTo>
                    <a:pt x="1040100" y="0"/>
                  </a:lnTo>
                  <a:lnTo>
                    <a:pt x="1040100" y="967499"/>
                  </a:lnTo>
                  <a:lnTo>
                    <a:pt x="0" y="967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98919" y="3532562"/>
              <a:ext cx="1040130" cy="79375"/>
            </a:xfrm>
            <a:custGeom>
              <a:avLst/>
              <a:gdLst/>
              <a:ahLst/>
              <a:cxnLst/>
              <a:rect l="l" t="t" r="r" b="b"/>
              <a:pathLst>
                <a:path w="1040130" h="79375">
                  <a:moveTo>
                    <a:pt x="1040099" y="78899"/>
                  </a:moveTo>
                  <a:lnTo>
                    <a:pt x="0" y="78899"/>
                  </a:lnTo>
                  <a:lnTo>
                    <a:pt x="0" y="0"/>
                  </a:lnTo>
                  <a:lnTo>
                    <a:pt x="1040099" y="0"/>
                  </a:lnTo>
                  <a:lnTo>
                    <a:pt x="1040099" y="78899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98919" y="3532562"/>
              <a:ext cx="1040130" cy="79375"/>
            </a:xfrm>
            <a:custGeom>
              <a:avLst/>
              <a:gdLst/>
              <a:ahLst/>
              <a:cxnLst/>
              <a:rect l="l" t="t" r="r" b="b"/>
              <a:pathLst>
                <a:path w="1040130" h="79375">
                  <a:moveTo>
                    <a:pt x="0" y="0"/>
                  </a:moveTo>
                  <a:lnTo>
                    <a:pt x="1040099" y="0"/>
                  </a:lnTo>
                  <a:lnTo>
                    <a:pt x="1040099" y="78899"/>
                  </a:lnTo>
                  <a:lnTo>
                    <a:pt x="0" y="78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E0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78685" y="3229289"/>
              <a:ext cx="533400" cy="230504"/>
            </a:xfrm>
            <a:custGeom>
              <a:avLst/>
              <a:gdLst/>
              <a:ahLst/>
              <a:cxnLst/>
              <a:rect l="l" t="t" r="r" b="b"/>
              <a:pathLst>
                <a:path w="533400" h="230504">
                  <a:moveTo>
                    <a:pt x="533133" y="0"/>
                  </a:moveTo>
                  <a:lnTo>
                    <a:pt x="0" y="23024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39002" y="3445087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5" h="31750">
                  <a:moveTo>
                    <a:pt x="0" y="31581"/>
                  </a:moveTo>
                  <a:lnTo>
                    <a:pt x="33445" y="0"/>
                  </a:lnTo>
                  <a:lnTo>
                    <a:pt x="45920" y="28886"/>
                  </a:lnTo>
                  <a:lnTo>
                    <a:pt x="0" y="3158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39002" y="3445087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5" h="31750">
                  <a:moveTo>
                    <a:pt x="33445" y="0"/>
                  </a:moveTo>
                  <a:lnTo>
                    <a:pt x="0" y="31581"/>
                  </a:lnTo>
                  <a:lnTo>
                    <a:pt x="45920" y="28886"/>
                  </a:lnTo>
                  <a:lnTo>
                    <a:pt x="33445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09374" y="3533425"/>
              <a:ext cx="609600" cy="955040"/>
            </a:xfrm>
            <a:custGeom>
              <a:avLst/>
              <a:gdLst/>
              <a:ahLst/>
              <a:cxnLst/>
              <a:rect l="l" t="t" r="r" b="b"/>
              <a:pathLst>
                <a:path w="609600" h="955039">
                  <a:moveTo>
                    <a:pt x="0" y="0"/>
                  </a:moveTo>
                  <a:lnTo>
                    <a:pt x="609299" y="0"/>
                  </a:lnTo>
                  <a:lnTo>
                    <a:pt x="609299" y="954899"/>
                  </a:lnTo>
                  <a:lnTo>
                    <a:pt x="0" y="954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38790" y="3459779"/>
            <a:ext cx="13779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15" dirty="0">
                <a:latin typeface="Verdana"/>
                <a:cs typeface="Verdana"/>
              </a:rPr>
              <a:t>d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25049" y="3775004"/>
            <a:ext cx="37655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25" dirty="0">
                <a:latin typeface="Verdana"/>
                <a:cs typeface="Verdana"/>
              </a:rPr>
              <a:t>SVD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82124" y="3071941"/>
            <a:ext cx="8705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34343"/>
                </a:solidFill>
                <a:latin typeface="Verdana"/>
                <a:cs typeface="Verdana"/>
              </a:rPr>
              <a:t>вектор документа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23246" y="4694032"/>
            <a:ext cx="5473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70" dirty="0">
                <a:latin typeface="Verdana"/>
                <a:cs typeface="Verdana"/>
              </a:rPr>
              <a:t>U</a:t>
            </a:r>
            <a:r>
              <a:rPr sz="1200" spc="-110" dirty="0">
                <a:latin typeface="Verdana"/>
                <a:cs typeface="Verdana"/>
              </a:rPr>
              <a:t> </a:t>
            </a:r>
            <a:r>
              <a:rPr sz="1200" spc="-75" dirty="0">
                <a:latin typeface="Verdana"/>
                <a:cs typeface="Verdana"/>
              </a:rPr>
              <a:t>(kxk)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21654" y="3881954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MS PGothic"/>
                <a:cs typeface="MS PGothic"/>
              </a:rPr>
              <a:t>✕</a:t>
            </a:r>
            <a:endParaRPr sz="1400">
              <a:latin typeface="MS PGothic"/>
              <a:cs typeface="MS P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495024" y="3137920"/>
            <a:ext cx="1822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30" dirty="0">
                <a:latin typeface="Verdana"/>
                <a:cs typeface="Verdana"/>
              </a:rPr>
              <a:t>w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276412" y="2474778"/>
            <a:ext cx="2235835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Verdana"/>
                <a:cs typeface="Verdana"/>
              </a:rPr>
              <a:t>слово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200">
              <a:latin typeface="Verdana"/>
              <a:cs typeface="Verdana"/>
            </a:endParaRPr>
          </a:p>
          <a:p>
            <a:pPr marL="1181100">
              <a:lnSpc>
                <a:spcPct val="100000"/>
              </a:lnSpc>
            </a:pPr>
            <a:r>
              <a:rPr sz="1200" dirty="0">
                <a:solidFill>
                  <a:srgbClr val="434343"/>
                </a:solidFill>
                <a:latin typeface="Verdana"/>
                <a:cs typeface="Verdana"/>
              </a:rPr>
              <a:t>вектор</a:t>
            </a:r>
            <a:r>
              <a:rPr sz="1200" spc="-70" dirty="0">
                <a:solidFill>
                  <a:srgbClr val="434343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34343"/>
                </a:solidFill>
                <a:latin typeface="Verdana"/>
                <a:cs typeface="Verdana"/>
              </a:rPr>
              <a:t>слова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506100" y="4566529"/>
            <a:ext cx="1558925" cy="36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>
              <a:lnSpc>
                <a:spcPct val="100000"/>
              </a:lnSpc>
              <a:spcBef>
                <a:spcPts val="100"/>
              </a:spcBef>
            </a:pPr>
            <a:r>
              <a:rPr sz="1200" spc="-100" dirty="0">
                <a:latin typeface="Verdana"/>
                <a:cs typeface="Verdana"/>
              </a:rPr>
              <a:t>S</a:t>
            </a:r>
            <a:r>
              <a:rPr sz="1200" spc="-10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(kxn)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Verdana"/>
                <a:cs typeface="Verdana"/>
              </a:rPr>
              <a:t>диагональная</a:t>
            </a:r>
            <a:r>
              <a:rPr sz="1000" spc="-2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матрица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710683" y="4694042"/>
            <a:ext cx="628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Verdana"/>
                <a:cs typeface="Verdana"/>
              </a:rPr>
              <a:t>V</a:t>
            </a:r>
            <a:r>
              <a:rPr sz="1200" spc="-15" baseline="31250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(nxn)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395893" y="3505334"/>
            <a:ext cx="1466215" cy="1007744"/>
            <a:chOff x="2395893" y="3505334"/>
            <a:chExt cx="1466215" cy="1007744"/>
          </a:xfrm>
        </p:grpSpPr>
        <p:sp>
          <p:nvSpPr>
            <p:cNvPr id="37" name="object 37"/>
            <p:cNvSpPr/>
            <p:nvPr/>
          </p:nvSpPr>
          <p:spPr>
            <a:xfrm>
              <a:off x="2433064" y="3530607"/>
              <a:ext cx="1424305" cy="955040"/>
            </a:xfrm>
            <a:custGeom>
              <a:avLst/>
              <a:gdLst/>
              <a:ahLst/>
              <a:cxnLst/>
              <a:rect l="l" t="t" r="r" b="b"/>
              <a:pathLst>
                <a:path w="1424304" h="955039">
                  <a:moveTo>
                    <a:pt x="1424100" y="954899"/>
                  </a:moveTo>
                  <a:lnTo>
                    <a:pt x="0" y="954899"/>
                  </a:lnTo>
                  <a:lnTo>
                    <a:pt x="0" y="0"/>
                  </a:lnTo>
                  <a:lnTo>
                    <a:pt x="1424100" y="0"/>
                  </a:lnTo>
                  <a:lnTo>
                    <a:pt x="1424100" y="9548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433064" y="3530607"/>
              <a:ext cx="1424305" cy="955040"/>
            </a:xfrm>
            <a:custGeom>
              <a:avLst/>
              <a:gdLst/>
              <a:ahLst/>
              <a:cxnLst/>
              <a:rect l="l" t="t" r="r" b="b"/>
              <a:pathLst>
                <a:path w="1424304" h="955039">
                  <a:moveTo>
                    <a:pt x="0" y="0"/>
                  </a:moveTo>
                  <a:lnTo>
                    <a:pt x="1424100" y="0"/>
                  </a:lnTo>
                  <a:lnTo>
                    <a:pt x="1424100" y="954899"/>
                  </a:lnTo>
                  <a:lnTo>
                    <a:pt x="0" y="954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414943" y="3524384"/>
              <a:ext cx="1099820" cy="969644"/>
            </a:xfrm>
            <a:custGeom>
              <a:avLst/>
              <a:gdLst/>
              <a:ahLst/>
              <a:cxnLst/>
              <a:rect l="l" t="t" r="r" b="b"/>
              <a:pathLst>
                <a:path w="1099820" h="969645">
                  <a:moveTo>
                    <a:pt x="0" y="0"/>
                  </a:moveTo>
                  <a:lnTo>
                    <a:pt x="1099500" y="969299"/>
                  </a:lnTo>
                </a:path>
              </a:pathLst>
            </a:custGeom>
            <a:ln w="3809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439999" y="3533424"/>
              <a:ext cx="609600" cy="618490"/>
            </a:xfrm>
            <a:custGeom>
              <a:avLst/>
              <a:gdLst/>
              <a:ahLst/>
              <a:cxnLst/>
              <a:rect l="l" t="t" r="r" b="b"/>
              <a:pathLst>
                <a:path w="609600" h="618489">
                  <a:moveTo>
                    <a:pt x="0" y="0"/>
                  </a:moveTo>
                  <a:lnTo>
                    <a:pt x="609299" y="0"/>
                  </a:lnTo>
                  <a:lnTo>
                    <a:pt x="609299" y="617999"/>
                  </a:lnTo>
                  <a:lnTo>
                    <a:pt x="0" y="617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1" name="object 41"/>
          <p:cNvGraphicFramePr>
            <a:graphicFrameLocks noGrp="1"/>
          </p:cNvGraphicFramePr>
          <p:nvPr/>
        </p:nvGraphicFramePr>
        <p:xfrm>
          <a:off x="4292943" y="3380798"/>
          <a:ext cx="1423035" cy="1165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2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7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3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2" name="object 42"/>
          <p:cNvGrpSpPr/>
          <p:nvPr/>
        </p:nvGrpSpPr>
        <p:grpSpPr>
          <a:xfrm>
            <a:off x="4065598" y="3117894"/>
            <a:ext cx="447040" cy="191770"/>
            <a:chOff x="4065598" y="3117894"/>
            <a:chExt cx="447040" cy="191770"/>
          </a:xfrm>
        </p:grpSpPr>
        <p:sp>
          <p:nvSpPr>
            <p:cNvPr id="43" name="object 43"/>
            <p:cNvSpPr/>
            <p:nvPr/>
          </p:nvSpPr>
          <p:spPr>
            <a:xfrm>
              <a:off x="4070360" y="3122657"/>
              <a:ext cx="398145" cy="165735"/>
            </a:xfrm>
            <a:custGeom>
              <a:avLst/>
              <a:gdLst/>
              <a:ahLst/>
              <a:cxnLst/>
              <a:rect l="l" t="t" r="r" b="b"/>
              <a:pathLst>
                <a:path w="398145" h="165735">
                  <a:moveTo>
                    <a:pt x="0" y="0"/>
                  </a:moveTo>
                  <a:lnTo>
                    <a:pt x="397540" y="16553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461854" y="3273665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4" h="31750">
                  <a:moveTo>
                    <a:pt x="45951" y="31139"/>
                  </a:moveTo>
                  <a:lnTo>
                    <a:pt x="0" y="29047"/>
                  </a:lnTo>
                  <a:lnTo>
                    <a:pt x="12095" y="0"/>
                  </a:lnTo>
                  <a:lnTo>
                    <a:pt x="45951" y="3113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461854" y="3273665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4" h="31750">
                  <a:moveTo>
                    <a:pt x="0" y="29047"/>
                  </a:moveTo>
                  <a:lnTo>
                    <a:pt x="45951" y="31139"/>
                  </a:lnTo>
                  <a:lnTo>
                    <a:pt x="12095" y="0"/>
                  </a:lnTo>
                  <a:lnTo>
                    <a:pt x="0" y="2904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54900" y="1604212"/>
            <a:ext cx="136144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Матрица </a:t>
            </a:r>
            <a:r>
              <a:rPr sz="1400" dirty="0">
                <a:latin typeface="Calibri"/>
                <a:cs typeface="Calibri"/>
              </a:rPr>
              <a:t>документы-</a:t>
            </a:r>
            <a:r>
              <a:rPr sz="1400" spc="-10" dirty="0">
                <a:latin typeface="Calibri"/>
                <a:cs typeface="Calibri"/>
              </a:rPr>
              <a:t>слова размера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35" dirty="0">
                <a:latin typeface="Calibri"/>
                <a:cs typeface="Calibri"/>
              </a:rPr>
              <a:t>n</a:t>
            </a:r>
            <a:r>
              <a:rPr sz="1100" spc="35" dirty="0">
                <a:latin typeface="Calibri"/>
                <a:cs typeface="Calibri"/>
              </a:rPr>
              <a:t>x</a:t>
            </a:r>
            <a:r>
              <a:rPr sz="1400" spc="35" dirty="0">
                <a:latin typeface="Calibri"/>
                <a:cs typeface="Calibri"/>
              </a:rPr>
              <a:t>k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160240" y="1871150"/>
            <a:ext cx="2209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60" dirty="0">
                <a:latin typeface="Tahoma"/>
                <a:cs typeface="Tahoma"/>
              </a:rPr>
              <a:t>≈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974504" y="3907554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MS PGothic"/>
                <a:cs typeface="MS PGothic"/>
              </a:rPr>
              <a:t>✕</a:t>
            </a:r>
            <a:endParaRPr sz="1400">
              <a:latin typeface="MS PGothic"/>
              <a:cs typeface="MS PGothi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30489" y="1801652"/>
            <a:ext cx="679450" cy="881380"/>
          </a:xfrm>
          <a:custGeom>
            <a:avLst/>
            <a:gdLst/>
            <a:ahLst/>
            <a:cxnLst/>
            <a:rect l="l" t="t" r="r" b="b"/>
            <a:pathLst>
              <a:path w="679450" h="881380">
                <a:moveTo>
                  <a:pt x="0" y="880942"/>
                </a:moveTo>
                <a:lnTo>
                  <a:pt x="678834" y="880942"/>
                </a:lnTo>
                <a:lnTo>
                  <a:pt x="678834" y="0"/>
                </a:lnTo>
                <a:lnTo>
                  <a:pt x="0" y="0"/>
                </a:lnTo>
                <a:lnTo>
                  <a:pt x="0" y="880942"/>
                </a:lnTo>
                <a:close/>
              </a:path>
            </a:pathLst>
          </a:custGeom>
          <a:solidFill>
            <a:srgbClr val="B6D7A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768611" y="1506339"/>
            <a:ext cx="2155190" cy="1311910"/>
            <a:chOff x="768611" y="1506339"/>
            <a:chExt cx="2155190" cy="1311910"/>
          </a:xfrm>
        </p:grpSpPr>
        <p:sp>
          <p:nvSpPr>
            <p:cNvPr id="4" name="object 4"/>
            <p:cNvSpPr/>
            <p:nvPr/>
          </p:nvSpPr>
          <p:spPr>
            <a:xfrm>
              <a:off x="2284624" y="1801652"/>
              <a:ext cx="624840" cy="881380"/>
            </a:xfrm>
            <a:custGeom>
              <a:avLst/>
              <a:gdLst/>
              <a:ahLst/>
              <a:cxnLst/>
              <a:rect l="l" t="t" r="r" b="b"/>
              <a:pathLst>
                <a:path w="624839" h="881380">
                  <a:moveTo>
                    <a:pt x="0" y="880942"/>
                  </a:moveTo>
                  <a:lnTo>
                    <a:pt x="624365" y="880942"/>
                  </a:lnTo>
                  <a:lnTo>
                    <a:pt x="624365" y="0"/>
                  </a:lnTo>
                  <a:lnTo>
                    <a:pt x="0" y="0"/>
                  </a:lnTo>
                  <a:lnTo>
                    <a:pt x="0" y="880942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0489" y="1723194"/>
              <a:ext cx="1378585" cy="959485"/>
            </a:xfrm>
            <a:custGeom>
              <a:avLst/>
              <a:gdLst/>
              <a:ahLst/>
              <a:cxnLst/>
              <a:rect l="l" t="t" r="r" b="b"/>
              <a:pathLst>
                <a:path w="1378585" h="959485">
                  <a:moveTo>
                    <a:pt x="0" y="0"/>
                  </a:moveTo>
                  <a:lnTo>
                    <a:pt x="1378499" y="0"/>
                  </a:lnTo>
                  <a:lnTo>
                    <a:pt x="1378499" y="959399"/>
                  </a:lnTo>
                  <a:lnTo>
                    <a:pt x="0" y="95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530471" y="1722752"/>
              <a:ext cx="1378585" cy="79375"/>
            </a:xfrm>
            <a:custGeom>
              <a:avLst/>
              <a:gdLst/>
              <a:ahLst/>
              <a:cxnLst/>
              <a:rect l="l" t="t" r="r" b="b"/>
              <a:pathLst>
                <a:path w="1378585" h="79375">
                  <a:moveTo>
                    <a:pt x="1378499" y="78899"/>
                  </a:moveTo>
                  <a:lnTo>
                    <a:pt x="0" y="78899"/>
                  </a:lnTo>
                  <a:lnTo>
                    <a:pt x="0" y="0"/>
                  </a:lnTo>
                  <a:lnTo>
                    <a:pt x="1378499" y="0"/>
                  </a:lnTo>
                  <a:lnTo>
                    <a:pt x="1378499" y="78899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0471" y="1722752"/>
              <a:ext cx="1378585" cy="79375"/>
            </a:xfrm>
            <a:custGeom>
              <a:avLst/>
              <a:gdLst/>
              <a:ahLst/>
              <a:cxnLst/>
              <a:rect l="l" t="t" r="r" b="b"/>
              <a:pathLst>
                <a:path w="1378585" h="79375">
                  <a:moveTo>
                    <a:pt x="0" y="0"/>
                  </a:moveTo>
                  <a:lnTo>
                    <a:pt x="1378499" y="0"/>
                  </a:lnTo>
                  <a:lnTo>
                    <a:pt x="1378499" y="78899"/>
                  </a:lnTo>
                  <a:lnTo>
                    <a:pt x="0" y="78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E0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209324" y="1716628"/>
              <a:ext cx="75565" cy="972185"/>
            </a:xfrm>
            <a:custGeom>
              <a:avLst/>
              <a:gdLst/>
              <a:ahLst/>
              <a:cxnLst/>
              <a:rect l="l" t="t" r="r" b="b"/>
              <a:pathLst>
                <a:path w="75564" h="972185">
                  <a:moveTo>
                    <a:pt x="75299" y="971999"/>
                  </a:moveTo>
                  <a:lnTo>
                    <a:pt x="0" y="971999"/>
                  </a:lnTo>
                  <a:lnTo>
                    <a:pt x="0" y="0"/>
                  </a:lnTo>
                  <a:lnTo>
                    <a:pt x="75299" y="0"/>
                  </a:lnTo>
                  <a:lnTo>
                    <a:pt x="75299" y="971999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09324" y="1716628"/>
              <a:ext cx="75565" cy="972185"/>
            </a:xfrm>
            <a:custGeom>
              <a:avLst/>
              <a:gdLst/>
              <a:ahLst/>
              <a:cxnLst/>
              <a:rect l="l" t="t" r="r" b="b"/>
              <a:pathLst>
                <a:path w="75564" h="972185">
                  <a:moveTo>
                    <a:pt x="0" y="971999"/>
                  </a:moveTo>
                  <a:lnTo>
                    <a:pt x="0" y="0"/>
                  </a:lnTo>
                  <a:lnTo>
                    <a:pt x="75299" y="0"/>
                  </a:lnTo>
                  <a:lnTo>
                    <a:pt x="75299" y="971999"/>
                  </a:lnTo>
                  <a:lnTo>
                    <a:pt x="0" y="971999"/>
                  </a:lnTo>
                  <a:close/>
                </a:path>
              </a:pathLst>
            </a:custGeom>
            <a:ln w="28574">
              <a:solidFill>
                <a:srgbClr val="E0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64771" y="1511102"/>
              <a:ext cx="318770" cy="219075"/>
            </a:xfrm>
            <a:custGeom>
              <a:avLst/>
              <a:gdLst/>
              <a:ahLst/>
              <a:cxnLst/>
              <a:rect l="l" t="t" r="r" b="b"/>
              <a:pathLst>
                <a:path w="318769" h="219075">
                  <a:moveTo>
                    <a:pt x="0" y="0"/>
                  </a:moveTo>
                  <a:lnTo>
                    <a:pt x="318586" y="21875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474453" y="1716883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4" h="37464">
                  <a:moveTo>
                    <a:pt x="44539" y="37436"/>
                  </a:moveTo>
                  <a:lnTo>
                    <a:pt x="0" y="25939"/>
                  </a:lnTo>
                  <a:lnTo>
                    <a:pt x="17810" y="0"/>
                  </a:lnTo>
                  <a:lnTo>
                    <a:pt x="44539" y="3743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474453" y="1716883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4" h="37464">
                  <a:moveTo>
                    <a:pt x="0" y="25939"/>
                  </a:moveTo>
                  <a:lnTo>
                    <a:pt x="44539" y="37436"/>
                  </a:lnTo>
                  <a:lnTo>
                    <a:pt x="17810" y="0"/>
                  </a:lnTo>
                  <a:lnTo>
                    <a:pt x="0" y="2593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73374" y="2693439"/>
              <a:ext cx="1416685" cy="120014"/>
            </a:xfrm>
            <a:custGeom>
              <a:avLst/>
              <a:gdLst/>
              <a:ahLst/>
              <a:cxnLst/>
              <a:rect l="l" t="t" r="r" b="b"/>
              <a:pathLst>
                <a:path w="1416685" h="120014">
                  <a:moveTo>
                    <a:pt x="0" y="119688"/>
                  </a:moveTo>
                  <a:lnTo>
                    <a:pt x="1416652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188702" y="2677762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2648" y="31353"/>
                  </a:moveTo>
                  <a:lnTo>
                    <a:pt x="0" y="0"/>
                  </a:lnTo>
                  <a:lnTo>
                    <a:pt x="44396" y="12037"/>
                  </a:lnTo>
                  <a:lnTo>
                    <a:pt x="2648" y="31353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188702" y="2677762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2648" y="31353"/>
                  </a:moveTo>
                  <a:lnTo>
                    <a:pt x="44396" y="12037"/>
                  </a:lnTo>
                  <a:lnTo>
                    <a:pt x="0" y="0"/>
                  </a:lnTo>
                  <a:lnTo>
                    <a:pt x="2648" y="3135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64886" y="1305641"/>
            <a:ext cx="781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Verdana"/>
                <a:cs typeface="Verdana"/>
              </a:rPr>
              <a:t>документ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64887" y="2572254"/>
            <a:ext cx="491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Verdana"/>
                <a:cs typeface="Verdana"/>
              </a:rPr>
              <a:t>слово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148665" y="2090663"/>
            <a:ext cx="2336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470" dirty="0">
                <a:latin typeface="Tahoma"/>
                <a:cs typeface="Tahoma"/>
              </a:rPr>
              <a:t>=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3678406" y="1433526"/>
            <a:ext cx="1068705" cy="1274445"/>
            <a:chOff x="3678406" y="1433526"/>
            <a:chExt cx="1068705" cy="1274445"/>
          </a:xfrm>
        </p:grpSpPr>
        <p:sp>
          <p:nvSpPr>
            <p:cNvPr id="20" name="object 20"/>
            <p:cNvSpPr/>
            <p:nvPr/>
          </p:nvSpPr>
          <p:spPr>
            <a:xfrm>
              <a:off x="3692690" y="1735619"/>
              <a:ext cx="1040130" cy="967740"/>
            </a:xfrm>
            <a:custGeom>
              <a:avLst/>
              <a:gdLst/>
              <a:ahLst/>
              <a:cxnLst/>
              <a:rect l="l" t="t" r="r" b="b"/>
              <a:pathLst>
                <a:path w="1040129" h="967739">
                  <a:moveTo>
                    <a:pt x="1040104" y="84848"/>
                  </a:moveTo>
                  <a:lnTo>
                    <a:pt x="0" y="84848"/>
                  </a:lnTo>
                  <a:lnTo>
                    <a:pt x="0" y="967498"/>
                  </a:lnTo>
                  <a:lnTo>
                    <a:pt x="1040104" y="967498"/>
                  </a:lnTo>
                  <a:lnTo>
                    <a:pt x="1040104" y="84848"/>
                  </a:lnTo>
                  <a:close/>
                </a:path>
                <a:path w="1040129" h="967739">
                  <a:moveTo>
                    <a:pt x="1040104" y="0"/>
                  </a:moveTo>
                  <a:lnTo>
                    <a:pt x="0" y="0"/>
                  </a:lnTo>
                  <a:lnTo>
                    <a:pt x="0" y="5943"/>
                  </a:lnTo>
                  <a:lnTo>
                    <a:pt x="1040104" y="5943"/>
                  </a:lnTo>
                  <a:lnTo>
                    <a:pt x="1040104" y="0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692696" y="1735610"/>
              <a:ext cx="1040130" cy="967740"/>
            </a:xfrm>
            <a:custGeom>
              <a:avLst/>
              <a:gdLst/>
              <a:ahLst/>
              <a:cxnLst/>
              <a:rect l="l" t="t" r="r" b="b"/>
              <a:pathLst>
                <a:path w="1040129" h="967739">
                  <a:moveTo>
                    <a:pt x="0" y="0"/>
                  </a:moveTo>
                  <a:lnTo>
                    <a:pt x="1040099" y="0"/>
                  </a:lnTo>
                  <a:lnTo>
                    <a:pt x="1040099" y="967499"/>
                  </a:lnTo>
                  <a:lnTo>
                    <a:pt x="0" y="967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92694" y="1741562"/>
              <a:ext cx="1040130" cy="79375"/>
            </a:xfrm>
            <a:custGeom>
              <a:avLst/>
              <a:gdLst/>
              <a:ahLst/>
              <a:cxnLst/>
              <a:rect l="l" t="t" r="r" b="b"/>
              <a:pathLst>
                <a:path w="1040129" h="79375">
                  <a:moveTo>
                    <a:pt x="1040099" y="78899"/>
                  </a:moveTo>
                  <a:lnTo>
                    <a:pt x="0" y="78899"/>
                  </a:lnTo>
                  <a:lnTo>
                    <a:pt x="0" y="0"/>
                  </a:lnTo>
                  <a:lnTo>
                    <a:pt x="1040099" y="0"/>
                  </a:lnTo>
                  <a:lnTo>
                    <a:pt x="1040099" y="78899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692694" y="1741562"/>
              <a:ext cx="1040130" cy="79375"/>
            </a:xfrm>
            <a:custGeom>
              <a:avLst/>
              <a:gdLst/>
              <a:ahLst/>
              <a:cxnLst/>
              <a:rect l="l" t="t" r="r" b="b"/>
              <a:pathLst>
                <a:path w="1040129" h="79375">
                  <a:moveTo>
                    <a:pt x="0" y="0"/>
                  </a:moveTo>
                  <a:lnTo>
                    <a:pt x="1040099" y="0"/>
                  </a:lnTo>
                  <a:lnTo>
                    <a:pt x="1040099" y="78899"/>
                  </a:lnTo>
                  <a:lnTo>
                    <a:pt x="0" y="78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E0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972460" y="1438289"/>
              <a:ext cx="533400" cy="230504"/>
            </a:xfrm>
            <a:custGeom>
              <a:avLst/>
              <a:gdLst/>
              <a:ahLst/>
              <a:cxnLst/>
              <a:rect l="l" t="t" r="r" b="b"/>
              <a:pathLst>
                <a:path w="533400" h="230505">
                  <a:moveTo>
                    <a:pt x="533133" y="0"/>
                  </a:moveTo>
                  <a:lnTo>
                    <a:pt x="0" y="23024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932777" y="1654087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4" h="31750">
                  <a:moveTo>
                    <a:pt x="0" y="31580"/>
                  </a:moveTo>
                  <a:lnTo>
                    <a:pt x="33445" y="0"/>
                  </a:lnTo>
                  <a:lnTo>
                    <a:pt x="45920" y="28886"/>
                  </a:lnTo>
                  <a:lnTo>
                    <a:pt x="0" y="3158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932777" y="1654087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4" h="31750">
                  <a:moveTo>
                    <a:pt x="33445" y="0"/>
                  </a:moveTo>
                  <a:lnTo>
                    <a:pt x="0" y="31580"/>
                  </a:lnTo>
                  <a:lnTo>
                    <a:pt x="45920" y="28886"/>
                  </a:lnTo>
                  <a:lnTo>
                    <a:pt x="33445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703149" y="1742424"/>
              <a:ext cx="609600" cy="955040"/>
            </a:xfrm>
            <a:custGeom>
              <a:avLst/>
              <a:gdLst/>
              <a:ahLst/>
              <a:cxnLst/>
              <a:rect l="l" t="t" r="r" b="b"/>
              <a:pathLst>
                <a:path w="609600" h="955039">
                  <a:moveTo>
                    <a:pt x="0" y="0"/>
                  </a:moveTo>
                  <a:lnTo>
                    <a:pt x="609299" y="0"/>
                  </a:lnTo>
                  <a:lnTo>
                    <a:pt x="609299" y="954899"/>
                  </a:lnTo>
                  <a:lnTo>
                    <a:pt x="0" y="954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532564" y="1668779"/>
            <a:ext cx="13779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15" dirty="0">
                <a:latin typeface="Verdana"/>
                <a:cs typeface="Verdana"/>
              </a:rPr>
              <a:t>d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118824" y="1984004"/>
            <a:ext cx="37655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25" dirty="0">
                <a:latin typeface="Verdana"/>
                <a:cs typeface="Verdana"/>
              </a:rPr>
              <a:t>SVD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75899" y="1280941"/>
            <a:ext cx="8705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34343"/>
                </a:solidFill>
                <a:latin typeface="Verdana"/>
                <a:cs typeface="Verdana"/>
              </a:rPr>
              <a:t>вектор документа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917021" y="2903032"/>
            <a:ext cx="5473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70" dirty="0">
                <a:latin typeface="Verdana"/>
                <a:cs typeface="Verdana"/>
              </a:rPr>
              <a:t>U</a:t>
            </a:r>
            <a:r>
              <a:rPr sz="1200" spc="-110" dirty="0">
                <a:latin typeface="Verdana"/>
                <a:cs typeface="Verdana"/>
              </a:rPr>
              <a:t> </a:t>
            </a:r>
            <a:r>
              <a:rPr sz="1200" spc="-75" dirty="0">
                <a:latin typeface="Verdana"/>
                <a:cs typeface="Verdana"/>
              </a:rPr>
              <a:t>(kxk)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15429" y="2090954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MS PGothic"/>
                <a:cs typeface="MS PGothic"/>
              </a:rPr>
              <a:t>✕</a:t>
            </a:r>
            <a:endParaRPr sz="1400">
              <a:latin typeface="MS PGothic"/>
              <a:cs typeface="MS PGothic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388800" y="1346920"/>
            <a:ext cx="1822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30" dirty="0">
                <a:latin typeface="Verdana"/>
                <a:cs typeface="Verdana"/>
              </a:rPr>
              <a:t>w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338926" y="1142191"/>
            <a:ext cx="10674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34343"/>
                </a:solidFill>
                <a:latin typeface="Verdana"/>
                <a:cs typeface="Verdana"/>
              </a:rPr>
              <a:t>вектор</a:t>
            </a:r>
            <a:r>
              <a:rPr sz="1200" spc="-70" dirty="0">
                <a:solidFill>
                  <a:srgbClr val="434343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34343"/>
                </a:solidFill>
                <a:latin typeface="Verdana"/>
                <a:cs typeface="Verdana"/>
              </a:rPr>
              <a:t>слова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399875" y="2775529"/>
            <a:ext cx="1558925" cy="36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>
              <a:lnSpc>
                <a:spcPct val="100000"/>
              </a:lnSpc>
              <a:spcBef>
                <a:spcPts val="100"/>
              </a:spcBef>
            </a:pPr>
            <a:r>
              <a:rPr sz="1200" spc="-100" dirty="0">
                <a:latin typeface="Verdana"/>
                <a:cs typeface="Verdana"/>
              </a:rPr>
              <a:t>S</a:t>
            </a:r>
            <a:r>
              <a:rPr sz="1200" spc="-10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(kxn)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Verdana"/>
                <a:cs typeface="Verdana"/>
              </a:rPr>
              <a:t>диагональная</a:t>
            </a:r>
            <a:r>
              <a:rPr sz="1000" spc="-2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матрица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604459" y="2903042"/>
            <a:ext cx="628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Verdana"/>
                <a:cs typeface="Verdana"/>
              </a:rPr>
              <a:t>V</a:t>
            </a:r>
            <a:r>
              <a:rPr sz="1200" spc="-15" baseline="31250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(nxn)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324249" y="1732900"/>
            <a:ext cx="1426845" cy="962025"/>
            <a:chOff x="5324249" y="1732900"/>
            <a:chExt cx="1426845" cy="962025"/>
          </a:xfrm>
        </p:grpSpPr>
        <p:sp>
          <p:nvSpPr>
            <p:cNvPr id="38" name="object 38"/>
            <p:cNvSpPr/>
            <p:nvPr/>
          </p:nvSpPr>
          <p:spPr>
            <a:xfrm>
              <a:off x="5326839" y="1739607"/>
              <a:ext cx="1424305" cy="955040"/>
            </a:xfrm>
            <a:custGeom>
              <a:avLst/>
              <a:gdLst/>
              <a:ahLst/>
              <a:cxnLst/>
              <a:rect l="l" t="t" r="r" b="b"/>
              <a:pathLst>
                <a:path w="1424304" h="955039">
                  <a:moveTo>
                    <a:pt x="1424099" y="954899"/>
                  </a:moveTo>
                  <a:lnTo>
                    <a:pt x="0" y="954899"/>
                  </a:lnTo>
                  <a:lnTo>
                    <a:pt x="0" y="0"/>
                  </a:lnTo>
                  <a:lnTo>
                    <a:pt x="1424099" y="0"/>
                  </a:lnTo>
                  <a:lnTo>
                    <a:pt x="1424099" y="9548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333774" y="1742425"/>
              <a:ext cx="480059" cy="476250"/>
            </a:xfrm>
            <a:custGeom>
              <a:avLst/>
              <a:gdLst/>
              <a:ahLst/>
              <a:cxnLst/>
              <a:rect l="l" t="t" r="r" b="b"/>
              <a:pathLst>
                <a:path w="480060" h="476250">
                  <a:moveTo>
                    <a:pt x="0" y="0"/>
                  </a:moveTo>
                  <a:lnTo>
                    <a:pt x="479699" y="0"/>
                  </a:lnTo>
                  <a:lnTo>
                    <a:pt x="479699" y="475799"/>
                  </a:lnTo>
                  <a:lnTo>
                    <a:pt x="0" y="4757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0" name="object 40"/>
          <p:cNvGraphicFramePr>
            <a:graphicFrameLocks noGrp="1"/>
          </p:cNvGraphicFramePr>
          <p:nvPr/>
        </p:nvGraphicFramePr>
        <p:xfrm>
          <a:off x="7186717" y="1589798"/>
          <a:ext cx="1423035" cy="1165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2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7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3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41" name="object 41"/>
          <p:cNvGrpSpPr/>
          <p:nvPr/>
        </p:nvGrpSpPr>
        <p:grpSpPr>
          <a:xfrm>
            <a:off x="6959373" y="1326894"/>
            <a:ext cx="447040" cy="191770"/>
            <a:chOff x="6959373" y="1326894"/>
            <a:chExt cx="447040" cy="191770"/>
          </a:xfrm>
        </p:grpSpPr>
        <p:sp>
          <p:nvSpPr>
            <p:cNvPr id="42" name="object 42"/>
            <p:cNvSpPr/>
            <p:nvPr/>
          </p:nvSpPr>
          <p:spPr>
            <a:xfrm>
              <a:off x="6964136" y="1331657"/>
              <a:ext cx="398145" cy="165735"/>
            </a:xfrm>
            <a:custGeom>
              <a:avLst/>
              <a:gdLst/>
              <a:ahLst/>
              <a:cxnLst/>
              <a:rect l="l" t="t" r="r" b="b"/>
              <a:pathLst>
                <a:path w="398145" h="165734">
                  <a:moveTo>
                    <a:pt x="0" y="0"/>
                  </a:moveTo>
                  <a:lnTo>
                    <a:pt x="397540" y="16553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355629" y="1482665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4" h="31750">
                  <a:moveTo>
                    <a:pt x="45952" y="31139"/>
                  </a:moveTo>
                  <a:lnTo>
                    <a:pt x="0" y="29047"/>
                  </a:lnTo>
                  <a:lnTo>
                    <a:pt x="12095" y="0"/>
                  </a:lnTo>
                  <a:lnTo>
                    <a:pt x="45952" y="3113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355629" y="1482665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4" h="31750">
                  <a:moveTo>
                    <a:pt x="0" y="29047"/>
                  </a:moveTo>
                  <a:lnTo>
                    <a:pt x="45952" y="31139"/>
                  </a:lnTo>
                  <a:lnTo>
                    <a:pt x="12095" y="0"/>
                  </a:lnTo>
                  <a:lnTo>
                    <a:pt x="0" y="2904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6868279" y="2116554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MS PGothic"/>
                <a:cs typeface="MS PGothic"/>
              </a:rPr>
              <a:t>✕</a:t>
            </a:r>
            <a:endParaRPr sz="1400">
              <a:latin typeface="MS PGothic"/>
              <a:cs typeface="MS PGothic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68636" y="3499415"/>
            <a:ext cx="2155190" cy="1311910"/>
            <a:chOff x="768636" y="3499415"/>
            <a:chExt cx="2155190" cy="1311910"/>
          </a:xfrm>
        </p:grpSpPr>
        <p:sp>
          <p:nvSpPr>
            <p:cNvPr id="47" name="object 47"/>
            <p:cNvSpPr/>
            <p:nvPr/>
          </p:nvSpPr>
          <p:spPr>
            <a:xfrm>
              <a:off x="1530502" y="3794734"/>
              <a:ext cx="1378585" cy="881380"/>
            </a:xfrm>
            <a:custGeom>
              <a:avLst/>
              <a:gdLst/>
              <a:ahLst/>
              <a:cxnLst/>
              <a:rect l="l" t="t" r="r" b="b"/>
              <a:pathLst>
                <a:path w="1378585" h="881379">
                  <a:moveTo>
                    <a:pt x="678840" y="0"/>
                  </a:moveTo>
                  <a:lnTo>
                    <a:pt x="0" y="0"/>
                  </a:lnTo>
                  <a:lnTo>
                    <a:pt x="0" y="880935"/>
                  </a:lnTo>
                  <a:lnTo>
                    <a:pt x="678840" y="880935"/>
                  </a:lnTo>
                  <a:lnTo>
                    <a:pt x="678840" y="0"/>
                  </a:lnTo>
                  <a:close/>
                </a:path>
                <a:path w="1378585" h="881379">
                  <a:moveTo>
                    <a:pt x="1378508" y="0"/>
                  </a:moveTo>
                  <a:lnTo>
                    <a:pt x="754138" y="0"/>
                  </a:lnTo>
                  <a:lnTo>
                    <a:pt x="754138" y="880935"/>
                  </a:lnTo>
                  <a:lnTo>
                    <a:pt x="1378508" y="880935"/>
                  </a:lnTo>
                  <a:lnTo>
                    <a:pt x="1378508" y="0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530514" y="3716270"/>
              <a:ext cx="1378585" cy="959485"/>
            </a:xfrm>
            <a:custGeom>
              <a:avLst/>
              <a:gdLst/>
              <a:ahLst/>
              <a:cxnLst/>
              <a:rect l="l" t="t" r="r" b="b"/>
              <a:pathLst>
                <a:path w="1378585" h="959485">
                  <a:moveTo>
                    <a:pt x="0" y="0"/>
                  </a:moveTo>
                  <a:lnTo>
                    <a:pt x="1378499" y="0"/>
                  </a:lnTo>
                  <a:lnTo>
                    <a:pt x="1378499" y="959399"/>
                  </a:lnTo>
                  <a:lnTo>
                    <a:pt x="0" y="95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530496" y="3715827"/>
              <a:ext cx="1378585" cy="79375"/>
            </a:xfrm>
            <a:custGeom>
              <a:avLst/>
              <a:gdLst/>
              <a:ahLst/>
              <a:cxnLst/>
              <a:rect l="l" t="t" r="r" b="b"/>
              <a:pathLst>
                <a:path w="1378585" h="79375">
                  <a:moveTo>
                    <a:pt x="1378499" y="78899"/>
                  </a:moveTo>
                  <a:lnTo>
                    <a:pt x="0" y="78899"/>
                  </a:lnTo>
                  <a:lnTo>
                    <a:pt x="0" y="0"/>
                  </a:lnTo>
                  <a:lnTo>
                    <a:pt x="1378499" y="0"/>
                  </a:lnTo>
                  <a:lnTo>
                    <a:pt x="1378499" y="78899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530496" y="3715827"/>
              <a:ext cx="1378585" cy="79375"/>
            </a:xfrm>
            <a:custGeom>
              <a:avLst/>
              <a:gdLst/>
              <a:ahLst/>
              <a:cxnLst/>
              <a:rect l="l" t="t" r="r" b="b"/>
              <a:pathLst>
                <a:path w="1378585" h="79375">
                  <a:moveTo>
                    <a:pt x="0" y="0"/>
                  </a:moveTo>
                  <a:lnTo>
                    <a:pt x="1378499" y="0"/>
                  </a:lnTo>
                  <a:lnTo>
                    <a:pt x="1378499" y="78899"/>
                  </a:lnTo>
                  <a:lnTo>
                    <a:pt x="0" y="78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E0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209349" y="3709703"/>
              <a:ext cx="75565" cy="972185"/>
            </a:xfrm>
            <a:custGeom>
              <a:avLst/>
              <a:gdLst/>
              <a:ahLst/>
              <a:cxnLst/>
              <a:rect l="l" t="t" r="r" b="b"/>
              <a:pathLst>
                <a:path w="75564" h="972185">
                  <a:moveTo>
                    <a:pt x="75299" y="971999"/>
                  </a:moveTo>
                  <a:lnTo>
                    <a:pt x="0" y="971999"/>
                  </a:lnTo>
                  <a:lnTo>
                    <a:pt x="0" y="0"/>
                  </a:lnTo>
                  <a:lnTo>
                    <a:pt x="75299" y="0"/>
                  </a:lnTo>
                  <a:lnTo>
                    <a:pt x="75299" y="971999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209349" y="3709703"/>
              <a:ext cx="75565" cy="972185"/>
            </a:xfrm>
            <a:custGeom>
              <a:avLst/>
              <a:gdLst/>
              <a:ahLst/>
              <a:cxnLst/>
              <a:rect l="l" t="t" r="r" b="b"/>
              <a:pathLst>
                <a:path w="75564" h="972185">
                  <a:moveTo>
                    <a:pt x="0" y="971999"/>
                  </a:moveTo>
                  <a:lnTo>
                    <a:pt x="0" y="0"/>
                  </a:lnTo>
                  <a:lnTo>
                    <a:pt x="75299" y="0"/>
                  </a:lnTo>
                  <a:lnTo>
                    <a:pt x="75299" y="971999"/>
                  </a:lnTo>
                  <a:lnTo>
                    <a:pt x="0" y="971999"/>
                  </a:lnTo>
                  <a:close/>
                </a:path>
              </a:pathLst>
            </a:custGeom>
            <a:ln w="28574">
              <a:solidFill>
                <a:srgbClr val="E0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164796" y="3504177"/>
              <a:ext cx="318770" cy="219075"/>
            </a:xfrm>
            <a:custGeom>
              <a:avLst/>
              <a:gdLst/>
              <a:ahLst/>
              <a:cxnLst/>
              <a:rect l="l" t="t" r="r" b="b"/>
              <a:pathLst>
                <a:path w="318769" h="219075">
                  <a:moveTo>
                    <a:pt x="0" y="0"/>
                  </a:moveTo>
                  <a:lnTo>
                    <a:pt x="318586" y="21875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1474478" y="3709958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4" h="37464">
                  <a:moveTo>
                    <a:pt x="44539" y="37436"/>
                  </a:moveTo>
                  <a:lnTo>
                    <a:pt x="0" y="25939"/>
                  </a:lnTo>
                  <a:lnTo>
                    <a:pt x="17810" y="0"/>
                  </a:lnTo>
                  <a:lnTo>
                    <a:pt x="44539" y="3743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1474478" y="3709958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4" h="37464">
                  <a:moveTo>
                    <a:pt x="0" y="25939"/>
                  </a:moveTo>
                  <a:lnTo>
                    <a:pt x="44539" y="37436"/>
                  </a:lnTo>
                  <a:lnTo>
                    <a:pt x="17810" y="0"/>
                  </a:lnTo>
                  <a:lnTo>
                    <a:pt x="0" y="2593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73399" y="4686514"/>
              <a:ext cx="1416685" cy="120014"/>
            </a:xfrm>
            <a:custGeom>
              <a:avLst/>
              <a:gdLst/>
              <a:ahLst/>
              <a:cxnLst/>
              <a:rect l="l" t="t" r="r" b="b"/>
              <a:pathLst>
                <a:path w="1416685" h="120014">
                  <a:moveTo>
                    <a:pt x="0" y="119688"/>
                  </a:moveTo>
                  <a:lnTo>
                    <a:pt x="1416652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2188727" y="4670837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2648" y="31353"/>
                  </a:moveTo>
                  <a:lnTo>
                    <a:pt x="0" y="0"/>
                  </a:lnTo>
                  <a:lnTo>
                    <a:pt x="44396" y="12037"/>
                  </a:lnTo>
                  <a:lnTo>
                    <a:pt x="2648" y="31353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2188727" y="4670837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2648" y="31353"/>
                  </a:moveTo>
                  <a:lnTo>
                    <a:pt x="44396" y="12037"/>
                  </a:lnTo>
                  <a:lnTo>
                    <a:pt x="0" y="0"/>
                  </a:lnTo>
                  <a:lnTo>
                    <a:pt x="2648" y="3135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264911" y="3298716"/>
            <a:ext cx="781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Verdana"/>
                <a:cs typeface="Verdana"/>
              </a:rPr>
              <a:t>документ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64912" y="4565329"/>
            <a:ext cx="491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Verdana"/>
                <a:cs typeface="Verdana"/>
              </a:rPr>
              <a:t>слово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3178515" y="4065438"/>
            <a:ext cx="2209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60" dirty="0">
                <a:latin typeface="Tahoma"/>
                <a:cs typeface="Tahoma"/>
              </a:rPr>
              <a:t>≈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3701574" y="3408302"/>
            <a:ext cx="838835" cy="1274445"/>
            <a:chOff x="3701574" y="3408302"/>
            <a:chExt cx="838835" cy="1274445"/>
          </a:xfrm>
        </p:grpSpPr>
        <p:sp>
          <p:nvSpPr>
            <p:cNvPr id="63" name="object 63"/>
            <p:cNvSpPr/>
            <p:nvPr/>
          </p:nvSpPr>
          <p:spPr>
            <a:xfrm>
              <a:off x="3722547" y="3710381"/>
              <a:ext cx="609600" cy="967740"/>
            </a:xfrm>
            <a:custGeom>
              <a:avLst/>
              <a:gdLst/>
              <a:ahLst/>
              <a:cxnLst/>
              <a:rect l="l" t="t" r="r" b="b"/>
              <a:pathLst>
                <a:path w="609600" h="967739">
                  <a:moveTo>
                    <a:pt x="609295" y="84874"/>
                  </a:moveTo>
                  <a:lnTo>
                    <a:pt x="0" y="84874"/>
                  </a:lnTo>
                  <a:lnTo>
                    <a:pt x="0" y="967498"/>
                  </a:lnTo>
                  <a:lnTo>
                    <a:pt x="609295" y="967498"/>
                  </a:lnTo>
                  <a:lnTo>
                    <a:pt x="609295" y="84874"/>
                  </a:lnTo>
                  <a:close/>
                </a:path>
                <a:path w="609600" h="967739">
                  <a:moveTo>
                    <a:pt x="609295" y="0"/>
                  </a:moveTo>
                  <a:lnTo>
                    <a:pt x="0" y="0"/>
                  </a:lnTo>
                  <a:lnTo>
                    <a:pt x="0" y="5969"/>
                  </a:lnTo>
                  <a:lnTo>
                    <a:pt x="609295" y="5969"/>
                  </a:lnTo>
                  <a:lnTo>
                    <a:pt x="609295" y="0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3722548" y="3710375"/>
              <a:ext cx="609600" cy="967740"/>
            </a:xfrm>
            <a:custGeom>
              <a:avLst/>
              <a:gdLst/>
              <a:ahLst/>
              <a:cxnLst/>
              <a:rect l="l" t="t" r="r" b="b"/>
              <a:pathLst>
                <a:path w="609600" h="967739">
                  <a:moveTo>
                    <a:pt x="0" y="0"/>
                  </a:moveTo>
                  <a:lnTo>
                    <a:pt x="609299" y="0"/>
                  </a:lnTo>
                  <a:lnTo>
                    <a:pt x="609299" y="967499"/>
                  </a:lnTo>
                  <a:lnTo>
                    <a:pt x="0" y="967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3722547" y="3716344"/>
              <a:ext cx="609600" cy="79375"/>
            </a:xfrm>
            <a:custGeom>
              <a:avLst/>
              <a:gdLst/>
              <a:ahLst/>
              <a:cxnLst/>
              <a:rect l="l" t="t" r="r" b="b"/>
              <a:pathLst>
                <a:path w="609600" h="79375">
                  <a:moveTo>
                    <a:pt x="609299" y="78899"/>
                  </a:moveTo>
                  <a:lnTo>
                    <a:pt x="0" y="78899"/>
                  </a:lnTo>
                  <a:lnTo>
                    <a:pt x="0" y="0"/>
                  </a:lnTo>
                  <a:lnTo>
                    <a:pt x="609299" y="0"/>
                  </a:lnTo>
                  <a:lnTo>
                    <a:pt x="609299" y="78899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3722547" y="3716344"/>
              <a:ext cx="609600" cy="79375"/>
            </a:xfrm>
            <a:custGeom>
              <a:avLst/>
              <a:gdLst/>
              <a:ahLst/>
              <a:cxnLst/>
              <a:rect l="l" t="t" r="r" b="b"/>
              <a:pathLst>
                <a:path w="609600" h="79375">
                  <a:moveTo>
                    <a:pt x="0" y="0"/>
                  </a:moveTo>
                  <a:lnTo>
                    <a:pt x="609299" y="0"/>
                  </a:lnTo>
                  <a:lnTo>
                    <a:pt x="609299" y="78899"/>
                  </a:lnTo>
                  <a:lnTo>
                    <a:pt x="0" y="78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E0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4002310" y="3413064"/>
              <a:ext cx="533400" cy="230504"/>
            </a:xfrm>
            <a:custGeom>
              <a:avLst/>
              <a:gdLst/>
              <a:ahLst/>
              <a:cxnLst/>
              <a:rect l="l" t="t" r="r" b="b"/>
              <a:pathLst>
                <a:path w="533400" h="230504">
                  <a:moveTo>
                    <a:pt x="533133" y="0"/>
                  </a:moveTo>
                  <a:lnTo>
                    <a:pt x="0" y="23024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8" name="object 68"/>
            <p:cNvSpPr/>
            <p:nvPr/>
          </p:nvSpPr>
          <p:spPr>
            <a:xfrm>
              <a:off x="3962627" y="3628862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4" h="31750">
                  <a:moveTo>
                    <a:pt x="0" y="31581"/>
                  </a:moveTo>
                  <a:lnTo>
                    <a:pt x="33445" y="0"/>
                  </a:lnTo>
                  <a:lnTo>
                    <a:pt x="45920" y="28886"/>
                  </a:lnTo>
                  <a:lnTo>
                    <a:pt x="0" y="3158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3962627" y="3628862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4" h="31750">
                  <a:moveTo>
                    <a:pt x="33445" y="0"/>
                  </a:moveTo>
                  <a:lnTo>
                    <a:pt x="0" y="31581"/>
                  </a:lnTo>
                  <a:lnTo>
                    <a:pt x="45920" y="28886"/>
                  </a:lnTo>
                  <a:lnTo>
                    <a:pt x="33445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3711099" y="3717200"/>
              <a:ext cx="631825" cy="955040"/>
            </a:xfrm>
            <a:custGeom>
              <a:avLst/>
              <a:gdLst/>
              <a:ahLst/>
              <a:cxnLst/>
              <a:rect l="l" t="t" r="r" b="b"/>
              <a:pathLst>
                <a:path w="631825" h="955039">
                  <a:moveTo>
                    <a:pt x="0" y="0"/>
                  </a:moveTo>
                  <a:lnTo>
                    <a:pt x="631199" y="0"/>
                  </a:lnTo>
                  <a:lnTo>
                    <a:pt x="631199" y="954899"/>
                  </a:lnTo>
                  <a:lnTo>
                    <a:pt x="0" y="954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3562415" y="3643554"/>
            <a:ext cx="13779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15" dirty="0">
                <a:latin typeface="Verdana"/>
                <a:cs typeface="Verdana"/>
              </a:rPr>
              <a:t>d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3148675" y="3958779"/>
            <a:ext cx="37655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25" dirty="0">
                <a:latin typeface="Verdana"/>
                <a:cs typeface="Verdana"/>
              </a:rPr>
              <a:t>SVD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605749" y="3255716"/>
            <a:ext cx="8705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34343"/>
                </a:solidFill>
                <a:latin typeface="Verdana"/>
                <a:cs typeface="Verdana"/>
              </a:rPr>
              <a:t>вектор документа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3743271" y="4877807"/>
            <a:ext cx="6159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70" dirty="0">
                <a:latin typeface="Verdana"/>
                <a:cs typeface="Verdana"/>
              </a:rPr>
              <a:t>U</a:t>
            </a:r>
            <a:r>
              <a:rPr sz="1200" spc="-110" dirty="0">
                <a:latin typeface="Verdana"/>
                <a:cs typeface="Verdana"/>
              </a:rPr>
              <a:t> </a:t>
            </a:r>
            <a:r>
              <a:rPr sz="1200" spc="-80" dirty="0">
                <a:latin typeface="Verdana"/>
                <a:cs typeface="Verdana"/>
              </a:rPr>
              <a:t>(kx</a:t>
            </a:r>
            <a:r>
              <a:rPr sz="1200" b="1" spc="-80" dirty="0">
                <a:latin typeface="Verdana"/>
                <a:cs typeface="Verdana"/>
              </a:rPr>
              <a:t>m</a:t>
            </a:r>
            <a:r>
              <a:rPr sz="1200" spc="-80" dirty="0">
                <a:latin typeface="Verdana"/>
                <a:cs typeface="Verdana"/>
              </a:rPr>
              <a:t>)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4464804" y="4065730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MS PGothic"/>
                <a:cs typeface="MS PGothic"/>
              </a:rPr>
              <a:t>✕</a:t>
            </a:r>
            <a:endParaRPr sz="1400">
              <a:latin typeface="MS PGothic"/>
              <a:cs typeface="MS PGothic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5954849" y="3550420"/>
            <a:ext cx="1822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30" dirty="0">
                <a:latin typeface="Verdana"/>
                <a:cs typeface="Verdana"/>
              </a:rPr>
              <a:t>w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6671026" y="3312829"/>
            <a:ext cx="10674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34343"/>
                </a:solidFill>
                <a:latin typeface="Verdana"/>
                <a:cs typeface="Verdana"/>
              </a:rPr>
              <a:t>вектор</a:t>
            </a:r>
            <a:r>
              <a:rPr sz="1200" spc="-70" dirty="0">
                <a:solidFill>
                  <a:srgbClr val="434343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34343"/>
                </a:solidFill>
                <a:latin typeface="Verdana"/>
                <a:cs typeface="Verdana"/>
              </a:rPr>
              <a:t>слова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760579" y="4877804"/>
            <a:ext cx="6699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0" dirty="0">
                <a:latin typeface="Verdana"/>
                <a:cs typeface="Verdana"/>
              </a:rPr>
              <a:t>S</a:t>
            </a:r>
            <a:r>
              <a:rPr sz="1200" spc="-105" dirty="0">
                <a:latin typeface="Verdana"/>
                <a:cs typeface="Verdana"/>
              </a:rPr>
              <a:t> </a:t>
            </a:r>
            <a:r>
              <a:rPr sz="1200" spc="-80" dirty="0">
                <a:latin typeface="Verdana"/>
                <a:cs typeface="Verdana"/>
              </a:rPr>
              <a:t>(</a:t>
            </a:r>
            <a:r>
              <a:rPr sz="1200" b="1" spc="-80" dirty="0">
                <a:latin typeface="Verdana"/>
                <a:cs typeface="Verdana"/>
              </a:rPr>
              <a:t>mxm</a:t>
            </a:r>
            <a:r>
              <a:rPr sz="1200" spc="-80" dirty="0">
                <a:latin typeface="Verdana"/>
                <a:cs typeface="Verdana"/>
              </a:rPr>
              <a:t>)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6073758" y="4877792"/>
            <a:ext cx="685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Verdana"/>
                <a:cs typeface="Verdana"/>
              </a:rPr>
              <a:t>V</a:t>
            </a:r>
            <a:r>
              <a:rPr sz="1200" spc="-37" baseline="31250" dirty="0">
                <a:latin typeface="Verdana"/>
                <a:cs typeface="Verdana"/>
              </a:rPr>
              <a:t>T</a:t>
            </a:r>
            <a:r>
              <a:rPr sz="1200" spc="-25" dirty="0">
                <a:latin typeface="Verdana"/>
                <a:cs typeface="Verdana"/>
              </a:rPr>
              <a:t>(</a:t>
            </a:r>
            <a:r>
              <a:rPr sz="1200" b="1" spc="-25" dirty="0">
                <a:latin typeface="Verdana"/>
                <a:cs typeface="Verdana"/>
              </a:rPr>
              <a:t>m</a:t>
            </a:r>
            <a:r>
              <a:rPr sz="1200" spc="-25" dirty="0">
                <a:latin typeface="Verdana"/>
                <a:cs typeface="Verdana"/>
              </a:rPr>
              <a:t>xn)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80" name="object 80"/>
          <p:cNvGrpSpPr/>
          <p:nvPr/>
        </p:nvGrpSpPr>
        <p:grpSpPr>
          <a:xfrm>
            <a:off x="4753843" y="3867034"/>
            <a:ext cx="669925" cy="674370"/>
            <a:chOff x="4753843" y="3867034"/>
            <a:chExt cx="669925" cy="674370"/>
          </a:xfrm>
        </p:grpSpPr>
        <p:sp>
          <p:nvSpPr>
            <p:cNvPr id="81" name="object 81"/>
            <p:cNvSpPr/>
            <p:nvPr/>
          </p:nvSpPr>
          <p:spPr>
            <a:xfrm>
              <a:off x="4791019" y="3892302"/>
              <a:ext cx="609600" cy="618490"/>
            </a:xfrm>
            <a:custGeom>
              <a:avLst/>
              <a:gdLst/>
              <a:ahLst/>
              <a:cxnLst/>
              <a:rect l="l" t="t" r="r" b="b"/>
              <a:pathLst>
                <a:path w="609600" h="618489">
                  <a:moveTo>
                    <a:pt x="609299" y="617999"/>
                  </a:moveTo>
                  <a:lnTo>
                    <a:pt x="0" y="617999"/>
                  </a:lnTo>
                  <a:lnTo>
                    <a:pt x="0" y="0"/>
                  </a:lnTo>
                  <a:lnTo>
                    <a:pt x="609299" y="0"/>
                  </a:lnTo>
                  <a:lnTo>
                    <a:pt x="609299" y="6179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4791019" y="3892302"/>
              <a:ext cx="609600" cy="618490"/>
            </a:xfrm>
            <a:custGeom>
              <a:avLst/>
              <a:gdLst/>
              <a:ahLst/>
              <a:cxnLst/>
              <a:rect l="l" t="t" r="r" b="b"/>
              <a:pathLst>
                <a:path w="609600" h="618489">
                  <a:moveTo>
                    <a:pt x="0" y="0"/>
                  </a:moveTo>
                  <a:lnTo>
                    <a:pt x="609299" y="0"/>
                  </a:lnTo>
                  <a:lnTo>
                    <a:pt x="609299" y="617999"/>
                  </a:lnTo>
                  <a:lnTo>
                    <a:pt x="0" y="61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4772893" y="3886084"/>
              <a:ext cx="631825" cy="636270"/>
            </a:xfrm>
            <a:custGeom>
              <a:avLst/>
              <a:gdLst/>
              <a:ahLst/>
              <a:cxnLst/>
              <a:rect l="l" t="t" r="r" b="b"/>
              <a:pathLst>
                <a:path w="631825" h="636270">
                  <a:moveTo>
                    <a:pt x="0" y="0"/>
                  </a:moveTo>
                  <a:lnTo>
                    <a:pt x="631199" y="635699"/>
                  </a:lnTo>
                </a:path>
              </a:pathLst>
            </a:custGeom>
            <a:ln w="3809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4776049" y="3877425"/>
              <a:ext cx="631825" cy="636270"/>
            </a:xfrm>
            <a:custGeom>
              <a:avLst/>
              <a:gdLst/>
              <a:ahLst/>
              <a:cxnLst/>
              <a:rect l="l" t="t" r="r" b="b"/>
              <a:pathLst>
                <a:path w="631825" h="636270">
                  <a:moveTo>
                    <a:pt x="0" y="0"/>
                  </a:moveTo>
                  <a:lnTo>
                    <a:pt x="631199" y="0"/>
                  </a:lnTo>
                  <a:lnTo>
                    <a:pt x="631199" y="635699"/>
                  </a:lnTo>
                  <a:lnTo>
                    <a:pt x="0" y="6356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5" name="object 85"/>
          <p:cNvGraphicFramePr>
            <a:graphicFrameLocks noGrp="1"/>
          </p:cNvGraphicFramePr>
          <p:nvPr/>
        </p:nvGraphicFramePr>
        <p:xfrm>
          <a:off x="5723749" y="3824795"/>
          <a:ext cx="1423035" cy="635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2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356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86" name="object 86"/>
          <p:cNvGrpSpPr/>
          <p:nvPr/>
        </p:nvGrpSpPr>
        <p:grpSpPr>
          <a:xfrm>
            <a:off x="6190452" y="3528345"/>
            <a:ext cx="451484" cy="139065"/>
            <a:chOff x="6190452" y="3528345"/>
            <a:chExt cx="451484" cy="139065"/>
          </a:xfrm>
        </p:grpSpPr>
        <p:sp>
          <p:nvSpPr>
            <p:cNvPr id="87" name="object 87"/>
            <p:cNvSpPr/>
            <p:nvPr/>
          </p:nvSpPr>
          <p:spPr>
            <a:xfrm>
              <a:off x="6236779" y="3533107"/>
              <a:ext cx="400685" cy="114300"/>
            </a:xfrm>
            <a:custGeom>
              <a:avLst/>
              <a:gdLst/>
              <a:ahLst/>
              <a:cxnLst/>
              <a:rect l="l" t="t" r="r" b="b"/>
              <a:pathLst>
                <a:path w="400684" h="114300">
                  <a:moveTo>
                    <a:pt x="400144" y="0"/>
                  </a:moveTo>
                  <a:lnTo>
                    <a:pt x="0" y="114213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6195214" y="3632193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79">
                  <a:moveTo>
                    <a:pt x="45883" y="30256"/>
                  </a:moveTo>
                  <a:lnTo>
                    <a:pt x="0" y="26992"/>
                  </a:lnTo>
                  <a:lnTo>
                    <a:pt x="37246" y="0"/>
                  </a:lnTo>
                  <a:lnTo>
                    <a:pt x="45883" y="3025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6195214" y="3632193"/>
              <a:ext cx="46355" cy="30480"/>
            </a:xfrm>
            <a:custGeom>
              <a:avLst/>
              <a:gdLst/>
              <a:ahLst/>
              <a:cxnLst/>
              <a:rect l="l" t="t" r="r" b="b"/>
              <a:pathLst>
                <a:path w="46354" h="30479">
                  <a:moveTo>
                    <a:pt x="37246" y="0"/>
                  </a:moveTo>
                  <a:lnTo>
                    <a:pt x="0" y="26992"/>
                  </a:lnTo>
                  <a:lnTo>
                    <a:pt x="45883" y="30256"/>
                  </a:lnTo>
                  <a:lnTo>
                    <a:pt x="37246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5529754" y="4056429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MS PGothic"/>
                <a:cs typeface="MS PGothic"/>
              </a:rPr>
              <a:t>✕</a:t>
            </a:r>
            <a:endParaRPr sz="1400">
              <a:latin typeface="MS PGothic"/>
              <a:cs typeface="MS PGothic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326839" y="1739607"/>
            <a:ext cx="1424305" cy="955040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22860">
              <a:lnSpc>
                <a:spcPts val="1155"/>
              </a:lnSpc>
            </a:pPr>
            <a:r>
              <a:rPr sz="1000" spc="-25" dirty="0">
                <a:latin typeface="Verdana"/>
                <a:cs typeface="Verdana"/>
              </a:rPr>
              <a:t>256</a:t>
            </a:r>
            <a:endParaRPr sz="1000">
              <a:latin typeface="Verdana"/>
              <a:cs typeface="Verdana"/>
            </a:endParaRPr>
          </a:p>
          <a:p>
            <a:pPr marL="222885">
              <a:lnSpc>
                <a:spcPct val="100000"/>
              </a:lnSpc>
            </a:pPr>
            <a:r>
              <a:rPr sz="1000" spc="-25" dirty="0">
                <a:latin typeface="Verdana"/>
                <a:cs typeface="Verdana"/>
              </a:rPr>
              <a:t>34</a:t>
            </a:r>
            <a:endParaRPr sz="1000">
              <a:latin typeface="Verdana"/>
              <a:cs typeface="Verdana"/>
            </a:endParaRPr>
          </a:p>
          <a:p>
            <a:pPr marL="355600">
              <a:lnSpc>
                <a:spcPct val="100000"/>
              </a:lnSpc>
            </a:pPr>
            <a:r>
              <a:rPr sz="1000" spc="-25" dirty="0">
                <a:latin typeface="Verdana"/>
                <a:cs typeface="Verdana"/>
              </a:rPr>
              <a:t>12</a:t>
            </a:r>
            <a:endParaRPr sz="1000">
              <a:latin typeface="Verdana"/>
              <a:cs typeface="Verdana"/>
            </a:endParaRPr>
          </a:p>
          <a:p>
            <a:pPr marL="455930">
              <a:lnSpc>
                <a:spcPct val="100000"/>
              </a:lnSpc>
            </a:pPr>
            <a:r>
              <a:rPr sz="1000" spc="-215" dirty="0">
                <a:latin typeface="Verdana"/>
                <a:cs typeface="Verdana"/>
              </a:rPr>
              <a:t>1.</a:t>
            </a:r>
            <a:r>
              <a:rPr sz="1000" spc="-90" dirty="0">
                <a:latin typeface="Verdana"/>
                <a:cs typeface="Verdana"/>
              </a:rPr>
              <a:t> </a:t>
            </a:r>
            <a:r>
              <a:rPr sz="1000" spc="-25" dirty="0">
                <a:latin typeface="Verdana"/>
                <a:cs typeface="Verdana"/>
              </a:rPr>
              <a:t>65</a:t>
            </a:r>
            <a:endParaRPr sz="1000">
              <a:latin typeface="Verdana"/>
              <a:cs typeface="Verdana"/>
            </a:endParaRPr>
          </a:p>
          <a:p>
            <a:pPr marL="588645">
              <a:lnSpc>
                <a:spcPct val="100000"/>
              </a:lnSpc>
            </a:pPr>
            <a:r>
              <a:rPr sz="1000" spc="-20" dirty="0">
                <a:latin typeface="Verdana"/>
                <a:cs typeface="Verdana"/>
              </a:rPr>
              <a:t>0.45</a:t>
            </a:r>
            <a:endParaRPr sz="1000">
              <a:latin typeface="Verdana"/>
              <a:cs typeface="Verdana"/>
            </a:endParaRPr>
          </a:p>
          <a:p>
            <a:pPr marL="788670">
              <a:lnSpc>
                <a:spcPct val="100000"/>
              </a:lnSpc>
            </a:pPr>
            <a:r>
              <a:rPr sz="1000" spc="-20" dirty="0">
                <a:latin typeface="Verdana"/>
                <a:cs typeface="Verdana"/>
              </a:rPr>
              <a:t>0.034</a:t>
            </a:r>
            <a:endParaRPr sz="1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95" dirty="0"/>
              <a:t>Латентный</a:t>
            </a:r>
            <a:r>
              <a:rPr sz="2700" spc="155" dirty="0"/>
              <a:t> </a:t>
            </a:r>
            <a:r>
              <a:rPr sz="2700" dirty="0"/>
              <a:t>семантический</a:t>
            </a:r>
            <a:r>
              <a:rPr sz="2700" spc="155" dirty="0"/>
              <a:t> </a:t>
            </a:r>
            <a:r>
              <a:rPr sz="2700" spc="-10" dirty="0"/>
              <a:t>анализ</a:t>
            </a:r>
            <a:endParaRPr sz="2700"/>
          </a:p>
        </p:txBody>
      </p:sp>
      <p:grpSp>
        <p:nvGrpSpPr>
          <p:cNvPr id="3" name="object 3"/>
          <p:cNvGrpSpPr/>
          <p:nvPr/>
        </p:nvGrpSpPr>
        <p:grpSpPr>
          <a:xfrm>
            <a:off x="2780137" y="1408864"/>
            <a:ext cx="2155190" cy="1311910"/>
            <a:chOff x="2780137" y="1408864"/>
            <a:chExt cx="2155190" cy="1311910"/>
          </a:xfrm>
        </p:grpSpPr>
        <p:sp>
          <p:nvSpPr>
            <p:cNvPr id="4" name="object 4"/>
            <p:cNvSpPr/>
            <p:nvPr/>
          </p:nvSpPr>
          <p:spPr>
            <a:xfrm>
              <a:off x="3542004" y="1704187"/>
              <a:ext cx="1378585" cy="881380"/>
            </a:xfrm>
            <a:custGeom>
              <a:avLst/>
              <a:gdLst/>
              <a:ahLst/>
              <a:cxnLst/>
              <a:rect l="l" t="t" r="r" b="b"/>
              <a:pathLst>
                <a:path w="1378585" h="881380">
                  <a:moveTo>
                    <a:pt x="678840" y="0"/>
                  </a:moveTo>
                  <a:lnTo>
                    <a:pt x="0" y="0"/>
                  </a:lnTo>
                  <a:lnTo>
                    <a:pt x="0" y="880935"/>
                  </a:lnTo>
                  <a:lnTo>
                    <a:pt x="678840" y="880935"/>
                  </a:lnTo>
                  <a:lnTo>
                    <a:pt x="678840" y="0"/>
                  </a:lnTo>
                  <a:close/>
                </a:path>
                <a:path w="1378585" h="881380">
                  <a:moveTo>
                    <a:pt x="1378508" y="0"/>
                  </a:moveTo>
                  <a:lnTo>
                    <a:pt x="754138" y="0"/>
                  </a:lnTo>
                  <a:lnTo>
                    <a:pt x="754138" y="880935"/>
                  </a:lnTo>
                  <a:lnTo>
                    <a:pt x="1378508" y="880935"/>
                  </a:lnTo>
                  <a:lnTo>
                    <a:pt x="1378508" y="0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42015" y="1625720"/>
              <a:ext cx="1378585" cy="959485"/>
            </a:xfrm>
            <a:custGeom>
              <a:avLst/>
              <a:gdLst/>
              <a:ahLst/>
              <a:cxnLst/>
              <a:rect l="l" t="t" r="r" b="b"/>
              <a:pathLst>
                <a:path w="1378585" h="959485">
                  <a:moveTo>
                    <a:pt x="0" y="0"/>
                  </a:moveTo>
                  <a:lnTo>
                    <a:pt x="1378499" y="0"/>
                  </a:lnTo>
                  <a:lnTo>
                    <a:pt x="1378499" y="959399"/>
                  </a:lnTo>
                  <a:lnTo>
                    <a:pt x="0" y="95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41997" y="1625277"/>
              <a:ext cx="1378585" cy="79375"/>
            </a:xfrm>
            <a:custGeom>
              <a:avLst/>
              <a:gdLst/>
              <a:ahLst/>
              <a:cxnLst/>
              <a:rect l="l" t="t" r="r" b="b"/>
              <a:pathLst>
                <a:path w="1378585" h="79375">
                  <a:moveTo>
                    <a:pt x="1378499" y="78899"/>
                  </a:moveTo>
                  <a:lnTo>
                    <a:pt x="0" y="78899"/>
                  </a:lnTo>
                  <a:lnTo>
                    <a:pt x="0" y="0"/>
                  </a:lnTo>
                  <a:lnTo>
                    <a:pt x="1378499" y="0"/>
                  </a:lnTo>
                  <a:lnTo>
                    <a:pt x="1378499" y="78899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41997" y="1625277"/>
              <a:ext cx="1378585" cy="79375"/>
            </a:xfrm>
            <a:custGeom>
              <a:avLst/>
              <a:gdLst/>
              <a:ahLst/>
              <a:cxnLst/>
              <a:rect l="l" t="t" r="r" b="b"/>
              <a:pathLst>
                <a:path w="1378585" h="79375">
                  <a:moveTo>
                    <a:pt x="0" y="0"/>
                  </a:moveTo>
                  <a:lnTo>
                    <a:pt x="1378499" y="0"/>
                  </a:lnTo>
                  <a:lnTo>
                    <a:pt x="1378499" y="78899"/>
                  </a:lnTo>
                  <a:lnTo>
                    <a:pt x="0" y="78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E0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20849" y="1619153"/>
              <a:ext cx="75565" cy="972185"/>
            </a:xfrm>
            <a:custGeom>
              <a:avLst/>
              <a:gdLst/>
              <a:ahLst/>
              <a:cxnLst/>
              <a:rect l="l" t="t" r="r" b="b"/>
              <a:pathLst>
                <a:path w="75564" h="972185">
                  <a:moveTo>
                    <a:pt x="75299" y="972000"/>
                  </a:moveTo>
                  <a:lnTo>
                    <a:pt x="0" y="972000"/>
                  </a:lnTo>
                  <a:lnTo>
                    <a:pt x="0" y="0"/>
                  </a:lnTo>
                  <a:lnTo>
                    <a:pt x="75299" y="0"/>
                  </a:lnTo>
                  <a:lnTo>
                    <a:pt x="75299" y="972000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20849" y="1619153"/>
              <a:ext cx="75565" cy="972185"/>
            </a:xfrm>
            <a:custGeom>
              <a:avLst/>
              <a:gdLst/>
              <a:ahLst/>
              <a:cxnLst/>
              <a:rect l="l" t="t" r="r" b="b"/>
              <a:pathLst>
                <a:path w="75564" h="972185">
                  <a:moveTo>
                    <a:pt x="0" y="972000"/>
                  </a:moveTo>
                  <a:lnTo>
                    <a:pt x="0" y="0"/>
                  </a:lnTo>
                  <a:lnTo>
                    <a:pt x="75299" y="0"/>
                  </a:lnTo>
                  <a:lnTo>
                    <a:pt x="75299" y="972000"/>
                  </a:lnTo>
                  <a:lnTo>
                    <a:pt x="0" y="972000"/>
                  </a:lnTo>
                  <a:close/>
                </a:path>
              </a:pathLst>
            </a:custGeom>
            <a:ln w="28574">
              <a:solidFill>
                <a:srgbClr val="E0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76296" y="1413627"/>
              <a:ext cx="318770" cy="219075"/>
            </a:xfrm>
            <a:custGeom>
              <a:avLst/>
              <a:gdLst/>
              <a:ahLst/>
              <a:cxnLst/>
              <a:rect l="l" t="t" r="r" b="b"/>
              <a:pathLst>
                <a:path w="318770" h="219075">
                  <a:moveTo>
                    <a:pt x="0" y="0"/>
                  </a:moveTo>
                  <a:lnTo>
                    <a:pt x="318586" y="21875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85978" y="1619408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44538" y="37436"/>
                  </a:moveTo>
                  <a:lnTo>
                    <a:pt x="0" y="25939"/>
                  </a:lnTo>
                  <a:lnTo>
                    <a:pt x="17810" y="0"/>
                  </a:lnTo>
                  <a:lnTo>
                    <a:pt x="44538" y="3743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85978" y="1619408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0" y="25939"/>
                  </a:moveTo>
                  <a:lnTo>
                    <a:pt x="44538" y="37436"/>
                  </a:lnTo>
                  <a:lnTo>
                    <a:pt x="17810" y="0"/>
                  </a:lnTo>
                  <a:lnTo>
                    <a:pt x="0" y="2593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84899" y="2595964"/>
              <a:ext cx="1416685" cy="120014"/>
            </a:xfrm>
            <a:custGeom>
              <a:avLst/>
              <a:gdLst/>
              <a:ahLst/>
              <a:cxnLst/>
              <a:rect l="l" t="t" r="r" b="b"/>
              <a:pathLst>
                <a:path w="1416685" h="120014">
                  <a:moveTo>
                    <a:pt x="0" y="119688"/>
                  </a:moveTo>
                  <a:lnTo>
                    <a:pt x="1416652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00228" y="2580287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2648" y="31353"/>
                  </a:moveTo>
                  <a:lnTo>
                    <a:pt x="0" y="0"/>
                  </a:lnTo>
                  <a:lnTo>
                    <a:pt x="44396" y="12037"/>
                  </a:lnTo>
                  <a:lnTo>
                    <a:pt x="2648" y="31353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00228" y="2580287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2648" y="31353"/>
                  </a:moveTo>
                  <a:lnTo>
                    <a:pt x="44396" y="12037"/>
                  </a:lnTo>
                  <a:lnTo>
                    <a:pt x="0" y="0"/>
                  </a:lnTo>
                  <a:lnTo>
                    <a:pt x="2648" y="3135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276411" y="1208166"/>
            <a:ext cx="781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Verdana"/>
                <a:cs typeface="Verdana"/>
              </a:rPr>
              <a:t>документ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54890" y="3881663"/>
            <a:ext cx="2209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60" dirty="0">
                <a:latin typeface="Tahoma"/>
                <a:cs typeface="Tahoma"/>
              </a:rPr>
              <a:t>≈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84635" y="3224526"/>
            <a:ext cx="832485" cy="1274445"/>
            <a:chOff x="784635" y="3224526"/>
            <a:chExt cx="832485" cy="1274445"/>
          </a:xfrm>
        </p:grpSpPr>
        <p:sp>
          <p:nvSpPr>
            <p:cNvPr id="19" name="object 19"/>
            <p:cNvSpPr/>
            <p:nvPr/>
          </p:nvSpPr>
          <p:spPr>
            <a:xfrm>
              <a:off x="798918" y="3526612"/>
              <a:ext cx="609600" cy="967740"/>
            </a:xfrm>
            <a:custGeom>
              <a:avLst/>
              <a:gdLst/>
              <a:ahLst/>
              <a:cxnLst/>
              <a:rect l="l" t="t" r="r" b="b"/>
              <a:pathLst>
                <a:path w="609600" h="967739">
                  <a:moveTo>
                    <a:pt x="609295" y="84861"/>
                  </a:moveTo>
                  <a:lnTo>
                    <a:pt x="0" y="84861"/>
                  </a:lnTo>
                  <a:lnTo>
                    <a:pt x="0" y="967498"/>
                  </a:lnTo>
                  <a:lnTo>
                    <a:pt x="609295" y="967498"/>
                  </a:lnTo>
                  <a:lnTo>
                    <a:pt x="609295" y="84861"/>
                  </a:lnTo>
                  <a:close/>
                </a:path>
                <a:path w="609600" h="967739">
                  <a:moveTo>
                    <a:pt x="609295" y="0"/>
                  </a:moveTo>
                  <a:lnTo>
                    <a:pt x="0" y="0"/>
                  </a:lnTo>
                  <a:lnTo>
                    <a:pt x="0" y="5969"/>
                  </a:lnTo>
                  <a:lnTo>
                    <a:pt x="609295" y="5969"/>
                  </a:lnTo>
                  <a:lnTo>
                    <a:pt x="609295" y="0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798923" y="3526600"/>
              <a:ext cx="609600" cy="967740"/>
            </a:xfrm>
            <a:custGeom>
              <a:avLst/>
              <a:gdLst/>
              <a:ahLst/>
              <a:cxnLst/>
              <a:rect l="l" t="t" r="r" b="b"/>
              <a:pathLst>
                <a:path w="609600" h="967739">
                  <a:moveTo>
                    <a:pt x="0" y="0"/>
                  </a:moveTo>
                  <a:lnTo>
                    <a:pt x="609300" y="0"/>
                  </a:lnTo>
                  <a:lnTo>
                    <a:pt x="609300" y="967499"/>
                  </a:lnTo>
                  <a:lnTo>
                    <a:pt x="0" y="967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98922" y="3532569"/>
              <a:ext cx="609600" cy="79375"/>
            </a:xfrm>
            <a:custGeom>
              <a:avLst/>
              <a:gdLst/>
              <a:ahLst/>
              <a:cxnLst/>
              <a:rect l="l" t="t" r="r" b="b"/>
              <a:pathLst>
                <a:path w="609600" h="79375">
                  <a:moveTo>
                    <a:pt x="609299" y="78899"/>
                  </a:moveTo>
                  <a:lnTo>
                    <a:pt x="0" y="78899"/>
                  </a:lnTo>
                  <a:lnTo>
                    <a:pt x="0" y="0"/>
                  </a:lnTo>
                  <a:lnTo>
                    <a:pt x="609299" y="0"/>
                  </a:lnTo>
                  <a:lnTo>
                    <a:pt x="609299" y="78899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98922" y="3532569"/>
              <a:ext cx="609600" cy="79375"/>
            </a:xfrm>
            <a:custGeom>
              <a:avLst/>
              <a:gdLst/>
              <a:ahLst/>
              <a:cxnLst/>
              <a:rect l="l" t="t" r="r" b="b"/>
              <a:pathLst>
                <a:path w="609600" h="79375">
                  <a:moveTo>
                    <a:pt x="0" y="0"/>
                  </a:moveTo>
                  <a:lnTo>
                    <a:pt x="609299" y="0"/>
                  </a:lnTo>
                  <a:lnTo>
                    <a:pt x="609299" y="78899"/>
                  </a:lnTo>
                  <a:lnTo>
                    <a:pt x="0" y="78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E0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78685" y="3229289"/>
              <a:ext cx="533400" cy="230504"/>
            </a:xfrm>
            <a:custGeom>
              <a:avLst/>
              <a:gdLst/>
              <a:ahLst/>
              <a:cxnLst/>
              <a:rect l="l" t="t" r="r" b="b"/>
              <a:pathLst>
                <a:path w="533400" h="230504">
                  <a:moveTo>
                    <a:pt x="533133" y="0"/>
                  </a:moveTo>
                  <a:lnTo>
                    <a:pt x="0" y="23024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39002" y="3445087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5" h="31750">
                  <a:moveTo>
                    <a:pt x="0" y="31581"/>
                  </a:moveTo>
                  <a:lnTo>
                    <a:pt x="33445" y="0"/>
                  </a:lnTo>
                  <a:lnTo>
                    <a:pt x="45920" y="28886"/>
                  </a:lnTo>
                  <a:lnTo>
                    <a:pt x="0" y="3158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39002" y="3445087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5" h="31750">
                  <a:moveTo>
                    <a:pt x="33445" y="0"/>
                  </a:moveTo>
                  <a:lnTo>
                    <a:pt x="0" y="31581"/>
                  </a:lnTo>
                  <a:lnTo>
                    <a:pt x="45920" y="28886"/>
                  </a:lnTo>
                  <a:lnTo>
                    <a:pt x="33445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09374" y="3533425"/>
              <a:ext cx="609600" cy="955040"/>
            </a:xfrm>
            <a:custGeom>
              <a:avLst/>
              <a:gdLst/>
              <a:ahLst/>
              <a:cxnLst/>
              <a:rect l="l" t="t" r="r" b="b"/>
              <a:pathLst>
                <a:path w="609600" h="955039">
                  <a:moveTo>
                    <a:pt x="0" y="0"/>
                  </a:moveTo>
                  <a:lnTo>
                    <a:pt x="609299" y="0"/>
                  </a:lnTo>
                  <a:lnTo>
                    <a:pt x="609299" y="954899"/>
                  </a:lnTo>
                  <a:lnTo>
                    <a:pt x="0" y="954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38790" y="3459779"/>
            <a:ext cx="13779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15" dirty="0">
                <a:latin typeface="Verdana"/>
                <a:cs typeface="Verdana"/>
              </a:rPr>
              <a:t>d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25049" y="3775004"/>
            <a:ext cx="37655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25" dirty="0">
                <a:latin typeface="Verdana"/>
                <a:cs typeface="Verdana"/>
              </a:rPr>
              <a:t>SVD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82124" y="3071941"/>
            <a:ext cx="8705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434343"/>
                </a:solidFill>
                <a:latin typeface="Verdana"/>
                <a:cs typeface="Verdana"/>
              </a:rPr>
              <a:t>вектор документа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276412" y="2474778"/>
            <a:ext cx="2406015" cy="672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Verdana"/>
                <a:cs typeface="Verdana"/>
              </a:rPr>
              <a:t>слово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200">
              <a:latin typeface="Verdana"/>
              <a:cs typeface="Verdana"/>
            </a:endParaRPr>
          </a:p>
          <a:p>
            <a:pPr marL="1351280">
              <a:lnSpc>
                <a:spcPct val="100000"/>
              </a:lnSpc>
            </a:pPr>
            <a:r>
              <a:rPr sz="1200" dirty="0">
                <a:solidFill>
                  <a:srgbClr val="434343"/>
                </a:solidFill>
                <a:latin typeface="Verdana"/>
                <a:cs typeface="Verdana"/>
              </a:rPr>
              <a:t>вектор</a:t>
            </a:r>
            <a:r>
              <a:rPr sz="1200" spc="-70" dirty="0">
                <a:solidFill>
                  <a:srgbClr val="434343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34343"/>
                </a:solidFill>
                <a:latin typeface="Verdana"/>
                <a:cs typeface="Verdana"/>
              </a:rPr>
              <a:t>слова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19646" y="4694032"/>
            <a:ext cx="6159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70" dirty="0">
                <a:latin typeface="Verdana"/>
                <a:cs typeface="Verdana"/>
              </a:rPr>
              <a:t>U</a:t>
            </a:r>
            <a:r>
              <a:rPr sz="1200" spc="-110" dirty="0">
                <a:latin typeface="Verdana"/>
                <a:cs typeface="Verdana"/>
              </a:rPr>
              <a:t> </a:t>
            </a:r>
            <a:r>
              <a:rPr sz="1200" spc="-80" dirty="0">
                <a:latin typeface="Verdana"/>
                <a:cs typeface="Verdana"/>
              </a:rPr>
              <a:t>(kx</a:t>
            </a:r>
            <a:r>
              <a:rPr sz="1200" b="1" spc="-80" dirty="0">
                <a:latin typeface="Verdana"/>
                <a:cs typeface="Verdana"/>
              </a:rPr>
              <a:t>m</a:t>
            </a:r>
            <a:r>
              <a:rPr sz="1200" spc="-80" dirty="0">
                <a:latin typeface="Verdana"/>
                <a:cs typeface="Verdana"/>
              </a:rPr>
              <a:t>)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41179" y="3881954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MS PGothic"/>
                <a:cs typeface="MS PGothic"/>
              </a:rPr>
              <a:t>✕</a:t>
            </a:r>
            <a:endParaRPr sz="1400">
              <a:latin typeface="MS PGothic"/>
              <a:cs typeface="MS PGothic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031225" y="3366645"/>
            <a:ext cx="1822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30" dirty="0">
                <a:latin typeface="Verdana"/>
                <a:cs typeface="Verdana"/>
              </a:rPr>
              <a:t>w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836953" y="4694029"/>
            <a:ext cx="6699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0" dirty="0">
                <a:latin typeface="Verdana"/>
                <a:cs typeface="Verdana"/>
              </a:rPr>
              <a:t>S</a:t>
            </a:r>
            <a:r>
              <a:rPr sz="1200" spc="-105" dirty="0">
                <a:latin typeface="Verdana"/>
                <a:cs typeface="Verdana"/>
              </a:rPr>
              <a:t> </a:t>
            </a:r>
            <a:r>
              <a:rPr sz="1200" spc="-80" dirty="0">
                <a:latin typeface="Verdana"/>
                <a:cs typeface="Verdana"/>
              </a:rPr>
              <a:t>(</a:t>
            </a:r>
            <a:r>
              <a:rPr sz="1200" b="1" spc="-80" dirty="0">
                <a:latin typeface="Verdana"/>
                <a:cs typeface="Verdana"/>
              </a:rPr>
              <a:t>mxm</a:t>
            </a:r>
            <a:r>
              <a:rPr sz="1200" spc="-80" dirty="0">
                <a:latin typeface="Verdana"/>
                <a:cs typeface="Verdana"/>
              </a:rPr>
              <a:t>)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150133" y="4694017"/>
            <a:ext cx="685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Verdana"/>
                <a:cs typeface="Verdana"/>
              </a:rPr>
              <a:t>V</a:t>
            </a:r>
            <a:r>
              <a:rPr sz="1200" spc="-37" baseline="31250" dirty="0">
                <a:latin typeface="Verdana"/>
                <a:cs typeface="Verdana"/>
              </a:rPr>
              <a:t>T</a:t>
            </a:r>
            <a:r>
              <a:rPr sz="1200" spc="-25" dirty="0">
                <a:latin typeface="Verdana"/>
                <a:cs typeface="Verdana"/>
              </a:rPr>
              <a:t>(</a:t>
            </a:r>
            <a:r>
              <a:rPr sz="1200" b="1" spc="-25" dirty="0">
                <a:latin typeface="Verdana"/>
                <a:cs typeface="Verdana"/>
              </a:rPr>
              <a:t>m</a:t>
            </a:r>
            <a:r>
              <a:rPr sz="1200" spc="-25" dirty="0">
                <a:latin typeface="Verdana"/>
                <a:cs typeface="Verdana"/>
              </a:rPr>
              <a:t>xn)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1830218" y="3683259"/>
            <a:ext cx="669925" cy="674370"/>
            <a:chOff x="1830218" y="3683259"/>
            <a:chExt cx="669925" cy="674370"/>
          </a:xfrm>
        </p:grpSpPr>
        <p:sp>
          <p:nvSpPr>
            <p:cNvPr id="37" name="object 37"/>
            <p:cNvSpPr/>
            <p:nvPr/>
          </p:nvSpPr>
          <p:spPr>
            <a:xfrm>
              <a:off x="1867394" y="3708527"/>
              <a:ext cx="609600" cy="618490"/>
            </a:xfrm>
            <a:custGeom>
              <a:avLst/>
              <a:gdLst/>
              <a:ahLst/>
              <a:cxnLst/>
              <a:rect l="l" t="t" r="r" b="b"/>
              <a:pathLst>
                <a:path w="609600" h="618489">
                  <a:moveTo>
                    <a:pt x="609299" y="617999"/>
                  </a:moveTo>
                  <a:lnTo>
                    <a:pt x="0" y="617999"/>
                  </a:lnTo>
                  <a:lnTo>
                    <a:pt x="0" y="0"/>
                  </a:lnTo>
                  <a:lnTo>
                    <a:pt x="609299" y="0"/>
                  </a:lnTo>
                  <a:lnTo>
                    <a:pt x="609299" y="6179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867394" y="3708527"/>
              <a:ext cx="609600" cy="618490"/>
            </a:xfrm>
            <a:custGeom>
              <a:avLst/>
              <a:gdLst/>
              <a:ahLst/>
              <a:cxnLst/>
              <a:rect l="l" t="t" r="r" b="b"/>
              <a:pathLst>
                <a:path w="609600" h="618489">
                  <a:moveTo>
                    <a:pt x="0" y="0"/>
                  </a:moveTo>
                  <a:lnTo>
                    <a:pt x="609299" y="0"/>
                  </a:lnTo>
                  <a:lnTo>
                    <a:pt x="609299" y="617999"/>
                  </a:lnTo>
                  <a:lnTo>
                    <a:pt x="0" y="61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849268" y="3702309"/>
              <a:ext cx="631825" cy="636270"/>
            </a:xfrm>
            <a:custGeom>
              <a:avLst/>
              <a:gdLst/>
              <a:ahLst/>
              <a:cxnLst/>
              <a:rect l="l" t="t" r="r" b="b"/>
              <a:pathLst>
                <a:path w="631825" h="636270">
                  <a:moveTo>
                    <a:pt x="0" y="0"/>
                  </a:moveTo>
                  <a:lnTo>
                    <a:pt x="631199" y="635699"/>
                  </a:lnTo>
                </a:path>
              </a:pathLst>
            </a:custGeom>
            <a:ln w="3809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874325" y="3711350"/>
              <a:ext cx="609600" cy="618490"/>
            </a:xfrm>
            <a:custGeom>
              <a:avLst/>
              <a:gdLst/>
              <a:ahLst/>
              <a:cxnLst/>
              <a:rect l="l" t="t" r="r" b="b"/>
              <a:pathLst>
                <a:path w="609600" h="618489">
                  <a:moveTo>
                    <a:pt x="0" y="0"/>
                  </a:moveTo>
                  <a:lnTo>
                    <a:pt x="609299" y="0"/>
                  </a:lnTo>
                  <a:lnTo>
                    <a:pt x="609299" y="617999"/>
                  </a:lnTo>
                  <a:lnTo>
                    <a:pt x="0" y="617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2804887" y="3646589"/>
            <a:ext cx="1433830" cy="652145"/>
            <a:chOff x="2804887" y="3646589"/>
            <a:chExt cx="1433830" cy="652145"/>
          </a:xfrm>
        </p:grpSpPr>
        <p:sp>
          <p:nvSpPr>
            <p:cNvPr id="42" name="object 42"/>
            <p:cNvSpPr/>
            <p:nvPr/>
          </p:nvSpPr>
          <p:spPr>
            <a:xfrm>
              <a:off x="2809650" y="3651351"/>
              <a:ext cx="1424305" cy="636270"/>
            </a:xfrm>
            <a:custGeom>
              <a:avLst/>
              <a:gdLst/>
              <a:ahLst/>
              <a:cxnLst/>
              <a:rect l="l" t="t" r="r" b="b"/>
              <a:pathLst>
                <a:path w="1424304" h="636270">
                  <a:moveTo>
                    <a:pt x="1424099" y="635699"/>
                  </a:moveTo>
                  <a:lnTo>
                    <a:pt x="0" y="635699"/>
                  </a:lnTo>
                  <a:lnTo>
                    <a:pt x="0" y="0"/>
                  </a:lnTo>
                  <a:lnTo>
                    <a:pt x="1424099" y="0"/>
                  </a:lnTo>
                  <a:lnTo>
                    <a:pt x="1424099" y="6356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809650" y="3651351"/>
              <a:ext cx="1424305" cy="636270"/>
            </a:xfrm>
            <a:custGeom>
              <a:avLst/>
              <a:gdLst/>
              <a:ahLst/>
              <a:cxnLst/>
              <a:rect l="l" t="t" r="r" b="b"/>
              <a:pathLst>
                <a:path w="1424304" h="636270">
                  <a:moveTo>
                    <a:pt x="0" y="0"/>
                  </a:moveTo>
                  <a:lnTo>
                    <a:pt x="1424099" y="0"/>
                  </a:lnTo>
                  <a:lnTo>
                    <a:pt x="1424099" y="635699"/>
                  </a:lnTo>
                  <a:lnTo>
                    <a:pt x="0" y="635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046100" y="3657720"/>
              <a:ext cx="124460" cy="636270"/>
            </a:xfrm>
            <a:custGeom>
              <a:avLst/>
              <a:gdLst/>
              <a:ahLst/>
              <a:cxnLst/>
              <a:rect l="l" t="t" r="r" b="b"/>
              <a:pathLst>
                <a:path w="124460" h="636270">
                  <a:moveTo>
                    <a:pt x="124199" y="635699"/>
                  </a:moveTo>
                  <a:lnTo>
                    <a:pt x="0" y="635699"/>
                  </a:lnTo>
                  <a:lnTo>
                    <a:pt x="0" y="0"/>
                  </a:lnTo>
                  <a:lnTo>
                    <a:pt x="124199" y="0"/>
                  </a:lnTo>
                  <a:lnTo>
                    <a:pt x="124199" y="635699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046100" y="3657720"/>
              <a:ext cx="124460" cy="636270"/>
            </a:xfrm>
            <a:custGeom>
              <a:avLst/>
              <a:gdLst/>
              <a:ahLst/>
              <a:cxnLst/>
              <a:rect l="l" t="t" r="r" b="b"/>
              <a:pathLst>
                <a:path w="124460" h="636270">
                  <a:moveTo>
                    <a:pt x="0" y="0"/>
                  </a:moveTo>
                  <a:lnTo>
                    <a:pt x="124199" y="0"/>
                  </a:lnTo>
                  <a:lnTo>
                    <a:pt x="124199" y="635699"/>
                  </a:lnTo>
                  <a:lnTo>
                    <a:pt x="0" y="635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3298795" y="3199137"/>
            <a:ext cx="458470" cy="238125"/>
            <a:chOff x="3298795" y="3199137"/>
            <a:chExt cx="458470" cy="238125"/>
          </a:xfrm>
        </p:grpSpPr>
        <p:sp>
          <p:nvSpPr>
            <p:cNvPr id="47" name="object 47"/>
            <p:cNvSpPr/>
            <p:nvPr/>
          </p:nvSpPr>
          <p:spPr>
            <a:xfrm>
              <a:off x="3342073" y="3203899"/>
              <a:ext cx="410209" cy="209550"/>
            </a:xfrm>
            <a:custGeom>
              <a:avLst/>
              <a:gdLst/>
              <a:ahLst/>
              <a:cxnLst/>
              <a:rect l="l" t="t" r="r" b="b"/>
              <a:pathLst>
                <a:path w="410210" h="209550">
                  <a:moveTo>
                    <a:pt x="410176" y="0"/>
                  </a:moveTo>
                  <a:lnTo>
                    <a:pt x="0" y="20895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303557" y="3398839"/>
              <a:ext cx="45720" cy="33655"/>
            </a:xfrm>
            <a:custGeom>
              <a:avLst/>
              <a:gdLst/>
              <a:ahLst/>
              <a:cxnLst/>
              <a:rect l="l" t="t" r="r" b="b"/>
              <a:pathLst>
                <a:path w="45720" h="33654">
                  <a:moveTo>
                    <a:pt x="0" y="33639"/>
                  </a:moveTo>
                  <a:lnTo>
                    <a:pt x="31373" y="0"/>
                  </a:lnTo>
                  <a:lnTo>
                    <a:pt x="45656" y="28036"/>
                  </a:lnTo>
                  <a:lnTo>
                    <a:pt x="0" y="3363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303557" y="3398839"/>
              <a:ext cx="45720" cy="33655"/>
            </a:xfrm>
            <a:custGeom>
              <a:avLst/>
              <a:gdLst/>
              <a:ahLst/>
              <a:cxnLst/>
              <a:rect l="l" t="t" r="r" b="b"/>
              <a:pathLst>
                <a:path w="45720" h="33654">
                  <a:moveTo>
                    <a:pt x="31373" y="0"/>
                  </a:moveTo>
                  <a:lnTo>
                    <a:pt x="0" y="33639"/>
                  </a:lnTo>
                  <a:lnTo>
                    <a:pt x="45656" y="28036"/>
                  </a:lnTo>
                  <a:lnTo>
                    <a:pt x="31373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254900" y="1604212"/>
            <a:ext cx="136144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Матрица </a:t>
            </a:r>
            <a:r>
              <a:rPr sz="1400" dirty="0">
                <a:latin typeface="Calibri"/>
                <a:cs typeface="Calibri"/>
              </a:rPr>
              <a:t>документы-</a:t>
            </a:r>
            <a:r>
              <a:rPr sz="1400" spc="-10" dirty="0">
                <a:latin typeface="Calibri"/>
                <a:cs typeface="Calibri"/>
              </a:rPr>
              <a:t>слова размера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35" dirty="0">
                <a:latin typeface="Calibri"/>
                <a:cs typeface="Calibri"/>
              </a:rPr>
              <a:t>n</a:t>
            </a:r>
            <a:r>
              <a:rPr sz="1100" spc="35" dirty="0">
                <a:latin typeface="Calibri"/>
                <a:cs typeface="Calibri"/>
              </a:rPr>
              <a:t>x</a:t>
            </a:r>
            <a:r>
              <a:rPr sz="1400" spc="35" dirty="0">
                <a:latin typeface="Calibri"/>
                <a:cs typeface="Calibri"/>
              </a:rPr>
              <a:t>k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160240" y="1871150"/>
            <a:ext cx="2209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60" dirty="0">
                <a:latin typeface="Tahoma"/>
                <a:cs typeface="Tahoma"/>
              </a:rPr>
              <a:t>≈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606129" y="3872655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MS PGothic"/>
                <a:cs typeface="MS PGothic"/>
              </a:rPr>
              <a:t>✕</a:t>
            </a:r>
            <a:endParaRPr sz="1400">
              <a:latin typeface="MS PGothic"/>
              <a:cs typeface="MS PGothic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809650" y="3651349"/>
            <a:ext cx="1424305" cy="618490"/>
          </a:xfrm>
          <a:custGeom>
            <a:avLst/>
            <a:gdLst/>
            <a:ahLst/>
            <a:cxnLst/>
            <a:rect l="l" t="t" r="r" b="b"/>
            <a:pathLst>
              <a:path w="1424304" h="618489">
                <a:moveTo>
                  <a:pt x="0" y="0"/>
                </a:moveTo>
                <a:lnTo>
                  <a:pt x="1424099" y="0"/>
                </a:lnTo>
                <a:lnTo>
                  <a:pt x="1424099" y="617999"/>
                </a:lnTo>
                <a:lnTo>
                  <a:pt x="0" y="6179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Латентный</a:t>
            </a:r>
            <a:r>
              <a:rPr spc="170" dirty="0"/>
              <a:t> </a:t>
            </a:r>
            <a:r>
              <a:rPr dirty="0"/>
              <a:t>семантический</a:t>
            </a:r>
            <a:r>
              <a:rPr spc="175" dirty="0"/>
              <a:t> </a:t>
            </a:r>
            <a:r>
              <a:rPr spc="-10" dirty="0"/>
              <a:t>анализ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8345"/>
            <a:ext cx="4944745" cy="367093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spc="-10" dirty="0">
                <a:latin typeface="Calibri"/>
                <a:cs typeface="Calibri"/>
              </a:rPr>
              <a:t>Плюсы:</a:t>
            </a:r>
            <a:endParaRPr sz="1600">
              <a:latin typeface="Calibri"/>
              <a:cs typeface="Calibri"/>
            </a:endParaRPr>
          </a:p>
          <a:p>
            <a:pPr marL="469265" indent="-303530">
              <a:lnSpc>
                <a:spcPct val="100000"/>
              </a:lnSpc>
              <a:spcBef>
                <a:spcPts val="290"/>
              </a:spcBef>
              <a:buChar char="-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Векторы</a:t>
            </a:r>
            <a:r>
              <a:rPr sz="1600" spc="1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имеют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смысл;</a:t>
            </a:r>
            <a:endParaRPr sz="1600">
              <a:latin typeface="Calibri"/>
              <a:cs typeface="Calibri"/>
            </a:endParaRPr>
          </a:p>
          <a:p>
            <a:pPr marL="469900" marR="104139" indent="-304165">
              <a:lnSpc>
                <a:spcPct val="114999"/>
              </a:lnSpc>
              <a:buChar char="-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Возможность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уменьшать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размер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-40" dirty="0">
                <a:latin typeface="Calibri"/>
                <a:cs typeface="Calibri"/>
              </a:rPr>
              <a:t>эмбеддингов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без </a:t>
            </a:r>
            <a:r>
              <a:rPr sz="1600" dirty="0">
                <a:latin typeface="Calibri"/>
                <a:cs typeface="Calibri"/>
              </a:rPr>
              <a:t>существенной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потери</a:t>
            </a:r>
            <a:r>
              <a:rPr sz="1600" spc="1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качества.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40"/>
              </a:spcBef>
              <a:buFont typeface="Calibri"/>
              <a:buChar char="-"/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Недостатки:</a:t>
            </a:r>
            <a:endParaRPr sz="1600">
              <a:latin typeface="Calibri"/>
              <a:cs typeface="Calibri"/>
            </a:endParaRPr>
          </a:p>
          <a:p>
            <a:pPr marL="469900" marR="5080" indent="-304165">
              <a:lnSpc>
                <a:spcPct val="114999"/>
              </a:lnSpc>
              <a:buChar char="-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Большая</a:t>
            </a:r>
            <a:r>
              <a:rPr sz="1600" spc="1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вычислительная</a:t>
            </a:r>
            <a:r>
              <a:rPr sz="1600" spc="1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сложность</a:t>
            </a:r>
            <a:r>
              <a:rPr sz="1600" spc="1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при</a:t>
            </a:r>
            <a:r>
              <a:rPr sz="1600" spc="170" dirty="0">
                <a:latin typeface="Calibri"/>
                <a:cs typeface="Calibri"/>
              </a:rPr>
              <a:t> </a:t>
            </a:r>
            <a:r>
              <a:rPr sz="1600" spc="-40" dirty="0">
                <a:latin typeface="Calibri"/>
                <a:cs typeface="Calibri"/>
              </a:rPr>
              <a:t>большом </a:t>
            </a:r>
            <a:r>
              <a:rPr sz="1600" dirty="0">
                <a:latin typeface="Calibri"/>
                <a:cs typeface="Calibri"/>
              </a:rPr>
              <a:t>количестве</a:t>
            </a:r>
            <a:r>
              <a:rPr sz="1600" spc="1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документов;</a:t>
            </a:r>
            <a:endParaRPr sz="1600">
              <a:latin typeface="Calibri"/>
              <a:cs typeface="Calibri"/>
            </a:endParaRPr>
          </a:p>
          <a:p>
            <a:pPr marL="469265" indent="-303530">
              <a:lnSpc>
                <a:spcPct val="100000"/>
              </a:lnSpc>
              <a:spcBef>
                <a:spcPts val="290"/>
              </a:spcBef>
              <a:buChar char="-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Фиксированный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размер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словаря;</a:t>
            </a:r>
            <a:endParaRPr sz="1600">
              <a:latin typeface="Calibri"/>
              <a:cs typeface="Calibri"/>
            </a:endParaRPr>
          </a:p>
          <a:p>
            <a:pPr marL="469900" marR="233045" indent="-304165">
              <a:lnSpc>
                <a:spcPct val="114999"/>
              </a:lnSpc>
              <a:buChar char="-"/>
              <a:tabLst>
                <a:tab pos="469900" algn="l"/>
              </a:tabLst>
            </a:pPr>
            <a:r>
              <a:rPr sz="1600" spc="80" dirty="0">
                <a:latin typeface="Calibri"/>
                <a:cs typeface="Calibri"/>
              </a:rPr>
              <a:t>При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изменении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коллекции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документов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векторы </a:t>
            </a:r>
            <a:r>
              <a:rPr sz="1600" dirty="0">
                <a:latin typeface="Calibri"/>
                <a:cs typeface="Calibri"/>
              </a:rPr>
              <a:t>нужно</a:t>
            </a:r>
            <a:r>
              <a:rPr sz="1600" spc="1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пересчитывать;</a:t>
            </a:r>
            <a:endParaRPr sz="1600">
              <a:latin typeface="Calibri"/>
              <a:cs typeface="Calibri"/>
            </a:endParaRPr>
          </a:p>
          <a:p>
            <a:pPr marL="469900" marR="232410" indent="-304165">
              <a:lnSpc>
                <a:spcPct val="114999"/>
              </a:lnSpc>
              <a:buChar char="-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Вероятностная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spc="-60" dirty="0">
                <a:latin typeface="Calibri"/>
                <a:cs typeface="Calibri"/>
              </a:rPr>
              <a:t>модель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spc="-30" dirty="0">
                <a:latin typeface="Calibri"/>
                <a:cs typeface="Calibri"/>
              </a:rPr>
              <a:t>метода</a:t>
            </a:r>
            <a:r>
              <a:rPr sz="1600" spc="1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не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соответствует реальности.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536F7643-F9BD-4013-8236-411223537BC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object 3">
            <a:extLst>
              <a:ext uri="{FF2B5EF4-FFF2-40B4-BE49-F238E27FC236}">
                <a16:creationId xmlns:a16="http://schemas.microsoft.com/office/drawing/2014/main" id="{47A01CAF-E544-4E96-BDDA-6DDA81BB72E6}"/>
              </a:ext>
            </a:extLst>
          </p:cNvPr>
          <p:cNvSpPr txBox="1">
            <a:spLocks/>
          </p:cNvSpPr>
          <p:nvPr/>
        </p:nvSpPr>
        <p:spPr>
          <a:xfrm>
            <a:off x="1582333" y="2512992"/>
            <a:ext cx="6428192" cy="819904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marL="107312" marR="5080" indent="-95248" algn="ctr">
              <a:lnSpc>
                <a:spcPct val="114999"/>
              </a:lnSpc>
              <a:spcBef>
                <a:spcPts val="100"/>
              </a:spcBef>
            </a:pPr>
            <a:r>
              <a:rPr lang="ru-RU" sz="2400">
                <a:latin typeface="Verdana" panose="020B0604030504040204" pitchFamily="34" charset="0"/>
                <a:ea typeface="Verdana" panose="020B0604030504040204" pitchFamily="34" charset="0"/>
              </a:rPr>
              <a:t>3. Эмбеддинги слов</a:t>
            </a:r>
            <a:br>
              <a:rPr lang="ru-RU" sz="240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66739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/>
              <a:t>Контекстные</a:t>
            </a:r>
            <a:r>
              <a:rPr sz="2700" spc="190" dirty="0"/>
              <a:t> </a:t>
            </a:r>
            <a:r>
              <a:rPr sz="2700" dirty="0"/>
              <a:t>векторы</a:t>
            </a:r>
            <a:r>
              <a:rPr sz="2700" spc="195" dirty="0"/>
              <a:t> </a:t>
            </a:r>
            <a:r>
              <a:rPr sz="2700" spc="-20" dirty="0"/>
              <a:t>слов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384725" y="1218347"/>
            <a:ext cx="3477895" cy="1579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Рассмотрим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три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предложения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и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слова- </a:t>
            </a:r>
            <a:r>
              <a:rPr sz="1600" dirty="0">
                <a:latin typeface="Calibri"/>
                <a:cs typeface="Calibri"/>
              </a:rPr>
              <a:t>кандидаты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для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пропусков:</a:t>
            </a:r>
            <a:endParaRPr sz="1600">
              <a:latin typeface="Calibri"/>
              <a:cs typeface="Calibri"/>
            </a:endParaRPr>
          </a:p>
          <a:p>
            <a:pPr marL="469265" indent="-348615">
              <a:lnSpc>
                <a:spcPct val="100000"/>
              </a:lnSpc>
              <a:spcBef>
                <a:spcPts val="1485"/>
              </a:spcBef>
              <a:buSzPct val="68750"/>
              <a:buAutoNum type="arabicPeriod"/>
              <a:tabLst>
                <a:tab pos="469265" algn="l"/>
                <a:tab pos="2603500" algn="l"/>
              </a:tabLst>
            </a:pPr>
            <a:r>
              <a:rPr sz="1600" dirty="0">
                <a:latin typeface="Calibri"/>
                <a:cs typeface="Calibri"/>
              </a:rPr>
              <a:t>Маша</a:t>
            </a:r>
            <a:r>
              <a:rPr sz="1600" spc="2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ездит</a:t>
            </a:r>
            <a:r>
              <a:rPr sz="1600" spc="2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на</a:t>
            </a:r>
            <a:r>
              <a:rPr sz="1600" spc="525" dirty="0">
                <a:latin typeface="Calibri"/>
                <a:cs typeface="Calibri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1600">
              <a:latin typeface="Times New Roman"/>
              <a:cs typeface="Times New Roman"/>
            </a:endParaRPr>
          </a:p>
          <a:p>
            <a:pPr marL="469265" indent="-348615">
              <a:lnSpc>
                <a:spcPct val="100000"/>
              </a:lnSpc>
              <a:spcBef>
                <a:spcPts val="290"/>
              </a:spcBef>
              <a:buSzPct val="68750"/>
              <a:buAutoNum type="arabicPeriod"/>
              <a:tabLst>
                <a:tab pos="469265" algn="l"/>
                <a:tab pos="1842770" algn="l"/>
              </a:tabLst>
            </a:pPr>
            <a:r>
              <a:rPr sz="1600" dirty="0">
                <a:latin typeface="Calibri"/>
                <a:cs typeface="Calibri"/>
              </a:rPr>
              <a:t>Колесо 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600" dirty="0">
                <a:latin typeface="Calibri"/>
                <a:cs typeface="Calibri"/>
              </a:rPr>
              <a:t>было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проколото</a:t>
            </a:r>
            <a:endParaRPr sz="1600">
              <a:latin typeface="Calibri"/>
              <a:cs typeface="Calibri"/>
            </a:endParaRPr>
          </a:p>
          <a:p>
            <a:pPr marL="469265" indent="-348615">
              <a:lnSpc>
                <a:spcPct val="100000"/>
              </a:lnSpc>
              <a:spcBef>
                <a:spcPts val="285"/>
              </a:spcBef>
              <a:buSzPct val="68750"/>
              <a:buAutoNum type="arabicPeriod"/>
              <a:tabLst>
                <a:tab pos="469265" algn="l"/>
                <a:tab pos="1365885" algn="l"/>
              </a:tabLst>
            </a:pPr>
            <a:r>
              <a:rPr sz="1600" spc="380" dirty="0">
                <a:latin typeface="Calibri"/>
                <a:cs typeface="Calibri"/>
              </a:rPr>
              <a:t>У</a:t>
            </a:r>
            <a:r>
              <a:rPr sz="1600" spc="330" dirty="0">
                <a:latin typeface="Calibri"/>
                <a:cs typeface="Calibri"/>
              </a:rPr>
              <a:t> </a:t>
            </a:r>
            <a:r>
              <a:rPr sz="1600" u="heavy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r>
              <a:rPr sz="1600" dirty="0">
                <a:latin typeface="Calibri"/>
                <a:cs typeface="Calibri"/>
              </a:rPr>
              <a:t>красивая</a:t>
            </a:r>
            <a:r>
              <a:rPr sz="1600" spc="1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белая</a:t>
            </a:r>
            <a:r>
              <a:rPr sz="1600" spc="16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рама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58037" y="3099447"/>
          <a:ext cx="3164839" cy="1825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56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48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3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95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Tahoma"/>
                          <a:cs typeface="Tahoma"/>
                        </a:rPr>
                        <a:t>1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Tahoma"/>
                          <a:cs typeface="Tahoma"/>
                        </a:rPr>
                        <a:t>2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Tahoma"/>
                          <a:cs typeface="Tahoma"/>
                        </a:rPr>
                        <a:t>3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Verdana"/>
                          <a:cs typeface="Verdana"/>
                        </a:rPr>
                        <a:t>Велосипед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Tahoma"/>
                          <a:cs typeface="Tahoma"/>
                        </a:rPr>
                        <a:t>+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Tahoma"/>
                          <a:cs typeface="Tahoma"/>
                        </a:rPr>
                        <a:t>+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Tahoma"/>
                          <a:cs typeface="Tahoma"/>
                        </a:rPr>
                        <a:t>+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Verdana"/>
                          <a:cs typeface="Verdana"/>
                        </a:rPr>
                        <a:t>Мотоцикл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Tahoma"/>
                          <a:cs typeface="Tahoma"/>
                        </a:rPr>
                        <a:t>+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Tahoma"/>
                          <a:cs typeface="Tahoma"/>
                        </a:rPr>
                        <a:t>+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Tahoma"/>
                          <a:cs typeface="Tahoma"/>
                        </a:rPr>
                        <a:t>+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Verdana"/>
                          <a:cs typeface="Verdana"/>
                        </a:rPr>
                        <a:t>Машина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Tahoma"/>
                          <a:cs typeface="Tahoma"/>
                        </a:rPr>
                        <a:t>+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Tahoma"/>
                          <a:cs typeface="Tahoma"/>
                        </a:rPr>
                        <a:t>+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Tahoma"/>
                          <a:cs typeface="Tahoma"/>
                        </a:rPr>
                        <a:t>-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10" dirty="0">
                          <a:latin typeface="Verdana"/>
                          <a:cs typeface="Verdana"/>
                        </a:rPr>
                        <a:t>Лошадь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Tahoma"/>
                          <a:cs typeface="Tahoma"/>
                        </a:rPr>
                        <a:t>+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Tahoma"/>
                          <a:cs typeface="Tahoma"/>
                        </a:rPr>
                        <a:t>-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Tahoma"/>
                          <a:cs typeface="Tahoma"/>
                        </a:rPr>
                        <a:t>-</a:t>
                      </a:r>
                      <a:endParaRPr sz="1200">
                        <a:latin typeface="Tahoma"/>
                        <a:cs typeface="Tahom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/>
              <a:t>Контекстные</a:t>
            </a:r>
            <a:r>
              <a:rPr sz="2700" spc="190" dirty="0"/>
              <a:t> </a:t>
            </a:r>
            <a:r>
              <a:rPr sz="2700" dirty="0"/>
              <a:t>векторы</a:t>
            </a:r>
            <a:r>
              <a:rPr sz="2700" spc="195" dirty="0"/>
              <a:t> </a:t>
            </a:r>
            <a:r>
              <a:rPr sz="2700" spc="-20" dirty="0"/>
              <a:t>слов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570250" y="1170747"/>
            <a:ext cx="42494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Идея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145" dirty="0">
                <a:latin typeface="Calibri"/>
                <a:cs typeface="Calibri"/>
              </a:rPr>
              <a:t>—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смысл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слова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определяется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контекстом. </a:t>
            </a:r>
            <a:r>
              <a:rPr sz="1600" dirty="0">
                <a:latin typeface="Calibri"/>
                <a:cs typeface="Calibri"/>
              </a:rPr>
              <a:t>Построим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векторы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на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основе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контекста:</a:t>
            </a:r>
            <a:endParaRPr sz="16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27012" y="2666312"/>
          <a:ext cx="2861306" cy="2301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8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68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256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45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230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90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134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R="31750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256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137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Verdana"/>
                          <a:cs typeface="Verdana"/>
                        </a:rPr>
                        <a:t>4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Verdana"/>
                          <a:cs typeface="Verdana"/>
                        </a:rPr>
                        <a:t>2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Verdana"/>
                          <a:cs typeface="Verdana"/>
                        </a:rPr>
                        <a:t>5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R="110489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45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137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120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34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Verdana"/>
                          <a:cs typeface="Verdana"/>
                        </a:rPr>
                        <a:t>3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R="24130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230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Verdana"/>
                          <a:cs typeface="Verdana"/>
                        </a:rPr>
                        <a:t>4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120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76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Verdana"/>
                          <a:cs typeface="Verdana"/>
                        </a:rPr>
                        <a:t>2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R="103505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90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Verdana"/>
                          <a:cs typeface="Verdana"/>
                        </a:rPr>
                        <a:t>2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34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76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Verdana"/>
                          <a:cs typeface="Verdana"/>
                        </a:rPr>
                        <a:t>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R="55880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134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Verdana"/>
                          <a:cs typeface="Verdana"/>
                        </a:rPr>
                        <a:t>5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Verdana"/>
                          <a:cs typeface="Verdana"/>
                        </a:rPr>
                        <a:t>3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Verdana"/>
                          <a:cs typeface="Verdana"/>
                        </a:rPr>
                        <a:t>2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Verdana"/>
                          <a:cs typeface="Verdana"/>
                        </a:rPr>
                        <a:t>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220575" y="2319329"/>
            <a:ext cx="989330" cy="2574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  <a:p>
            <a:pPr marL="130810" marR="424180" indent="230504">
              <a:lnSpc>
                <a:spcPct val="205700"/>
              </a:lnSpc>
              <a:spcBef>
                <a:spcPts val="430"/>
              </a:spcBef>
            </a:pPr>
            <a:r>
              <a:rPr sz="1200" spc="-50" dirty="0">
                <a:latin typeface="Verdana"/>
                <a:cs typeface="Verdana"/>
              </a:rPr>
              <a:t>a </a:t>
            </a:r>
            <a:r>
              <a:rPr sz="1200" spc="-10" dirty="0">
                <a:latin typeface="Verdana"/>
                <a:cs typeface="Verdana"/>
              </a:rPr>
              <a:t>horse </a:t>
            </a:r>
            <a:r>
              <a:rPr sz="1200" spc="-20" dirty="0">
                <a:latin typeface="Verdana"/>
                <a:cs typeface="Verdana"/>
              </a:rPr>
              <a:t>ride</a:t>
            </a:r>
            <a:endParaRPr sz="1200">
              <a:latin typeface="Verdana"/>
              <a:cs typeface="Verdana"/>
            </a:endParaRPr>
          </a:p>
          <a:p>
            <a:pPr marL="52705" marR="440690" indent="-40640">
              <a:lnSpc>
                <a:spcPct val="190700"/>
              </a:lnSpc>
              <a:spcBef>
                <a:spcPts val="430"/>
              </a:spcBef>
            </a:pPr>
            <a:r>
              <a:rPr sz="1200" spc="-10" dirty="0">
                <a:latin typeface="Verdana"/>
                <a:cs typeface="Verdana"/>
              </a:rPr>
              <a:t>bicycle frame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200">
              <a:latin typeface="Verdana"/>
              <a:cs typeface="Verdana"/>
            </a:endParaRPr>
          </a:p>
          <a:p>
            <a:pPr marL="168275">
              <a:lnSpc>
                <a:spcPct val="100000"/>
              </a:lnSpc>
              <a:spcBef>
                <a:spcPts val="5"/>
              </a:spcBef>
            </a:pPr>
            <a:r>
              <a:rPr sz="1200" spc="-20" dirty="0">
                <a:latin typeface="Verdana"/>
                <a:cs typeface="Verdana"/>
              </a:rPr>
              <a:t>rose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49255" y="2091579"/>
            <a:ext cx="211454" cy="451484"/>
          </a:xfrm>
          <a:prstGeom prst="rect">
            <a:avLst/>
          </a:prstGeom>
        </p:spPr>
        <p:txBody>
          <a:bodyPr vert="vert270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200" spc="-10" dirty="0">
                <a:latin typeface="Verdana"/>
                <a:cs typeface="Verdana"/>
              </a:rPr>
              <a:t>horse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19318" y="2221259"/>
            <a:ext cx="211454" cy="321945"/>
          </a:xfrm>
          <a:prstGeom prst="rect">
            <a:avLst/>
          </a:prstGeom>
        </p:spPr>
        <p:txBody>
          <a:bodyPr vert="vert270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200" spc="-20" dirty="0">
                <a:latin typeface="Verdana"/>
                <a:cs typeface="Verdana"/>
              </a:rPr>
              <a:t>ride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89380" y="1989941"/>
            <a:ext cx="211454" cy="553085"/>
          </a:xfrm>
          <a:prstGeom prst="rect">
            <a:avLst/>
          </a:prstGeom>
        </p:spPr>
        <p:txBody>
          <a:bodyPr vert="vert270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200" spc="-10" dirty="0">
                <a:latin typeface="Verdana"/>
                <a:cs typeface="Verdana"/>
              </a:rPr>
              <a:t>bicycle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59430" y="2067347"/>
            <a:ext cx="211454" cy="475615"/>
          </a:xfrm>
          <a:prstGeom prst="rect">
            <a:avLst/>
          </a:prstGeom>
        </p:spPr>
        <p:txBody>
          <a:bodyPr vert="vert270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200" spc="-10" dirty="0">
                <a:latin typeface="Verdana"/>
                <a:cs typeface="Verdana"/>
              </a:rPr>
              <a:t>frame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29480" y="2196278"/>
            <a:ext cx="211454" cy="346710"/>
          </a:xfrm>
          <a:prstGeom prst="rect">
            <a:avLst/>
          </a:prstGeom>
        </p:spPr>
        <p:txBody>
          <a:bodyPr vert="vert270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200" spc="-20" dirty="0">
                <a:latin typeface="Verdana"/>
                <a:cs typeface="Verdana"/>
              </a:rPr>
              <a:t>rose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/>
              <a:t>Контекстные</a:t>
            </a:r>
            <a:r>
              <a:rPr sz="2700" spc="190" dirty="0"/>
              <a:t> </a:t>
            </a:r>
            <a:r>
              <a:rPr sz="2700" dirty="0"/>
              <a:t>векторы</a:t>
            </a:r>
            <a:r>
              <a:rPr sz="2700" spc="195" dirty="0"/>
              <a:t> </a:t>
            </a:r>
            <a:r>
              <a:rPr sz="2700" spc="-20" dirty="0"/>
              <a:t>слов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570250" y="1170747"/>
            <a:ext cx="42494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Идея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145" dirty="0">
                <a:latin typeface="Calibri"/>
                <a:cs typeface="Calibri"/>
              </a:rPr>
              <a:t>—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смысл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слова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определяется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контекстом. </a:t>
            </a:r>
            <a:r>
              <a:rPr sz="1600" dirty="0">
                <a:latin typeface="Calibri"/>
                <a:cs typeface="Calibri"/>
              </a:rPr>
              <a:t>Построим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векторы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на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основе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контекста: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94475" y="2319329"/>
            <a:ext cx="1155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927012" y="2666312"/>
          <a:ext cx="2861306" cy="23012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768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68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68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68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256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45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230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90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134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R="31750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256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137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Verdana"/>
                          <a:cs typeface="Verdana"/>
                        </a:rPr>
                        <a:t>4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Verdana"/>
                          <a:cs typeface="Verdana"/>
                        </a:rPr>
                        <a:t>2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Verdana"/>
                          <a:cs typeface="Verdana"/>
                        </a:rPr>
                        <a:t>5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9255">
                <a:tc>
                  <a:txBody>
                    <a:bodyPr/>
                    <a:lstStyle/>
                    <a:p>
                      <a:pPr marR="110489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45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137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120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34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Verdana"/>
                          <a:cs typeface="Verdana"/>
                        </a:rPr>
                        <a:t>3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R="24130" algn="ctr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230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366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200" spc="-50" dirty="0">
                          <a:latin typeface="Verdana"/>
                          <a:cs typeface="Verdana"/>
                        </a:rPr>
                        <a:t>4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36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120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36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76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36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580"/>
                        </a:spcBef>
                      </a:pPr>
                      <a:r>
                        <a:rPr sz="1200" spc="-50" dirty="0">
                          <a:latin typeface="Verdana"/>
                          <a:cs typeface="Verdana"/>
                        </a:rPr>
                        <a:t>2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366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9890">
                <a:tc>
                  <a:txBody>
                    <a:bodyPr/>
                    <a:lstStyle/>
                    <a:p>
                      <a:pPr marR="103505" algn="ctr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90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8572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spc="-50" dirty="0">
                          <a:latin typeface="Verdana"/>
                          <a:cs typeface="Verdana"/>
                        </a:rPr>
                        <a:t>2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8572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34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8572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76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8572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75"/>
                        </a:spcBef>
                      </a:pPr>
                      <a:r>
                        <a:rPr sz="1200" spc="-50" dirty="0">
                          <a:latin typeface="Verdana"/>
                          <a:cs typeface="Verdana"/>
                        </a:rPr>
                        <a:t>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8572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R="55880" algn="ctr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25" dirty="0">
                          <a:latin typeface="Verdana"/>
                          <a:cs typeface="Verdana"/>
                        </a:rPr>
                        <a:t>134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Verdana"/>
                          <a:cs typeface="Verdana"/>
                        </a:rPr>
                        <a:t>5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Verdana"/>
                          <a:cs typeface="Verdana"/>
                        </a:rPr>
                        <a:t>3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Verdana"/>
                          <a:cs typeface="Verdana"/>
                        </a:rPr>
                        <a:t>2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5090">
                        <a:lnSpc>
                          <a:spcPct val="100000"/>
                        </a:lnSpc>
                        <a:spcBef>
                          <a:spcPts val="625"/>
                        </a:spcBef>
                      </a:pPr>
                      <a:r>
                        <a:rPr sz="1200" spc="-50" dirty="0">
                          <a:latin typeface="Verdana"/>
                          <a:cs typeface="Verdana"/>
                        </a:rPr>
                        <a:t>0</a:t>
                      </a:r>
                      <a:endParaRPr sz="1200">
                        <a:latin typeface="Verdana"/>
                        <a:cs typeface="Verdana"/>
                      </a:endParaRPr>
                    </a:p>
                  </a:txBody>
                  <a:tcPr marL="0" marR="0" marT="79375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E9E9E"/>
                      </a:solidFill>
                      <a:prstDash val="solid"/>
                    </a:lnL>
                    <a:lnR w="9525">
                      <a:solidFill>
                        <a:srgbClr val="9E9E9E"/>
                      </a:solidFill>
                      <a:prstDash val="solid"/>
                    </a:lnR>
                    <a:lnT w="9525">
                      <a:solidFill>
                        <a:srgbClr val="9E9E9E"/>
                      </a:solidFill>
                      <a:prstDash val="solid"/>
                    </a:lnT>
                    <a:lnB w="9525">
                      <a:solidFill>
                        <a:srgbClr val="9E9E9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1549255" y="2091579"/>
            <a:ext cx="211454" cy="451484"/>
          </a:xfrm>
          <a:prstGeom prst="rect">
            <a:avLst/>
          </a:prstGeom>
        </p:spPr>
        <p:txBody>
          <a:bodyPr vert="vert270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200" spc="-10" dirty="0">
                <a:latin typeface="Verdana"/>
                <a:cs typeface="Verdana"/>
              </a:rPr>
              <a:t>horse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19318" y="2221259"/>
            <a:ext cx="211454" cy="321945"/>
          </a:xfrm>
          <a:prstGeom prst="rect">
            <a:avLst/>
          </a:prstGeom>
        </p:spPr>
        <p:txBody>
          <a:bodyPr vert="vert270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200" spc="-20" dirty="0">
                <a:latin typeface="Verdana"/>
                <a:cs typeface="Verdana"/>
              </a:rPr>
              <a:t>ride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89380" y="1989941"/>
            <a:ext cx="211454" cy="553085"/>
          </a:xfrm>
          <a:prstGeom prst="rect">
            <a:avLst/>
          </a:prstGeom>
        </p:spPr>
        <p:txBody>
          <a:bodyPr vert="vert270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200" spc="-10" dirty="0">
                <a:latin typeface="Verdana"/>
                <a:cs typeface="Verdana"/>
              </a:rPr>
              <a:t>bicycle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59430" y="2067347"/>
            <a:ext cx="211454" cy="475615"/>
          </a:xfrm>
          <a:prstGeom prst="rect">
            <a:avLst/>
          </a:prstGeom>
        </p:spPr>
        <p:txBody>
          <a:bodyPr vert="vert270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200" spc="-10" dirty="0">
                <a:latin typeface="Verdana"/>
                <a:cs typeface="Verdana"/>
              </a:rPr>
              <a:t>frame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29480" y="2196278"/>
            <a:ext cx="211454" cy="346710"/>
          </a:xfrm>
          <a:prstGeom prst="rect">
            <a:avLst/>
          </a:prstGeom>
        </p:spPr>
        <p:txBody>
          <a:bodyPr vert="vert270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200" spc="-20" dirty="0">
                <a:latin typeface="Verdana"/>
                <a:cs typeface="Verdana"/>
              </a:rPr>
              <a:t>rose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20575" y="2750116"/>
            <a:ext cx="570230" cy="2143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09855" algn="r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  <a:p>
            <a:pPr marL="168275" marR="5080" indent="-38100">
              <a:lnSpc>
                <a:spcPct val="205700"/>
              </a:lnSpc>
            </a:pPr>
            <a:r>
              <a:rPr sz="1200" spc="-10" dirty="0">
                <a:latin typeface="Verdana"/>
                <a:cs typeface="Verdana"/>
              </a:rPr>
              <a:t>horse </a:t>
            </a:r>
            <a:r>
              <a:rPr sz="1200" spc="-20" dirty="0">
                <a:latin typeface="Verdana"/>
                <a:cs typeface="Verdana"/>
              </a:rPr>
              <a:t>ride</a:t>
            </a:r>
            <a:endParaRPr sz="1200">
              <a:latin typeface="Verdana"/>
              <a:cs typeface="Verdana"/>
            </a:endParaRPr>
          </a:p>
          <a:p>
            <a:pPr marL="52705" marR="21590" indent="-40640">
              <a:lnSpc>
                <a:spcPct val="190700"/>
              </a:lnSpc>
              <a:spcBef>
                <a:spcPts val="430"/>
              </a:spcBef>
            </a:pPr>
            <a:r>
              <a:rPr sz="1200" spc="-10" dirty="0">
                <a:latin typeface="Verdana"/>
                <a:cs typeface="Verdana"/>
              </a:rPr>
              <a:t>bicycle frame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200">
              <a:latin typeface="Verdana"/>
              <a:cs typeface="Verdana"/>
            </a:endParaRPr>
          </a:p>
          <a:p>
            <a:pPr marR="71755" algn="r">
              <a:lnSpc>
                <a:spcPct val="100000"/>
              </a:lnSpc>
              <a:spcBef>
                <a:spcPts val="5"/>
              </a:spcBef>
            </a:pPr>
            <a:r>
              <a:rPr sz="1200" spc="-20" dirty="0">
                <a:latin typeface="Verdana"/>
                <a:cs typeface="Verdana"/>
              </a:rPr>
              <a:t>rose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63950" y="2128779"/>
            <a:ext cx="131381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Вектор</a:t>
            </a:r>
            <a:r>
              <a:rPr sz="1200" spc="-50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слова</a:t>
            </a:r>
            <a:r>
              <a:rPr sz="1200" spc="-45" dirty="0">
                <a:latin typeface="Verdana"/>
                <a:cs typeface="Verdana"/>
              </a:rPr>
              <a:t> </a:t>
            </a:r>
            <a:r>
              <a:rPr sz="1200" spc="-50" dirty="0">
                <a:latin typeface="Verdana"/>
                <a:cs typeface="Verdana"/>
              </a:rPr>
              <a:t>— </a:t>
            </a:r>
            <a:r>
              <a:rPr sz="1200" dirty="0">
                <a:latin typeface="Verdana"/>
                <a:cs typeface="Verdana"/>
              </a:rPr>
              <a:t>строка</a:t>
            </a:r>
            <a:r>
              <a:rPr sz="1200" spc="-8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матрицы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3954886" y="2580037"/>
            <a:ext cx="1028065" cy="1356360"/>
            <a:chOff x="3954886" y="2580037"/>
            <a:chExt cx="1028065" cy="1356360"/>
          </a:xfrm>
        </p:grpSpPr>
        <p:sp>
          <p:nvSpPr>
            <p:cNvPr id="14" name="object 14"/>
            <p:cNvSpPr/>
            <p:nvPr/>
          </p:nvSpPr>
          <p:spPr>
            <a:xfrm>
              <a:off x="3985723" y="2584799"/>
              <a:ext cx="992505" cy="1312545"/>
            </a:xfrm>
            <a:custGeom>
              <a:avLst/>
              <a:gdLst/>
              <a:ahLst/>
              <a:cxnLst/>
              <a:rect l="l" t="t" r="r" b="b"/>
              <a:pathLst>
                <a:path w="992504" h="1312545">
                  <a:moveTo>
                    <a:pt x="992426" y="0"/>
                  </a:moveTo>
                  <a:lnTo>
                    <a:pt x="0" y="1312217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959649" y="3887528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5" h="44450">
                  <a:moveTo>
                    <a:pt x="0" y="43966"/>
                  </a:moveTo>
                  <a:lnTo>
                    <a:pt x="13525" y="0"/>
                  </a:lnTo>
                  <a:lnTo>
                    <a:pt x="38621" y="18980"/>
                  </a:lnTo>
                  <a:lnTo>
                    <a:pt x="0" y="4396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959649" y="3887528"/>
              <a:ext cx="38735" cy="44450"/>
            </a:xfrm>
            <a:custGeom>
              <a:avLst/>
              <a:gdLst/>
              <a:ahLst/>
              <a:cxnLst/>
              <a:rect l="l" t="t" r="r" b="b"/>
              <a:pathLst>
                <a:path w="38735" h="44450">
                  <a:moveTo>
                    <a:pt x="13525" y="0"/>
                  </a:moveTo>
                  <a:lnTo>
                    <a:pt x="0" y="43966"/>
                  </a:lnTo>
                  <a:lnTo>
                    <a:pt x="38621" y="18980"/>
                  </a:lnTo>
                  <a:lnTo>
                    <a:pt x="13525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/>
              <a:t>Контекстные</a:t>
            </a:r>
            <a:r>
              <a:rPr sz="2700" spc="190" dirty="0"/>
              <a:t> </a:t>
            </a:r>
            <a:r>
              <a:rPr sz="2700" dirty="0"/>
              <a:t>векторы</a:t>
            </a:r>
            <a:r>
              <a:rPr sz="2700" spc="195" dirty="0"/>
              <a:t> </a:t>
            </a:r>
            <a:r>
              <a:rPr sz="2700" spc="-20" dirty="0"/>
              <a:t>слов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473349" y="1117946"/>
            <a:ext cx="5387975" cy="34150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Calibri"/>
                <a:cs typeface="Calibri"/>
              </a:rPr>
              <a:t>Плюсы:</a:t>
            </a:r>
            <a:endParaRPr sz="1600">
              <a:latin typeface="Calibri"/>
              <a:cs typeface="Calibri"/>
            </a:endParaRPr>
          </a:p>
          <a:p>
            <a:pPr marL="469900" marR="276860" indent="-304165">
              <a:lnSpc>
                <a:spcPct val="100000"/>
              </a:lnSpc>
              <a:buChar char="-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Векторы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начинают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отражать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смысл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слов!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spc="170" dirty="0">
                <a:latin typeface="Calibri"/>
                <a:cs typeface="Calibri"/>
              </a:rPr>
              <a:t>Их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можно </a:t>
            </a:r>
            <a:r>
              <a:rPr sz="1600" dirty="0">
                <a:latin typeface="Calibri"/>
                <a:cs typeface="Calibri"/>
              </a:rPr>
              <a:t>сравнивать</a:t>
            </a:r>
            <a:r>
              <a:rPr sz="1600" spc="1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на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схожесть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расстоянию</a:t>
            </a:r>
            <a:endParaRPr sz="16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(cosine</a:t>
            </a:r>
            <a:r>
              <a:rPr sz="1600" spc="220" dirty="0">
                <a:latin typeface="Calibri"/>
                <a:cs typeface="Calibri"/>
              </a:rPr>
              <a:t> </a:t>
            </a:r>
            <a:r>
              <a:rPr sz="1600" spc="50" dirty="0">
                <a:latin typeface="Calibri"/>
                <a:cs typeface="Calibri"/>
              </a:rPr>
              <a:t>distance/MSE);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sz="1600" spc="-10" dirty="0">
                <a:latin typeface="Calibri"/>
                <a:cs typeface="Calibri"/>
              </a:rPr>
              <a:t>Недостатки:</a:t>
            </a:r>
            <a:endParaRPr sz="1600">
              <a:latin typeface="Calibri"/>
              <a:cs typeface="Calibri"/>
            </a:endParaRPr>
          </a:p>
          <a:p>
            <a:pPr marL="469265" indent="-303530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Векторы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все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еще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spc="-35" dirty="0">
                <a:latin typeface="Calibri"/>
                <a:cs typeface="Calibri"/>
              </a:rPr>
              <a:t>довольно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разрежены,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требуют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много</a:t>
            </a:r>
            <a:endParaRPr sz="16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285"/>
              </a:spcBef>
            </a:pPr>
            <a:r>
              <a:rPr sz="1600" dirty="0">
                <a:latin typeface="Calibri"/>
                <a:cs typeface="Calibri"/>
              </a:rPr>
              <a:t>лишней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памяти;</a:t>
            </a:r>
            <a:endParaRPr sz="1600">
              <a:latin typeface="Calibri"/>
              <a:cs typeface="Calibri"/>
            </a:endParaRPr>
          </a:p>
          <a:p>
            <a:pPr marL="469900" marR="470534" indent="-304165">
              <a:lnSpc>
                <a:spcPct val="114999"/>
              </a:lnSpc>
              <a:buChar char="-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Размер</a:t>
            </a:r>
            <a:r>
              <a:rPr sz="1600" spc="1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словаря</a:t>
            </a:r>
            <a:r>
              <a:rPr sz="1600" spc="1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ограничен.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Слова,</a:t>
            </a:r>
            <a:r>
              <a:rPr sz="1600" spc="1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не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попавшие</a:t>
            </a:r>
            <a:r>
              <a:rPr sz="1600" spc="14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в </a:t>
            </a:r>
            <a:r>
              <a:rPr sz="1600" dirty="0">
                <a:latin typeface="Calibri"/>
                <a:cs typeface="Calibri"/>
              </a:rPr>
              <a:t>словарь,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не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могут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быть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обработаны;</a:t>
            </a:r>
            <a:endParaRPr sz="1600">
              <a:latin typeface="Calibri"/>
              <a:cs typeface="Calibri"/>
            </a:endParaRPr>
          </a:p>
          <a:p>
            <a:pPr marL="469900" marR="5080" indent="-304165">
              <a:lnSpc>
                <a:spcPct val="114999"/>
              </a:lnSpc>
              <a:buChar char="-"/>
              <a:tabLst>
                <a:tab pos="469900" algn="l"/>
              </a:tabLst>
            </a:pPr>
            <a:r>
              <a:rPr sz="1600" spc="80" dirty="0">
                <a:latin typeface="Calibri"/>
                <a:cs typeface="Calibri"/>
              </a:rPr>
              <a:t>При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изменении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размера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словаря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нужно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пересчитывать </a:t>
            </a:r>
            <a:r>
              <a:rPr sz="1600" dirty="0">
                <a:latin typeface="Calibri"/>
                <a:cs typeface="Calibri"/>
              </a:rPr>
              <a:t>векторы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заново;</a:t>
            </a:r>
            <a:endParaRPr sz="1600">
              <a:latin typeface="Calibri"/>
              <a:cs typeface="Calibri"/>
            </a:endParaRPr>
          </a:p>
          <a:p>
            <a:pPr marL="469265" indent="-303530">
              <a:lnSpc>
                <a:spcPct val="100000"/>
              </a:lnSpc>
              <a:spcBef>
                <a:spcPts val="290"/>
              </a:spcBef>
              <a:buChar char="-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Векторы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редких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не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очень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информативны.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/>
              <a:t>Контекстные</a:t>
            </a:r>
            <a:r>
              <a:rPr sz="2700" spc="190" dirty="0"/>
              <a:t> </a:t>
            </a:r>
            <a:r>
              <a:rPr sz="2700" dirty="0"/>
              <a:t>векторы</a:t>
            </a:r>
            <a:r>
              <a:rPr sz="2700" spc="195" dirty="0"/>
              <a:t> </a:t>
            </a:r>
            <a:r>
              <a:rPr sz="2700" spc="-20" dirty="0"/>
              <a:t>слов</a:t>
            </a:r>
            <a:endParaRPr sz="2700"/>
          </a:p>
        </p:txBody>
      </p:sp>
      <p:grpSp>
        <p:nvGrpSpPr>
          <p:cNvPr id="3" name="object 3"/>
          <p:cNvGrpSpPr/>
          <p:nvPr/>
        </p:nvGrpSpPr>
        <p:grpSpPr>
          <a:xfrm>
            <a:off x="426087" y="1338612"/>
            <a:ext cx="3042920" cy="2260600"/>
            <a:chOff x="426087" y="1338612"/>
            <a:chExt cx="3042920" cy="2260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6087" y="1338612"/>
              <a:ext cx="2333513" cy="178445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802375" y="2404239"/>
              <a:ext cx="391795" cy="1190625"/>
            </a:xfrm>
            <a:custGeom>
              <a:avLst/>
              <a:gdLst/>
              <a:ahLst/>
              <a:cxnLst/>
              <a:rect l="l" t="t" r="r" b="b"/>
              <a:pathLst>
                <a:path w="391794" h="1190625">
                  <a:moveTo>
                    <a:pt x="0" y="1190109"/>
                  </a:moveTo>
                  <a:lnTo>
                    <a:pt x="39134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178777" y="2363177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29891" y="45976"/>
                  </a:moveTo>
                  <a:lnTo>
                    <a:pt x="0" y="36147"/>
                  </a:lnTo>
                  <a:lnTo>
                    <a:pt x="28448" y="0"/>
                  </a:lnTo>
                  <a:lnTo>
                    <a:pt x="29891" y="4597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178777" y="2363177"/>
              <a:ext cx="30480" cy="46355"/>
            </a:xfrm>
            <a:custGeom>
              <a:avLst/>
              <a:gdLst/>
              <a:ahLst/>
              <a:cxnLst/>
              <a:rect l="l" t="t" r="r" b="b"/>
              <a:pathLst>
                <a:path w="30480" h="46355">
                  <a:moveTo>
                    <a:pt x="29891" y="45976"/>
                  </a:moveTo>
                  <a:lnTo>
                    <a:pt x="28448" y="0"/>
                  </a:lnTo>
                  <a:lnTo>
                    <a:pt x="0" y="36147"/>
                  </a:lnTo>
                  <a:lnTo>
                    <a:pt x="29891" y="4597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19800" y="1932074"/>
              <a:ext cx="544195" cy="269875"/>
            </a:xfrm>
            <a:custGeom>
              <a:avLst/>
              <a:gdLst/>
              <a:ahLst/>
              <a:cxnLst/>
              <a:rect l="l" t="t" r="r" b="b"/>
              <a:pathLst>
                <a:path w="544195" h="269875">
                  <a:moveTo>
                    <a:pt x="409349" y="269699"/>
                  </a:moveTo>
                  <a:lnTo>
                    <a:pt x="409349" y="202274"/>
                  </a:lnTo>
                  <a:lnTo>
                    <a:pt x="0" y="202274"/>
                  </a:lnTo>
                  <a:lnTo>
                    <a:pt x="0" y="67424"/>
                  </a:lnTo>
                  <a:lnTo>
                    <a:pt x="409349" y="67424"/>
                  </a:lnTo>
                  <a:lnTo>
                    <a:pt x="409349" y="0"/>
                  </a:lnTo>
                  <a:lnTo>
                    <a:pt x="544199" y="134849"/>
                  </a:lnTo>
                  <a:lnTo>
                    <a:pt x="409349" y="269699"/>
                  </a:lnTo>
                  <a:close/>
                </a:path>
              </a:pathLst>
            </a:custGeom>
            <a:solidFill>
              <a:srgbClr val="EEEE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19800" y="1932074"/>
              <a:ext cx="544195" cy="269875"/>
            </a:xfrm>
            <a:custGeom>
              <a:avLst/>
              <a:gdLst/>
              <a:ahLst/>
              <a:cxnLst/>
              <a:rect l="l" t="t" r="r" b="b"/>
              <a:pathLst>
                <a:path w="544195" h="269875">
                  <a:moveTo>
                    <a:pt x="0" y="67424"/>
                  </a:moveTo>
                  <a:lnTo>
                    <a:pt x="409349" y="67424"/>
                  </a:lnTo>
                  <a:lnTo>
                    <a:pt x="409349" y="0"/>
                  </a:lnTo>
                  <a:lnTo>
                    <a:pt x="544199" y="134849"/>
                  </a:lnTo>
                  <a:lnTo>
                    <a:pt x="409349" y="269699"/>
                  </a:lnTo>
                  <a:lnTo>
                    <a:pt x="409349" y="202274"/>
                  </a:lnTo>
                  <a:lnTo>
                    <a:pt x="0" y="202274"/>
                  </a:lnTo>
                  <a:lnTo>
                    <a:pt x="0" y="674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91350" y="1316827"/>
            <a:ext cx="2361395" cy="1782606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687425" y="3739453"/>
            <a:ext cx="25603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метод</a:t>
            </a:r>
            <a:r>
              <a:rPr sz="1200" spc="85" dirty="0">
                <a:latin typeface="Verdana"/>
                <a:cs typeface="Verdana"/>
              </a:rPr>
              <a:t> </a:t>
            </a:r>
            <a:r>
              <a:rPr sz="1200" dirty="0">
                <a:latin typeface="Verdana"/>
                <a:cs typeface="Verdana"/>
              </a:rPr>
              <a:t>понижения</a:t>
            </a:r>
            <a:r>
              <a:rPr sz="1200" spc="90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размерности </a:t>
            </a:r>
            <a:r>
              <a:rPr sz="1200" spc="-40" dirty="0">
                <a:latin typeface="Verdana"/>
                <a:cs typeface="Verdana"/>
              </a:rPr>
              <a:t>(PCA,</a:t>
            </a:r>
            <a:r>
              <a:rPr sz="1200" spc="-70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TSNE)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50" dirty="0"/>
              <a:t>Сингулярное</a:t>
            </a:r>
            <a:r>
              <a:rPr sz="2700" spc="170" dirty="0"/>
              <a:t> </a:t>
            </a:r>
            <a:r>
              <a:rPr sz="2700" spc="-10" dirty="0"/>
              <a:t>разложение</a:t>
            </a:r>
            <a:endParaRPr sz="2700"/>
          </a:p>
        </p:txBody>
      </p:sp>
      <p:grpSp>
        <p:nvGrpSpPr>
          <p:cNvPr id="3" name="object 3"/>
          <p:cNvGrpSpPr/>
          <p:nvPr/>
        </p:nvGrpSpPr>
        <p:grpSpPr>
          <a:xfrm>
            <a:off x="2780137" y="1408864"/>
            <a:ext cx="2155190" cy="1311910"/>
            <a:chOff x="2780137" y="1408864"/>
            <a:chExt cx="2155190" cy="1311910"/>
          </a:xfrm>
        </p:grpSpPr>
        <p:sp>
          <p:nvSpPr>
            <p:cNvPr id="4" name="object 4"/>
            <p:cNvSpPr/>
            <p:nvPr/>
          </p:nvSpPr>
          <p:spPr>
            <a:xfrm>
              <a:off x="3542004" y="1704187"/>
              <a:ext cx="1378585" cy="881380"/>
            </a:xfrm>
            <a:custGeom>
              <a:avLst/>
              <a:gdLst/>
              <a:ahLst/>
              <a:cxnLst/>
              <a:rect l="l" t="t" r="r" b="b"/>
              <a:pathLst>
                <a:path w="1378585" h="881380">
                  <a:moveTo>
                    <a:pt x="678840" y="0"/>
                  </a:moveTo>
                  <a:lnTo>
                    <a:pt x="0" y="0"/>
                  </a:lnTo>
                  <a:lnTo>
                    <a:pt x="0" y="880935"/>
                  </a:lnTo>
                  <a:lnTo>
                    <a:pt x="678840" y="880935"/>
                  </a:lnTo>
                  <a:lnTo>
                    <a:pt x="678840" y="0"/>
                  </a:lnTo>
                  <a:close/>
                </a:path>
                <a:path w="1378585" h="881380">
                  <a:moveTo>
                    <a:pt x="1378508" y="0"/>
                  </a:moveTo>
                  <a:lnTo>
                    <a:pt x="754138" y="0"/>
                  </a:lnTo>
                  <a:lnTo>
                    <a:pt x="754138" y="880935"/>
                  </a:lnTo>
                  <a:lnTo>
                    <a:pt x="1378508" y="880935"/>
                  </a:lnTo>
                  <a:lnTo>
                    <a:pt x="1378508" y="0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42015" y="1625720"/>
              <a:ext cx="1378585" cy="959485"/>
            </a:xfrm>
            <a:custGeom>
              <a:avLst/>
              <a:gdLst/>
              <a:ahLst/>
              <a:cxnLst/>
              <a:rect l="l" t="t" r="r" b="b"/>
              <a:pathLst>
                <a:path w="1378585" h="959485">
                  <a:moveTo>
                    <a:pt x="0" y="0"/>
                  </a:moveTo>
                  <a:lnTo>
                    <a:pt x="1378499" y="0"/>
                  </a:lnTo>
                  <a:lnTo>
                    <a:pt x="1378499" y="959399"/>
                  </a:lnTo>
                  <a:lnTo>
                    <a:pt x="0" y="95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41997" y="1625277"/>
              <a:ext cx="1378585" cy="79375"/>
            </a:xfrm>
            <a:custGeom>
              <a:avLst/>
              <a:gdLst/>
              <a:ahLst/>
              <a:cxnLst/>
              <a:rect l="l" t="t" r="r" b="b"/>
              <a:pathLst>
                <a:path w="1378585" h="79375">
                  <a:moveTo>
                    <a:pt x="1378499" y="78899"/>
                  </a:moveTo>
                  <a:lnTo>
                    <a:pt x="0" y="78899"/>
                  </a:lnTo>
                  <a:lnTo>
                    <a:pt x="0" y="0"/>
                  </a:lnTo>
                  <a:lnTo>
                    <a:pt x="1378499" y="0"/>
                  </a:lnTo>
                  <a:lnTo>
                    <a:pt x="1378499" y="78899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41997" y="1625277"/>
              <a:ext cx="1378585" cy="79375"/>
            </a:xfrm>
            <a:custGeom>
              <a:avLst/>
              <a:gdLst/>
              <a:ahLst/>
              <a:cxnLst/>
              <a:rect l="l" t="t" r="r" b="b"/>
              <a:pathLst>
                <a:path w="1378585" h="79375">
                  <a:moveTo>
                    <a:pt x="0" y="0"/>
                  </a:moveTo>
                  <a:lnTo>
                    <a:pt x="1378499" y="0"/>
                  </a:lnTo>
                  <a:lnTo>
                    <a:pt x="1378499" y="78899"/>
                  </a:lnTo>
                  <a:lnTo>
                    <a:pt x="0" y="78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E0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20849" y="1619153"/>
              <a:ext cx="75565" cy="972185"/>
            </a:xfrm>
            <a:custGeom>
              <a:avLst/>
              <a:gdLst/>
              <a:ahLst/>
              <a:cxnLst/>
              <a:rect l="l" t="t" r="r" b="b"/>
              <a:pathLst>
                <a:path w="75564" h="972185">
                  <a:moveTo>
                    <a:pt x="75299" y="972000"/>
                  </a:moveTo>
                  <a:lnTo>
                    <a:pt x="0" y="972000"/>
                  </a:lnTo>
                  <a:lnTo>
                    <a:pt x="0" y="0"/>
                  </a:lnTo>
                  <a:lnTo>
                    <a:pt x="75299" y="0"/>
                  </a:lnTo>
                  <a:lnTo>
                    <a:pt x="75299" y="972000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20849" y="1619153"/>
              <a:ext cx="75565" cy="972185"/>
            </a:xfrm>
            <a:custGeom>
              <a:avLst/>
              <a:gdLst/>
              <a:ahLst/>
              <a:cxnLst/>
              <a:rect l="l" t="t" r="r" b="b"/>
              <a:pathLst>
                <a:path w="75564" h="972185">
                  <a:moveTo>
                    <a:pt x="0" y="972000"/>
                  </a:moveTo>
                  <a:lnTo>
                    <a:pt x="0" y="0"/>
                  </a:lnTo>
                  <a:lnTo>
                    <a:pt x="75299" y="0"/>
                  </a:lnTo>
                  <a:lnTo>
                    <a:pt x="75299" y="972000"/>
                  </a:lnTo>
                  <a:lnTo>
                    <a:pt x="0" y="972000"/>
                  </a:lnTo>
                  <a:close/>
                </a:path>
              </a:pathLst>
            </a:custGeom>
            <a:ln w="28574">
              <a:solidFill>
                <a:srgbClr val="E0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76296" y="1413627"/>
              <a:ext cx="318770" cy="219075"/>
            </a:xfrm>
            <a:custGeom>
              <a:avLst/>
              <a:gdLst/>
              <a:ahLst/>
              <a:cxnLst/>
              <a:rect l="l" t="t" r="r" b="b"/>
              <a:pathLst>
                <a:path w="318770" h="219075">
                  <a:moveTo>
                    <a:pt x="0" y="0"/>
                  </a:moveTo>
                  <a:lnTo>
                    <a:pt x="318586" y="21875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85978" y="1619408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44538" y="37436"/>
                  </a:moveTo>
                  <a:lnTo>
                    <a:pt x="0" y="25939"/>
                  </a:lnTo>
                  <a:lnTo>
                    <a:pt x="17810" y="0"/>
                  </a:lnTo>
                  <a:lnTo>
                    <a:pt x="44538" y="3743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85978" y="1619408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0" y="25939"/>
                  </a:moveTo>
                  <a:lnTo>
                    <a:pt x="44538" y="37436"/>
                  </a:lnTo>
                  <a:lnTo>
                    <a:pt x="17810" y="0"/>
                  </a:lnTo>
                  <a:lnTo>
                    <a:pt x="0" y="2593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84899" y="2595964"/>
              <a:ext cx="1416685" cy="120014"/>
            </a:xfrm>
            <a:custGeom>
              <a:avLst/>
              <a:gdLst/>
              <a:ahLst/>
              <a:cxnLst/>
              <a:rect l="l" t="t" r="r" b="b"/>
              <a:pathLst>
                <a:path w="1416685" h="120014">
                  <a:moveTo>
                    <a:pt x="0" y="119688"/>
                  </a:moveTo>
                  <a:lnTo>
                    <a:pt x="1416652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00228" y="2580287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2648" y="31353"/>
                  </a:moveTo>
                  <a:lnTo>
                    <a:pt x="0" y="0"/>
                  </a:lnTo>
                  <a:lnTo>
                    <a:pt x="44396" y="12037"/>
                  </a:lnTo>
                  <a:lnTo>
                    <a:pt x="2648" y="31353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00228" y="2580287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2648" y="31353"/>
                  </a:moveTo>
                  <a:lnTo>
                    <a:pt x="44396" y="12037"/>
                  </a:lnTo>
                  <a:lnTo>
                    <a:pt x="0" y="0"/>
                  </a:lnTo>
                  <a:lnTo>
                    <a:pt x="2648" y="3135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276411" y="1208166"/>
            <a:ext cx="491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Verdana"/>
                <a:cs typeface="Verdana"/>
              </a:rPr>
              <a:t>слово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76412" y="2474778"/>
            <a:ext cx="491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Verdana"/>
                <a:cs typeface="Verdana"/>
              </a:rPr>
              <a:t>слово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4890" y="3881663"/>
            <a:ext cx="2209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60" dirty="0">
                <a:latin typeface="Tahoma"/>
                <a:cs typeface="Tahoma"/>
              </a:rPr>
              <a:t>≈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84631" y="3224526"/>
            <a:ext cx="1068705" cy="1274445"/>
            <a:chOff x="784631" y="3224526"/>
            <a:chExt cx="1068705" cy="1274445"/>
          </a:xfrm>
        </p:grpSpPr>
        <p:sp>
          <p:nvSpPr>
            <p:cNvPr id="20" name="object 20"/>
            <p:cNvSpPr/>
            <p:nvPr/>
          </p:nvSpPr>
          <p:spPr>
            <a:xfrm>
              <a:off x="798918" y="3526612"/>
              <a:ext cx="1040130" cy="967740"/>
            </a:xfrm>
            <a:custGeom>
              <a:avLst/>
              <a:gdLst/>
              <a:ahLst/>
              <a:cxnLst/>
              <a:rect l="l" t="t" r="r" b="b"/>
              <a:pathLst>
                <a:path w="1040130" h="967739">
                  <a:moveTo>
                    <a:pt x="1040091" y="84861"/>
                  </a:moveTo>
                  <a:lnTo>
                    <a:pt x="0" y="84861"/>
                  </a:lnTo>
                  <a:lnTo>
                    <a:pt x="0" y="967511"/>
                  </a:lnTo>
                  <a:lnTo>
                    <a:pt x="1040091" y="967511"/>
                  </a:lnTo>
                  <a:lnTo>
                    <a:pt x="1040091" y="84861"/>
                  </a:lnTo>
                  <a:close/>
                </a:path>
                <a:path w="1040130" h="967739">
                  <a:moveTo>
                    <a:pt x="1040091" y="0"/>
                  </a:moveTo>
                  <a:lnTo>
                    <a:pt x="0" y="0"/>
                  </a:lnTo>
                  <a:lnTo>
                    <a:pt x="0" y="5956"/>
                  </a:lnTo>
                  <a:lnTo>
                    <a:pt x="1040091" y="5956"/>
                  </a:lnTo>
                  <a:lnTo>
                    <a:pt x="1040091" y="0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98921" y="3526611"/>
              <a:ext cx="1040130" cy="967740"/>
            </a:xfrm>
            <a:custGeom>
              <a:avLst/>
              <a:gdLst/>
              <a:ahLst/>
              <a:cxnLst/>
              <a:rect l="l" t="t" r="r" b="b"/>
              <a:pathLst>
                <a:path w="1040130" h="967739">
                  <a:moveTo>
                    <a:pt x="0" y="0"/>
                  </a:moveTo>
                  <a:lnTo>
                    <a:pt x="1040100" y="0"/>
                  </a:lnTo>
                  <a:lnTo>
                    <a:pt x="1040100" y="967499"/>
                  </a:lnTo>
                  <a:lnTo>
                    <a:pt x="0" y="967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98919" y="3532562"/>
              <a:ext cx="1040130" cy="79375"/>
            </a:xfrm>
            <a:custGeom>
              <a:avLst/>
              <a:gdLst/>
              <a:ahLst/>
              <a:cxnLst/>
              <a:rect l="l" t="t" r="r" b="b"/>
              <a:pathLst>
                <a:path w="1040130" h="79375">
                  <a:moveTo>
                    <a:pt x="1040099" y="78899"/>
                  </a:moveTo>
                  <a:lnTo>
                    <a:pt x="0" y="78899"/>
                  </a:lnTo>
                  <a:lnTo>
                    <a:pt x="0" y="0"/>
                  </a:lnTo>
                  <a:lnTo>
                    <a:pt x="1040099" y="0"/>
                  </a:lnTo>
                  <a:lnTo>
                    <a:pt x="1040099" y="78899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98919" y="3532562"/>
              <a:ext cx="1040130" cy="79375"/>
            </a:xfrm>
            <a:custGeom>
              <a:avLst/>
              <a:gdLst/>
              <a:ahLst/>
              <a:cxnLst/>
              <a:rect l="l" t="t" r="r" b="b"/>
              <a:pathLst>
                <a:path w="1040130" h="79375">
                  <a:moveTo>
                    <a:pt x="0" y="0"/>
                  </a:moveTo>
                  <a:lnTo>
                    <a:pt x="1040099" y="0"/>
                  </a:lnTo>
                  <a:lnTo>
                    <a:pt x="1040099" y="78899"/>
                  </a:lnTo>
                  <a:lnTo>
                    <a:pt x="0" y="78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E0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78685" y="3229289"/>
              <a:ext cx="533400" cy="230504"/>
            </a:xfrm>
            <a:custGeom>
              <a:avLst/>
              <a:gdLst/>
              <a:ahLst/>
              <a:cxnLst/>
              <a:rect l="l" t="t" r="r" b="b"/>
              <a:pathLst>
                <a:path w="533400" h="230504">
                  <a:moveTo>
                    <a:pt x="533133" y="0"/>
                  </a:moveTo>
                  <a:lnTo>
                    <a:pt x="0" y="23024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39002" y="3445087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5" h="31750">
                  <a:moveTo>
                    <a:pt x="0" y="31581"/>
                  </a:moveTo>
                  <a:lnTo>
                    <a:pt x="33445" y="0"/>
                  </a:lnTo>
                  <a:lnTo>
                    <a:pt x="45920" y="28886"/>
                  </a:lnTo>
                  <a:lnTo>
                    <a:pt x="0" y="3158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39002" y="3445087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5" h="31750">
                  <a:moveTo>
                    <a:pt x="33445" y="0"/>
                  </a:moveTo>
                  <a:lnTo>
                    <a:pt x="0" y="31581"/>
                  </a:lnTo>
                  <a:lnTo>
                    <a:pt x="45920" y="28886"/>
                  </a:lnTo>
                  <a:lnTo>
                    <a:pt x="33445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638790" y="3459779"/>
            <a:ext cx="13779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15" dirty="0">
                <a:latin typeface="Verdana"/>
                <a:cs typeface="Verdana"/>
              </a:rPr>
              <a:t>d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25049" y="3775004"/>
            <a:ext cx="37655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25" dirty="0">
                <a:latin typeface="Verdana"/>
                <a:cs typeface="Verdana"/>
              </a:rPr>
              <a:t>SVD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682124" y="3071941"/>
            <a:ext cx="10674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34343"/>
                </a:solidFill>
                <a:latin typeface="Verdana"/>
                <a:cs typeface="Verdana"/>
              </a:rPr>
              <a:t>вектор</a:t>
            </a:r>
            <a:r>
              <a:rPr sz="1200" spc="-70" dirty="0">
                <a:solidFill>
                  <a:srgbClr val="434343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34343"/>
                </a:solidFill>
                <a:latin typeface="Verdana"/>
                <a:cs typeface="Verdana"/>
              </a:rPr>
              <a:t>слова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23246" y="4694032"/>
            <a:ext cx="5473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70" dirty="0">
                <a:latin typeface="Verdana"/>
                <a:cs typeface="Verdana"/>
              </a:rPr>
              <a:t>U</a:t>
            </a:r>
            <a:r>
              <a:rPr sz="1200" spc="-110" dirty="0">
                <a:latin typeface="Verdana"/>
                <a:cs typeface="Verdana"/>
              </a:rPr>
              <a:t> </a:t>
            </a:r>
            <a:r>
              <a:rPr sz="1200" spc="-75" dirty="0">
                <a:latin typeface="Verdana"/>
                <a:cs typeface="Verdana"/>
              </a:rPr>
              <a:t>(kxk)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021654" y="3881954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MS PGothic"/>
                <a:cs typeface="MS PGothic"/>
              </a:rPr>
              <a:t>✕</a:t>
            </a:r>
            <a:endParaRPr sz="1400">
              <a:latin typeface="MS PGothic"/>
              <a:cs typeface="MS P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464101" y="2857449"/>
            <a:ext cx="1212850" cy="51943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200" dirty="0">
                <a:solidFill>
                  <a:srgbClr val="434343"/>
                </a:solidFill>
                <a:latin typeface="Verdana"/>
                <a:cs typeface="Verdana"/>
              </a:rPr>
              <a:t>вектор</a:t>
            </a:r>
            <a:r>
              <a:rPr sz="1200" spc="-70" dirty="0">
                <a:solidFill>
                  <a:srgbClr val="434343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34343"/>
                </a:solidFill>
                <a:latin typeface="Verdana"/>
                <a:cs typeface="Verdana"/>
              </a:rPr>
              <a:t>слова</a:t>
            </a:r>
            <a:endParaRPr sz="1200">
              <a:latin typeface="Verdana"/>
              <a:cs typeface="Verdana"/>
            </a:endParaRPr>
          </a:p>
          <a:p>
            <a:pPr marL="1043305">
              <a:lnSpc>
                <a:spcPct val="100000"/>
              </a:lnSpc>
              <a:spcBef>
                <a:spcPts val="409"/>
              </a:spcBef>
            </a:pPr>
            <a:r>
              <a:rPr sz="1400" spc="30" dirty="0">
                <a:latin typeface="Verdana"/>
                <a:cs typeface="Verdana"/>
              </a:rPr>
              <a:t>w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506100" y="4566529"/>
            <a:ext cx="1558925" cy="361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1475">
              <a:lnSpc>
                <a:spcPct val="100000"/>
              </a:lnSpc>
              <a:spcBef>
                <a:spcPts val="100"/>
              </a:spcBef>
            </a:pPr>
            <a:r>
              <a:rPr sz="1200" spc="-100" dirty="0">
                <a:latin typeface="Verdana"/>
                <a:cs typeface="Verdana"/>
              </a:rPr>
              <a:t>S</a:t>
            </a:r>
            <a:r>
              <a:rPr sz="1200" spc="-10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(kxn)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dirty="0">
                <a:latin typeface="Verdana"/>
                <a:cs typeface="Verdana"/>
              </a:rPr>
              <a:t>диагональная</a:t>
            </a:r>
            <a:r>
              <a:rPr sz="1000" spc="-20" dirty="0">
                <a:latin typeface="Verdana"/>
                <a:cs typeface="Verdana"/>
              </a:rPr>
              <a:t> </a:t>
            </a:r>
            <a:r>
              <a:rPr sz="1000" spc="-10" dirty="0">
                <a:latin typeface="Verdana"/>
                <a:cs typeface="Verdana"/>
              </a:rPr>
              <a:t>матрица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710683" y="4694042"/>
            <a:ext cx="628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Verdana"/>
                <a:cs typeface="Verdana"/>
              </a:rPr>
              <a:t>V</a:t>
            </a:r>
            <a:r>
              <a:rPr sz="1200" spc="-15" baseline="31250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(nxn)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395893" y="3505334"/>
            <a:ext cx="1466215" cy="1007744"/>
            <a:chOff x="2395893" y="3505334"/>
            <a:chExt cx="1466215" cy="1007744"/>
          </a:xfrm>
        </p:grpSpPr>
        <p:sp>
          <p:nvSpPr>
            <p:cNvPr id="36" name="object 36"/>
            <p:cNvSpPr/>
            <p:nvPr/>
          </p:nvSpPr>
          <p:spPr>
            <a:xfrm>
              <a:off x="2433064" y="3530607"/>
              <a:ext cx="1424305" cy="955040"/>
            </a:xfrm>
            <a:custGeom>
              <a:avLst/>
              <a:gdLst/>
              <a:ahLst/>
              <a:cxnLst/>
              <a:rect l="l" t="t" r="r" b="b"/>
              <a:pathLst>
                <a:path w="1424304" h="955039">
                  <a:moveTo>
                    <a:pt x="1424100" y="954899"/>
                  </a:moveTo>
                  <a:lnTo>
                    <a:pt x="0" y="954899"/>
                  </a:lnTo>
                  <a:lnTo>
                    <a:pt x="0" y="0"/>
                  </a:lnTo>
                  <a:lnTo>
                    <a:pt x="1424100" y="0"/>
                  </a:lnTo>
                  <a:lnTo>
                    <a:pt x="1424100" y="9548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433064" y="3530607"/>
              <a:ext cx="1424305" cy="955040"/>
            </a:xfrm>
            <a:custGeom>
              <a:avLst/>
              <a:gdLst/>
              <a:ahLst/>
              <a:cxnLst/>
              <a:rect l="l" t="t" r="r" b="b"/>
              <a:pathLst>
                <a:path w="1424304" h="955039">
                  <a:moveTo>
                    <a:pt x="0" y="0"/>
                  </a:moveTo>
                  <a:lnTo>
                    <a:pt x="1424100" y="0"/>
                  </a:lnTo>
                  <a:lnTo>
                    <a:pt x="1424100" y="954899"/>
                  </a:lnTo>
                  <a:lnTo>
                    <a:pt x="0" y="954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414943" y="3524384"/>
              <a:ext cx="1099820" cy="969644"/>
            </a:xfrm>
            <a:custGeom>
              <a:avLst/>
              <a:gdLst/>
              <a:ahLst/>
              <a:cxnLst/>
              <a:rect l="l" t="t" r="r" b="b"/>
              <a:pathLst>
                <a:path w="1099820" h="969645">
                  <a:moveTo>
                    <a:pt x="0" y="0"/>
                  </a:moveTo>
                  <a:lnTo>
                    <a:pt x="1099500" y="969299"/>
                  </a:lnTo>
                </a:path>
              </a:pathLst>
            </a:custGeom>
            <a:ln w="3809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9" name="object 39"/>
          <p:cNvGraphicFramePr>
            <a:graphicFrameLocks noGrp="1"/>
          </p:cNvGraphicFramePr>
          <p:nvPr/>
        </p:nvGraphicFramePr>
        <p:xfrm>
          <a:off x="4297705" y="3383185"/>
          <a:ext cx="1423035" cy="1165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6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29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652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0" name="object 40"/>
          <p:cNvGrpSpPr/>
          <p:nvPr/>
        </p:nvGrpSpPr>
        <p:grpSpPr>
          <a:xfrm>
            <a:off x="4065598" y="3117894"/>
            <a:ext cx="447040" cy="191770"/>
            <a:chOff x="4065598" y="3117894"/>
            <a:chExt cx="447040" cy="191770"/>
          </a:xfrm>
        </p:grpSpPr>
        <p:sp>
          <p:nvSpPr>
            <p:cNvPr id="41" name="object 41"/>
            <p:cNvSpPr/>
            <p:nvPr/>
          </p:nvSpPr>
          <p:spPr>
            <a:xfrm>
              <a:off x="4070360" y="3122657"/>
              <a:ext cx="398145" cy="165735"/>
            </a:xfrm>
            <a:custGeom>
              <a:avLst/>
              <a:gdLst/>
              <a:ahLst/>
              <a:cxnLst/>
              <a:rect l="l" t="t" r="r" b="b"/>
              <a:pathLst>
                <a:path w="398145" h="165735">
                  <a:moveTo>
                    <a:pt x="0" y="0"/>
                  </a:moveTo>
                  <a:lnTo>
                    <a:pt x="397540" y="16553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461854" y="3273665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4" h="31750">
                  <a:moveTo>
                    <a:pt x="45951" y="31139"/>
                  </a:moveTo>
                  <a:lnTo>
                    <a:pt x="0" y="29047"/>
                  </a:lnTo>
                  <a:lnTo>
                    <a:pt x="12095" y="0"/>
                  </a:lnTo>
                  <a:lnTo>
                    <a:pt x="45951" y="3113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461854" y="3273665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4" h="31750">
                  <a:moveTo>
                    <a:pt x="0" y="29047"/>
                  </a:moveTo>
                  <a:lnTo>
                    <a:pt x="45951" y="31139"/>
                  </a:lnTo>
                  <a:lnTo>
                    <a:pt x="12095" y="0"/>
                  </a:lnTo>
                  <a:lnTo>
                    <a:pt x="0" y="2904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254900" y="1604212"/>
            <a:ext cx="14389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Матрица</a:t>
            </a:r>
            <a:r>
              <a:rPr sz="1400" spc="18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слова- </a:t>
            </a:r>
            <a:r>
              <a:rPr sz="1400" dirty="0">
                <a:latin typeface="Calibri"/>
                <a:cs typeface="Calibri"/>
              </a:rPr>
              <a:t>слова</a:t>
            </a:r>
            <a:r>
              <a:rPr sz="1400" spc="-10" dirty="0">
                <a:latin typeface="Calibri"/>
                <a:cs typeface="Calibri"/>
              </a:rPr>
              <a:t> размера </a:t>
            </a:r>
            <a:r>
              <a:rPr sz="1400" spc="-25" dirty="0">
                <a:latin typeface="Calibri"/>
                <a:cs typeface="Calibri"/>
              </a:rPr>
              <a:t>n</a:t>
            </a:r>
            <a:r>
              <a:rPr sz="1100" spc="-25" dirty="0">
                <a:latin typeface="Calibri"/>
                <a:cs typeface="Calibri"/>
              </a:rPr>
              <a:t>x</a:t>
            </a:r>
            <a:r>
              <a:rPr sz="1400" spc="-25" dirty="0">
                <a:latin typeface="Calibri"/>
                <a:cs typeface="Calibri"/>
              </a:rPr>
              <a:t>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160240" y="1871150"/>
            <a:ext cx="2209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60" dirty="0">
                <a:latin typeface="Tahoma"/>
                <a:cs typeface="Tahoma"/>
              </a:rPr>
              <a:t>≈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974504" y="3907554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MS PGothic"/>
                <a:cs typeface="MS PGothic"/>
              </a:rPr>
              <a:t>✕</a:t>
            </a:r>
            <a:endParaRPr sz="1400">
              <a:latin typeface="MS PGothic"/>
              <a:cs typeface="MS PGothic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95" dirty="0"/>
              <a:t>Латентный</a:t>
            </a:r>
            <a:r>
              <a:rPr sz="2700" spc="155" dirty="0"/>
              <a:t> </a:t>
            </a:r>
            <a:r>
              <a:rPr sz="2700" dirty="0"/>
              <a:t>семантический</a:t>
            </a:r>
            <a:r>
              <a:rPr sz="2700" spc="155" dirty="0"/>
              <a:t> </a:t>
            </a:r>
            <a:r>
              <a:rPr sz="2700" spc="-10" dirty="0"/>
              <a:t>анализ</a:t>
            </a:r>
            <a:endParaRPr sz="2700"/>
          </a:p>
        </p:txBody>
      </p:sp>
      <p:grpSp>
        <p:nvGrpSpPr>
          <p:cNvPr id="3" name="object 3"/>
          <p:cNvGrpSpPr/>
          <p:nvPr/>
        </p:nvGrpSpPr>
        <p:grpSpPr>
          <a:xfrm>
            <a:off x="2780137" y="1408864"/>
            <a:ext cx="2155190" cy="1311910"/>
            <a:chOff x="2780137" y="1408864"/>
            <a:chExt cx="2155190" cy="1311910"/>
          </a:xfrm>
        </p:grpSpPr>
        <p:sp>
          <p:nvSpPr>
            <p:cNvPr id="4" name="object 4"/>
            <p:cNvSpPr/>
            <p:nvPr/>
          </p:nvSpPr>
          <p:spPr>
            <a:xfrm>
              <a:off x="3542004" y="1704187"/>
              <a:ext cx="1378585" cy="881380"/>
            </a:xfrm>
            <a:custGeom>
              <a:avLst/>
              <a:gdLst/>
              <a:ahLst/>
              <a:cxnLst/>
              <a:rect l="l" t="t" r="r" b="b"/>
              <a:pathLst>
                <a:path w="1378585" h="881380">
                  <a:moveTo>
                    <a:pt x="678840" y="0"/>
                  </a:moveTo>
                  <a:lnTo>
                    <a:pt x="0" y="0"/>
                  </a:lnTo>
                  <a:lnTo>
                    <a:pt x="0" y="880935"/>
                  </a:lnTo>
                  <a:lnTo>
                    <a:pt x="678840" y="880935"/>
                  </a:lnTo>
                  <a:lnTo>
                    <a:pt x="678840" y="0"/>
                  </a:lnTo>
                  <a:close/>
                </a:path>
                <a:path w="1378585" h="881380">
                  <a:moveTo>
                    <a:pt x="1378508" y="0"/>
                  </a:moveTo>
                  <a:lnTo>
                    <a:pt x="754138" y="0"/>
                  </a:lnTo>
                  <a:lnTo>
                    <a:pt x="754138" y="880935"/>
                  </a:lnTo>
                  <a:lnTo>
                    <a:pt x="1378508" y="880935"/>
                  </a:lnTo>
                  <a:lnTo>
                    <a:pt x="1378508" y="0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542015" y="1625720"/>
              <a:ext cx="1378585" cy="959485"/>
            </a:xfrm>
            <a:custGeom>
              <a:avLst/>
              <a:gdLst/>
              <a:ahLst/>
              <a:cxnLst/>
              <a:rect l="l" t="t" r="r" b="b"/>
              <a:pathLst>
                <a:path w="1378585" h="959485">
                  <a:moveTo>
                    <a:pt x="0" y="0"/>
                  </a:moveTo>
                  <a:lnTo>
                    <a:pt x="1378499" y="0"/>
                  </a:lnTo>
                  <a:lnTo>
                    <a:pt x="1378499" y="959399"/>
                  </a:lnTo>
                  <a:lnTo>
                    <a:pt x="0" y="959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41997" y="1625277"/>
              <a:ext cx="1378585" cy="79375"/>
            </a:xfrm>
            <a:custGeom>
              <a:avLst/>
              <a:gdLst/>
              <a:ahLst/>
              <a:cxnLst/>
              <a:rect l="l" t="t" r="r" b="b"/>
              <a:pathLst>
                <a:path w="1378585" h="79375">
                  <a:moveTo>
                    <a:pt x="1378499" y="78899"/>
                  </a:moveTo>
                  <a:lnTo>
                    <a:pt x="0" y="78899"/>
                  </a:lnTo>
                  <a:lnTo>
                    <a:pt x="0" y="0"/>
                  </a:lnTo>
                  <a:lnTo>
                    <a:pt x="1378499" y="0"/>
                  </a:lnTo>
                  <a:lnTo>
                    <a:pt x="1378499" y="78899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41997" y="1625277"/>
              <a:ext cx="1378585" cy="79375"/>
            </a:xfrm>
            <a:custGeom>
              <a:avLst/>
              <a:gdLst/>
              <a:ahLst/>
              <a:cxnLst/>
              <a:rect l="l" t="t" r="r" b="b"/>
              <a:pathLst>
                <a:path w="1378585" h="79375">
                  <a:moveTo>
                    <a:pt x="0" y="0"/>
                  </a:moveTo>
                  <a:lnTo>
                    <a:pt x="1378499" y="0"/>
                  </a:lnTo>
                  <a:lnTo>
                    <a:pt x="1378499" y="78899"/>
                  </a:lnTo>
                  <a:lnTo>
                    <a:pt x="0" y="78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E0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20849" y="1619153"/>
              <a:ext cx="75565" cy="972185"/>
            </a:xfrm>
            <a:custGeom>
              <a:avLst/>
              <a:gdLst/>
              <a:ahLst/>
              <a:cxnLst/>
              <a:rect l="l" t="t" r="r" b="b"/>
              <a:pathLst>
                <a:path w="75564" h="972185">
                  <a:moveTo>
                    <a:pt x="75299" y="972000"/>
                  </a:moveTo>
                  <a:lnTo>
                    <a:pt x="0" y="972000"/>
                  </a:lnTo>
                  <a:lnTo>
                    <a:pt x="0" y="0"/>
                  </a:lnTo>
                  <a:lnTo>
                    <a:pt x="75299" y="0"/>
                  </a:lnTo>
                  <a:lnTo>
                    <a:pt x="75299" y="972000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20849" y="1619153"/>
              <a:ext cx="75565" cy="972185"/>
            </a:xfrm>
            <a:custGeom>
              <a:avLst/>
              <a:gdLst/>
              <a:ahLst/>
              <a:cxnLst/>
              <a:rect l="l" t="t" r="r" b="b"/>
              <a:pathLst>
                <a:path w="75564" h="972185">
                  <a:moveTo>
                    <a:pt x="0" y="972000"/>
                  </a:moveTo>
                  <a:lnTo>
                    <a:pt x="0" y="0"/>
                  </a:lnTo>
                  <a:lnTo>
                    <a:pt x="75299" y="0"/>
                  </a:lnTo>
                  <a:lnTo>
                    <a:pt x="75299" y="972000"/>
                  </a:lnTo>
                  <a:lnTo>
                    <a:pt x="0" y="972000"/>
                  </a:lnTo>
                  <a:close/>
                </a:path>
              </a:pathLst>
            </a:custGeom>
            <a:ln w="28574">
              <a:solidFill>
                <a:srgbClr val="E0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176296" y="1413627"/>
              <a:ext cx="318770" cy="219075"/>
            </a:xfrm>
            <a:custGeom>
              <a:avLst/>
              <a:gdLst/>
              <a:ahLst/>
              <a:cxnLst/>
              <a:rect l="l" t="t" r="r" b="b"/>
              <a:pathLst>
                <a:path w="318770" h="219075">
                  <a:moveTo>
                    <a:pt x="0" y="0"/>
                  </a:moveTo>
                  <a:lnTo>
                    <a:pt x="318586" y="21875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485978" y="1619408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44538" y="37436"/>
                  </a:moveTo>
                  <a:lnTo>
                    <a:pt x="0" y="25939"/>
                  </a:lnTo>
                  <a:lnTo>
                    <a:pt x="17810" y="0"/>
                  </a:lnTo>
                  <a:lnTo>
                    <a:pt x="44538" y="3743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485978" y="1619408"/>
              <a:ext cx="45085" cy="37465"/>
            </a:xfrm>
            <a:custGeom>
              <a:avLst/>
              <a:gdLst/>
              <a:ahLst/>
              <a:cxnLst/>
              <a:rect l="l" t="t" r="r" b="b"/>
              <a:pathLst>
                <a:path w="45085" h="37464">
                  <a:moveTo>
                    <a:pt x="0" y="25939"/>
                  </a:moveTo>
                  <a:lnTo>
                    <a:pt x="44538" y="37436"/>
                  </a:lnTo>
                  <a:lnTo>
                    <a:pt x="17810" y="0"/>
                  </a:lnTo>
                  <a:lnTo>
                    <a:pt x="0" y="2593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84899" y="2595964"/>
              <a:ext cx="1416685" cy="120014"/>
            </a:xfrm>
            <a:custGeom>
              <a:avLst/>
              <a:gdLst/>
              <a:ahLst/>
              <a:cxnLst/>
              <a:rect l="l" t="t" r="r" b="b"/>
              <a:pathLst>
                <a:path w="1416685" h="120014">
                  <a:moveTo>
                    <a:pt x="0" y="119688"/>
                  </a:moveTo>
                  <a:lnTo>
                    <a:pt x="1416652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200228" y="2580287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2648" y="31353"/>
                  </a:moveTo>
                  <a:lnTo>
                    <a:pt x="0" y="0"/>
                  </a:lnTo>
                  <a:lnTo>
                    <a:pt x="44396" y="12037"/>
                  </a:lnTo>
                  <a:lnTo>
                    <a:pt x="2648" y="31353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200228" y="2580287"/>
              <a:ext cx="44450" cy="31750"/>
            </a:xfrm>
            <a:custGeom>
              <a:avLst/>
              <a:gdLst/>
              <a:ahLst/>
              <a:cxnLst/>
              <a:rect l="l" t="t" r="r" b="b"/>
              <a:pathLst>
                <a:path w="44450" h="31750">
                  <a:moveTo>
                    <a:pt x="2648" y="31353"/>
                  </a:moveTo>
                  <a:lnTo>
                    <a:pt x="44396" y="12037"/>
                  </a:lnTo>
                  <a:lnTo>
                    <a:pt x="0" y="0"/>
                  </a:lnTo>
                  <a:lnTo>
                    <a:pt x="2648" y="3135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276411" y="1208166"/>
            <a:ext cx="491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Verdana"/>
                <a:cs typeface="Verdana"/>
              </a:rPr>
              <a:t>слово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682124" y="2474778"/>
            <a:ext cx="3000375" cy="805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6425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Verdana"/>
                <a:cs typeface="Verdana"/>
              </a:rPr>
              <a:t>слово</a:t>
            </a:r>
            <a:endParaRPr sz="12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55"/>
              </a:spcBef>
            </a:pPr>
            <a:endParaRPr sz="1200">
              <a:latin typeface="Verdana"/>
              <a:cs typeface="Verdana"/>
            </a:endParaRPr>
          </a:p>
          <a:p>
            <a:pPr marL="1945005">
              <a:lnSpc>
                <a:spcPts val="1245"/>
              </a:lnSpc>
            </a:pPr>
            <a:r>
              <a:rPr sz="1200" dirty="0">
                <a:solidFill>
                  <a:srgbClr val="434343"/>
                </a:solidFill>
                <a:latin typeface="Verdana"/>
                <a:cs typeface="Verdana"/>
              </a:rPr>
              <a:t>вектор</a:t>
            </a:r>
            <a:r>
              <a:rPr sz="1200" spc="-70" dirty="0">
                <a:solidFill>
                  <a:srgbClr val="434343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34343"/>
                </a:solidFill>
                <a:latin typeface="Verdana"/>
                <a:cs typeface="Verdana"/>
              </a:rPr>
              <a:t>слова</a:t>
            </a:r>
            <a:endParaRPr sz="1200">
              <a:latin typeface="Verdana"/>
              <a:cs typeface="Verdana"/>
            </a:endParaRPr>
          </a:p>
          <a:p>
            <a:pPr marL="12700">
              <a:lnSpc>
                <a:spcPts val="1245"/>
              </a:lnSpc>
            </a:pPr>
            <a:r>
              <a:rPr sz="1200" dirty="0">
                <a:solidFill>
                  <a:srgbClr val="434343"/>
                </a:solidFill>
                <a:latin typeface="Verdana"/>
                <a:cs typeface="Verdana"/>
              </a:rPr>
              <a:t>вектор</a:t>
            </a:r>
            <a:r>
              <a:rPr sz="1200" spc="-70" dirty="0">
                <a:solidFill>
                  <a:srgbClr val="434343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34343"/>
                </a:solidFill>
                <a:latin typeface="Verdana"/>
                <a:cs typeface="Verdana"/>
              </a:rPr>
              <a:t>слова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54890" y="3881663"/>
            <a:ext cx="2209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60" dirty="0">
                <a:latin typeface="Tahoma"/>
                <a:cs typeface="Tahoma"/>
              </a:rPr>
              <a:t>≈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784635" y="3224526"/>
            <a:ext cx="832485" cy="1274445"/>
            <a:chOff x="784635" y="3224526"/>
            <a:chExt cx="832485" cy="1274445"/>
          </a:xfrm>
        </p:grpSpPr>
        <p:sp>
          <p:nvSpPr>
            <p:cNvPr id="20" name="object 20"/>
            <p:cNvSpPr/>
            <p:nvPr/>
          </p:nvSpPr>
          <p:spPr>
            <a:xfrm>
              <a:off x="798918" y="3526612"/>
              <a:ext cx="609600" cy="967740"/>
            </a:xfrm>
            <a:custGeom>
              <a:avLst/>
              <a:gdLst/>
              <a:ahLst/>
              <a:cxnLst/>
              <a:rect l="l" t="t" r="r" b="b"/>
              <a:pathLst>
                <a:path w="609600" h="967739">
                  <a:moveTo>
                    <a:pt x="609295" y="84861"/>
                  </a:moveTo>
                  <a:lnTo>
                    <a:pt x="0" y="84861"/>
                  </a:lnTo>
                  <a:lnTo>
                    <a:pt x="0" y="967498"/>
                  </a:lnTo>
                  <a:lnTo>
                    <a:pt x="609295" y="967498"/>
                  </a:lnTo>
                  <a:lnTo>
                    <a:pt x="609295" y="84861"/>
                  </a:lnTo>
                  <a:close/>
                </a:path>
                <a:path w="609600" h="967739">
                  <a:moveTo>
                    <a:pt x="609295" y="0"/>
                  </a:moveTo>
                  <a:lnTo>
                    <a:pt x="0" y="0"/>
                  </a:lnTo>
                  <a:lnTo>
                    <a:pt x="0" y="5969"/>
                  </a:lnTo>
                  <a:lnTo>
                    <a:pt x="609295" y="5969"/>
                  </a:lnTo>
                  <a:lnTo>
                    <a:pt x="609295" y="0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798923" y="3526600"/>
              <a:ext cx="609600" cy="967740"/>
            </a:xfrm>
            <a:custGeom>
              <a:avLst/>
              <a:gdLst/>
              <a:ahLst/>
              <a:cxnLst/>
              <a:rect l="l" t="t" r="r" b="b"/>
              <a:pathLst>
                <a:path w="609600" h="967739">
                  <a:moveTo>
                    <a:pt x="0" y="0"/>
                  </a:moveTo>
                  <a:lnTo>
                    <a:pt x="609300" y="0"/>
                  </a:lnTo>
                  <a:lnTo>
                    <a:pt x="609300" y="967499"/>
                  </a:lnTo>
                  <a:lnTo>
                    <a:pt x="0" y="967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798922" y="3532569"/>
              <a:ext cx="609600" cy="79375"/>
            </a:xfrm>
            <a:custGeom>
              <a:avLst/>
              <a:gdLst/>
              <a:ahLst/>
              <a:cxnLst/>
              <a:rect l="l" t="t" r="r" b="b"/>
              <a:pathLst>
                <a:path w="609600" h="79375">
                  <a:moveTo>
                    <a:pt x="609299" y="78899"/>
                  </a:moveTo>
                  <a:lnTo>
                    <a:pt x="0" y="78899"/>
                  </a:lnTo>
                  <a:lnTo>
                    <a:pt x="0" y="0"/>
                  </a:lnTo>
                  <a:lnTo>
                    <a:pt x="609299" y="0"/>
                  </a:lnTo>
                  <a:lnTo>
                    <a:pt x="609299" y="78899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798922" y="3532569"/>
              <a:ext cx="609600" cy="79375"/>
            </a:xfrm>
            <a:custGeom>
              <a:avLst/>
              <a:gdLst/>
              <a:ahLst/>
              <a:cxnLst/>
              <a:rect l="l" t="t" r="r" b="b"/>
              <a:pathLst>
                <a:path w="609600" h="79375">
                  <a:moveTo>
                    <a:pt x="0" y="0"/>
                  </a:moveTo>
                  <a:lnTo>
                    <a:pt x="609299" y="0"/>
                  </a:lnTo>
                  <a:lnTo>
                    <a:pt x="609299" y="78899"/>
                  </a:lnTo>
                  <a:lnTo>
                    <a:pt x="0" y="788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E0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78685" y="3229289"/>
              <a:ext cx="533400" cy="230504"/>
            </a:xfrm>
            <a:custGeom>
              <a:avLst/>
              <a:gdLst/>
              <a:ahLst/>
              <a:cxnLst/>
              <a:rect l="l" t="t" r="r" b="b"/>
              <a:pathLst>
                <a:path w="533400" h="230504">
                  <a:moveTo>
                    <a:pt x="533133" y="0"/>
                  </a:moveTo>
                  <a:lnTo>
                    <a:pt x="0" y="23024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039002" y="3445087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5" h="31750">
                  <a:moveTo>
                    <a:pt x="0" y="31581"/>
                  </a:moveTo>
                  <a:lnTo>
                    <a:pt x="33445" y="0"/>
                  </a:lnTo>
                  <a:lnTo>
                    <a:pt x="45920" y="28886"/>
                  </a:lnTo>
                  <a:lnTo>
                    <a:pt x="0" y="3158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039002" y="3445087"/>
              <a:ext cx="46355" cy="31750"/>
            </a:xfrm>
            <a:custGeom>
              <a:avLst/>
              <a:gdLst/>
              <a:ahLst/>
              <a:cxnLst/>
              <a:rect l="l" t="t" r="r" b="b"/>
              <a:pathLst>
                <a:path w="46355" h="31750">
                  <a:moveTo>
                    <a:pt x="33445" y="0"/>
                  </a:moveTo>
                  <a:lnTo>
                    <a:pt x="0" y="31581"/>
                  </a:lnTo>
                  <a:lnTo>
                    <a:pt x="45920" y="28886"/>
                  </a:lnTo>
                  <a:lnTo>
                    <a:pt x="33445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09374" y="3533425"/>
              <a:ext cx="609600" cy="955040"/>
            </a:xfrm>
            <a:custGeom>
              <a:avLst/>
              <a:gdLst/>
              <a:ahLst/>
              <a:cxnLst/>
              <a:rect l="l" t="t" r="r" b="b"/>
              <a:pathLst>
                <a:path w="609600" h="955039">
                  <a:moveTo>
                    <a:pt x="0" y="0"/>
                  </a:moveTo>
                  <a:lnTo>
                    <a:pt x="609299" y="0"/>
                  </a:lnTo>
                  <a:lnTo>
                    <a:pt x="609299" y="954899"/>
                  </a:lnTo>
                  <a:lnTo>
                    <a:pt x="0" y="9548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38790" y="3459779"/>
            <a:ext cx="13779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15" dirty="0">
                <a:latin typeface="Verdana"/>
                <a:cs typeface="Verdana"/>
              </a:rPr>
              <a:t>d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5049" y="3775004"/>
            <a:ext cx="37655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25" dirty="0">
                <a:latin typeface="Verdana"/>
                <a:cs typeface="Verdana"/>
              </a:rPr>
              <a:t>SVD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19646" y="4694032"/>
            <a:ext cx="6159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70" dirty="0">
                <a:latin typeface="Verdana"/>
                <a:cs typeface="Verdana"/>
              </a:rPr>
              <a:t>U</a:t>
            </a:r>
            <a:r>
              <a:rPr sz="1200" spc="-110" dirty="0">
                <a:latin typeface="Verdana"/>
                <a:cs typeface="Verdana"/>
              </a:rPr>
              <a:t> </a:t>
            </a:r>
            <a:r>
              <a:rPr sz="1200" spc="-80" dirty="0">
                <a:latin typeface="Verdana"/>
                <a:cs typeface="Verdana"/>
              </a:rPr>
              <a:t>(kx</a:t>
            </a:r>
            <a:r>
              <a:rPr sz="1200" b="1" spc="-80" dirty="0">
                <a:latin typeface="Verdana"/>
                <a:cs typeface="Verdana"/>
              </a:rPr>
              <a:t>m</a:t>
            </a:r>
            <a:r>
              <a:rPr sz="1200" spc="-80" dirty="0">
                <a:latin typeface="Verdana"/>
                <a:cs typeface="Verdana"/>
              </a:rPr>
              <a:t>)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41179" y="3881954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MS PGothic"/>
                <a:cs typeface="MS PGothic"/>
              </a:rPr>
              <a:t>✕</a:t>
            </a:r>
            <a:endParaRPr sz="1400">
              <a:latin typeface="MS PGothic"/>
              <a:cs typeface="MS PGothic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031225" y="3366645"/>
            <a:ext cx="1822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30" dirty="0">
                <a:latin typeface="Verdana"/>
                <a:cs typeface="Verdana"/>
              </a:rPr>
              <a:t>w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836953" y="4694029"/>
            <a:ext cx="6699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0" dirty="0">
                <a:latin typeface="Verdana"/>
                <a:cs typeface="Verdana"/>
              </a:rPr>
              <a:t>S</a:t>
            </a:r>
            <a:r>
              <a:rPr sz="1200" spc="-105" dirty="0">
                <a:latin typeface="Verdana"/>
                <a:cs typeface="Verdana"/>
              </a:rPr>
              <a:t> </a:t>
            </a:r>
            <a:r>
              <a:rPr sz="1200" spc="-80" dirty="0">
                <a:latin typeface="Verdana"/>
                <a:cs typeface="Verdana"/>
              </a:rPr>
              <a:t>(</a:t>
            </a:r>
            <a:r>
              <a:rPr sz="1200" b="1" spc="-80" dirty="0">
                <a:latin typeface="Verdana"/>
                <a:cs typeface="Verdana"/>
              </a:rPr>
              <a:t>mxm</a:t>
            </a:r>
            <a:r>
              <a:rPr sz="1200" spc="-80" dirty="0">
                <a:latin typeface="Verdana"/>
                <a:cs typeface="Verdana"/>
              </a:rPr>
              <a:t>)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3150133" y="4694017"/>
            <a:ext cx="6858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Verdana"/>
                <a:cs typeface="Verdana"/>
              </a:rPr>
              <a:t>V</a:t>
            </a:r>
            <a:r>
              <a:rPr sz="1200" spc="-37" baseline="31250" dirty="0">
                <a:latin typeface="Verdana"/>
                <a:cs typeface="Verdana"/>
              </a:rPr>
              <a:t>T</a:t>
            </a:r>
            <a:r>
              <a:rPr sz="1200" spc="-25" dirty="0">
                <a:latin typeface="Verdana"/>
                <a:cs typeface="Verdana"/>
              </a:rPr>
              <a:t>(</a:t>
            </a:r>
            <a:r>
              <a:rPr sz="1200" b="1" spc="-25" dirty="0">
                <a:latin typeface="Verdana"/>
                <a:cs typeface="Verdana"/>
              </a:rPr>
              <a:t>m</a:t>
            </a:r>
            <a:r>
              <a:rPr sz="1200" spc="-25" dirty="0">
                <a:latin typeface="Verdana"/>
                <a:cs typeface="Verdana"/>
              </a:rPr>
              <a:t>xn)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1830218" y="3683259"/>
            <a:ext cx="669925" cy="674370"/>
            <a:chOff x="1830218" y="3683259"/>
            <a:chExt cx="669925" cy="674370"/>
          </a:xfrm>
        </p:grpSpPr>
        <p:sp>
          <p:nvSpPr>
            <p:cNvPr id="36" name="object 36"/>
            <p:cNvSpPr/>
            <p:nvPr/>
          </p:nvSpPr>
          <p:spPr>
            <a:xfrm>
              <a:off x="1867394" y="3708527"/>
              <a:ext cx="609600" cy="618490"/>
            </a:xfrm>
            <a:custGeom>
              <a:avLst/>
              <a:gdLst/>
              <a:ahLst/>
              <a:cxnLst/>
              <a:rect l="l" t="t" r="r" b="b"/>
              <a:pathLst>
                <a:path w="609600" h="618489">
                  <a:moveTo>
                    <a:pt x="609299" y="617999"/>
                  </a:moveTo>
                  <a:lnTo>
                    <a:pt x="0" y="617999"/>
                  </a:lnTo>
                  <a:lnTo>
                    <a:pt x="0" y="0"/>
                  </a:lnTo>
                  <a:lnTo>
                    <a:pt x="609299" y="0"/>
                  </a:lnTo>
                  <a:lnTo>
                    <a:pt x="609299" y="6179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867394" y="3708527"/>
              <a:ext cx="609600" cy="618490"/>
            </a:xfrm>
            <a:custGeom>
              <a:avLst/>
              <a:gdLst/>
              <a:ahLst/>
              <a:cxnLst/>
              <a:rect l="l" t="t" r="r" b="b"/>
              <a:pathLst>
                <a:path w="609600" h="618489">
                  <a:moveTo>
                    <a:pt x="0" y="0"/>
                  </a:moveTo>
                  <a:lnTo>
                    <a:pt x="609299" y="0"/>
                  </a:lnTo>
                  <a:lnTo>
                    <a:pt x="609299" y="617999"/>
                  </a:lnTo>
                  <a:lnTo>
                    <a:pt x="0" y="61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849268" y="3702309"/>
              <a:ext cx="631825" cy="636270"/>
            </a:xfrm>
            <a:custGeom>
              <a:avLst/>
              <a:gdLst/>
              <a:ahLst/>
              <a:cxnLst/>
              <a:rect l="l" t="t" r="r" b="b"/>
              <a:pathLst>
                <a:path w="631825" h="636270">
                  <a:moveTo>
                    <a:pt x="0" y="0"/>
                  </a:moveTo>
                  <a:lnTo>
                    <a:pt x="631199" y="635699"/>
                  </a:lnTo>
                </a:path>
              </a:pathLst>
            </a:custGeom>
            <a:ln w="3809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874325" y="3711350"/>
              <a:ext cx="609600" cy="618490"/>
            </a:xfrm>
            <a:custGeom>
              <a:avLst/>
              <a:gdLst/>
              <a:ahLst/>
              <a:cxnLst/>
              <a:rect l="l" t="t" r="r" b="b"/>
              <a:pathLst>
                <a:path w="609600" h="618489">
                  <a:moveTo>
                    <a:pt x="0" y="0"/>
                  </a:moveTo>
                  <a:lnTo>
                    <a:pt x="609299" y="0"/>
                  </a:lnTo>
                  <a:lnTo>
                    <a:pt x="609299" y="617999"/>
                  </a:lnTo>
                  <a:lnTo>
                    <a:pt x="0" y="617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2804887" y="3646589"/>
            <a:ext cx="1433830" cy="645795"/>
            <a:chOff x="2804887" y="3646589"/>
            <a:chExt cx="1433830" cy="645795"/>
          </a:xfrm>
        </p:grpSpPr>
        <p:sp>
          <p:nvSpPr>
            <p:cNvPr id="41" name="object 41"/>
            <p:cNvSpPr/>
            <p:nvPr/>
          </p:nvSpPr>
          <p:spPr>
            <a:xfrm>
              <a:off x="2809650" y="3651351"/>
              <a:ext cx="1424305" cy="636270"/>
            </a:xfrm>
            <a:custGeom>
              <a:avLst/>
              <a:gdLst/>
              <a:ahLst/>
              <a:cxnLst/>
              <a:rect l="l" t="t" r="r" b="b"/>
              <a:pathLst>
                <a:path w="1424304" h="636270">
                  <a:moveTo>
                    <a:pt x="1424099" y="635699"/>
                  </a:moveTo>
                  <a:lnTo>
                    <a:pt x="0" y="635699"/>
                  </a:lnTo>
                  <a:lnTo>
                    <a:pt x="0" y="0"/>
                  </a:lnTo>
                  <a:lnTo>
                    <a:pt x="1424099" y="0"/>
                  </a:lnTo>
                  <a:lnTo>
                    <a:pt x="1424099" y="6356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809650" y="3651351"/>
              <a:ext cx="1424305" cy="636270"/>
            </a:xfrm>
            <a:custGeom>
              <a:avLst/>
              <a:gdLst/>
              <a:ahLst/>
              <a:cxnLst/>
              <a:rect l="l" t="t" r="r" b="b"/>
              <a:pathLst>
                <a:path w="1424304" h="636270">
                  <a:moveTo>
                    <a:pt x="0" y="0"/>
                  </a:moveTo>
                  <a:lnTo>
                    <a:pt x="1424099" y="0"/>
                  </a:lnTo>
                  <a:lnTo>
                    <a:pt x="1424099" y="635699"/>
                  </a:lnTo>
                  <a:lnTo>
                    <a:pt x="0" y="635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046100" y="3657724"/>
              <a:ext cx="124460" cy="618490"/>
            </a:xfrm>
            <a:custGeom>
              <a:avLst/>
              <a:gdLst/>
              <a:ahLst/>
              <a:cxnLst/>
              <a:rect l="l" t="t" r="r" b="b"/>
              <a:pathLst>
                <a:path w="124460" h="618489">
                  <a:moveTo>
                    <a:pt x="124199" y="617999"/>
                  </a:moveTo>
                  <a:lnTo>
                    <a:pt x="0" y="617999"/>
                  </a:lnTo>
                  <a:lnTo>
                    <a:pt x="0" y="0"/>
                  </a:lnTo>
                  <a:lnTo>
                    <a:pt x="124199" y="0"/>
                  </a:lnTo>
                  <a:lnTo>
                    <a:pt x="124199" y="617999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046100" y="3657724"/>
              <a:ext cx="124460" cy="618490"/>
            </a:xfrm>
            <a:custGeom>
              <a:avLst/>
              <a:gdLst/>
              <a:ahLst/>
              <a:cxnLst/>
              <a:rect l="l" t="t" r="r" b="b"/>
              <a:pathLst>
                <a:path w="124460" h="618489">
                  <a:moveTo>
                    <a:pt x="0" y="0"/>
                  </a:moveTo>
                  <a:lnTo>
                    <a:pt x="124199" y="0"/>
                  </a:lnTo>
                  <a:lnTo>
                    <a:pt x="124199" y="617999"/>
                  </a:lnTo>
                  <a:lnTo>
                    <a:pt x="0" y="6179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3298795" y="3199137"/>
            <a:ext cx="458470" cy="238125"/>
            <a:chOff x="3298795" y="3199137"/>
            <a:chExt cx="458470" cy="238125"/>
          </a:xfrm>
        </p:grpSpPr>
        <p:sp>
          <p:nvSpPr>
            <p:cNvPr id="46" name="object 46"/>
            <p:cNvSpPr/>
            <p:nvPr/>
          </p:nvSpPr>
          <p:spPr>
            <a:xfrm>
              <a:off x="3342073" y="3203899"/>
              <a:ext cx="410209" cy="209550"/>
            </a:xfrm>
            <a:custGeom>
              <a:avLst/>
              <a:gdLst/>
              <a:ahLst/>
              <a:cxnLst/>
              <a:rect l="l" t="t" r="r" b="b"/>
              <a:pathLst>
                <a:path w="410210" h="209550">
                  <a:moveTo>
                    <a:pt x="410176" y="0"/>
                  </a:moveTo>
                  <a:lnTo>
                    <a:pt x="0" y="20895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303557" y="3398839"/>
              <a:ext cx="45720" cy="33655"/>
            </a:xfrm>
            <a:custGeom>
              <a:avLst/>
              <a:gdLst/>
              <a:ahLst/>
              <a:cxnLst/>
              <a:rect l="l" t="t" r="r" b="b"/>
              <a:pathLst>
                <a:path w="45720" h="33654">
                  <a:moveTo>
                    <a:pt x="0" y="33639"/>
                  </a:moveTo>
                  <a:lnTo>
                    <a:pt x="31373" y="0"/>
                  </a:lnTo>
                  <a:lnTo>
                    <a:pt x="45656" y="28036"/>
                  </a:lnTo>
                  <a:lnTo>
                    <a:pt x="0" y="3363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303557" y="3398839"/>
              <a:ext cx="45720" cy="33655"/>
            </a:xfrm>
            <a:custGeom>
              <a:avLst/>
              <a:gdLst/>
              <a:ahLst/>
              <a:cxnLst/>
              <a:rect l="l" t="t" r="r" b="b"/>
              <a:pathLst>
                <a:path w="45720" h="33654">
                  <a:moveTo>
                    <a:pt x="31373" y="0"/>
                  </a:moveTo>
                  <a:lnTo>
                    <a:pt x="0" y="33639"/>
                  </a:lnTo>
                  <a:lnTo>
                    <a:pt x="45656" y="28036"/>
                  </a:lnTo>
                  <a:lnTo>
                    <a:pt x="31373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254900" y="1604212"/>
            <a:ext cx="14389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latin typeface="Calibri"/>
                <a:cs typeface="Calibri"/>
              </a:rPr>
              <a:t>Матрица</a:t>
            </a:r>
            <a:r>
              <a:rPr sz="1400" spc="18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слова- </a:t>
            </a:r>
            <a:r>
              <a:rPr sz="1400" dirty="0">
                <a:latin typeface="Calibri"/>
                <a:cs typeface="Calibri"/>
              </a:rPr>
              <a:t>слова</a:t>
            </a:r>
            <a:r>
              <a:rPr sz="1400" spc="-10" dirty="0">
                <a:latin typeface="Calibri"/>
                <a:cs typeface="Calibri"/>
              </a:rPr>
              <a:t> размера </a:t>
            </a:r>
            <a:r>
              <a:rPr sz="1400" spc="-25" dirty="0">
                <a:latin typeface="Calibri"/>
                <a:cs typeface="Calibri"/>
              </a:rPr>
              <a:t>n</a:t>
            </a:r>
            <a:r>
              <a:rPr sz="1100" spc="-25" dirty="0">
                <a:latin typeface="Calibri"/>
                <a:cs typeface="Calibri"/>
              </a:rPr>
              <a:t>x</a:t>
            </a:r>
            <a:r>
              <a:rPr sz="1400" spc="-25" dirty="0">
                <a:latin typeface="Calibri"/>
                <a:cs typeface="Calibri"/>
              </a:rPr>
              <a:t>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5160240" y="1871150"/>
            <a:ext cx="2209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60" dirty="0">
                <a:latin typeface="Tahoma"/>
                <a:cs typeface="Tahoma"/>
              </a:rPr>
              <a:t>≈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2606129" y="3872655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MS PGothic"/>
                <a:cs typeface="MS PGothic"/>
              </a:rPr>
              <a:t>✕</a:t>
            </a:r>
            <a:endParaRPr sz="1400">
              <a:latin typeface="MS PGothic"/>
              <a:cs typeface="MS PGothic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2809650" y="3651349"/>
            <a:ext cx="1424305" cy="618490"/>
          </a:xfrm>
          <a:custGeom>
            <a:avLst/>
            <a:gdLst/>
            <a:ahLst/>
            <a:cxnLst/>
            <a:rect l="l" t="t" r="r" b="b"/>
            <a:pathLst>
              <a:path w="1424304" h="618489">
                <a:moveTo>
                  <a:pt x="0" y="0"/>
                </a:moveTo>
                <a:lnTo>
                  <a:pt x="1424099" y="0"/>
                </a:lnTo>
                <a:lnTo>
                  <a:pt x="1424099" y="617999"/>
                </a:lnTo>
                <a:lnTo>
                  <a:pt x="0" y="617999"/>
                </a:lnTo>
                <a:lnTo>
                  <a:pt x="0" y="0"/>
                </a:lnTo>
                <a:close/>
              </a:path>
            </a:pathLst>
          </a:custGeom>
          <a:ln w="190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1218347"/>
            <a:ext cx="5231765" cy="201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600" spc="55" dirty="0">
                <a:latin typeface="Calibri"/>
                <a:cs typeface="Calibri"/>
              </a:rPr>
              <a:t>Все,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что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мы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делали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до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50" dirty="0">
                <a:latin typeface="Calibri"/>
                <a:cs typeface="Calibri"/>
              </a:rPr>
              <a:t>сих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пор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145" dirty="0">
                <a:latin typeface="Calibri"/>
                <a:cs typeface="Calibri"/>
              </a:rPr>
              <a:t>—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на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основе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55" dirty="0">
                <a:latin typeface="Calibri"/>
                <a:cs typeface="Calibri"/>
              </a:rPr>
              <a:t>каких-</a:t>
            </a:r>
            <a:r>
              <a:rPr sz="1600" spc="30" dirty="0">
                <a:latin typeface="Calibri"/>
                <a:cs typeface="Calibri"/>
              </a:rPr>
              <a:t>то </a:t>
            </a:r>
            <a:r>
              <a:rPr sz="1600" spc="-10" dirty="0">
                <a:latin typeface="Calibri"/>
                <a:cs typeface="Calibri"/>
              </a:rPr>
              <a:t>соображений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строили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векторы/матрицы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слов/документов, </a:t>
            </a:r>
            <a:r>
              <a:rPr sz="1600" dirty="0">
                <a:latin typeface="Calibri"/>
                <a:cs typeface="Calibri"/>
              </a:rPr>
              <a:t>которые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spc="50" dirty="0">
                <a:latin typeface="Calibri"/>
                <a:cs typeface="Calibri"/>
              </a:rPr>
              <a:t>как-</a:t>
            </a:r>
            <a:r>
              <a:rPr sz="1600" spc="55" dirty="0">
                <a:latin typeface="Calibri"/>
                <a:cs typeface="Calibri"/>
              </a:rPr>
              <a:t>то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отражали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смысл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слов/документов.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600">
              <a:latin typeface="Calibri"/>
              <a:cs typeface="Calibri"/>
            </a:endParaRPr>
          </a:p>
          <a:p>
            <a:pPr marL="12700" marR="1545590">
              <a:lnSpc>
                <a:spcPct val="114999"/>
              </a:lnSpc>
            </a:pPr>
            <a:r>
              <a:rPr sz="1600" spc="295" dirty="0">
                <a:latin typeface="Calibri"/>
                <a:cs typeface="Calibri"/>
              </a:rPr>
              <a:t>А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что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если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попытаться</a:t>
            </a:r>
            <a:r>
              <a:rPr sz="1600" spc="145" dirty="0">
                <a:latin typeface="Calibri"/>
                <a:cs typeface="Calibri"/>
              </a:rPr>
              <a:t> </a:t>
            </a:r>
            <a:r>
              <a:rPr sz="1600" b="1" i="1" spc="-40" dirty="0">
                <a:latin typeface="Calibri"/>
                <a:cs typeface="Calibri"/>
              </a:rPr>
              <a:t>выучить</a:t>
            </a:r>
            <a:r>
              <a:rPr sz="1600" b="1" i="1" spc="1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векторы слов/документовṢ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5" dirty="0"/>
              <a:t>Эмбеддинги</a:t>
            </a:r>
            <a:r>
              <a:rPr sz="2700" spc="-40" dirty="0"/>
              <a:t> </a:t>
            </a:r>
            <a:r>
              <a:rPr sz="2700" spc="-20" dirty="0"/>
              <a:t>слов</a:t>
            </a:r>
            <a:endParaRPr sz="27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1254921"/>
            <a:ext cx="4629785" cy="2519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114" dirty="0">
                <a:latin typeface="Calibri"/>
                <a:cs typeface="Calibri"/>
              </a:rPr>
              <a:t>Что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мы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хотим:</a:t>
            </a:r>
            <a:endParaRPr sz="1600">
              <a:latin typeface="Calibri"/>
              <a:cs typeface="Calibri"/>
            </a:endParaRPr>
          </a:p>
          <a:p>
            <a:pPr marL="12700" marR="5080">
              <a:lnSpc>
                <a:spcPct val="105000"/>
              </a:lnSpc>
              <a:spcBef>
                <a:spcPts val="1200"/>
              </a:spcBef>
            </a:pPr>
            <a:r>
              <a:rPr sz="1600" dirty="0">
                <a:latin typeface="Calibri"/>
                <a:cs typeface="Calibri"/>
              </a:rPr>
              <a:t>Мы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хотим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выучить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векторы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небольшой </a:t>
            </a:r>
            <a:r>
              <a:rPr sz="1600" dirty="0">
                <a:latin typeface="Calibri"/>
                <a:cs typeface="Calibri"/>
              </a:rPr>
              <a:t>размерности,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которые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отражали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бы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смысл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слов: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40" dirty="0">
                <a:latin typeface="Calibri"/>
                <a:cs typeface="Calibri"/>
              </a:rPr>
              <a:t>их </a:t>
            </a:r>
            <a:r>
              <a:rPr sz="1600" spc="-25" dirty="0">
                <a:latin typeface="Calibri"/>
                <a:cs typeface="Calibri"/>
              </a:rPr>
              <a:t>можно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было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бы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сравнивать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между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собой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55" dirty="0">
                <a:latin typeface="Calibri"/>
                <a:cs typeface="Calibri"/>
              </a:rPr>
              <a:t>помощью </a:t>
            </a:r>
            <a:r>
              <a:rPr sz="1600" dirty="0">
                <a:latin typeface="Calibri"/>
                <a:cs typeface="Calibri"/>
              </a:rPr>
              <a:t>некой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метрики.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5"/>
              </a:spcBef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55" dirty="0">
                <a:latin typeface="Calibri"/>
                <a:cs typeface="Calibri"/>
              </a:rPr>
              <a:t>Такие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выученные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векторы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мы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будем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называть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i="1" spc="-10" dirty="0">
                <a:latin typeface="Calibri"/>
                <a:cs typeface="Calibri"/>
              </a:rPr>
              <a:t>эмбеддингами </a:t>
            </a:r>
            <a:r>
              <a:rPr sz="1600" b="1" i="1" spc="-20" dirty="0">
                <a:latin typeface="Calibri"/>
                <a:cs typeface="Calibri"/>
              </a:rPr>
              <a:t>слов</a:t>
            </a:r>
            <a:r>
              <a:rPr sz="1600" spc="-20" dirty="0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5" dirty="0"/>
              <a:t>Эмбеддинги</a:t>
            </a:r>
            <a:r>
              <a:rPr sz="2700" spc="-40" dirty="0"/>
              <a:t> </a:t>
            </a:r>
            <a:r>
              <a:rPr sz="2700" spc="-20" dirty="0"/>
              <a:t>слов</a:t>
            </a:r>
            <a:endParaRPr sz="27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70" dirty="0"/>
              <a:t>Word2Vec</a:t>
            </a:r>
            <a:endParaRPr sz="27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5752" y="2877076"/>
            <a:ext cx="5374164" cy="167278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1850" y="1184660"/>
            <a:ext cx="4603750" cy="86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Мы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будем</a:t>
            </a:r>
            <a:r>
              <a:rPr sz="1600" spc="55" dirty="0">
                <a:latin typeface="Calibri"/>
                <a:cs typeface="Calibri"/>
              </a:rPr>
              <a:t> учить </a:t>
            </a:r>
            <a:r>
              <a:rPr sz="1600" dirty="0">
                <a:latin typeface="Calibri"/>
                <a:cs typeface="Calibri"/>
              </a:rPr>
              <a:t>нейросеть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слову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предсказывать </a:t>
            </a:r>
            <a:r>
              <a:rPr sz="1600" dirty="0">
                <a:latin typeface="Calibri"/>
                <a:cs typeface="Calibri"/>
              </a:rPr>
              <a:t>слова,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которые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могут</a:t>
            </a:r>
            <a:r>
              <a:rPr sz="1600" spc="1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находиться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контексте </a:t>
            </a:r>
            <a:r>
              <a:rPr sz="1600" spc="50" dirty="0">
                <a:latin typeface="Calibri"/>
                <a:cs typeface="Calibri"/>
              </a:rPr>
              <a:t>(стоять</a:t>
            </a:r>
            <a:r>
              <a:rPr sz="1600" spc="1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вокруг</a:t>
            </a:r>
            <a:r>
              <a:rPr sz="1600" spc="1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этого</a:t>
            </a:r>
            <a:r>
              <a:rPr sz="1600" spc="19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слова).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70" dirty="0"/>
              <a:t>Word2Vec</a:t>
            </a:r>
            <a:endParaRPr sz="27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7052" y="3199101"/>
            <a:ext cx="5374164" cy="167278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1850" y="1184673"/>
            <a:ext cx="5501640" cy="1147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600" spc="105" dirty="0">
                <a:latin typeface="Calibri"/>
                <a:cs typeface="Calibri"/>
              </a:rPr>
              <a:t>Наш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датасет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spc="145" dirty="0">
                <a:latin typeface="Calibri"/>
                <a:cs typeface="Calibri"/>
              </a:rPr>
              <a:t>—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набор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текстов.</a:t>
            </a:r>
            <a:r>
              <a:rPr sz="1600" spc="95" dirty="0">
                <a:latin typeface="Calibri"/>
                <a:cs typeface="Calibri"/>
              </a:rPr>
              <a:t>  </a:t>
            </a:r>
            <a:r>
              <a:rPr sz="1600" dirty="0">
                <a:latin typeface="Calibri"/>
                <a:cs typeface="Calibri"/>
              </a:rPr>
              <a:t>Мы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будем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идти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датасету </a:t>
            </a:r>
            <a:r>
              <a:rPr sz="1600" dirty="0">
                <a:latin typeface="Calibri"/>
                <a:cs typeface="Calibri"/>
              </a:rPr>
              <a:t>скользящим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окном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размера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75" dirty="0">
                <a:latin typeface="Calibri"/>
                <a:cs typeface="Calibri"/>
              </a:rPr>
              <a:t>5,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и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каждом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положении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окна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по </a:t>
            </a:r>
            <a:r>
              <a:rPr sz="1600" dirty="0">
                <a:latin typeface="Calibri"/>
                <a:cs typeface="Calibri"/>
              </a:rPr>
              <a:t>центральному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слову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55" dirty="0">
                <a:latin typeface="Calibri"/>
                <a:cs typeface="Calibri"/>
              </a:rPr>
              <a:t>учить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нейросеть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предсказывать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слова, </a:t>
            </a:r>
            <a:r>
              <a:rPr sz="1600" dirty="0">
                <a:latin typeface="Calibri"/>
                <a:cs typeface="Calibri"/>
              </a:rPr>
              <a:t>находящиеся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текущем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окне.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70" dirty="0"/>
              <a:t>Word2Vec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421850" y="1184673"/>
            <a:ext cx="5501640" cy="1147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600" spc="105" dirty="0">
                <a:latin typeface="Calibri"/>
                <a:cs typeface="Calibri"/>
              </a:rPr>
              <a:t>Наш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датасет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spc="145" dirty="0">
                <a:latin typeface="Calibri"/>
                <a:cs typeface="Calibri"/>
              </a:rPr>
              <a:t>—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набор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текстов.</a:t>
            </a:r>
            <a:r>
              <a:rPr sz="1600" spc="95" dirty="0">
                <a:latin typeface="Calibri"/>
                <a:cs typeface="Calibri"/>
              </a:rPr>
              <a:t>  </a:t>
            </a:r>
            <a:r>
              <a:rPr sz="1600" dirty="0">
                <a:latin typeface="Calibri"/>
                <a:cs typeface="Calibri"/>
              </a:rPr>
              <a:t>Мы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будем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идти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датасету </a:t>
            </a:r>
            <a:r>
              <a:rPr sz="1600" dirty="0">
                <a:latin typeface="Calibri"/>
                <a:cs typeface="Calibri"/>
              </a:rPr>
              <a:t>скользящим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окном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размера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75" dirty="0">
                <a:latin typeface="Calibri"/>
                <a:cs typeface="Calibri"/>
              </a:rPr>
              <a:t>5,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и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каждом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положении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окна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по </a:t>
            </a:r>
            <a:r>
              <a:rPr sz="1600" dirty="0">
                <a:latin typeface="Calibri"/>
                <a:cs typeface="Calibri"/>
              </a:rPr>
              <a:t>центральному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слову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55" dirty="0">
                <a:latin typeface="Calibri"/>
                <a:cs typeface="Calibri"/>
              </a:rPr>
              <a:t>учить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нейросеть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предсказывать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слова, </a:t>
            </a:r>
            <a:r>
              <a:rPr sz="1600" dirty="0">
                <a:latin typeface="Calibri"/>
                <a:cs typeface="Calibri"/>
              </a:rPr>
              <a:t>находящиеся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текущем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окне.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7046" y="3349921"/>
            <a:ext cx="5360658" cy="167393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70" dirty="0"/>
              <a:t>Word2Vec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421850" y="1221247"/>
            <a:ext cx="6080760" cy="1732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-10" dirty="0">
                <a:latin typeface="Calibri"/>
                <a:cs typeface="Calibri"/>
              </a:rPr>
              <a:t>Формализуем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задачу:</a:t>
            </a:r>
            <a:endParaRPr sz="1600">
              <a:latin typeface="Calibri"/>
              <a:cs typeface="Calibri"/>
            </a:endParaRPr>
          </a:p>
          <a:p>
            <a:pPr marL="469265" indent="-303530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sz="1600" spc="70" dirty="0">
                <a:latin typeface="Calibri"/>
                <a:cs typeface="Calibri"/>
              </a:rPr>
              <a:t>Ставится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задача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классификации.</a:t>
            </a:r>
            <a:endParaRPr sz="16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Количество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классов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spc="145" dirty="0">
                <a:latin typeface="Calibri"/>
                <a:cs typeface="Calibri"/>
              </a:rPr>
              <a:t>—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размер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словаря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i="1" spc="35" dirty="0">
                <a:latin typeface="Calibri"/>
                <a:cs typeface="Calibri"/>
              </a:rPr>
              <a:t>n</a:t>
            </a:r>
            <a:r>
              <a:rPr sz="1600" spc="35" dirty="0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  <a:p>
            <a:pPr marL="469900" marR="335915" indent="-304165">
              <a:lnSpc>
                <a:spcPct val="100000"/>
              </a:lnSpc>
              <a:buChar char="-"/>
              <a:tabLst>
                <a:tab pos="469900" algn="l"/>
              </a:tabLst>
            </a:pPr>
            <a:r>
              <a:rPr sz="1600" spc="140" dirty="0">
                <a:latin typeface="Calibri"/>
                <a:cs typeface="Calibri"/>
              </a:rPr>
              <a:t>На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вход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нейросеть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принимает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слово,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выдает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i="1" spc="80" dirty="0">
                <a:latin typeface="Calibri"/>
                <a:cs typeface="Calibri"/>
              </a:rPr>
              <a:t>n</a:t>
            </a:r>
            <a:r>
              <a:rPr sz="1600" i="1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значений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95" dirty="0">
                <a:latin typeface="Calibri"/>
                <a:cs typeface="Calibri"/>
              </a:rPr>
              <a:t>— </a:t>
            </a:r>
            <a:r>
              <a:rPr sz="1600" spc="-20" dirty="0">
                <a:latin typeface="Calibri"/>
                <a:cs typeface="Calibri"/>
              </a:rPr>
              <a:t>распределение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на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слова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словаре.</a:t>
            </a:r>
            <a:endParaRPr sz="1600">
              <a:latin typeface="Calibri"/>
              <a:cs typeface="Calibri"/>
            </a:endParaRPr>
          </a:p>
          <a:p>
            <a:pPr marL="469900" marR="5080" indent="-304165">
              <a:lnSpc>
                <a:spcPct val="100000"/>
              </a:lnSpc>
              <a:buChar char="-"/>
              <a:tabLst>
                <a:tab pos="469900" algn="l"/>
              </a:tabLst>
            </a:pPr>
            <a:r>
              <a:rPr sz="1600" spc="65" dirty="0">
                <a:latin typeface="Calibri"/>
                <a:cs typeface="Calibri"/>
              </a:rPr>
              <a:t>Лосс-</a:t>
            </a:r>
            <a:r>
              <a:rPr sz="1600" spc="45" dirty="0">
                <a:latin typeface="Calibri"/>
                <a:cs typeface="Calibri"/>
              </a:rPr>
              <a:t>функция</a:t>
            </a:r>
            <a:r>
              <a:rPr sz="1600" spc="135" dirty="0">
                <a:latin typeface="Calibri"/>
                <a:cs typeface="Calibri"/>
              </a:rPr>
              <a:t> </a:t>
            </a:r>
            <a:r>
              <a:rPr sz="1600" spc="145" dirty="0">
                <a:latin typeface="Calibri"/>
                <a:cs typeface="Calibri"/>
              </a:rPr>
              <a:t>—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кросс-энтропия</a:t>
            </a:r>
            <a:r>
              <a:rPr sz="1600" spc="1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между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распределением, </a:t>
            </a:r>
            <a:r>
              <a:rPr sz="1600" spc="-30" dirty="0">
                <a:latin typeface="Calibri"/>
                <a:cs typeface="Calibri"/>
              </a:rPr>
              <a:t>выданным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сетью,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и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-40" dirty="0">
                <a:latin typeface="Calibri"/>
                <a:cs typeface="Calibri"/>
              </a:rPr>
              <a:t>верным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30" dirty="0">
                <a:latin typeface="Calibri"/>
                <a:cs typeface="Calibri"/>
              </a:rPr>
              <a:t>распределением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(one-hot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вектором)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7046" y="3349921"/>
            <a:ext cx="5360658" cy="1673938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70" dirty="0"/>
              <a:t>Word2Vec</a:t>
            </a:r>
            <a:endParaRPr sz="2700"/>
          </a:p>
        </p:txBody>
      </p:sp>
      <p:grpSp>
        <p:nvGrpSpPr>
          <p:cNvPr id="3" name="object 3"/>
          <p:cNvGrpSpPr/>
          <p:nvPr/>
        </p:nvGrpSpPr>
        <p:grpSpPr>
          <a:xfrm>
            <a:off x="1183105" y="1672675"/>
            <a:ext cx="2903220" cy="1789430"/>
            <a:chOff x="1183105" y="1672675"/>
            <a:chExt cx="2903220" cy="17894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50178" y="1908464"/>
              <a:ext cx="2758457" cy="141509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700733" y="2460084"/>
              <a:ext cx="639445" cy="586740"/>
            </a:xfrm>
            <a:custGeom>
              <a:avLst/>
              <a:gdLst/>
              <a:ahLst/>
              <a:cxnLst/>
              <a:rect l="l" t="t" r="r" b="b"/>
              <a:pathLst>
                <a:path w="639444" h="586739">
                  <a:moveTo>
                    <a:pt x="639299" y="586499"/>
                  </a:moveTo>
                  <a:lnTo>
                    <a:pt x="0" y="586499"/>
                  </a:lnTo>
                  <a:lnTo>
                    <a:pt x="0" y="0"/>
                  </a:lnTo>
                  <a:lnTo>
                    <a:pt x="639299" y="0"/>
                  </a:lnTo>
                  <a:lnTo>
                    <a:pt x="639299" y="586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00733" y="2460084"/>
              <a:ext cx="639445" cy="586740"/>
            </a:xfrm>
            <a:custGeom>
              <a:avLst/>
              <a:gdLst/>
              <a:ahLst/>
              <a:cxnLst/>
              <a:rect l="l" t="t" r="r" b="b"/>
              <a:pathLst>
                <a:path w="639444" h="586739">
                  <a:moveTo>
                    <a:pt x="0" y="0"/>
                  </a:moveTo>
                  <a:lnTo>
                    <a:pt x="639299" y="0"/>
                  </a:lnTo>
                  <a:lnTo>
                    <a:pt x="639299" y="586499"/>
                  </a:lnTo>
                  <a:lnTo>
                    <a:pt x="0" y="586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839429" y="2443934"/>
              <a:ext cx="639445" cy="586740"/>
            </a:xfrm>
            <a:custGeom>
              <a:avLst/>
              <a:gdLst/>
              <a:ahLst/>
              <a:cxnLst/>
              <a:rect l="l" t="t" r="r" b="b"/>
              <a:pathLst>
                <a:path w="639445" h="586739">
                  <a:moveTo>
                    <a:pt x="639299" y="586499"/>
                  </a:moveTo>
                  <a:lnTo>
                    <a:pt x="0" y="586499"/>
                  </a:lnTo>
                  <a:lnTo>
                    <a:pt x="0" y="0"/>
                  </a:lnTo>
                  <a:lnTo>
                    <a:pt x="639299" y="0"/>
                  </a:lnTo>
                  <a:lnTo>
                    <a:pt x="639299" y="586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839429" y="2443934"/>
              <a:ext cx="639445" cy="586740"/>
            </a:xfrm>
            <a:custGeom>
              <a:avLst/>
              <a:gdLst/>
              <a:ahLst/>
              <a:cxnLst/>
              <a:rect l="l" t="t" r="r" b="b"/>
              <a:pathLst>
                <a:path w="639445" h="586739">
                  <a:moveTo>
                    <a:pt x="0" y="0"/>
                  </a:moveTo>
                  <a:lnTo>
                    <a:pt x="639299" y="0"/>
                  </a:lnTo>
                  <a:lnTo>
                    <a:pt x="639299" y="586499"/>
                  </a:lnTo>
                  <a:lnTo>
                    <a:pt x="0" y="586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187868" y="1801686"/>
              <a:ext cx="2893695" cy="280670"/>
            </a:xfrm>
            <a:custGeom>
              <a:avLst/>
              <a:gdLst/>
              <a:ahLst/>
              <a:cxnLst/>
              <a:rect l="l" t="t" r="r" b="b"/>
              <a:pathLst>
                <a:path w="2893695" h="280669">
                  <a:moveTo>
                    <a:pt x="2893199" y="280499"/>
                  </a:moveTo>
                  <a:lnTo>
                    <a:pt x="0" y="280499"/>
                  </a:lnTo>
                  <a:lnTo>
                    <a:pt x="0" y="0"/>
                  </a:lnTo>
                  <a:lnTo>
                    <a:pt x="2893199" y="0"/>
                  </a:lnTo>
                  <a:lnTo>
                    <a:pt x="2893199" y="280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187868" y="1801686"/>
              <a:ext cx="2893695" cy="280670"/>
            </a:xfrm>
            <a:custGeom>
              <a:avLst/>
              <a:gdLst/>
              <a:ahLst/>
              <a:cxnLst/>
              <a:rect l="l" t="t" r="r" b="b"/>
              <a:pathLst>
                <a:path w="2893695" h="280669">
                  <a:moveTo>
                    <a:pt x="0" y="0"/>
                  </a:moveTo>
                  <a:lnTo>
                    <a:pt x="2893199" y="0"/>
                  </a:lnTo>
                  <a:lnTo>
                    <a:pt x="2893199" y="280499"/>
                  </a:lnTo>
                  <a:lnTo>
                    <a:pt x="0" y="2804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69444" y="2158742"/>
              <a:ext cx="63500" cy="1191260"/>
            </a:xfrm>
            <a:custGeom>
              <a:avLst/>
              <a:gdLst/>
              <a:ahLst/>
              <a:cxnLst/>
              <a:rect l="l" t="t" r="r" b="b"/>
              <a:pathLst>
                <a:path w="63500" h="1191260">
                  <a:moveTo>
                    <a:pt x="0" y="1190700"/>
                  </a:moveTo>
                  <a:lnTo>
                    <a:pt x="24639" y="1190285"/>
                  </a:lnTo>
                  <a:lnTo>
                    <a:pt x="44759" y="1189155"/>
                  </a:lnTo>
                  <a:lnTo>
                    <a:pt x="58325" y="1187478"/>
                  </a:lnTo>
                  <a:lnTo>
                    <a:pt x="63299" y="1185425"/>
                  </a:lnTo>
                  <a:lnTo>
                    <a:pt x="63299" y="5274"/>
                  </a:lnTo>
                  <a:lnTo>
                    <a:pt x="63299" y="3875"/>
                  </a:lnTo>
                  <a:lnTo>
                    <a:pt x="56630" y="2534"/>
                  </a:lnTo>
                  <a:lnTo>
                    <a:pt x="44759" y="1544"/>
                  </a:lnTo>
                  <a:lnTo>
                    <a:pt x="35118" y="886"/>
                  </a:lnTo>
                  <a:lnTo>
                    <a:pt x="24223" y="401"/>
                  </a:lnTo>
                  <a:lnTo>
                    <a:pt x="12406" y="102"/>
                  </a:ln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63403" y="2116275"/>
              <a:ext cx="128905" cy="1341120"/>
            </a:xfrm>
            <a:custGeom>
              <a:avLst/>
              <a:gdLst/>
              <a:ahLst/>
              <a:cxnLst/>
              <a:rect l="l" t="t" r="r" b="b"/>
              <a:pathLst>
                <a:path w="128905" h="1341120">
                  <a:moveTo>
                    <a:pt x="128399" y="1340699"/>
                  </a:moveTo>
                  <a:lnTo>
                    <a:pt x="0" y="1340699"/>
                  </a:lnTo>
                  <a:lnTo>
                    <a:pt x="0" y="0"/>
                  </a:lnTo>
                  <a:lnTo>
                    <a:pt x="128399" y="0"/>
                  </a:lnTo>
                  <a:lnTo>
                    <a:pt x="128399" y="1340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363403" y="2116275"/>
              <a:ext cx="128905" cy="1341120"/>
            </a:xfrm>
            <a:custGeom>
              <a:avLst/>
              <a:gdLst/>
              <a:ahLst/>
              <a:cxnLst/>
              <a:rect l="l" t="t" r="r" b="b"/>
              <a:pathLst>
                <a:path w="128905" h="1341120">
                  <a:moveTo>
                    <a:pt x="0" y="0"/>
                  </a:moveTo>
                  <a:lnTo>
                    <a:pt x="128399" y="0"/>
                  </a:lnTo>
                  <a:lnTo>
                    <a:pt x="128399" y="1340699"/>
                  </a:lnTo>
                  <a:lnTo>
                    <a:pt x="0" y="1340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30522" y="2058797"/>
              <a:ext cx="229870" cy="1341120"/>
            </a:xfrm>
            <a:custGeom>
              <a:avLst/>
              <a:gdLst/>
              <a:ahLst/>
              <a:cxnLst/>
              <a:rect l="l" t="t" r="r" b="b"/>
              <a:pathLst>
                <a:path w="229870" h="1341120">
                  <a:moveTo>
                    <a:pt x="229499" y="1340699"/>
                  </a:moveTo>
                  <a:lnTo>
                    <a:pt x="0" y="1340699"/>
                  </a:lnTo>
                  <a:lnTo>
                    <a:pt x="0" y="0"/>
                  </a:lnTo>
                  <a:lnTo>
                    <a:pt x="229499" y="0"/>
                  </a:lnTo>
                  <a:lnTo>
                    <a:pt x="229499" y="1340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30522" y="2058797"/>
              <a:ext cx="229870" cy="1341120"/>
            </a:xfrm>
            <a:custGeom>
              <a:avLst/>
              <a:gdLst/>
              <a:ahLst/>
              <a:cxnLst/>
              <a:rect l="l" t="t" r="r" b="b"/>
              <a:pathLst>
                <a:path w="229870" h="1341120">
                  <a:moveTo>
                    <a:pt x="0" y="0"/>
                  </a:moveTo>
                  <a:lnTo>
                    <a:pt x="229499" y="0"/>
                  </a:lnTo>
                  <a:lnTo>
                    <a:pt x="229499" y="1340699"/>
                  </a:lnTo>
                  <a:lnTo>
                    <a:pt x="0" y="1340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425500" y="2443875"/>
              <a:ext cx="128905" cy="586740"/>
            </a:xfrm>
            <a:custGeom>
              <a:avLst/>
              <a:gdLst/>
              <a:ahLst/>
              <a:cxnLst/>
              <a:rect l="l" t="t" r="r" b="b"/>
              <a:pathLst>
                <a:path w="128905" h="586739">
                  <a:moveTo>
                    <a:pt x="128399" y="586499"/>
                  </a:moveTo>
                  <a:lnTo>
                    <a:pt x="0" y="586499"/>
                  </a:lnTo>
                  <a:lnTo>
                    <a:pt x="0" y="0"/>
                  </a:lnTo>
                  <a:lnTo>
                    <a:pt x="128399" y="0"/>
                  </a:lnTo>
                  <a:lnTo>
                    <a:pt x="128399" y="586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425500" y="2443875"/>
              <a:ext cx="128905" cy="586740"/>
            </a:xfrm>
            <a:custGeom>
              <a:avLst/>
              <a:gdLst/>
              <a:ahLst/>
              <a:cxnLst/>
              <a:rect l="l" t="t" r="r" b="b"/>
              <a:pathLst>
                <a:path w="128905" h="586739">
                  <a:moveTo>
                    <a:pt x="0" y="0"/>
                  </a:moveTo>
                  <a:lnTo>
                    <a:pt x="128399" y="0"/>
                  </a:lnTo>
                  <a:lnTo>
                    <a:pt x="128399" y="586499"/>
                  </a:lnTo>
                  <a:lnTo>
                    <a:pt x="0" y="5864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543215" y="1677438"/>
              <a:ext cx="902969" cy="438784"/>
            </a:xfrm>
            <a:custGeom>
              <a:avLst/>
              <a:gdLst/>
              <a:ahLst/>
              <a:cxnLst/>
              <a:rect l="l" t="t" r="r" b="b"/>
              <a:pathLst>
                <a:path w="902969" h="438785">
                  <a:moveTo>
                    <a:pt x="0" y="0"/>
                  </a:moveTo>
                  <a:lnTo>
                    <a:pt x="902886" y="43824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39232" y="2101529"/>
              <a:ext cx="46355" cy="33655"/>
            </a:xfrm>
            <a:custGeom>
              <a:avLst/>
              <a:gdLst/>
              <a:ahLst/>
              <a:cxnLst/>
              <a:rect l="l" t="t" r="r" b="b"/>
              <a:pathLst>
                <a:path w="46355" h="33655">
                  <a:moveTo>
                    <a:pt x="45756" y="33028"/>
                  </a:moveTo>
                  <a:lnTo>
                    <a:pt x="0" y="28307"/>
                  </a:lnTo>
                  <a:lnTo>
                    <a:pt x="13739" y="0"/>
                  </a:lnTo>
                  <a:lnTo>
                    <a:pt x="45756" y="3302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39232" y="2101529"/>
              <a:ext cx="46355" cy="33655"/>
            </a:xfrm>
            <a:custGeom>
              <a:avLst/>
              <a:gdLst/>
              <a:ahLst/>
              <a:cxnLst/>
              <a:rect l="l" t="t" r="r" b="b"/>
              <a:pathLst>
                <a:path w="46355" h="33655">
                  <a:moveTo>
                    <a:pt x="0" y="28307"/>
                  </a:moveTo>
                  <a:lnTo>
                    <a:pt x="45756" y="33028"/>
                  </a:lnTo>
                  <a:lnTo>
                    <a:pt x="13739" y="0"/>
                  </a:lnTo>
                  <a:lnTo>
                    <a:pt x="0" y="2830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1093038" y="2136583"/>
            <a:ext cx="1098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5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093038" y="2746183"/>
            <a:ext cx="1079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35" dirty="0">
                <a:latin typeface="Verdana"/>
                <a:cs typeface="Verdana"/>
              </a:rPr>
              <a:t>1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2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93038" y="3203383"/>
            <a:ext cx="1098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56711" y="2158742"/>
            <a:ext cx="63500" cy="1191260"/>
          </a:xfrm>
          <a:custGeom>
            <a:avLst/>
            <a:gdLst/>
            <a:ahLst/>
            <a:cxnLst/>
            <a:rect l="l" t="t" r="r" b="b"/>
            <a:pathLst>
              <a:path w="63500" h="1191260">
                <a:moveTo>
                  <a:pt x="63299" y="1190700"/>
                </a:moveTo>
                <a:lnTo>
                  <a:pt x="38660" y="1190285"/>
                </a:lnTo>
                <a:lnTo>
                  <a:pt x="18540" y="1189155"/>
                </a:lnTo>
                <a:lnTo>
                  <a:pt x="4974" y="1187478"/>
                </a:lnTo>
                <a:lnTo>
                  <a:pt x="0" y="1185425"/>
                </a:lnTo>
                <a:lnTo>
                  <a:pt x="0" y="5274"/>
                </a:lnTo>
                <a:lnTo>
                  <a:pt x="0" y="3875"/>
                </a:lnTo>
                <a:lnTo>
                  <a:pt x="6669" y="2534"/>
                </a:lnTo>
                <a:lnTo>
                  <a:pt x="18540" y="1544"/>
                </a:lnTo>
                <a:lnTo>
                  <a:pt x="28181" y="886"/>
                </a:lnTo>
                <a:lnTo>
                  <a:pt x="39076" y="401"/>
                </a:lnTo>
                <a:lnTo>
                  <a:pt x="50893" y="102"/>
                </a:lnTo>
                <a:lnTo>
                  <a:pt x="63299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9509" y="2716029"/>
            <a:ext cx="618357" cy="210679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1029725" y="1147566"/>
            <a:ext cx="10388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нет</a:t>
            </a:r>
            <a:r>
              <a:rPr sz="1200" spc="-10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функции активации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966007" y="2122386"/>
            <a:ext cx="3022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latin typeface="Verdana"/>
                <a:cs typeface="Verdana"/>
              </a:rPr>
              <a:t>0.06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20" dirty="0">
                <a:latin typeface="Verdana"/>
                <a:cs typeface="Verdana"/>
              </a:rPr>
              <a:t>0.00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66007" y="2427186"/>
            <a:ext cx="1079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2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66007" y="2731986"/>
            <a:ext cx="29210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40" dirty="0">
                <a:latin typeface="Verdana"/>
                <a:cs typeface="Verdana"/>
              </a:rPr>
              <a:t>0.34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966007" y="2884386"/>
            <a:ext cx="10795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2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966007" y="3189186"/>
            <a:ext cx="2514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20" dirty="0">
                <a:latin typeface="Verdana"/>
                <a:cs typeface="Verdana"/>
              </a:rPr>
              <a:t>0.13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296324" y="2144545"/>
            <a:ext cx="63500" cy="1191260"/>
          </a:xfrm>
          <a:custGeom>
            <a:avLst/>
            <a:gdLst/>
            <a:ahLst/>
            <a:cxnLst/>
            <a:rect l="l" t="t" r="r" b="b"/>
            <a:pathLst>
              <a:path w="63500" h="1191260">
                <a:moveTo>
                  <a:pt x="0" y="1190699"/>
                </a:moveTo>
                <a:lnTo>
                  <a:pt x="24639" y="1190285"/>
                </a:lnTo>
                <a:lnTo>
                  <a:pt x="44759" y="1189155"/>
                </a:lnTo>
                <a:lnTo>
                  <a:pt x="58325" y="1187478"/>
                </a:lnTo>
                <a:lnTo>
                  <a:pt x="63299" y="1185425"/>
                </a:lnTo>
                <a:lnTo>
                  <a:pt x="63299" y="5274"/>
                </a:lnTo>
                <a:lnTo>
                  <a:pt x="63299" y="3875"/>
                </a:lnTo>
                <a:lnTo>
                  <a:pt x="56630" y="2534"/>
                </a:lnTo>
                <a:lnTo>
                  <a:pt x="44759" y="1544"/>
                </a:lnTo>
                <a:lnTo>
                  <a:pt x="35118" y="886"/>
                </a:lnTo>
                <a:lnTo>
                  <a:pt x="24223" y="401"/>
                </a:lnTo>
                <a:lnTo>
                  <a:pt x="12406" y="102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528447" y="2122420"/>
            <a:ext cx="1625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a as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528447" y="2732020"/>
            <a:ext cx="5549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Verdana"/>
                <a:cs typeface="Verdana"/>
              </a:rPr>
              <a:t>banking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528447" y="3189220"/>
            <a:ext cx="6343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Verdana"/>
                <a:cs typeface="Verdana"/>
              </a:rPr>
              <a:t>problems</a:t>
            </a:r>
            <a:endParaRPr sz="1000">
              <a:latin typeface="Verdana"/>
              <a:cs typeface="Verdana"/>
            </a:endParaRPr>
          </a:p>
        </p:txBody>
      </p:sp>
      <p:pic>
        <p:nvPicPr>
          <p:cNvPr id="36" name="object 3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1700" y="3982849"/>
            <a:ext cx="5523601" cy="242825"/>
          </a:xfrm>
          <a:prstGeom prst="rect">
            <a:avLst/>
          </a:prstGeom>
        </p:spPr>
      </p:pic>
      <p:sp>
        <p:nvSpPr>
          <p:cNvPr id="37" name="object 37"/>
          <p:cNvSpPr/>
          <p:nvPr/>
        </p:nvSpPr>
        <p:spPr>
          <a:xfrm>
            <a:off x="5298806" y="2141958"/>
            <a:ext cx="63500" cy="1191260"/>
          </a:xfrm>
          <a:custGeom>
            <a:avLst/>
            <a:gdLst/>
            <a:ahLst/>
            <a:cxnLst/>
            <a:rect l="l" t="t" r="r" b="b"/>
            <a:pathLst>
              <a:path w="63500" h="1191260">
                <a:moveTo>
                  <a:pt x="63299" y="1190699"/>
                </a:moveTo>
                <a:lnTo>
                  <a:pt x="38660" y="1190285"/>
                </a:lnTo>
                <a:lnTo>
                  <a:pt x="18540" y="1189155"/>
                </a:lnTo>
                <a:lnTo>
                  <a:pt x="4974" y="1187478"/>
                </a:lnTo>
                <a:lnTo>
                  <a:pt x="0" y="1185425"/>
                </a:lnTo>
                <a:lnTo>
                  <a:pt x="0" y="5274"/>
                </a:lnTo>
                <a:lnTo>
                  <a:pt x="0" y="3875"/>
                </a:lnTo>
                <a:lnTo>
                  <a:pt x="6668" y="2534"/>
                </a:lnTo>
                <a:lnTo>
                  <a:pt x="18539" y="1544"/>
                </a:lnTo>
                <a:lnTo>
                  <a:pt x="28180" y="886"/>
                </a:lnTo>
                <a:lnTo>
                  <a:pt x="39075" y="401"/>
                </a:lnTo>
                <a:lnTo>
                  <a:pt x="50892" y="102"/>
                </a:lnTo>
                <a:lnTo>
                  <a:pt x="63299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5459655" y="2122415"/>
            <a:ext cx="1098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5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459655" y="2732015"/>
            <a:ext cx="1098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5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459655" y="3189215"/>
            <a:ext cx="717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35" dirty="0">
                <a:latin typeface="Verdana"/>
                <a:cs typeface="Verdana"/>
              </a:rPr>
              <a:t>1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668769" y="2143811"/>
            <a:ext cx="63500" cy="1191260"/>
          </a:xfrm>
          <a:custGeom>
            <a:avLst/>
            <a:gdLst/>
            <a:ahLst/>
            <a:cxnLst/>
            <a:rect l="l" t="t" r="r" b="b"/>
            <a:pathLst>
              <a:path w="63500" h="1191260">
                <a:moveTo>
                  <a:pt x="0" y="1190699"/>
                </a:moveTo>
                <a:lnTo>
                  <a:pt x="24639" y="1190285"/>
                </a:lnTo>
                <a:lnTo>
                  <a:pt x="44759" y="1189154"/>
                </a:lnTo>
                <a:lnTo>
                  <a:pt x="58325" y="1187478"/>
                </a:lnTo>
                <a:lnTo>
                  <a:pt x="63299" y="1185424"/>
                </a:lnTo>
                <a:lnTo>
                  <a:pt x="63299" y="5274"/>
                </a:lnTo>
                <a:lnTo>
                  <a:pt x="63299" y="3875"/>
                </a:lnTo>
                <a:lnTo>
                  <a:pt x="56630" y="2533"/>
                </a:lnTo>
                <a:lnTo>
                  <a:pt x="44759" y="1544"/>
                </a:lnTo>
                <a:lnTo>
                  <a:pt x="35118" y="886"/>
                </a:lnTo>
                <a:lnTo>
                  <a:pt x="24223" y="401"/>
                </a:lnTo>
                <a:lnTo>
                  <a:pt x="12406" y="102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object 4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17890" y="3165695"/>
            <a:ext cx="711810" cy="200260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2929650" y="1234566"/>
            <a:ext cx="6451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Verdana"/>
                <a:cs typeface="Verdana"/>
              </a:rPr>
              <a:t>SoftMax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3302253" y="1562461"/>
            <a:ext cx="622300" cy="1791970"/>
            <a:chOff x="3302253" y="1562461"/>
            <a:chExt cx="622300" cy="1791970"/>
          </a:xfrm>
        </p:grpSpPr>
        <p:sp>
          <p:nvSpPr>
            <p:cNvPr id="45" name="object 45"/>
            <p:cNvSpPr/>
            <p:nvPr/>
          </p:nvSpPr>
          <p:spPr>
            <a:xfrm>
              <a:off x="3307015" y="1567224"/>
              <a:ext cx="156845" cy="421640"/>
            </a:xfrm>
            <a:custGeom>
              <a:avLst/>
              <a:gdLst/>
              <a:ahLst/>
              <a:cxnLst/>
              <a:rect l="l" t="t" r="r" b="b"/>
              <a:pathLst>
                <a:path w="156845" h="421639">
                  <a:moveTo>
                    <a:pt x="0" y="0"/>
                  </a:moveTo>
                  <a:lnTo>
                    <a:pt x="156781" y="421633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449051" y="1983374"/>
              <a:ext cx="29845" cy="46355"/>
            </a:xfrm>
            <a:custGeom>
              <a:avLst/>
              <a:gdLst/>
              <a:ahLst/>
              <a:cxnLst/>
              <a:rect l="l" t="t" r="r" b="b"/>
              <a:pathLst>
                <a:path w="29845" h="46355">
                  <a:moveTo>
                    <a:pt x="29811" y="45998"/>
                  </a:moveTo>
                  <a:lnTo>
                    <a:pt x="0" y="10966"/>
                  </a:lnTo>
                  <a:lnTo>
                    <a:pt x="29492" y="0"/>
                  </a:lnTo>
                  <a:lnTo>
                    <a:pt x="29811" y="45998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449051" y="1983374"/>
              <a:ext cx="29845" cy="46355"/>
            </a:xfrm>
            <a:custGeom>
              <a:avLst/>
              <a:gdLst/>
              <a:ahLst/>
              <a:cxnLst/>
              <a:rect l="l" t="t" r="r" b="b"/>
              <a:pathLst>
                <a:path w="29845" h="46355">
                  <a:moveTo>
                    <a:pt x="0" y="10966"/>
                  </a:moveTo>
                  <a:lnTo>
                    <a:pt x="29811" y="45998"/>
                  </a:lnTo>
                  <a:lnTo>
                    <a:pt x="29492" y="0"/>
                  </a:lnTo>
                  <a:lnTo>
                    <a:pt x="0" y="1096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753490" y="2008750"/>
              <a:ext cx="128905" cy="1341120"/>
            </a:xfrm>
            <a:custGeom>
              <a:avLst/>
              <a:gdLst/>
              <a:ahLst/>
              <a:cxnLst/>
              <a:rect l="l" t="t" r="r" b="b"/>
              <a:pathLst>
                <a:path w="128904" h="1341120">
                  <a:moveTo>
                    <a:pt x="128399" y="1340699"/>
                  </a:moveTo>
                  <a:lnTo>
                    <a:pt x="0" y="1340699"/>
                  </a:lnTo>
                  <a:lnTo>
                    <a:pt x="0" y="0"/>
                  </a:lnTo>
                  <a:lnTo>
                    <a:pt x="128399" y="0"/>
                  </a:lnTo>
                  <a:lnTo>
                    <a:pt x="128399" y="1340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753490" y="2008750"/>
              <a:ext cx="128905" cy="1341120"/>
            </a:xfrm>
            <a:custGeom>
              <a:avLst/>
              <a:gdLst/>
              <a:ahLst/>
              <a:cxnLst/>
              <a:rect l="l" t="t" r="r" b="b"/>
              <a:pathLst>
                <a:path w="128904" h="1341120">
                  <a:moveTo>
                    <a:pt x="0" y="0"/>
                  </a:moveTo>
                  <a:lnTo>
                    <a:pt x="128399" y="0"/>
                  </a:lnTo>
                  <a:lnTo>
                    <a:pt x="128399" y="1340699"/>
                  </a:lnTo>
                  <a:lnTo>
                    <a:pt x="0" y="1340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855881" y="2129733"/>
              <a:ext cx="63500" cy="1191260"/>
            </a:xfrm>
            <a:custGeom>
              <a:avLst/>
              <a:gdLst/>
              <a:ahLst/>
              <a:cxnLst/>
              <a:rect l="l" t="t" r="r" b="b"/>
              <a:pathLst>
                <a:path w="63500" h="1191260">
                  <a:moveTo>
                    <a:pt x="63299" y="1190699"/>
                  </a:moveTo>
                  <a:lnTo>
                    <a:pt x="38660" y="1190285"/>
                  </a:lnTo>
                  <a:lnTo>
                    <a:pt x="18540" y="1189155"/>
                  </a:lnTo>
                  <a:lnTo>
                    <a:pt x="4974" y="1187478"/>
                  </a:lnTo>
                  <a:lnTo>
                    <a:pt x="0" y="1185425"/>
                  </a:lnTo>
                  <a:lnTo>
                    <a:pt x="0" y="5274"/>
                  </a:lnTo>
                  <a:lnTo>
                    <a:pt x="0" y="3875"/>
                  </a:lnTo>
                  <a:lnTo>
                    <a:pt x="6668" y="2534"/>
                  </a:lnTo>
                  <a:lnTo>
                    <a:pt x="18539" y="1544"/>
                  </a:lnTo>
                  <a:lnTo>
                    <a:pt x="28180" y="886"/>
                  </a:lnTo>
                  <a:lnTo>
                    <a:pt x="39075" y="401"/>
                  </a:lnTo>
                  <a:lnTo>
                    <a:pt x="50892" y="102"/>
                  </a:lnTo>
                  <a:lnTo>
                    <a:pt x="6329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51"/>
          <p:cNvGrpSpPr/>
          <p:nvPr/>
        </p:nvGrpSpPr>
        <p:grpSpPr>
          <a:xfrm>
            <a:off x="4305486" y="1878459"/>
            <a:ext cx="965200" cy="43815"/>
            <a:chOff x="4305486" y="1878459"/>
            <a:chExt cx="965200" cy="43815"/>
          </a:xfrm>
        </p:grpSpPr>
        <p:sp>
          <p:nvSpPr>
            <p:cNvPr id="52" name="object 52"/>
            <p:cNvSpPr/>
            <p:nvPr/>
          </p:nvSpPr>
          <p:spPr>
            <a:xfrm>
              <a:off x="4328966" y="1893838"/>
              <a:ext cx="894080" cy="8255"/>
            </a:xfrm>
            <a:custGeom>
              <a:avLst/>
              <a:gdLst/>
              <a:ahLst/>
              <a:cxnLst/>
              <a:rect l="l" t="t" r="r" b="b"/>
              <a:pathLst>
                <a:path w="894079" h="8255">
                  <a:moveTo>
                    <a:pt x="0" y="0"/>
                  </a:moveTo>
                  <a:lnTo>
                    <a:pt x="893610" y="7905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4310249" y="1883222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29333" y="21422"/>
                  </a:moveTo>
                  <a:lnTo>
                    <a:pt x="0" y="10450"/>
                  </a:lnTo>
                  <a:lnTo>
                    <a:pt x="29523" y="0"/>
                  </a:lnTo>
                  <a:lnTo>
                    <a:pt x="18717" y="10616"/>
                  </a:lnTo>
                  <a:lnTo>
                    <a:pt x="29333" y="2142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310249" y="1883222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18717" y="10616"/>
                  </a:moveTo>
                  <a:lnTo>
                    <a:pt x="29523" y="0"/>
                  </a:lnTo>
                  <a:lnTo>
                    <a:pt x="0" y="10450"/>
                  </a:lnTo>
                  <a:lnTo>
                    <a:pt x="29333" y="21422"/>
                  </a:lnTo>
                  <a:lnTo>
                    <a:pt x="18717" y="1061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5222438" y="188601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278" y="0"/>
                  </a:lnTo>
                  <a:lnTo>
                    <a:pt x="43362" y="16114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5222438" y="188601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362" y="16114"/>
                  </a:lnTo>
                  <a:lnTo>
                    <a:pt x="278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4089999" y="1393916"/>
            <a:ext cx="13957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latin typeface="Verdana"/>
                <a:cs typeface="Verdana"/>
              </a:rPr>
              <a:t>cross-</a:t>
            </a:r>
            <a:r>
              <a:rPr sz="1200" dirty="0">
                <a:latin typeface="Verdana"/>
                <a:cs typeface="Verdana"/>
              </a:rPr>
              <a:t>entropy</a:t>
            </a:r>
            <a:r>
              <a:rPr sz="1200" spc="-65" dirty="0">
                <a:latin typeface="Verdana"/>
                <a:cs typeface="Verdana"/>
              </a:rPr>
              <a:t> </a:t>
            </a:r>
            <a:r>
              <a:rPr sz="1200" spc="-20" dirty="0">
                <a:latin typeface="Verdana"/>
                <a:cs typeface="Verdana"/>
              </a:rPr>
              <a:t>loss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657091" y="2527050"/>
            <a:ext cx="85851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матрица</a:t>
            </a:r>
            <a:r>
              <a:rPr sz="1200" spc="95" dirty="0">
                <a:latin typeface="Verdana"/>
                <a:cs typeface="Verdana"/>
              </a:rPr>
              <a:t> </a:t>
            </a:r>
            <a:r>
              <a:rPr sz="1200" spc="-50" dirty="0">
                <a:latin typeface="Verdana"/>
                <a:cs typeface="Verdana"/>
              </a:rPr>
              <a:t>A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856735" y="2709930"/>
            <a:ext cx="3003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25" dirty="0">
                <a:latin typeface="Verdana"/>
                <a:cs typeface="Verdana"/>
              </a:rPr>
              <a:t>nxk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737313" y="2507175"/>
            <a:ext cx="8642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Verdana"/>
                <a:cs typeface="Verdana"/>
              </a:rPr>
              <a:t>матрица</a:t>
            </a:r>
            <a:r>
              <a:rPr sz="1200" spc="95" dirty="0">
                <a:latin typeface="Verdana"/>
                <a:cs typeface="Verdana"/>
              </a:rPr>
              <a:t> </a:t>
            </a:r>
            <a:r>
              <a:rPr sz="1200" spc="20" dirty="0">
                <a:latin typeface="Verdana"/>
                <a:cs typeface="Verdana"/>
              </a:rPr>
              <a:t>B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936957" y="2690055"/>
            <a:ext cx="29781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25" dirty="0">
                <a:latin typeface="Verdana"/>
                <a:cs typeface="Verdana"/>
              </a:rPr>
              <a:t>kxn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70" dirty="0"/>
              <a:t>Word2Vec</a:t>
            </a:r>
            <a:endParaRPr sz="2700"/>
          </a:p>
        </p:txBody>
      </p:sp>
      <p:grpSp>
        <p:nvGrpSpPr>
          <p:cNvPr id="3" name="object 3"/>
          <p:cNvGrpSpPr/>
          <p:nvPr/>
        </p:nvGrpSpPr>
        <p:grpSpPr>
          <a:xfrm>
            <a:off x="1409956" y="2216929"/>
            <a:ext cx="883919" cy="1301115"/>
            <a:chOff x="1409956" y="2216929"/>
            <a:chExt cx="883919" cy="1301115"/>
          </a:xfrm>
        </p:grpSpPr>
        <p:sp>
          <p:nvSpPr>
            <p:cNvPr id="4" name="object 4"/>
            <p:cNvSpPr/>
            <p:nvPr/>
          </p:nvSpPr>
          <p:spPr>
            <a:xfrm>
              <a:off x="1414719" y="2221692"/>
              <a:ext cx="874394" cy="1291590"/>
            </a:xfrm>
            <a:custGeom>
              <a:avLst/>
              <a:gdLst/>
              <a:ahLst/>
              <a:cxnLst/>
              <a:rect l="l" t="t" r="r" b="b"/>
              <a:pathLst>
                <a:path w="874394" h="1291589">
                  <a:moveTo>
                    <a:pt x="874199" y="1291199"/>
                  </a:moveTo>
                  <a:lnTo>
                    <a:pt x="0" y="1291199"/>
                  </a:lnTo>
                  <a:lnTo>
                    <a:pt x="0" y="0"/>
                  </a:lnTo>
                  <a:lnTo>
                    <a:pt x="874199" y="0"/>
                  </a:lnTo>
                  <a:lnTo>
                    <a:pt x="874199" y="1291199"/>
                  </a:lnTo>
                  <a:close/>
                </a:path>
              </a:pathLst>
            </a:custGeom>
            <a:solidFill>
              <a:srgbClr val="F9CB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14719" y="2221692"/>
              <a:ext cx="874394" cy="1291590"/>
            </a:xfrm>
            <a:custGeom>
              <a:avLst/>
              <a:gdLst/>
              <a:ahLst/>
              <a:cxnLst/>
              <a:rect l="l" t="t" r="r" b="b"/>
              <a:pathLst>
                <a:path w="874394" h="1291589">
                  <a:moveTo>
                    <a:pt x="0" y="0"/>
                  </a:moveTo>
                  <a:lnTo>
                    <a:pt x="874199" y="0"/>
                  </a:lnTo>
                  <a:lnTo>
                    <a:pt x="874199" y="1291199"/>
                  </a:lnTo>
                  <a:lnTo>
                    <a:pt x="0" y="1291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27487" y="2182535"/>
            <a:ext cx="1098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5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7487" y="2792135"/>
            <a:ext cx="1079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35" dirty="0">
                <a:latin typeface="Verdana"/>
                <a:cs typeface="Verdana"/>
              </a:rPr>
              <a:t>1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2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7487" y="3249336"/>
            <a:ext cx="1098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44736" y="2207528"/>
            <a:ext cx="715010" cy="1301115"/>
            <a:chOff x="244736" y="2207528"/>
            <a:chExt cx="715010" cy="1301115"/>
          </a:xfrm>
        </p:grpSpPr>
        <p:sp>
          <p:nvSpPr>
            <p:cNvPr id="10" name="object 10"/>
            <p:cNvSpPr/>
            <p:nvPr/>
          </p:nvSpPr>
          <p:spPr>
            <a:xfrm>
              <a:off x="892588" y="2212290"/>
              <a:ext cx="62230" cy="1291590"/>
            </a:xfrm>
            <a:custGeom>
              <a:avLst/>
              <a:gdLst/>
              <a:ahLst/>
              <a:cxnLst/>
              <a:rect l="l" t="t" r="r" b="b"/>
              <a:pathLst>
                <a:path w="62230" h="1291589">
                  <a:moveTo>
                    <a:pt x="61799" y="1291200"/>
                  </a:moveTo>
                  <a:lnTo>
                    <a:pt x="37744" y="1290795"/>
                  </a:lnTo>
                  <a:lnTo>
                    <a:pt x="18100" y="1289691"/>
                  </a:lnTo>
                  <a:lnTo>
                    <a:pt x="4856" y="1288054"/>
                  </a:lnTo>
                  <a:lnTo>
                    <a:pt x="0" y="1286050"/>
                  </a:lnTo>
                  <a:lnTo>
                    <a:pt x="0" y="5149"/>
                  </a:lnTo>
                  <a:lnTo>
                    <a:pt x="0" y="3783"/>
                  </a:lnTo>
                  <a:lnTo>
                    <a:pt x="6510" y="2474"/>
                  </a:lnTo>
                  <a:lnTo>
                    <a:pt x="18100" y="1508"/>
                  </a:lnTo>
                  <a:lnTo>
                    <a:pt x="27513" y="865"/>
                  </a:lnTo>
                  <a:lnTo>
                    <a:pt x="38150" y="392"/>
                  </a:lnTo>
                  <a:lnTo>
                    <a:pt x="49687" y="99"/>
                  </a:lnTo>
                  <a:lnTo>
                    <a:pt x="6179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736" y="2851553"/>
              <a:ext cx="604419" cy="228440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198344" y="2212290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30" h="1291589">
                <a:moveTo>
                  <a:pt x="0" y="1291200"/>
                </a:moveTo>
                <a:lnTo>
                  <a:pt x="24055" y="1290795"/>
                </a:lnTo>
                <a:lnTo>
                  <a:pt x="43699" y="1289691"/>
                </a:lnTo>
                <a:lnTo>
                  <a:pt x="56943" y="1288054"/>
                </a:lnTo>
                <a:lnTo>
                  <a:pt x="61799" y="12860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4"/>
                </a:lnTo>
                <a:lnTo>
                  <a:pt x="43699" y="1508"/>
                </a:lnTo>
                <a:lnTo>
                  <a:pt x="34286" y="865"/>
                </a:lnTo>
                <a:lnTo>
                  <a:pt x="23649" y="392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457173" y="2703711"/>
            <a:ext cx="78930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Verdana"/>
                <a:cs typeface="Verdana"/>
              </a:rPr>
              <a:t>матрица</a:t>
            </a:r>
            <a:r>
              <a:rPr sz="1100" spc="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A</a:t>
            </a:r>
            <a:endParaRPr sz="1100">
              <a:latin typeface="Verdana"/>
              <a:cs typeface="Verdana"/>
            </a:endParaRPr>
          </a:p>
          <a:p>
            <a:pPr marL="195580">
              <a:lnSpc>
                <a:spcPct val="100000"/>
              </a:lnSpc>
            </a:pPr>
            <a:r>
              <a:rPr sz="1100" i="1" spc="-25" dirty="0">
                <a:latin typeface="Verdana"/>
                <a:cs typeface="Verdana"/>
              </a:rPr>
              <a:t>nxk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96980" y="2448688"/>
            <a:ext cx="3016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latin typeface="Verdana"/>
                <a:cs typeface="Verdana"/>
              </a:rPr>
              <a:t>0.56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0" dirty="0">
                <a:latin typeface="Verdana"/>
                <a:cs typeface="Verdana"/>
              </a:rPr>
              <a:t>-</a:t>
            </a:r>
            <a:r>
              <a:rPr sz="1000" spc="-110" dirty="0">
                <a:latin typeface="Verdana"/>
                <a:cs typeface="Verdana"/>
              </a:rPr>
              <a:t>1.34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96980" y="3058288"/>
            <a:ext cx="3670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40" dirty="0">
                <a:latin typeface="Verdana"/>
                <a:cs typeface="Verdana"/>
              </a:rPr>
              <a:t>0.056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187555" y="1745341"/>
            <a:ext cx="323850" cy="1577975"/>
            <a:chOff x="2187555" y="1745341"/>
            <a:chExt cx="323850" cy="1577975"/>
          </a:xfrm>
        </p:grpSpPr>
        <p:sp>
          <p:nvSpPr>
            <p:cNvPr id="17" name="object 17"/>
            <p:cNvSpPr/>
            <p:nvPr/>
          </p:nvSpPr>
          <p:spPr>
            <a:xfrm>
              <a:off x="2192318" y="1750104"/>
              <a:ext cx="292735" cy="1568450"/>
            </a:xfrm>
            <a:custGeom>
              <a:avLst/>
              <a:gdLst/>
              <a:ahLst/>
              <a:cxnLst/>
              <a:rect l="l" t="t" r="r" b="b"/>
              <a:pathLst>
                <a:path w="292735" h="1568450">
                  <a:moveTo>
                    <a:pt x="202336" y="1568192"/>
                  </a:moveTo>
                  <a:lnTo>
                    <a:pt x="178281" y="1567788"/>
                  </a:lnTo>
                  <a:lnTo>
                    <a:pt x="158637" y="1566684"/>
                  </a:lnTo>
                  <a:lnTo>
                    <a:pt x="145392" y="1565047"/>
                  </a:lnTo>
                  <a:lnTo>
                    <a:pt x="140536" y="1563042"/>
                  </a:lnTo>
                  <a:lnTo>
                    <a:pt x="140536" y="652642"/>
                  </a:lnTo>
                  <a:lnTo>
                    <a:pt x="140536" y="651276"/>
                  </a:lnTo>
                  <a:lnTo>
                    <a:pt x="147047" y="649966"/>
                  </a:lnTo>
                  <a:lnTo>
                    <a:pt x="158637" y="649000"/>
                  </a:lnTo>
                  <a:lnTo>
                    <a:pt x="168049" y="648357"/>
                  </a:lnTo>
                  <a:lnTo>
                    <a:pt x="178686" y="647884"/>
                  </a:lnTo>
                  <a:lnTo>
                    <a:pt x="190223" y="647592"/>
                  </a:lnTo>
                  <a:lnTo>
                    <a:pt x="202336" y="647492"/>
                  </a:lnTo>
                </a:path>
                <a:path w="292735" h="1568450">
                  <a:moveTo>
                    <a:pt x="0" y="0"/>
                  </a:moveTo>
                  <a:lnTo>
                    <a:pt x="292118" y="49878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70860" y="2240938"/>
              <a:ext cx="35560" cy="45720"/>
            </a:xfrm>
            <a:custGeom>
              <a:avLst/>
              <a:gdLst/>
              <a:ahLst/>
              <a:cxnLst/>
              <a:rect l="l" t="t" r="r" b="b"/>
              <a:pathLst>
                <a:path w="35560" h="45719">
                  <a:moveTo>
                    <a:pt x="35420" y="45250"/>
                  </a:moveTo>
                  <a:lnTo>
                    <a:pt x="0" y="15901"/>
                  </a:lnTo>
                  <a:lnTo>
                    <a:pt x="27151" y="0"/>
                  </a:lnTo>
                  <a:lnTo>
                    <a:pt x="35420" y="4525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70860" y="2240938"/>
              <a:ext cx="35560" cy="45720"/>
            </a:xfrm>
            <a:custGeom>
              <a:avLst/>
              <a:gdLst/>
              <a:ahLst/>
              <a:cxnLst/>
              <a:rect l="l" t="t" r="r" b="b"/>
              <a:pathLst>
                <a:path w="35560" h="45719">
                  <a:moveTo>
                    <a:pt x="0" y="15901"/>
                  </a:moveTo>
                  <a:lnTo>
                    <a:pt x="35420" y="45250"/>
                  </a:lnTo>
                  <a:lnTo>
                    <a:pt x="27151" y="0"/>
                  </a:lnTo>
                  <a:lnTo>
                    <a:pt x="0" y="159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2824011" y="2397596"/>
            <a:ext cx="62230" cy="920750"/>
          </a:xfrm>
          <a:custGeom>
            <a:avLst/>
            <a:gdLst/>
            <a:ahLst/>
            <a:cxnLst/>
            <a:rect l="l" t="t" r="r" b="b"/>
            <a:pathLst>
              <a:path w="62230" h="920750">
                <a:moveTo>
                  <a:pt x="0" y="920700"/>
                </a:moveTo>
                <a:lnTo>
                  <a:pt x="24055" y="920295"/>
                </a:lnTo>
                <a:lnTo>
                  <a:pt x="43699" y="919191"/>
                </a:lnTo>
                <a:lnTo>
                  <a:pt x="56943" y="917554"/>
                </a:lnTo>
                <a:lnTo>
                  <a:pt x="61799" y="9155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4"/>
                </a:lnTo>
                <a:lnTo>
                  <a:pt x="43699" y="1508"/>
                </a:lnTo>
                <a:lnTo>
                  <a:pt x="34286" y="865"/>
                </a:lnTo>
                <a:lnTo>
                  <a:pt x="23649" y="392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987691" y="2461042"/>
            <a:ext cx="1282065" cy="816610"/>
          </a:xfrm>
          <a:prstGeom prst="rect">
            <a:avLst/>
          </a:prstGeom>
          <a:solidFill>
            <a:srgbClr val="B6D7A8"/>
          </a:solidFill>
          <a:ln w="9524">
            <a:solidFill>
              <a:srgbClr val="93C47D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100">
              <a:latin typeface="Times New Roman"/>
              <a:cs typeface="Times New Roman"/>
            </a:endParaRPr>
          </a:p>
          <a:p>
            <a:pPr marL="68580" algn="ctr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матрица</a:t>
            </a:r>
            <a:r>
              <a:rPr sz="1100" spc="85" dirty="0">
                <a:latin typeface="Verdana"/>
                <a:cs typeface="Verdana"/>
              </a:rPr>
              <a:t> </a:t>
            </a:r>
            <a:r>
              <a:rPr sz="1100" spc="25" dirty="0">
                <a:latin typeface="Verdana"/>
                <a:cs typeface="Verdana"/>
              </a:rPr>
              <a:t>B</a:t>
            </a:r>
            <a:endParaRPr sz="1100">
              <a:latin typeface="Verdana"/>
              <a:cs typeface="Verdana"/>
            </a:endParaRPr>
          </a:p>
          <a:p>
            <a:pPr marR="76200" algn="ctr">
              <a:lnSpc>
                <a:spcPct val="100000"/>
              </a:lnSpc>
            </a:pPr>
            <a:r>
              <a:rPr sz="1100" i="1" spc="-25" dirty="0">
                <a:latin typeface="Verdana"/>
                <a:cs typeface="Verdana"/>
              </a:rPr>
              <a:t>kxn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93804" y="2138063"/>
            <a:ext cx="3022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latin typeface="Verdana"/>
                <a:cs typeface="Verdana"/>
              </a:rPr>
              <a:t>0.06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20" dirty="0">
                <a:latin typeface="Verdana"/>
                <a:cs typeface="Verdana"/>
              </a:rPr>
              <a:t>0.00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93804" y="2747663"/>
            <a:ext cx="2921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40" dirty="0">
                <a:latin typeface="Verdana"/>
                <a:cs typeface="Verdana"/>
              </a:rPr>
              <a:t>0.34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493804" y="3204863"/>
            <a:ext cx="2514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20" dirty="0">
                <a:latin typeface="Verdana"/>
                <a:cs typeface="Verdana"/>
              </a:rPr>
              <a:t>0.13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358904" y="2167817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29" h="1291589">
                <a:moveTo>
                  <a:pt x="61799" y="1291200"/>
                </a:moveTo>
                <a:lnTo>
                  <a:pt x="37744" y="1290795"/>
                </a:lnTo>
                <a:lnTo>
                  <a:pt x="18100" y="1289691"/>
                </a:lnTo>
                <a:lnTo>
                  <a:pt x="4856" y="1288054"/>
                </a:lnTo>
                <a:lnTo>
                  <a:pt x="0" y="1286050"/>
                </a:lnTo>
                <a:lnTo>
                  <a:pt x="0" y="5149"/>
                </a:lnTo>
                <a:lnTo>
                  <a:pt x="0" y="3783"/>
                </a:lnTo>
                <a:lnTo>
                  <a:pt x="6510" y="2474"/>
                </a:lnTo>
                <a:lnTo>
                  <a:pt x="18100" y="1508"/>
                </a:lnTo>
                <a:lnTo>
                  <a:pt x="27513" y="865"/>
                </a:lnTo>
                <a:lnTo>
                  <a:pt x="38149" y="392"/>
                </a:lnTo>
                <a:lnTo>
                  <a:pt x="49687" y="99"/>
                </a:lnTo>
                <a:lnTo>
                  <a:pt x="61799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815102" y="2167817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29" h="1291589">
                <a:moveTo>
                  <a:pt x="0" y="1291200"/>
                </a:moveTo>
                <a:lnTo>
                  <a:pt x="24055" y="1290795"/>
                </a:lnTo>
                <a:lnTo>
                  <a:pt x="43699" y="1289691"/>
                </a:lnTo>
                <a:lnTo>
                  <a:pt x="56943" y="1288054"/>
                </a:lnTo>
                <a:lnTo>
                  <a:pt x="61799" y="12860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4"/>
                </a:lnTo>
                <a:lnTo>
                  <a:pt x="43698" y="1508"/>
                </a:lnTo>
                <a:lnTo>
                  <a:pt x="34286" y="865"/>
                </a:lnTo>
                <a:lnTo>
                  <a:pt x="23649" y="392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009667" y="2107022"/>
            <a:ext cx="1625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a as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09667" y="2716622"/>
            <a:ext cx="5549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Verdana"/>
                <a:cs typeface="Verdana"/>
              </a:rPr>
              <a:t>banking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09667" y="3173822"/>
            <a:ext cx="6343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Verdana"/>
                <a:cs typeface="Verdana"/>
              </a:rPr>
              <a:t>problems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704582" y="2130859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29" h="1291589">
                <a:moveTo>
                  <a:pt x="61799" y="1291200"/>
                </a:moveTo>
                <a:lnTo>
                  <a:pt x="37744" y="1290795"/>
                </a:lnTo>
                <a:lnTo>
                  <a:pt x="18100" y="1289691"/>
                </a:lnTo>
                <a:lnTo>
                  <a:pt x="4856" y="1288054"/>
                </a:lnTo>
                <a:lnTo>
                  <a:pt x="0" y="1286050"/>
                </a:lnTo>
                <a:lnTo>
                  <a:pt x="0" y="5149"/>
                </a:lnTo>
                <a:lnTo>
                  <a:pt x="0" y="3783"/>
                </a:lnTo>
                <a:lnTo>
                  <a:pt x="6511" y="2474"/>
                </a:lnTo>
                <a:lnTo>
                  <a:pt x="18100" y="1508"/>
                </a:lnTo>
                <a:lnTo>
                  <a:pt x="27513" y="865"/>
                </a:lnTo>
                <a:lnTo>
                  <a:pt x="38150" y="392"/>
                </a:lnTo>
                <a:lnTo>
                  <a:pt x="49687" y="99"/>
                </a:lnTo>
                <a:lnTo>
                  <a:pt x="61799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028096" y="2141868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29" h="1291589">
                <a:moveTo>
                  <a:pt x="0" y="1291199"/>
                </a:moveTo>
                <a:lnTo>
                  <a:pt x="24055" y="1290795"/>
                </a:lnTo>
                <a:lnTo>
                  <a:pt x="43699" y="1289691"/>
                </a:lnTo>
                <a:lnTo>
                  <a:pt x="56943" y="1288054"/>
                </a:lnTo>
                <a:lnTo>
                  <a:pt x="61799" y="12860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3"/>
                </a:lnTo>
                <a:lnTo>
                  <a:pt x="43699" y="1508"/>
                </a:lnTo>
                <a:lnTo>
                  <a:pt x="34286" y="865"/>
                </a:lnTo>
                <a:lnTo>
                  <a:pt x="23649" y="391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855094" y="2112113"/>
            <a:ext cx="1098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5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855094" y="2721713"/>
            <a:ext cx="1098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5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855094" y="3178913"/>
            <a:ext cx="717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35" dirty="0">
                <a:latin typeface="Verdana"/>
                <a:cs typeface="Verdana"/>
              </a:rPr>
              <a:t>1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289947" y="3270919"/>
            <a:ext cx="574040" cy="1676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05"/>
              </a:lnSpc>
            </a:pPr>
            <a:r>
              <a:rPr sz="1100" spc="-10" dirty="0">
                <a:latin typeface="Tahoma"/>
                <a:cs typeface="Tahoma"/>
              </a:rPr>
              <a:t>problems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824189" y="1922527"/>
            <a:ext cx="855980" cy="43180"/>
            <a:chOff x="4824189" y="1922527"/>
            <a:chExt cx="855980" cy="43180"/>
          </a:xfrm>
        </p:grpSpPr>
        <p:sp>
          <p:nvSpPr>
            <p:cNvPr id="37" name="object 37"/>
            <p:cNvSpPr/>
            <p:nvPr/>
          </p:nvSpPr>
          <p:spPr>
            <a:xfrm>
              <a:off x="4847669" y="1937905"/>
              <a:ext cx="784860" cy="7620"/>
            </a:xfrm>
            <a:custGeom>
              <a:avLst/>
              <a:gdLst/>
              <a:ahLst/>
              <a:cxnLst/>
              <a:rect l="l" t="t" r="r" b="b"/>
              <a:pathLst>
                <a:path w="784860" h="7619">
                  <a:moveTo>
                    <a:pt x="0" y="0"/>
                  </a:moveTo>
                  <a:lnTo>
                    <a:pt x="784410" y="699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828952" y="1927289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29332" y="21422"/>
                  </a:moveTo>
                  <a:lnTo>
                    <a:pt x="0" y="10448"/>
                  </a:lnTo>
                  <a:lnTo>
                    <a:pt x="29524" y="0"/>
                  </a:lnTo>
                  <a:lnTo>
                    <a:pt x="18717" y="10615"/>
                  </a:lnTo>
                  <a:lnTo>
                    <a:pt x="29332" y="2142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828952" y="1927289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18717" y="10615"/>
                  </a:moveTo>
                  <a:lnTo>
                    <a:pt x="29524" y="0"/>
                  </a:lnTo>
                  <a:lnTo>
                    <a:pt x="0" y="10448"/>
                  </a:lnTo>
                  <a:lnTo>
                    <a:pt x="29332" y="21422"/>
                  </a:lnTo>
                  <a:lnTo>
                    <a:pt x="18717" y="1061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631939" y="192917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280" y="0"/>
                  </a:lnTo>
                  <a:lnTo>
                    <a:pt x="43363" y="16117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631939" y="192917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363" y="16117"/>
                  </a:lnTo>
                  <a:lnTo>
                    <a:pt x="28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4659758" y="1361075"/>
            <a:ext cx="1069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latin typeface="Verdana"/>
                <a:cs typeface="Verdana"/>
              </a:rPr>
              <a:t>cross-</a:t>
            </a:r>
            <a:r>
              <a:rPr sz="1200" spc="-10" dirty="0">
                <a:latin typeface="Verdana"/>
                <a:cs typeface="Verdana"/>
              </a:rPr>
              <a:t>entropy </a:t>
            </a:r>
            <a:r>
              <a:rPr sz="1200" spc="-20" dirty="0">
                <a:latin typeface="Verdana"/>
                <a:cs typeface="Verdana"/>
              </a:rPr>
              <a:t>loss</a:t>
            </a:r>
            <a:endParaRPr sz="1200">
              <a:latin typeface="Verdana"/>
              <a:cs typeface="Verdana"/>
            </a:endParaRPr>
          </a:p>
        </p:txBody>
      </p:sp>
      <p:pic>
        <p:nvPicPr>
          <p:cNvPr id="43" name="object 4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04230" y="3241148"/>
            <a:ext cx="695766" cy="217143"/>
          </a:xfrm>
          <a:prstGeom prst="rect">
            <a:avLst/>
          </a:prstGeom>
        </p:spPr>
      </p:pic>
      <p:grpSp>
        <p:nvGrpSpPr>
          <p:cNvPr id="44" name="object 44"/>
          <p:cNvGrpSpPr/>
          <p:nvPr/>
        </p:nvGrpSpPr>
        <p:grpSpPr>
          <a:xfrm>
            <a:off x="3495087" y="1536287"/>
            <a:ext cx="768985" cy="599440"/>
            <a:chOff x="3495087" y="1536287"/>
            <a:chExt cx="768985" cy="599440"/>
          </a:xfrm>
        </p:grpSpPr>
        <p:sp>
          <p:nvSpPr>
            <p:cNvPr id="45" name="object 45"/>
            <p:cNvSpPr/>
            <p:nvPr/>
          </p:nvSpPr>
          <p:spPr>
            <a:xfrm>
              <a:off x="3499850" y="1541050"/>
              <a:ext cx="725170" cy="563245"/>
            </a:xfrm>
            <a:custGeom>
              <a:avLst/>
              <a:gdLst/>
              <a:ahLst/>
              <a:cxnLst/>
              <a:rect l="l" t="t" r="r" b="b"/>
              <a:pathLst>
                <a:path w="725170" h="563244">
                  <a:moveTo>
                    <a:pt x="0" y="0"/>
                  </a:moveTo>
                  <a:lnTo>
                    <a:pt x="724957" y="562852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215160" y="2091475"/>
              <a:ext cx="43815" cy="39370"/>
            </a:xfrm>
            <a:custGeom>
              <a:avLst/>
              <a:gdLst/>
              <a:ahLst/>
              <a:cxnLst/>
              <a:rect l="l" t="t" r="r" b="b"/>
              <a:pathLst>
                <a:path w="43814" h="39369">
                  <a:moveTo>
                    <a:pt x="43790" y="38935"/>
                  </a:moveTo>
                  <a:lnTo>
                    <a:pt x="0" y="24853"/>
                  </a:lnTo>
                  <a:lnTo>
                    <a:pt x="19296" y="0"/>
                  </a:lnTo>
                  <a:lnTo>
                    <a:pt x="43790" y="3893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215160" y="2091475"/>
              <a:ext cx="43815" cy="39370"/>
            </a:xfrm>
            <a:custGeom>
              <a:avLst/>
              <a:gdLst/>
              <a:ahLst/>
              <a:cxnLst/>
              <a:rect l="l" t="t" r="r" b="b"/>
              <a:pathLst>
                <a:path w="43814" h="39369">
                  <a:moveTo>
                    <a:pt x="0" y="24853"/>
                  </a:moveTo>
                  <a:lnTo>
                    <a:pt x="43790" y="38935"/>
                  </a:lnTo>
                  <a:lnTo>
                    <a:pt x="19296" y="0"/>
                  </a:lnTo>
                  <a:lnTo>
                    <a:pt x="0" y="2485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3135775" y="1222571"/>
            <a:ext cx="69723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Verdana"/>
                <a:cs typeface="Verdana"/>
              </a:rPr>
              <a:t>SoftMax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526593" y="1231525"/>
            <a:ext cx="112395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Verdana"/>
                <a:cs typeface="Verdana"/>
              </a:rPr>
              <a:t>нет</a:t>
            </a:r>
            <a:r>
              <a:rPr sz="1300" spc="-110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функции активации</a:t>
            </a:r>
            <a:endParaRPr sz="1300">
              <a:latin typeface="Verdana"/>
              <a:cs typeface="Verdana"/>
            </a:endParaRPr>
          </a:p>
        </p:txBody>
      </p:sp>
      <p:pic>
        <p:nvPicPr>
          <p:cNvPr id="50" name="object 5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9649" y="3974124"/>
            <a:ext cx="5523601" cy="24282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70" dirty="0"/>
              <a:t>Word2Vec</a:t>
            </a:r>
            <a:endParaRPr sz="2700"/>
          </a:p>
        </p:txBody>
      </p:sp>
      <p:grpSp>
        <p:nvGrpSpPr>
          <p:cNvPr id="3" name="object 3"/>
          <p:cNvGrpSpPr/>
          <p:nvPr/>
        </p:nvGrpSpPr>
        <p:grpSpPr>
          <a:xfrm>
            <a:off x="1409956" y="2216929"/>
            <a:ext cx="883919" cy="1301115"/>
            <a:chOff x="1409956" y="2216929"/>
            <a:chExt cx="883919" cy="1301115"/>
          </a:xfrm>
        </p:grpSpPr>
        <p:sp>
          <p:nvSpPr>
            <p:cNvPr id="4" name="object 4"/>
            <p:cNvSpPr/>
            <p:nvPr/>
          </p:nvSpPr>
          <p:spPr>
            <a:xfrm>
              <a:off x="1414719" y="2221692"/>
              <a:ext cx="874394" cy="1291590"/>
            </a:xfrm>
            <a:custGeom>
              <a:avLst/>
              <a:gdLst/>
              <a:ahLst/>
              <a:cxnLst/>
              <a:rect l="l" t="t" r="r" b="b"/>
              <a:pathLst>
                <a:path w="874394" h="1291589">
                  <a:moveTo>
                    <a:pt x="874199" y="1291199"/>
                  </a:moveTo>
                  <a:lnTo>
                    <a:pt x="0" y="1291199"/>
                  </a:lnTo>
                  <a:lnTo>
                    <a:pt x="0" y="0"/>
                  </a:lnTo>
                  <a:lnTo>
                    <a:pt x="874199" y="0"/>
                  </a:lnTo>
                  <a:lnTo>
                    <a:pt x="874199" y="1291199"/>
                  </a:lnTo>
                  <a:close/>
                </a:path>
              </a:pathLst>
            </a:custGeom>
            <a:solidFill>
              <a:srgbClr val="F9CB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14719" y="2221692"/>
              <a:ext cx="874394" cy="1291590"/>
            </a:xfrm>
            <a:custGeom>
              <a:avLst/>
              <a:gdLst/>
              <a:ahLst/>
              <a:cxnLst/>
              <a:rect l="l" t="t" r="r" b="b"/>
              <a:pathLst>
                <a:path w="874394" h="1291589">
                  <a:moveTo>
                    <a:pt x="0" y="0"/>
                  </a:moveTo>
                  <a:lnTo>
                    <a:pt x="874199" y="0"/>
                  </a:lnTo>
                  <a:lnTo>
                    <a:pt x="874199" y="1291199"/>
                  </a:lnTo>
                  <a:lnTo>
                    <a:pt x="0" y="1291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27487" y="2182535"/>
            <a:ext cx="1098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5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7487" y="2792135"/>
            <a:ext cx="1079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35" dirty="0">
                <a:latin typeface="Verdana"/>
                <a:cs typeface="Verdana"/>
              </a:rPr>
              <a:t>1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2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7487" y="3249336"/>
            <a:ext cx="1098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44736" y="2207528"/>
            <a:ext cx="715010" cy="1301115"/>
            <a:chOff x="244736" y="2207528"/>
            <a:chExt cx="715010" cy="1301115"/>
          </a:xfrm>
        </p:grpSpPr>
        <p:sp>
          <p:nvSpPr>
            <p:cNvPr id="10" name="object 10"/>
            <p:cNvSpPr/>
            <p:nvPr/>
          </p:nvSpPr>
          <p:spPr>
            <a:xfrm>
              <a:off x="892588" y="2212290"/>
              <a:ext cx="62230" cy="1291590"/>
            </a:xfrm>
            <a:custGeom>
              <a:avLst/>
              <a:gdLst/>
              <a:ahLst/>
              <a:cxnLst/>
              <a:rect l="l" t="t" r="r" b="b"/>
              <a:pathLst>
                <a:path w="62230" h="1291589">
                  <a:moveTo>
                    <a:pt x="61799" y="1291200"/>
                  </a:moveTo>
                  <a:lnTo>
                    <a:pt x="37744" y="1290795"/>
                  </a:lnTo>
                  <a:lnTo>
                    <a:pt x="18100" y="1289691"/>
                  </a:lnTo>
                  <a:lnTo>
                    <a:pt x="4856" y="1288054"/>
                  </a:lnTo>
                  <a:lnTo>
                    <a:pt x="0" y="1286050"/>
                  </a:lnTo>
                  <a:lnTo>
                    <a:pt x="0" y="5149"/>
                  </a:lnTo>
                  <a:lnTo>
                    <a:pt x="0" y="3783"/>
                  </a:lnTo>
                  <a:lnTo>
                    <a:pt x="6510" y="2474"/>
                  </a:lnTo>
                  <a:lnTo>
                    <a:pt x="18100" y="1508"/>
                  </a:lnTo>
                  <a:lnTo>
                    <a:pt x="27513" y="865"/>
                  </a:lnTo>
                  <a:lnTo>
                    <a:pt x="38150" y="392"/>
                  </a:lnTo>
                  <a:lnTo>
                    <a:pt x="49687" y="99"/>
                  </a:lnTo>
                  <a:lnTo>
                    <a:pt x="6179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736" y="2851553"/>
              <a:ext cx="604419" cy="228440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198344" y="2212290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30" h="1291589">
                <a:moveTo>
                  <a:pt x="0" y="1291200"/>
                </a:moveTo>
                <a:lnTo>
                  <a:pt x="24055" y="1290795"/>
                </a:lnTo>
                <a:lnTo>
                  <a:pt x="43699" y="1289691"/>
                </a:lnTo>
                <a:lnTo>
                  <a:pt x="56943" y="1288054"/>
                </a:lnTo>
                <a:lnTo>
                  <a:pt x="61799" y="12860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4"/>
                </a:lnTo>
                <a:lnTo>
                  <a:pt x="43699" y="1508"/>
                </a:lnTo>
                <a:lnTo>
                  <a:pt x="34286" y="865"/>
                </a:lnTo>
                <a:lnTo>
                  <a:pt x="23649" y="392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457173" y="2703711"/>
            <a:ext cx="789305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Verdana"/>
                <a:cs typeface="Verdana"/>
              </a:rPr>
              <a:t>матрица</a:t>
            </a:r>
            <a:r>
              <a:rPr sz="1100" spc="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A</a:t>
            </a:r>
            <a:endParaRPr sz="1100">
              <a:latin typeface="Verdana"/>
              <a:cs typeface="Verdana"/>
            </a:endParaRPr>
          </a:p>
          <a:p>
            <a:pPr marL="195580">
              <a:lnSpc>
                <a:spcPct val="100000"/>
              </a:lnSpc>
            </a:pPr>
            <a:r>
              <a:rPr sz="1100" i="1" spc="-25" dirty="0">
                <a:latin typeface="Verdana"/>
                <a:cs typeface="Verdana"/>
              </a:rPr>
              <a:t>nxk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96980" y="2448688"/>
            <a:ext cx="3016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latin typeface="Verdana"/>
                <a:cs typeface="Verdana"/>
              </a:rPr>
              <a:t>0.56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0" dirty="0">
                <a:latin typeface="Verdana"/>
                <a:cs typeface="Verdana"/>
              </a:rPr>
              <a:t>-</a:t>
            </a:r>
            <a:r>
              <a:rPr sz="1000" spc="-110" dirty="0">
                <a:latin typeface="Verdana"/>
                <a:cs typeface="Verdana"/>
              </a:rPr>
              <a:t>1.34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96980" y="3058288"/>
            <a:ext cx="3670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40" dirty="0">
                <a:latin typeface="Verdana"/>
                <a:cs typeface="Verdana"/>
              </a:rPr>
              <a:t>0.056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187555" y="1745341"/>
            <a:ext cx="323850" cy="1577975"/>
            <a:chOff x="2187555" y="1745341"/>
            <a:chExt cx="323850" cy="1577975"/>
          </a:xfrm>
        </p:grpSpPr>
        <p:sp>
          <p:nvSpPr>
            <p:cNvPr id="17" name="object 17"/>
            <p:cNvSpPr/>
            <p:nvPr/>
          </p:nvSpPr>
          <p:spPr>
            <a:xfrm>
              <a:off x="2192318" y="1750104"/>
              <a:ext cx="292735" cy="1568450"/>
            </a:xfrm>
            <a:custGeom>
              <a:avLst/>
              <a:gdLst/>
              <a:ahLst/>
              <a:cxnLst/>
              <a:rect l="l" t="t" r="r" b="b"/>
              <a:pathLst>
                <a:path w="292735" h="1568450">
                  <a:moveTo>
                    <a:pt x="202336" y="1568192"/>
                  </a:moveTo>
                  <a:lnTo>
                    <a:pt x="178281" y="1567788"/>
                  </a:lnTo>
                  <a:lnTo>
                    <a:pt x="158637" y="1566684"/>
                  </a:lnTo>
                  <a:lnTo>
                    <a:pt x="145392" y="1565047"/>
                  </a:lnTo>
                  <a:lnTo>
                    <a:pt x="140536" y="1563042"/>
                  </a:lnTo>
                  <a:lnTo>
                    <a:pt x="140536" y="652642"/>
                  </a:lnTo>
                  <a:lnTo>
                    <a:pt x="140536" y="651276"/>
                  </a:lnTo>
                  <a:lnTo>
                    <a:pt x="147047" y="649966"/>
                  </a:lnTo>
                  <a:lnTo>
                    <a:pt x="158637" y="649000"/>
                  </a:lnTo>
                  <a:lnTo>
                    <a:pt x="168049" y="648357"/>
                  </a:lnTo>
                  <a:lnTo>
                    <a:pt x="178686" y="647884"/>
                  </a:lnTo>
                  <a:lnTo>
                    <a:pt x="190223" y="647592"/>
                  </a:lnTo>
                  <a:lnTo>
                    <a:pt x="202336" y="647492"/>
                  </a:lnTo>
                </a:path>
                <a:path w="292735" h="1568450">
                  <a:moveTo>
                    <a:pt x="0" y="0"/>
                  </a:moveTo>
                  <a:lnTo>
                    <a:pt x="292118" y="498784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470860" y="2240938"/>
              <a:ext cx="35560" cy="45720"/>
            </a:xfrm>
            <a:custGeom>
              <a:avLst/>
              <a:gdLst/>
              <a:ahLst/>
              <a:cxnLst/>
              <a:rect l="l" t="t" r="r" b="b"/>
              <a:pathLst>
                <a:path w="35560" h="45719">
                  <a:moveTo>
                    <a:pt x="35420" y="45250"/>
                  </a:moveTo>
                  <a:lnTo>
                    <a:pt x="0" y="15901"/>
                  </a:lnTo>
                  <a:lnTo>
                    <a:pt x="27151" y="0"/>
                  </a:lnTo>
                  <a:lnTo>
                    <a:pt x="35420" y="45250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470860" y="2240938"/>
              <a:ext cx="35560" cy="45720"/>
            </a:xfrm>
            <a:custGeom>
              <a:avLst/>
              <a:gdLst/>
              <a:ahLst/>
              <a:cxnLst/>
              <a:rect l="l" t="t" r="r" b="b"/>
              <a:pathLst>
                <a:path w="35560" h="45719">
                  <a:moveTo>
                    <a:pt x="0" y="15901"/>
                  </a:moveTo>
                  <a:lnTo>
                    <a:pt x="35420" y="45250"/>
                  </a:lnTo>
                  <a:lnTo>
                    <a:pt x="27151" y="0"/>
                  </a:lnTo>
                  <a:lnTo>
                    <a:pt x="0" y="1590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2824011" y="2397596"/>
            <a:ext cx="62230" cy="920750"/>
          </a:xfrm>
          <a:custGeom>
            <a:avLst/>
            <a:gdLst/>
            <a:ahLst/>
            <a:cxnLst/>
            <a:rect l="l" t="t" r="r" b="b"/>
            <a:pathLst>
              <a:path w="62230" h="920750">
                <a:moveTo>
                  <a:pt x="0" y="920700"/>
                </a:moveTo>
                <a:lnTo>
                  <a:pt x="24055" y="920295"/>
                </a:lnTo>
                <a:lnTo>
                  <a:pt x="43699" y="919191"/>
                </a:lnTo>
                <a:lnTo>
                  <a:pt x="56943" y="917554"/>
                </a:lnTo>
                <a:lnTo>
                  <a:pt x="61799" y="9155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4"/>
                </a:lnTo>
                <a:lnTo>
                  <a:pt x="43699" y="1508"/>
                </a:lnTo>
                <a:lnTo>
                  <a:pt x="34286" y="865"/>
                </a:lnTo>
                <a:lnTo>
                  <a:pt x="23649" y="392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987691" y="2461042"/>
            <a:ext cx="1282065" cy="816610"/>
          </a:xfrm>
          <a:prstGeom prst="rect">
            <a:avLst/>
          </a:prstGeom>
          <a:solidFill>
            <a:srgbClr val="B6D7A8"/>
          </a:solidFill>
          <a:ln w="9524">
            <a:solidFill>
              <a:srgbClr val="93C47D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100">
              <a:latin typeface="Times New Roman"/>
              <a:cs typeface="Times New Roman"/>
            </a:endParaRPr>
          </a:p>
          <a:p>
            <a:pPr marL="68580" algn="ctr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матрица</a:t>
            </a:r>
            <a:r>
              <a:rPr sz="1100" spc="85" dirty="0">
                <a:latin typeface="Verdana"/>
                <a:cs typeface="Verdana"/>
              </a:rPr>
              <a:t> </a:t>
            </a:r>
            <a:r>
              <a:rPr sz="1100" spc="25" dirty="0">
                <a:latin typeface="Verdana"/>
                <a:cs typeface="Verdana"/>
              </a:rPr>
              <a:t>B</a:t>
            </a:r>
            <a:endParaRPr sz="1100">
              <a:latin typeface="Verdana"/>
              <a:cs typeface="Verdana"/>
            </a:endParaRPr>
          </a:p>
          <a:p>
            <a:pPr marR="76200" algn="ctr">
              <a:lnSpc>
                <a:spcPct val="100000"/>
              </a:lnSpc>
            </a:pPr>
            <a:r>
              <a:rPr sz="1100" i="1" spc="-25" dirty="0">
                <a:latin typeface="Verdana"/>
                <a:cs typeface="Verdana"/>
              </a:rPr>
              <a:t>kxn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93804" y="2138063"/>
            <a:ext cx="3022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latin typeface="Verdana"/>
                <a:cs typeface="Verdana"/>
              </a:rPr>
              <a:t>0.06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20" dirty="0">
                <a:latin typeface="Verdana"/>
                <a:cs typeface="Verdana"/>
              </a:rPr>
              <a:t>0.00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93804" y="2747663"/>
            <a:ext cx="2921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40" dirty="0">
                <a:latin typeface="Verdana"/>
                <a:cs typeface="Verdana"/>
              </a:rPr>
              <a:t>0.34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493804" y="3204863"/>
            <a:ext cx="2514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20" dirty="0">
                <a:latin typeface="Verdana"/>
                <a:cs typeface="Verdana"/>
              </a:rPr>
              <a:t>0.13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4358904" y="2167817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29" h="1291589">
                <a:moveTo>
                  <a:pt x="61799" y="1291200"/>
                </a:moveTo>
                <a:lnTo>
                  <a:pt x="37744" y="1290795"/>
                </a:lnTo>
                <a:lnTo>
                  <a:pt x="18100" y="1289691"/>
                </a:lnTo>
                <a:lnTo>
                  <a:pt x="4856" y="1288054"/>
                </a:lnTo>
                <a:lnTo>
                  <a:pt x="0" y="1286050"/>
                </a:lnTo>
                <a:lnTo>
                  <a:pt x="0" y="5149"/>
                </a:lnTo>
                <a:lnTo>
                  <a:pt x="0" y="3783"/>
                </a:lnTo>
                <a:lnTo>
                  <a:pt x="6510" y="2474"/>
                </a:lnTo>
                <a:lnTo>
                  <a:pt x="18100" y="1508"/>
                </a:lnTo>
                <a:lnTo>
                  <a:pt x="27513" y="865"/>
                </a:lnTo>
                <a:lnTo>
                  <a:pt x="38149" y="392"/>
                </a:lnTo>
                <a:lnTo>
                  <a:pt x="49687" y="99"/>
                </a:lnTo>
                <a:lnTo>
                  <a:pt x="61799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815102" y="2167817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29" h="1291589">
                <a:moveTo>
                  <a:pt x="0" y="1291200"/>
                </a:moveTo>
                <a:lnTo>
                  <a:pt x="24055" y="1290795"/>
                </a:lnTo>
                <a:lnTo>
                  <a:pt x="43699" y="1289691"/>
                </a:lnTo>
                <a:lnTo>
                  <a:pt x="56943" y="1288054"/>
                </a:lnTo>
                <a:lnTo>
                  <a:pt x="61799" y="12860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4"/>
                </a:lnTo>
                <a:lnTo>
                  <a:pt x="43698" y="1508"/>
                </a:lnTo>
                <a:lnTo>
                  <a:pt x="34286" y="865"/>
                </a:lnTo>
                <a:lnTo>
                  <a:pt x="23649" y="392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5009667" y="2107022"/>
            <a:ext cx="1625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a as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09667" y="2716622"/>
            <a:ext cx="5549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Verdana"/>
                <a:cs typeface="Verdana"/>
              </a:rPr>
              <a:t>banking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009667" y="3173822"/>
            <a:ext cx="6343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Verdana"/>
                <a:cs typeface="Verdana"/>
              </a:rPr>
              <a:t>problems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704582" y="2130859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29" h="1291589">
                <a:moveTo>
                  <a:pt x="61799" y="1291200"/>
                </a:moveTo>
                <a:lnTo>
                  <a:pt x="37744" y="1290795"/>
                </a:lnTo>
                <a:lnTo>
                  <a:pt x="18100" y="1289691"/>
                </a:lnTo>
                <a:lnTo>
                  <a:pt x="4856" y="1288054"/>
                </a:lnTo>
                <a:lnTo>
                  <a:pt x="0" y="1286050"/>
                </a:lnTo>
                <a:lnTo>
                  <a:pt x="0" y="5149"/>
                </a:lnTo>
                <a:lnTo>
                  <a:pt x="0" y="3783"/>
                </a:lnTo>
                <a:lnTo>
                  <a:pt x="6511" y="2474"/>
                </a:lnTo>
                <a:lnTo>
                  <a:pt x="18100" y="1508"/>
                </a:lnTo>
                <a:lnTo>
                  <a:pt x="27513" y="865"/>
                </a:lnTo>
                <a:lnTo>
                  <a:pt x="38150" y="392"/>
                </a:lnTo>
                <a:lnTo>
                  <a:pt x="49687" y="99"/>
                </a:lnTo>
                <a:lnTo>
                  <a:pt x="61799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6028096" y="2141868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29" h="1291589">
                <a:moveTo>
                  <a:pt x="0" y="1291199"/>
                </a:moveTo>
                <a:lnTo>
                  <a:pt x="24055" y="1290795"/>
                </a:lnTo>
                <a:lnTo>
                  <a:pt x="43699" y="1289691"/>
                </a:lnTo>
                <a:lnTo>
                  <a:pt x="56943" y="1288054"/>
                </a:lnTo>
                <a:lnTo>
                  <a:pt x="61799" y="12860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3"/>
                </a:lnTo>
                <a:lnTo>
                  <a:pt x="43699" y="1508"/>
                </a:lnTo>
                <a:lnTo>
                  <a:pt x="34286" y="865"/>
                </a:lnTo>
                <a:lnTo>
                  <a:pt x="23649" y="391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5855094" y="2112113"/>
            <a:ext cx="1098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5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855094" y="2721713"/>
            <a:ext cx="1079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35" dirty="0">
                <a:latin typeface="Verdana"/>
                <a:cs typeface="Verdana"/>
              </a:rPr>
              <a:t>1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2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855094" y="3178913"/>
            <a:ext cx="1098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824189" y="1922527"/>
            <a:ext cx="855980" cy="43180"/>
            <a:chOff x="4824189" y="1922527"/>
            <a:chExt cx="855980" cy="43180"/>
          </a:xfrm>
        </p:grpSpPr>
        <p:sp>
          <p:nvSpPr>
            <p:cNvPr id="36" name="object 36"/>
            <p:cNvSpPr/>
            <p:nvPr/>
          </p:nvSpPr>
          <p:spPr>
            <a:xfrm>
              <a:off x="4847669" y="1937905"/>
              <a:ext cx="784860" cy="7620"/>
            </a:xfrm>
            <a:custGeom>
              <a:avLst/>
              <a:gdLst/>
              <a:ahLst/>
              <a:cxnLst/>
              <a:rect l="l" t="t" r="r" b="b"/>
              <a:pathLst>
                <a:path w="784860" h="7619">
                  <a:moveTo>
                    <a:pt x="0" y="0"/>
                  </a:moveTo>
                  <a:lnTo>
                    <a:pt x="784410" y="699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828952" y="1927289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29332" y="21422"/>
                  </a:moveTo>
                  <a:lnTo>
                    <a:pt x="0" y="10448"/>
                  </a:lnTo>
                  <a:lnTo>
                    <a:pt x="29524" y="0"/>
                  </a:lnTo>
                  <a:lnTo>
                    <a:pt x="18717" y="10615"/>
                  </a:lnTo>
                  <a:lnTo>
                    <a:pt x="29332" y="21422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828952" y="1927289"/>
              <a:ext cx="29845" cy="21590"/>
            </a:xfrm>
            <a:custGeom>
              <a:avLst/>
              <a:gdLst/>
              <a:ahLst/>
              <a:cxnLst/>
              <a:rect l="l" t="t" r="r" b="b"/>
              <a:pathLst>
                <a:path w="29845" h="21589">
                  <a:moveTo>
                    <a:pt x="18717" y="10615"/>
                  </a:moveTo>
                  <a:lnTo>
                    <a:pt x="29524" y="0"/>
                  </a:lnTo>
                  <a:lnTo>
                    <a:pt x="0" y="10448"/>
                  </a:lnTo>
                  <a:lnTo>
                    <a:pt x="29332" y="21422"/>
                  </a:lnTo>
                  <a:lnTo>
                    <a:pt x="18717" y="1061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5631939" y="192917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280" y="0"/>
                  </a:lnTo>
                  <a:lnTo>
                    <a:pt x="43363" y="16117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631939" y="192917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363" y="16117"/>
                  </a:lnTo>
                  <a:lnTo>
                    <a:pt x="28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4659758" y="1361075"/>
            <a:ext cx="10699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-30" dirty="0">
                <a:latin typeface="Verdana"/>
                <a:cs typeface="Verdana"/>
              </a:rPr>
              <a:t>cross-</a:t>
            </a:r>
            <a:r>
              <a:rPr sz="1200" spc="-10" dirty="0">
                <a:latin typeface="Verdana"/>
                <a:cs typeface="Verdana"/>
              </a:rPr>
              <a:t>entropy </a:t>
            </a:r>
            <a:r>
              <a:rPr sz="1200" spc="-20" dirty="0">
                <a:latin typeface="Verdana"/>
                <a:cs typeface="Verdana"/>
              </a:rPr>
              <a:t>loss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3495087" y="1536287"/>
            <a:ext cx="768985" cy="599440"/>
            <a:chOff x="3495087" y="1536287"/>
            <a:chExt cx="768985" cy="599440"/>
          </a:xfrm>
        </p:grpSpPr>
        <p:sp>
          <p:nvSpPr>
            <p:cNvPr id="43" name="object 43"/>
            <p:cNvSpPr/>
            <p:nvPr/>
          </p:nvSpPr>
          <p:spPr>
            <a:xfrm>
              <a:off x="3499850" y="1541050"/>
              <a:ext cx="725170" cy="563245"/>
            </a:xfrm>
            <a:custGeom>
              <a:avLst/>
              <a:gdLst/>
              <a:ahLst/>
              <a:cxnLst/>
              <a:rect l="l" t="t" r="r" b="b"/>
              <a:pathLst>
                <a:path w="725170" h="563244">
                  <a:moveTo>
                    <a:pt x="0" y="0"/>
                  </a:moveTo>
                  <a:lnTo>
                    <a:pt x="724957" y="562852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215160" y="2091475"/>
              <a:ext cx="43815" cy="39370"/>
            </a:xfrm>
            <a:custGeom>
              <a:avLst/>
              <a:gdLst/>
              <a:ahLst/>
              <a:cxnLst/>
              <a:rect l="l" t="t" r="r" b="b"/>
              <a:pathLst>
                <a:path w="43814" h="39369">
                  <a:moveTo>
                    <a:pt x="43790" y="38935"/>
                  </a:moveTo>
                  <a:lnTo>
                    <a:pt x="0" y="24853"/>
                  </a:lnTo>
                  <a:lnTo>
                    <a:pt x="19296" y="0"/>
                  </a:lnTo>
                  <a:lnTo>
                    <a:pt x="43790" y="3893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215160" y="2091475"/>
              <a:ext cx="43815" cy="39370"/>
            </a:xfrm>
            <a:custGeom>
              <a:avLst/>
              <a:gdLst/>
              <a:ahLst/>
              <a:cxnLst/>
              <a:rect l="l" t="t" r="r" b="b"/>
              <a:pathLst>
                <a:path w="43814" h="39369">
                  <a:moveTo>
                    <a:pt x="0" y="24853"/>
                  </a:moveTo>
                  <a:lnTo>
                    <a:pt x="43790" y="38935"/>
                  </a:lnTo>
                  <a:lnTo>
                    <a:pt x="19296" y="0"/>
                  </a:lnTo>
                  <a:lnTo>
                    <a:pt x="0" y="24853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3135775" y="1222571"/>
            <a:ext cx="69723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Verdana"/>
                <a:cs typeface="Verdana"/>
              </a:rPr>
              <a:t>SoftMax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526593" y="1231525"/>
            <a:ext cx="112395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Verdana"/>
                <a:cs typeface="Verdana"/>
              </a:rPr>
              <a:t>нет</a:t>
            </a:r>
            <a:r>
              <a:rPr sz="1300" spc="-110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функции активации</a:t>
            </a:r>
            <a:endParaRPr sz="1300">
              <a:latin typeface="Verdana"/>
              <a:cs typeface="Verdana"/>
            </a:endParaRPr>
          </a:p>
        </p:txBody>
      </p:sp>
      <p:pic>
        <p:nvPicPr>
          <p:cNvPr id="48" name="object 4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9649" y="3974124"/>
            <a:ext cx="5523601" cy="242825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49879" y="2692011"/>
            <a:ext cx="538071" cy="242824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70" dirty="0"/>
              <a:t>Word2Vec</a:t>
            </a:r>
            <a:endParaRPr sz="2700"/>
          </a:p>
        </p:txBody>
      </p:sp>
      <p:grpSp>
        <p:nvGrpSpPr>
          <p:cNvPr id="3" name="object 3"/>
          <p:cNvGrpSpPr/>
          <p:nvPr/>
        </p:nvGrpSpPr>
        <p:grpSpPr>
          <a:xfrm>
            <a:off x="1409956" y="2216929"/>
            <a:ext cx="883919" cy="1301115"/>
            <a:chOff x="1409956" y="2216929"/>
            <a:chExt cx="883919" cy="1301115"/>
          </a:xfrm>
        </p:grpSpPr>
        <p:sp>
          <p:nvSpPr>
            <p:cNvPr id="4" name="object 4"/>
            <p:cNvSpPr/>
            <p:nvPr/>
          </p:nvSpPr>
          <p:spPr>
            <a:xfrm>
              <a:off x="1414716" y="2221699"/>
              <a:ext cx="874394" cy="1291590"/>
            </a:xfrm>
            <a:custGeom>
              <a:avLst/>
              <a:gdLst/>
              <a:ahLst/>
              <a:cxnLst/>
              <a:rect l="l" t="t" r="r" b="b"/>
              <a:pathLst>
                <a:path w="874394" h="1291589">
                  <a:moveTo>
                    <a:pt x="874191" y="792530"/>
                  </a:moveTo>
                  <a:lnTo>
                    <a:pt x="0" y="792530"/>
                  </a:lnTo>
                  <a:lnTo>
                    <a:pt x="0" y="1291196"/>
                  </a:lnTo>
                  <a:lnTo>
                    <a:pt x="874191" y="1291196"/>
                  </a:lnTo>
                  <a:lnTo>
                    <a:pt x="874191" y="792530"/>
                  </a:lnTo>
                  <a:close/>
                </a:path>
                <a:path w="874394" h="1291589">
                  <a:moveTo>
                    <a:pt x="874191" y="0"/>
                  </a:moveTo>
                  <a:lnTo>
                    <a:pt x="0" y="0"/>
                  </a:lnTo>
                  <a:lnTo>
                    <a:pt x="0" y="695629"/>
                  </a:lnTo>
                  <a:lnTo>
                    <a:pt x="874191" y="695629"/>
                  </a:lnTo>
                  <a:lnTo>
                    <a:pt x="874191" y="0"/>
                  </a:lnTo>
                  <a:close/>
                </a:path>
              </a:pathLst>
            </a:custGeom>
            <a:solidFill>
              <a:srgbClr val="F9CB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14719" y="2221692"/>
              <a:ext cx="874394" cy="1291590"/>
            </a:xfrm>
            <a:custGeom>
              <a:avLst/>
              <a:gdLst/>
              <a:ahLst/>
              <a:cxnLst/>
              <a:rect l="l" t="t" r="r" b="b"/>
              <a:pathLst>
                <a:path w="874394" h="1291589">
                  <a:moveTo>
                    <a:pt x="0" y="0"/>
                  </a:moveTo>
                  <a:lnTo>
                    <a:pt x="874199" y="0"/>
                  </a:lnTo>
                  <a:lnTo>
                    <a:pt x="874199" y="1291199"/>
                  </a:lnTo>
                  <a:lnTo>
                    <a:pt x="0" y="1291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27487" y="2182535"/>
            <a:ext cx="1098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5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7487" y="2792135"/>
            <a:ext cx="1079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35" dirty="0">
                <a:latin typeface="Verdana"/>
                <a:cs typeface="Verdana"/>
              </a:rPr>
              <a:t>1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2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7487" y="3249336"/>
            <a:ext cx="1098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44736" y="2207528"/>
            <a:ext cx="715010" cy="1301115"/>
            <a:chOff x="244736" y="2207528"/>
            <a:chExt cx="715010" cy="1301115"/>
          </a:xfrm>
        </p:grpSpPr>
        <p:sp>
          <p:nvSpPr>
            <p:cNvPr id="10" name="object 10"/>
            <p:cNvSpPr/>
            <p:nvPr/>
          </p:nvSpPr>
          <p:spPr>
            <a:xfrm>
              <a:off x="892588" y="2212290"/>
              <a:ext cx="62230" cy="1291590"/>
            </a:xfrm>
            <a:custGeom>
              <a:avLst/>
              <a:gdLst/>
              <a:ahLst/>
              <a:cxnLst/>
              <a:rect l="l" t="t" r="r" b="b"/>
              <a:pathLst>
                <a:path w="62230" h="1291589">
                  <a:moveTo>
                    <a:pt x="61799" y="1291200"/>
                  </a:moveTo>
                  <a:lnTo>
                    <a:pt x="37744" y="1290795"/>
                  </a:lnTo>
                  <a:lnTo>
                    <a:pt x="18100" y="1289691"/>
                  </a:lnTo>
                  <a:lnTo>
                    <a:pt x="4856" y="1288054"/>
                  </a:lnTo>
                  <a:lnTo>
                    <a:pt x="0" y="1286050"/>
                  </a:lnTo>
                  <a:lnTo>
                    <a:pt x="0" y="5149"/>
                  </a:lnTo>
                  <a:lnTo>
                    <a:pt x="0" y="3783"/>
                  </a:lnTo>
                  <a:lnTo>
                    <a:pt x="6510" y="2474"/>
                  </a:lnTo>
                  <a:lnTo>
                    <a:pt x="18100" y="1508"/>
                  </a:lnTo>
                  <a:lnTo>
                    <a:pt x="27513" y="865"/>
                  </a:lnTo>
                  <a:lnTo>
                    <a:pt x="38150" y="392"/>
                  </a:lnTo>
                  <a:lnTo>
                    <a:pt x="49687" y="99"/>
                  </a:lnTo>
                  <a:lnTo>
                    <a:pt x="6179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736" y="2851553"/>
              <a:ext cx="604419" cy="228440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198344" y="2212290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30" h="1291589">
                <a:moveTo>
                  <a:pt x="0" y="1291200"/>
                </a:moveTo>
                <a:lnTo>
                  <a:pt x="24055" y="1290795"/>
                </a:lnTo>
                <a:lnTo>
                  <a:pt x="43699" y="1289691"/>
                </a:lnTo>
                <a:lnTo>
                  <a:pt x="56943" y="1288054"/>
                </a:lnTo>
                <a:lnTo>
                  <a:pt x="61799" y="12860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4"/>
                </a:lnTo>
                <a:lnTo>
                  <a:pt x="43699" y="1508"/>
                </a:lnTo>
                <a:lnTo>
                  <a:pt x="34286" y="865"/>
                </a:lnTo>
                <a:lnTo>
                  <a:pt x="23649" y="392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396980" y="2448688"/>
            <a:ext cx="3016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latin typeface="Verdana"/>
                <a:cs typeface="Verdana"/>
              </a:rPr>
              <a:t>0.56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0" dirty="0">
                <a:latin typeface="Verdana"/>
                <a:cs typeface="Verdana"/>
              </a:rPr>
              <a:t>-</a:t>
            </a:r>
            <a:r>
              <a:rPr sz="1000" spc="-110" dirty="0">
                <a:latin typeface="Verdana"/>
                <a:cs typeface="Verdana"/>
              </a:rPr>
              <a:t>1.34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96980" y="3058288"/>
            <a:ext cx="3670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40" dirty="0">
                <a:latin typeface="Verdana"/>
                <a:cs typeface="Verdana"/>
              </a:rPr>
              <a:t>0.056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403037" y="2392834"/>
            <a:ext cx="996950" cy="930275"/>
            <a:chOff x="1403037" y="2392834"/>
            <a:chExt cx="996950" cy="930275"/>
          </a:xfrm>
        </p:grpSpPr>
        <p:sp>
          <p:nvSpPr>
            <p:cNvPr id="16" name="object 16"/>
            <p:cNvSpPr/>
            <p:nvPr/>
          </p:nvSpPr>
          <p:spPr>
            <a:xfrm>
              <a:off x="2332854" y="2397596"/>
              <a:ext cx="62230" cy="920750"/>
            </a:xfrm>
            <a:custGeom>
              <a:avLst/>
              <a:gdLst/>
              <a:ahLst/>
              <a:cxnLst/>
              <a:rect l="l" t="t" r="r" b="b"/>
              <a:pathLst>
                <a:path w="62230" h="920750">
                  <a:moveTo>
                    <a:pt x="61799" y="920700"/>
                  </a:moveTo>
                  <a:lnTo>
                    <a:pt x="37744" y="920295"/>
                  </a:lnTo>
                  <a:lnTo>
                    <a:pt x="18100" y="919191"/>
                  </a:lnTo>
                  <a:lnTo>
                    <a:pt x="4856" y="917554"/>
                  </a:lnTo>
                  <a:lnTo>
                    <a:pt x="0" y="915550"/>
                  </a:lnTo>
                  <a:lnTo>
                    <a:pt x="0" y="5149"/>
                  </a:lnTo>
                  <a:lnTo>
                    <a:pt x="0" y="3783"/>
                  </a:lnTo>
                  <a:lnTo>
                    <a:pt x="6510" y="2474"/>
                  </a:lnTo>
                  <a:lnTo>
                    <a:pt x="18100" y="1508"/>
                  </a:lnTo>
                  <a:lnTo>
                    <a:pt x="27513" y="865"/>
                  </a:lnTo>
                  <a:lnTo>
                    <a:pt x="38150" y="392"/>
                  </a:lnTo>
                  <a:lnTo>
                    <a:pt x="49687" y="99"/>
                  </a:lnTo>
                  <a:lnTo>
                    <a:pt x="6179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07800" y="2917324"/>
              <a:ext cx="874394" cy="97155"/>
            </a:xfrm>
            <a:custGeom>
              <a:avLst/>
              <a:gdLst/>
              <a:ahLst/>
              <a:cxnLst/>
              <a:rect l="l" t="t" r="r" b="b"/>
              <a:pathLst>
                <a:path w="874394" h="97155">
                  <a:moveTo>
                    <a:pt x="874199" y="96899"/>
                  </a:moveTo>
                  <a:lnTo>
                    <a:pt x="0" y="96899"/>
                  </a:lnTo>
                  <a:lnTo>
                    <a:pt x="0" y="0"/>
                  </a:lnTo>
                  <a:lnTo>
                    <a:pt x="874199" y="0"/>
                  </a:lnTo>
                  <a:lnTo>
                    <a:pt x="874199" y="96899"/>
                  </a:lnTo>
                  <a:close/>
                </a:path>
              </a:pathLst>
            </a:custGeom>
            <a:solidFill>
              <a:srgbClr val="B45F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07800" y="2917324"/>
              <a:ext cx="874394" cy="97155"/>
            </a:xfrm>
            <a:custGeom>
              <a:avLst/>
              <a:gdLst/>
              <a:ahLst/>
              <a:cxnLst/>
              <a:rect l="l" t="t" r="r" b="b"/>
              <a:pathLst>
                <a:path w="874394" h="97155">
                  <a:moveTo>
                    <a:pt x="0" y="0"/>
                  </a:moveTo>
                  <a:lnTo>
                    <a:pt x="874199" y="0"/>
                  </a:lnTo>
                  <a:lnTo>
                    <a:pt x="874199" y="96899"/>
                  </a:lnTo>
                  <a:lnTo>
                    <a:pt x="0" y="96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B45F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2824011" y="2397596"/>
            <a:ext cx="62230" cy="920750"/>
          </a:xfrm>
          <a:custGeom>
            <a:avLst/>
            <a:gdLst/>
            <a:ahLst/>
            <a:cxnLst/>
            <a:rect l="l" t="t" r="r" b="b"/>
            <a:pathLst>
              <a:path w="62230" h="920750">
                <a:moveTo>
                  <a:pt x="0" y="920700"/>
                </a:moveTo>
                <a:lnTo>
                  <a:pt x="24055" y="920295"/>
                </a:lnTo>
                <a:lnTo>
                  <a:pt x="43699" y="919191"/>
                </a:lnTo>
                <a:lnTo>
                  <a:pt x="56943" y="917554"/>
                </a:lnTo>
                <a:lnTo>
                  <a:pt x="61799" y="9155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4"/>
                </a:lnTo>
                <a:lnTo>
                  <a:pt x="43699" y="1508"/>
                </a:lnTo>
                <a:lnTo>
                  <a:pt x="34286" y="865"/>
                </a:lnTo>
                <a:lnTo>
                  <a:pt x="23649" y="392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2982928" y="2456279"/>
          <a:ext cx="1282699" cy="815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1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5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3C47D"/>
                      </a:solidFill>
                      <a:prstDash val="solid"/>
                    </a:lnL>
                    <a:lnR w="3175">
                      <a:solidFill>
                        <a:srgbClr val="6AA84F"/>
                      </a:solidFill>
                      <a:prstDash val="solid"/>
                    </a:lnR>
                    <a:lnT w="9525">
                      <a:solidFill>
                        <a:srgbClr val="93C47D"/>
                      </a:solidFill>
                      <a:prstDash val="solid"/>
                    </a:lnT>
                    <a:lnB w="9525">
                      <a:solidFill>
                        <a:srgbClr val="93C47D"/>
                      </a:solidFill>
                      <a:prstDash val="soli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6AA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>
                      <a:solidFill>
                        <a:srgbClr val="93C47D"/>
                      </a:solidFill>
                      <a:prstDash val="solid"/>
                    </a:lnT>
                    <a:lnB w="9525">
                      <a:solidFill>
                        <a:srgbClr val="93C47D"/>
                      </a:solidFill>
                      <a:prstDash val="soli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93C47D"/>
                      </a:solidFill>
                      <a:prstDash val="solid"/>
                    </a:lnR>
                    <a:lnT w="9525">
                      <a:solidFill>
                        <a:srgbClr val="93C47D"/>
                      </a:solidFill>
                      <a:prstDash val="solid"/>
                    </a:lnT>
                    <a:lnB w="9525">
                      <a:solidFill>
                        <a:srgbClr val="93C47D"/>
                      </a:solidFill>
                      <a:prstDash val="solid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4493804" y="2138063"/>
            <a:ext cx="3022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latin typeface="Verdana"/>
                <a:cs typeface="Verdana"/>
              </a:rPr>
              <a:t>0.06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20" dirty="0">
                <a:latin typeface="Verdana"/>
                <a:cs typeface="Verdana"/>
              </a:rPr>
              <a:t>0.00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93804" y="2747663"/>
            <a:ext cx="2921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40" dirty="0">
                <a:latin typeface="Verdana"/>
                <a:cs typeface="Verdana"/>
              </a:rPr>
              <a:t>0.34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93804" y="3204863"/>
            <a:ext cx="2514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20" dirty="0">
                <a:latin typeface="Verdana"/>
                <a:cs typeface="Verdana"/>
              </a:rPr>
              <a:t>0.13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358904" y="2167817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29" h="1291589">
                <a:moveTo>
                  <a:pt x="61799" y="1291200"/>
                </a:moveTo>
                <a:lnTo>
                  <a:pt x="37744" y="1290795"/>
                </a:lnTo>
                <a:lnTo>
                  <a:pt x="18100" y="1289691"/>
                </a:lnTo>
                <a:lnTo>
                  <a:pt x="4856" y="1288054"/>
                </a:lnTo>
                <a:lnTo>
                  <a:pt x="0" y="1286050"/>
                </a:lnTo>
                <a:lnTo>
                  <a:pt x="0" y="5149"/>
                </a:lnTo>
                <a:lnTo>
                  <a:pt x="0" y="3783"/>
                </a:lnTo>
                <a:lnTo>
                  <a:pt x="6510" y="2474"/>
                </a:lnTo>
                <a:lnTo>
                  <a:pt x="18100" y="1508"/>
                </a:lnTo>
                <a:lnTo>
                  <a:pt x="27513" y="865"/>
                </a:lnTo>
                <a:lnTo>
                  <a:pt x="38149" y="392"/>
                </a:lnTo>
                <a:lnTo>
                  <a:pt x="49687" y="99"/>
                </a:lnTo>
                <a:lnTo>
                  <a:pt x="61799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815102" y="2167817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29" h="1291589">
                <a:moveTo>
                  <a:pt x="0" y="1291200"/>
                </a:moveTo>
                <a:lnTo>
                  <a:pt x="24055" y="1290795"/>
                </a:lnTo>
                <a:lnTo>
                  <a:pt x="43699" y="1289691"/>
                </a:lnTo>
                <a:lnTo>
                  <a:pt x="56943" y="1288054"/>
                </a:lnTo>
                <a:lnTo>
                  <a:pt x="61799" y="12860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4"/>
                </a:lnTo>
                <a:lnTo>
                  <a:pt x="43698" y="1508"/>
                </a:lnTo>
                <a:lnTo>
                  <a:pt x="34286" y="865"/>
                </a:lnTo>
                <a:lnTo>
                  <a:pt x="23649" y="392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009667" y="2107022"/>
            <a:ext cx="1625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a as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009667" y="2695704"/>
            <a:ext cx="6794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aseline="2777" dirty="0">
                <a:latin typeface="Verdana"/>
                <a:cs typeface="Verdana"/>
              </a:rPr>
              <a:t>banking</a:t>
            </a:r>
            <a:r>
              <a:rPr sz="1500" spc="660" baseline="2777" dirty="0">
                <a:latin typeface="Verdana"/>
                <a:cs typeface="Verdana"/>
              </a:rPr>
              <a:t> </a:t>
            </a:r>
            <a:r>
              <a:rPr sz="1200" i="1" spc="-50" dirty="0">
                <a:latin typeface="Verdana"/>
                <a:cs typeface="Verdana"/>
              </a:rPr>
              <a:t>j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009667" y="3173822"/>
            <a:ext cx="6343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Verdana"/>
                <a:cs typeface="Verdana"/>
              </a:rPr>
              <a:t>problems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6274" y="2848054"/>
            <a:ext cx="666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0" dirty="0">
                <a:latin typeface="Verdana"/>
                <a:cs typeface="Verdana"/>
              </a:rPr>
              <a:t>i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779925" y="2198728"/>
            <a:ext cx="673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0" dirty="0">
                <a:latin typeface="Verdana"/>
                <a:cs typeface="Verdana"/>
              </a:rPr>
              <a:t>j</a:t>
            </a:r>
            <a:endParaRPr sz="1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70" dirty="0"/>
              <a:t>Word2Vec</a:t>
            </a:r>
            <a:endParaRPr sz="2700"/>
          </a:p>
        </p:txBody>
      </p:sp>
      <p:grpSp>
        <p:nvGrpSpPr>
          <p:cNvPr id="3" name="object 3"/>
          <p:cNvGrpSpPr/>
          <p:nvPr/>
        </p:nvGrpSpPr>
        <p:grpSpPr>
          <a:xfrm>
            <a:off x="1409956" y="2216929"/>
            <a:ext cx="883919" cy="1301115"/>
            <a:chOff x="1409956" y="2216929"/>
            <a:chExt cx="883919" cy="1301115"/>
          </a:xfrm>
        </p:grpSpPr>
        <p:sp>
          <p:nvSpPr>
            <p:cNvPr id="4" name="object 4"/>
            <p:cNvSpPr/>
            <p:nvPr/>
          </p:nvSpPr>
          <p:spPr>
            <a:xfrm>
              <a:off x="1414716" y="2221699"/>
              <a:ext cx="874394" cy="1291590"/>
            </a:xfrm>
            <a:custGeom>
              <a:avLst/>
              <a:gdLst/>
              <a:ahLst/>
              <a:cxnLst/>
              <a:rect l="l" t="t" r="r" b="b"/>
              <a:pathLst>
                <a:path w="874394" h="1291589">
                  <a:moveTo>
                    <a:pt x="874191" y="792530"/>
                  </a:moveTo>
                  <a:lnTo>
                    <a:pt x="0" y="792530"/>
                  </a:lnTo>
                  <a:lnTo>
                    <a:pt x="0" y="1291196"/>
                  </a:lnTo>
                  <a:lnTo>
                    <a:pt x="874191" y="1291196"/>
                  </a:lnTo>
                  <a:lnTo>
                    <a:pt x="874191" y="792530"/>
                  </a:lnTo>
                  <a:close/>
                </a:path>
                <a:path w="874394" h="1291589">
                  <a:moveTo>
                    <a:pt x="874191" y="0"/>
                  </a:moveTo>
                  <a:lnTo>
                    <a:pt x="0" y="0"/>
                  </a:lnTo>
                  <a:lnTo>
                    <a:pt x="0" y="695629"/>
                  </a:lnTo>
                  <a:lnTo>
                    <a:pt x="874191" y="695629"/>
                  </a:lnTo>
                  <a:lnTo>
                    <a:pt x="874191" y="0"/>
                  </a:lnTo>
                  <a:close/>
                </a:path>
              </a:pathLst>
            </a:custGeom>
            <a:solidFill>
              <a:srgbClr val="F9CB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14719" y="2221692"/>
              <a:ext cx="874394" cy="1291590"/>
            </a:xfrm>
            <a:custGeom>
              <a:avLst/>
              <a:gdLst/>
              <a:ahLst/>
              <a:cxnLst/>
              <a:rect l="l" t="t" r="r" b="b"/>
              <a:pathLst>
                <a:path w="874394" h="1291589">
                  <a:moveTo>
                    <a:pt x="0" y="0"/>
                  </a:moveTo>
                  <a:lnTo>
                    <a:pt x="874199" y="0"/>
                  </a:lnTo>
                  <a:lnTo>
                    <a:pt x="874199" y="1291199"/>
                  </a:lnTo>
                  <a:lnTo>
                    <a:pt x="0" y="1291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27487" y="2182535"/>
            <a:ext cx="1098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5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7487" y="2792135"/>
            <a:ext cx="1079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35" dirty="0">
                <a:latin typeface="Verdana"/>
                <a:cs typeface="Verdana"/>
              </a:rPr>
              <a:t>1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2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7487" y="3249336"/>
            <a:ext cx="1098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44736" y="2207528"/>
            <a:ext cx="715010" cy="1301115"/>
            <a:chOff x="244736" y="2207528"/>
            <a:chExt cx="715010" cy="1301115"/>
          </a:xfrm>
        </p:grpSpPr>
        <p:sp>
          <p:nvSpPr>
            <p:cNvPr id="10" name="object 10"/>
            <p:cNvSpPr/>
            <p:nvPr/>
          </p:nvSpPr>
          <p:spPr>
            <a:xfrm>
              <a:off x="892588" y="2212290"/>
              <a:ext cx="62230" cy="1291590"/>
            </a:xfrm>
            <a:custGeom>
              <a:avLst/>
              <a:gdLst/>
              <a:ahLst/>
              <a:cxnLst/>
              <a:rect l="l" t="t" r="r" b="b"/>
              <a:pathLst>
                <a:path w="62230" h="1291589">
                  <a:moveTo>
                    <a:pt x="61799" y="1291200"/>
                  </a:moveTo>
                  <a:lnTo>
                    <a:pt x="37744" y="1290795"/>
                  </a:lnTo>
                  <a:lnTo>
                    <a:pt x="18100" y="1289691"/>
                  </a:lnTo>
                  <a:lnTo>
                    <a:pt x="4856" y="1288054"/>
                  </a:lnTo>
                  <a:lnTo>
                    <a:pt x="0" y="1286050"/>
                  </a:lnTo>
                  <a:lnTo>
                    <a:pt x="0" y="5149"/>
                  </a:lnTo>
                  <a:lnTo>
                    <a:pt x="0" y="3783"/>
                  </a:lnTo>
                  <a:lnTo>
                    <a:pt x="6510" y="2474"/>
                  </a:lnTo>
                  <a:lnTo>
                    <a:pt x="18100" y="1508"/>
                  </a:lnTo>
                  <a:lnTo>
                    <a:pt x="27513" y="865"/>
                  </a:lnTo>
                  <a:lnTo>
                    <a:pt x="38150" y="392"/>
                  </a:lnTo>
                  <a:lnTo>
                    <a:pt x="49687" y="99"/>
                  </a:lnTo>
                  <a:lnTo>
                    <a:pt x="6179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736" y="2851553"/>
              <a:ext cx="604419" cy="228440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198344" y="2212290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30" h="1291589">
                <a:moveTo>
                  <a:pt x="0" y="1291200"/>
                </a:moveTo>
                <a:lnTo>
                  <a:pt x="24055" y="1290795"/>
                </a:lnTo>
                <a:lnTo>
                  <a:pt x="43699" y="1289691"/>
                </a:lnTo>
                <a:lnTo>
                  <a:pt x="56943" y="1288054"/>
                </a:lnTo>
                <a:lnTo>
                  <a:pt x="61799" y="12860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4"/>
                </a:lnTo>
                <a:lnTo>
                  <a:pt x="43699" y="1508"/>
                </a:lnTo>
                <a:lnTo>
                  <a:pt x="34286" y="865"/>
                </a:lnTo>
                <a:lnTo>
                  <a:pt x="23649" y="392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396980" y="2448688"/>
            <a:ext cx="3016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latin typeface="Verdana"/>
                <a:cs typeface="Verdana"/>
              </a:rPr>
              <a:t>0.56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0" dirty="0">
                <a:latin typeface="Verdana"/>
                <a:cs typeface="Verdana"/>
              </a:rPr>
              <a:t>-</a:t>
            </a:r>
            <a:r>
              <a:rPr sz="1000" spc="-110" dirty="0">
                <a:latin typeface="Verdana"/>
                <a:cs typeface="Verdana"/>
              </a:rPr>
              <a:t>1.34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96980" y="3058288"/>
            <a:ext cx="3670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40" dirty="0">
                <a:latin typeface="Verdana"/>
                <a:cs typeface="Verdana"/>
              </a:rPr>
              <a:t>0.056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403037" y="2392834"/>
            <a:ext cx="996950" cy="930275"/>
            <a:chOff x="1403037" y="2392834"/>
            <a:chExt cx="996950" cy="930275"/>
          </a:xfrm>
        </p:grpSpPr>
        <p:sp>
          <p:nvSpPr>
            <p:cNvPr id="16" name="object 16"/>
            <p:cNvSpPr/>
            <p:nvPr/>
          </p:nvSpPr>
          <p:spPr>
            <a:xfrm>
              <a:off x="2332854" y="2397596"/>
              <a:ext cx="62230" cy="920750"/>
            </a:xfrm>
            <a:custGeom>
              <a:avLst/>
              <a:gdLst/>
              <a:ahLst/>
              <a:cxnLst/>
              <a:rect l="l" t="t" r="r" b="b"/>
              <a:pathLst>
                <a:path w="62230" h="920750">
                  <a:moveTo>
                    <a:pt x="61799" y="920700"/>
                  </a:moveTo>
                  <a:lnTo>
                    <a:pt x="37744" y="920295"/>
                  </a:lnTo>
                  <a:lnTo>
                    <a:pt x="18100" y="919191"/>
                  </a:lnTo>
                  <a:lnTo>
                    <a:pt x="4856" y="917554"/>
                  </a:lnTo>
                  <a:lnTo>
                    <a:pt x="0" y="915550"/>
                  </a:lnTo>
                  <a:lnTo>
                    <a:pt x="0" y="5149"/>
                  </a:lnTo>
                  <a:lnTo>
                    <a:pt x="0" y="3783"/>
                  </a:lnTo>
                  <a:lnTo>
                    <a:pt x="6510" y="2474"/>
                  </a:lnTo>
                  <a:lnTo>
                    <a:pt x="18100" y="1508"/>
                  </a:lnTo>
                  <a:lnTo>
                    <a:pt x="27513" y="865"/>
                  </a:lnTo>
                  <a:lnTo>
                    <a:pt x="38150" y="392"/>
                  </a:lnTo>
                  <a:lnTo>
                    <a:pt x="49687" y="99"/>
                  </a:lnTo>
                  <a:lnTo>
                    <a:pt x="6179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07800" y="2917324"/>
              <a:ext cx="874394" cy="97155"/>
            </a:xfrm>
            <a:custGeom>
              <a:avLst/>
              <a:gdLst/>
              <a:ahLst/>
              <a:cxnLst/>
              <a:rect l="l" t="t" r="r" b="b"/>
              <a:pathLst>
                <a:path w="874394" h="97155">
                  <a:moveTo>
                    <a:pt x="874199" y="96899"/>
                  </a:moveTo>
                  <a:lnTo>
                    <a:pt x="0" y="96899"/>
                  </a:lnTo>
                  <a:lnTo>
                    <a:pt x="0" y="0"/>
                  </a:lnTo>
                  <a:lnTo>
                    <a:pt x="874199" y="0"/>
                  </a:lnTo>
                  <a:lnTo>
                    <a:pt x="874199" y="96899"/>
                  </a:lnTo>
                  <a:close/>
                </a:path>
              </a:pathLst>
            </a:custGeom>
            <a:solidFill>
              <a:srgbClr val="B45F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07800" y="2917324"/>
              <a:ext cx="874394" cy="97155"/>
            </a:xfrm>
            <a:custGeom>
              <a:avLst/>
              <a:gdLst/>
              <a:ahLst/>
              <a:cxnLst/>
              <a:rect l="l" t="t" r="r" b="b"/>
              <a:pathLst>
                <a:path w="874394" h="97155">
                  <a:moveTo>
                    <a:pt x="0" y="0"/>
                  </a:moveTo>
                  <a:lnTo>
                    <a:pt x="874199" y="0"/>
                  </a:lnTo>
                  <a:lnTo>
                    <a:pt x="874199" y="96899"/>
                  </a:lnTo>
                  <a:lnTo>
                    <a:pt x="0" y="96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B45F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/>
          <p:nvPr/>
        </p:nvSpPr>
        <p:spPr>
          <a:xfrm>
            <a:off x="2824011" y="2397596"/>
            <a:ext cx="62230" cy="920750"/>
          </a:xfrm>
          <a:custGeom>
            <a:avLst/>
            <a:gdLst/>
            <a:ahLst/>
            <a:cxnLst/>
            <a:rect l="l" t="t" r="r" b="b"/>
            <a:pathLst>
              <a:path w="62230" h="920750">
                <a:moveTo>
                  <a:pt x="0" y="920700"/>
                </a:moveTo>
                <a:lnTo>
                  <a:pt x="24055" y="920295"/>
                </a:lnTo>
                <a:lnTo>
                  <a:pt x="43699" y="919191"/>
                </a:lnTo>
                <a:lnTo>
                  <a:pt x="56943" y="917554"/>
                </a:lnTo>
                <a:lnTo>
                  <a:pt x="61799" y="9155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4"/>
                </a:lnTo>
                <a:lnTo>
                  <a:pt x="43699" y="1508"/>
                </a:lnTo>
                <a:lnTo>
                  <a:pt x="34286" y="865"/>
                </a:lnTo>
                <a:lnTo>
                  <a:pt x="23649" y="392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0" name="object 20"/>
          <p:cNvGraphicFramePr>
            <a:graphicFrameLocks noGrp="1"/>
          </p:cNvGraphicFramePr>
          <p:nvPr/>
        </p:nvGraphicFramePr>
        <p:xfrm>
          <a:off x="2982928" y="2456279"/>
          <a:ext cx="1282699" cy="815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1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5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3C47D"/>
                      </a:solidFill>
                      <a:prstDash val="solid"/>
                    </a:lnL>
                    <a:lnR w="3175">
                      <a:solidFill>
                        <a:srgbClr val="6AA84F"/>
                      </a:solidFill>
                      <a:prstDash val="solid"/>
                    </a:lnR>
                    <a:lnT w="9525">
                      <a:solidFill>
                        <a:srgbClr val="93C47D"/>
                      </a:solidFill>
                      <a:prstDash val="solid"/>
                    </a:lnT>
                    <a:lnB w="9525">
                      <a:solidFill>
                        <a:srgbClr val="93C47D"/>
                      </a:solidFill>
                      <a:prstDash val="soli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6AA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>
                      <a:solidFill>
                        <a:srgbClr val="93C47D"/>
                      </a:solidFill>
                      <a:prstDash val="solid"/>
                    </a:lnT>
                    <a:lnB w="9525">
                      <a:solidFill>
                        <a:srgbClr val="93C47D"/>
                      </a:solidFill>
                      <a:prstDash val="soli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93C47D"/>
                      </a:solidFill>
                      <a:prstDash val="solid"/>
                    </a:lnR>
                    <a:lnT w="9525">
                      <a:solidFill>
                        <a:srgbClr val="93C47D"/>
                      </a:solidFill>
                      <a:prstDash val="solid"/>
                    </a:lnT>
                    <a:lnB w="9525">
                      <a:solidFill>
                        <a:srgbClr val="93C47D"/>
                      </a:solidFill>
                      <a:prstDash val="solid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" name="object 21"/>
          <p:cNvSpPr txBox="1"/>
          <p:nvPr/>
        </p:nvSpPr>
        <p:spPr>
          <a:xfrm>
            <a:off x="4493804" y="2138063"/>
            <a:ext cx="3022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latin typeface="Verdana"/>
                <a:cs typeface="Verdana"/>
              </a:rPr>
              <a:t>0.06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20" dirty="0">
                <a:latin typeface="Verdana"/>
                <a:cs typeface="Verdana"/>
              </a:rPr>
              <a:t>0.00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93804" y="2747663"/>
            <a:ext cx="2921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40" dirty="0">
                <a:latin typeface="Verdana"/>
                <a:cs typeface="Verdana"/>
              </a:rPr>
              <a:t>0.34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493804" y="3204863"/>
            <a:ext cx="2514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20" dirty="0">
                <a:latin typeface="Verdana"/>
                <a:cs typeface="Verdana"/>
              </a:rPr>
              <a:t>0.13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358904" y="2167817"/>
            <a:ext cx="518159" cy="1291590"/>
          </a:xfrm>
          <a:custGeom>
            <a:avLst/>
            <a:gdLst/>
            <a:ahLst/>
            <a:cxnLst/>
            <a:rect l="l" t="t" r="r" b="b"/>
            <a:pathLst>
              <a:path w="518160" h="1291589">
                <a:moveTo>
                  <a:pt x="61799" y="1291200"/>
                </a:moveTo>
                <a:lnTo>
                  <a:pt x="37744" y="1290795"/>
                </a:lnTo>
                <a:lnTo>
                  <a:pt x="18100" y="1289691"/>
                </a:lnTo>
                <a:lnTo>
                  <a:pt x="4856" y="1288054"/>
                </a:lnTo>
                <a:lnTo>
                  <a:pt x="0" y="1286050"/>
                </a:lnTo>
                <a:lnTo>
                  <a:pt x="0" y="5149"/>
                </a:lnTo>
                <a:lnTo>
                  <a:pt x="0" y="3783"/>
                </a:lnTo>
                <a:lnTo>
                  <a:pt x="6510" y="2474"/>
                </a:lnTo>
                <a:lnTo>
                  <a:pt x="18100" y="1508"/>
                </a:lnTo>
                <a:lnTo>
                  <a:pt x="27513" y="865"/>
                </a:lnTo>
                <a:lnTo>
                  <a:pt x="38149" y="392"/>
                </a:lnTo>
                <a:lnTo>
                  <a:pt x="49687" y="99"/>
                </a:lnTo>
                <a:lnTo>
                  <a:pt x="61799" y="0"/>
                </a:lnTo>
              </a:path>
              <a:path w="518160" h="1291589">
                <a:moveTo>
                  <a:pt x="456197" y="1291200"/>
                </a:moveTo>
                <a:lnTo>
                  <a:pt x="480252" y="1290795"/>
                </a:lnTo>
                <a:lnTo>
                  <a:pt x="499896" y="1289691"/>
                </a:lnTo>
                <a:lnTo>
                  <a:pt x="513140" y="1288054"/>
                </a:lnTo>
                <a:lnTo>
                  <a:pt x="517997" y="1286050"/>
                </a:lnTo>
                <a:lnTo>
                  <a:pt x="517997" y="5149"/>
                </a:lnTo>
                <a:lnTo>
                  <a:pt x="517997" y="3783"/>
                </a:lnTo>
                <a:lnTo>
                  <a:pt x="511485" y="2474"/>
                </a:lnTo>
                <a:lnTo>
                  <a:pt x="499896" y="1508"/>
                </a:lnTo>
                <a:lnTo>
                  <a:pt x="490483" y="865"/>
                </a:lnTo>
                <a:lnTo>
                  <a:pt x="479847" y="392"/>
                </a:lnTo>
                <a:lnTo>
                  <a:pt x="468310" y="99"/>
                </a:lnTo>
                <a:lnTo>
                  <a:pt x="456197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5009667" y="2107022"/>
            <a:ext cx="1625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a as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09667" y="3173822"/>
            <a:ext cx="6343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Verdana"/>
                <a:cs typeface="Verdana"/>
              </a:rPr>
              <a:t>problems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009667" y="2695704"/>
            <a:ext cx="6794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aseline="2777" dirty="0">
                <a:latin typeface="Verdana"/>
                <a:cs typeface="Verdana"/>
              </a:rPr>
              <a:t>banking</a:t>
            </a:r>
            <a:r>
              <a:rPr sz="1500" spc="660" baseline="2777" dirty="0">
                <a:latin typeface="Verdana"/>
                <a:cs typeface="Verdana"/>
              </a:rPr>
              <a:t> </a:t>
            </a:r>
            <a:r>
              <a:rPr sz="1200" i="1" spc="-50" dirty="0">
                <a:latin typeface="Verdana"/>
                <a:cs typeface="Verdana"/>
              </a:rPr>
              <a:t>j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6274" y="2848054"/>
            <a:ext cx="666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0" dirty="0">
                <a:latin typeface="Verdana"/>
                <a:cs typeface="Verdana"/>
              </a:rPr>
              <a:t>i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779925" y="2198728"/>
            <a:ext cx="673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0" dirty="0">
                <a:latin typeface="Verdana"/>
                <a:cs typeface="Verdana"/>
              </a:rPr>
              <a:t>j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280350" y="2105496"/>
            <a:ext cx="155829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Verdana"/>
                <a:cs typeface="Verdana"/>
              </a:rPr>
              <a:t>скалярное </a:t>
            </a:r>
            <a:r>
              <a:rPr sz="1300" dirty="0">
                <a:latin typeface="Verdana"/>
                <a:cs typeface="Verdana"/>
              </a:rPr>
              <a:t>произведение</a:t>
            </a:r>
            <a:r>
              <a:rPr sz="1300" spc="310" dirty="0">
                <a:latin typeface="Verdana"/>
                <a:cs typeface="Verdana"/>
              </a:rPr>
              <a:t> </a:t>
            </a:r>
            <a:r>
              <a:rPr sz="1300" spc="-20" dirty="0">
                <a:latin typeface="Verdana"/>
                <a:cs typeface="Verdana"/>
              </a:rPr>
              <a:t>i-</a:t>
            </a:r>
            <a:r>
              <a:rPr sz="1300" spc="-50" dirty="0">
                <a:latin typeface="Verdana"/>
                <a:cs typeface="Verdana"/>
              </a:rPr>
              <a:t>й </a:t>
            </a:r>
            <a:r>
              <a:rPr sz="1300" dirty="0">
                <a:latin typeface="Verdana"/>
                <a:cs typeface="Verdana"/>
              </a:rPr>
              <a:t>строки</a:t>
            </a:r>
            <a:r>
              <a:rPr sz="1300" spc="-60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A</a:t>
            </a:r>
            <a:r>
              <a:rPr sz="1300" spc="-55" dirty="0">
                <a:latin typeface="Verdana"/>
                <a:cs typeface="Verdana"/>
              </a:rPr>
              <a:t> </a:t>
            </a:r>
            <a:r>
              <a:rPr sz="1300" spc="50" dirty="0">
                <a:latin typeface="Verdana"/>
                <a:cs typeface="Verdana"/>
              </a:rPr>
              <a:t>и</a:t>
            </a:r>
            <a:r>
              <a:rPr sz="1300" spc="-60" dirty="0">
                <a:latin typeface="Verdana"/>
                <a:cs typeface="Verdana"/>
              </a:rPr>
              <a:t> </a:t>
            </a:r>
            <a:r>
              <a:rPr sz="1300" spc="-65" dirty="0">
                <a:latin typeface="Verdana"/>
                <a:cs typeface="Verdana"/>
              </a:rPr>
              <a:t>j-</a:t>
            </a:r>
            <a:r>
              <a:rPr sz="1300" spc="-25" dirty="0">
                <a:latin typeface="Verdana"/>
                <a:cs typeface="Verdana"/>
              </a:rPr>
              <a:t>го </a:t>
            </a:r>
            <a:r>
              <a:rPr sz="1300" dirty="0">
                <a:latin typeface="Verdana"/>
                <a:cs typeface="Verdana"/>
              </a:rPr>
              <a:t>столбца</a:t>
            </a:r>
            <a:r>
              <a:rPr sz="1300" spc="-60" dirty="0">
                <a:latin typeface="Verdana"/>
                <a:cs typeface="Verdana"/>
              </a:rPr>
              <a:t> </a:t>
            </a:r>
            <a:r>
              <a:rPr sz="1300" spc="35" dirty="0">
                <a:latin typeface="Verdana"/>
                <a:cs typeface="Verdana"/>
              </a:rPr>
              <a:t>B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4451187" y="2465537"/>
            <a:ext cx="1711960" cy="537210"/>
            <a:chOff x="4451187" y="2465537"/>
            <a:chExt cx="1711960" cy="537210"/>
          </a:xfrm>
        </p:grpSpPr>
        <p:sp>
          <p:nvSpPr>
            <p:cNvPr id="32" name="object 32"/>
            <p:cNvSpPr/>
            <p:nvPr/>
          </p:nvSpPr>
          <p:spPr>
            <a:xfrm>
              <a:off x="4825681" y="2470299"/>
              <a:ext cx="1332865" cy="185420"/>
            </a:xfrm>
            <a:custGeom>
              <a:avLst/>
              <a:gdLst/>
              <a:ahLst/>
              <a:cxnLst/>
              <a:rect l="l" t="t" r="r" b="b"/>
              <a:pathLst>
                <a:path w="1332864" h="185419">
                  <a:moveTo>
                    <a:pt x="1332393" y="0"/>
                  </a:moveTo>
                  <a:lnTo>
                    <a:pt x="0" y="18503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782867" y="2639755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44978" y="31166"/>
                  </a:moveTo>
                  <a:lnTo>
                    <a:pt x="0" y="21528"/>
                  </a:lnTo>
                  <a:lnTo>
                    <a:pt x="40650" y="0"/>
                  </a:lnTo>
                  <a:lnTo>
                    <a:pt x="44978" y="3116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782867" y="2639755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40650" y="0"/>
                  </a:moveTo>
                  <a:lnTo>
                    <a:pt x="0" y="21528"/>
                  </a:lnTo>
                  <a:lnTo>
                    <a:pt x="44978" y="31166"/>
                  </a:lnTo>
                  <a:lnTo>
                    <a:pt x="4065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455950" y="2724049"/>
              <a:ext cx="359410" cy="274320"/>
            </a:xfrm>
            <a:custGeom>
              <a:avLst/>
              <a:gdLst/>
              <a:ahLst/>
              <a:cxnLst/>
              <a:rect l="l" t="t" r="r" b="b"/>
              <a:pathLst>
                <a:path w="359410" h="274319">
                  <a:moveTo>
                    <a:pt x="0" y="0"/>
                  </a:moveTo>
                  <a:lnTo>
                    <a:pt x="359099" y="0"/>
                  </a:lnTo>
                  <a:lnTo>
                    <a:pt x="359099" y="273899"/>
                  </a:lnTo>
                  <a:lnTo>
                    <a:pt x="0" y="273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89509"/>
            <a:ext cx="15875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70" dirty="0"/>
              <a:t>Word2Vec</a:t>
            </a:r>
            <a:endParaRPr sz="2700"/>
          </a:p>
        </p:txBody>
      </p:sp>
      <p:grpSp>
        <p:nvGrpSpPr>
          <p:cNvPr id="3" name="object 3"/>
          <p:cNvGrpSpPr/>
          <p:nvPr/>
        </p:nvGrpSpPr>
        <p:grpSpPr>
          <a:xfrm>
            <a:off x="1409956" y="2216929"/>
            <a:ext cx="883919" cy="1301115"/>
            <a:chOff x="1409956" y="2216929"/>
            <a:chExt cx="883919" cy="1301115"/>
          </a:xfrm>
        </p:grpSpPr>
        <p:sp>
          <p:nvSpPr>
            <p:cNvPr id="4" name="object 4"/>
            <p:cNvSpPr/>
            <p:nvPr/>
          </p:nvSpPr>
          <p:spPr>
            <a:xfrm>
              <a:off x="1414716" y="2221699"/>
              <a:ext cx="874394" cy="1291590"/>
            </a:xfrm>
            <a:custGeom>
              <a:avLst/>
              <a:gdLst/>
              <a:ahLst/>
              <a:cxnLst/>
              <a:rect l="l" t="t" r="r" b="b"/>
              <a:pathLst>
                <a:path w="874394" h="1291589">
                  <a:moveTo>
                    <a:pt x="874191" y="792530"/>
                  </a:moveTo>
                  <a:lnTo>
                    <a:pt x="0" y="792530"/>
                  </a:lnTo>
                  <a:lnTo>
                    <a:pt x="0" y="1291196"/>
                  </a:lnTo>
                  <a:lnTo>
                    <a:pt x="874191" y="1291196"/>
                  </a:lnTo>
                  <a:lnTo>
                    <a:pt x="874191" y="792530"/>
                  </a:lnTo>
                  <a:close/>
                </a:path>
                <a:path w="874394" h="1291589">
                  <a:moveTo>
                    <a:pt x="874191" y="0"/>
                  </a:moveTo>
                  <a:lnTo>
                    <a:pt x="0" y="0"/>
                  </a:lnTo>
                  <a:lnTo>
                    <a:pt x="0" y="695629"/>
                  </a:lnTo>
                  <a:lnTo>
                    <a:pt x="874191" y="695629"/>
                  </a:lnTo>
                  <a:lnTo>
                    <a:pt x="874191" y="0"/>
                  </a:lnTo>
                  <a:close/>
                </a:path>
              </a:pathLst>
            </a:custGeom>
            <a:solidFill>
              <a:srgbClr val="F9CB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14719" y="2221692"/>
              <a:ext cx="874394" cy="1291590"/>
            </a:xfrm>
            <a:custGeom>
              <a:avLst/>
              <a:gdLst/>
              <a:ahLst/>
              <a:cxnLst/>
              <a:rect l="l" t="t" r="r" b="b"/>
              <a:pathLst>
                <a:path w="874394" h="1291589">
                  <a:moveTo>
                    <a:pt x="0" y="0"/>
                  </a:moveTo>
                  <a:lnTo>
                    <a:pt x="874199" y="0"/>
                  </a:lnTo>
                  <a:lnTo>
                    <a:pt x="874199" y="1291199"/>
                  </a:lnTo>
                  <a:lnTo>
                    <a:pt x="0" y="1291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27487" y="2182535"/>
            <a:ext cx="1098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5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7487" y="2792135"/>
            <a:ext cx="1079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35" dirty="0">
                <a:latin typeface="Verdana"/>
                <a:cs typeface="Verdana"/>
              </a:rPr>
              <a:t>1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2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7487" y="3249336"/>
            <a:ext cx="1098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44736" y="2207528"/>
            <a:ext cx="715010" cy="1301115"/>
            <a:chOff x="244736" y="2207528"/>
            <a:chExt cx="715010" cy="1301115"/>
          </a:xfrm>
        </p:grpSpPr>
        <p:sp>
          <p:nvSpPr>
            <p:cNvPr id="10" name="object 10"/>
            <p:cNvSpPr/>
            <p:nvPr/>
          </p:nvSpPr>
          <p:spPr>
            <a:xfrm>
              <a:off x="892588" y="2212290"/>
              <a:ext cx="62230" cy="1291590"/>
            </a:xfrm>
            <a:custGeom>
              <a:avLst/>
              <a:gdLst/>
              <a:ahLst/>
              <a:cxnLst/>
              <a:rect l="l" t="t" r="r" b="b"/>
              <a:pathLst>
                <a:path w="62230" h="1291589">
                  <a:moveTo>
                    <a:pt x="61799" y="1291200"/>
                  </a:moveTo>
                  <a:lnTo>
                    <a:pt x="37744" y="1290795"/>
                  </a:lnTo>
                  <a:lnTo>
                    <a:pt x="18100" y="1289691"/>
                  </a:lnTo>
                  <a:lnTo>
                    <a:pt x="4856" y="1288054"/>
                  </a:lnTo>
                  <a:lnTo>
                    <a:pt x="0" y="1286050"/>
                  </a:lnTo>
                  <a:lnTo>
                    <a:pt x="0" y="5149"/>
                  </a:lnTo>
                  <a:lnTo>
                    <a:pt x="0" y="3783"/>
                  </a:lnTo>
                  <a:lnTo>
                    <a:pt x="6510" y="2474"/>
                  </a:lnTo>
                  <a:lnTo>
                    <a:pt x="18100" y="1508"/>
                  </a:lnTo>
                  <a:lnTo>
                    <a:pt x="27513" y="865"/>
                  </a:lnTo>
                  <a:lnTo>
                    <a:pt x="38150" y="392"/>
                  </a:lnTo>
                  <a:lnTo>
                    <a:pt x="49687" y="99"/>
                  </a:lnTo>
                  <a:lnTo>
                    <a:pt x="6179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736" y="2851553"/>
              <a:ext cx="604419" cy="228440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198344" y="2212290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30" h="1291589">
                <a:moveTo>
                  <a:pt x="0" y="1291200"/>
                </a:moveTo>
                <a:lnTo>
                  <a:pt x="24055" y="1290795"/>
                </a:lnTo>
                <a:lnTo>
                  <a:pt x="43699" y="1289691"/>
                </a:lnTo>
                <a:lnTo>
                  <a:pt x="56943" y="1288054"/>
                </a:lnTo>
                <a:lnTo>
                  <a:pt x="61799" y="12860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4"/>
                </a:lnTo>
                <a:lnTo>
                  <a:pt x="43699" y="1508"/>
                </a:lnTo>
                <a:lnTo>
                  <a:pt x="34286" y="865"/>
                </a:lnTo>
                <a:lnTo>
                  <a:pt x="23649" y="392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396980" y="2448688"/>
            <a:ext cx="3016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latin typeface="Verdana"/>
                <a:cs typeface="Verdana"/>
              </a:rPr>
              <a:t>0.56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0" dirty="0">
                <a:latin typeface="Verdana"/>
                <a:cs typeface="Verdana"/>
              </a:rPr>
              <a:t>-</a:t>
            </a:r>
            <a:r>
              <a:rPr sz="1000" spc="-110" dirty="0">
                <a:latin typeface="Verdana"/>
                <a:cs typeface="Verdana"/>
              </a:rPr>
              <a:t>1.34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96980" y="3058288"/>
            <a:ext cx="3670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40" dirty="0">
                <a:latin typeface="Verdana"/>
                <a:cs typeface="Verdana"/>
              </a:rPr>
              <a:t>0.056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47262" y="2392834"/>
            <a:ext cx="1352550" cy="1917064"/>
            <a:chOff x="1047262" y="2392834"/>
            <a:chExt cx="1352550" cy="1917064"/>
          </a:xfrm>
        </p:grpSpPr>
        <p:sp>
          <p:nvSpPr>
            <p:cNvPr id="16" name="object 16"/>
            <p:cNvSpPr/>
            <p:nvPr/>
          </p:nvSpPr>
          <p:spPr>
            <a:xfrm>
              <a:off x="2332854" y="2397596"/>
              <a:ext cx="62230" cy="920750"/>
            </a:xfrm>
            <a:custGeom>
              <a:avLst/>
              <a:gdLst/>
              <a:ahLst/>
              <a:cxnLst/>
              <a:rect l="l" t="t" r="r" b="b"/>
              <a:pathLst>
                <a:path w="62230" h="920750">
                  <a:moveTo>
                    <a:pt x="61799" y="920700"/>
                  </a:moveTo>
                  <a:lnTo>
                    <a:pt x="37744" y="920295"/>
                  </a:lnTo>
                  <a:lnTo>
                    <a:pt x="18100" y="919191"/>
                  </a:lnTo>
                  <a:lnTo>
                    <a:pt x="4856" y="917554"/>
                  </a:lnTo>
                  <a:lnTo>
                    <a:pt x="0" y="915550"/>
                  </a:lnTo>
                  <a:lnTo>
                    <a:pt x="0" y="5149"/>
                  </a:lnTo>
                  <a:lnTo>
                    <a:pt x="0" y="3783"/>
                  </a:lnTo>
                  <a:lnTo>
                    <a:pt x="6510" y="2474"/>
                  </a:lnTo>
                  <a:lnTo>
                    <a:pt x="18100" y="1508"/>
                  </a:lnTo>
                  <a:lnTo>
                    <a:pt x="27513" y="865"/>
                  </a:lnTo>
                  <a:lnTo>
                    <a:pt x="38150" y="392"/>
                  </a:lnTo>
                  <a:lnTo>
                    <a:pt x="49687" y="99"/>
                  </a:lnTo>
                  <a:lnTo>
                    <a:pt x="6179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07800" y="2917324"/>
              <a:ext cx="874394" cy="97155"/>
            </a:xfrm>
            <a:custGeom>
              <a:avLst/>
              <a:gdLst/>
              <a:ahLst/>
              <a:cxnLst/>
              <a:rect l="l" t="t" r="r" b="b"/>
              <a:pathLst>
                <a:path w="874394" h="97155">
                  <a:moveTo>
                    <a:pt x="874199" y="96899"/>
                  </a:moveTo>
                  <a:lnTo>
                    <a:pt x="0" y="96899"/>
                  </a:lnTo>
                  <a:lnTo>
                    <a:pt x="0" y="0"/>
                  </a:lnTo>
                  <a:lnTo>
                    <a:pt x="874199" y="0"/>
                  </a:lnTo>
                  <a:lnTo>
                    <a:pt x="874199" y="96899"/>
                  </a:lnTo>
                  <a:close/>
                </a:path>
              </a:pathLst>
            </a:custGeom>
            <a:solidFill>
              <a:srgbClr val="B45F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07800" y="2917324"/>
              <a:ext cx="874394" cy="97155"/>
            </a:xfrm>
            <a:custGeom>
              <a:avLst/>
              <a:gdLst/>
              <a:ahLst/>
              <a:cxnLst/>
              <a:rect l="l" t="t" r="r" b="b"/>
              <a:pathLst>
                <a:path w="874394" h="97155">
                  <a:moveTo>
                    <a:pt x="0" y="0"/>
                  </a:moveTo>
                  <a:lnTo>
                    <a:pt x="874199" y="0"/>
                  </a:lnTo>
                  <a:lnTo>
                    <a:pt x="874199" y="96899"/>
                  </a:lnTo>
                  <a:lnTo>
                    <a:pt x="0" y="96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B45F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52025" y="3191520"/>
              <a:ext cx="626110" cy="1113790"/>
            </a:xfrm>
            <a:custGeom>
              <a:avLst/>
              <a:gdLst/>
              <a:ahLst/>
              <a:cxnLst/>
              <a:rect l="l" t="t" r="r" b="b"/>
              <a:pathLst>
                <a:path w="626110" h="1113789">
                  <a:moveTo>
                    <a:pt x="0" y="1113279"/>
                  </a:moveTo>
                  <a:lnTo>
                    <a:pt x="62569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664009" y="3153838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19">
                  <a:moveTo>
                    <a:pt x="27429" y="45389"/>
                  </a:moveTo>
                  <a:lnTo>
                    <a:pt x="0" y="29973"/>
                  </a:lnTo>
                  <a:lnTo>
                    <a:pt x="34893" y="0"/>
                  </a:lnTo>
                  <a:lnTo>
                    <a:pt x="27429" y="4538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64009" y="3153838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19">
                  <a:moveTo>
                    <a:pt x="27429" y="45389"/>
                  </a:moveTo>
                  <a:lnTo>
                    <a:pt x="34893" y="0"/>
                  </a:lnTo>
                  <a:lnTo>
                    <a:pt x="0" y="29973"/>
                  </a:lnTo>
                  <a:lnTo>
                    <a:pt x="27429" y="4538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2824011" y="2397596"/>
            <a:ext cx="62230" cy="920750"/>
          </a:xfrm>
          <a:custGeom>
            <a:avLst/>
            <a:gdLst/>
            <a:ahLst/>
            <a:cxnLst/>
            <a:rect l="l" t="t" r="r" b="b"/>
            <a:pathLst>
              <a:path w="62230" h="920750">
                <a:moveTo>
                  <a:pt x="0" y="920700"/>
                </a:moveTo>
                <a:lnTo>
                  <a:pt x="24055" y="920295"/>
                </a:lnTo>
                <a:lnTo>
                  <a:pt x="43699" y="919191"/>
                </a:lnTo>
                <a:lnTo>
                  <a:pt x="56943" y="917554"/>
                </a:lnTo>
                <a:lnTo>
                  <a:pt x="61799" y="9155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4"/>
                </a:lnTo>
                <a:lnTo>
                  <a:pt x="43699" y="1508"/>
                </a:lnTo>
                <a:lnTo>
                  <a:pt x="34286" y="865"/>
                </a:lnTo>
                <a:lnTo>
                  <a:pt x="23649" y="392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2982928" y="2456279"/>
            <a:ext cx="1291590" cy="826135"/>
            <a:chOff x="2982928" y="2456279"/>
            <a:chExt cx="1291590" cy="826135"/>
          </a:xfrm>
        </p:grpSpPr>
        <p:sp>
          <p:nvSpPr>
            <p:cNvPr id="24" name="object 24"/>
            <p:cNvSpPr/>
            <p:nvPr/>
          </p:nvSpPr>
          <p:spPr>
            <a:xfrm>
              <a:off x="2987691" y="2461042"/>
              <a:ext cx="1282065" cy="816610"/>
            </a:xfrm>
            <a:custGeom>
              <a:avLst/>
              <a:gdLst/>
              <a:ahLst/>
              <a:cxnLst/>
              <a:rect l="l" t="t" r="r" b="b"/>
              <a:pathLst>
                <a:path w="1282064" h="816610">
                  <a:moveTo>
                    <a:pt x="1281899" y="816299"/>
                  </a:moveTo>
                  <a:lnTo>
                    <a:pt x="0" y="816299"/>
                  </a:lnTo>
                  <a:lnTo>
                    <a:pt x="0" y="0"/>
                  </a:lnTo>
                  <a:lnTo>
                    <a:pt x="1281899" y="0"/>
                  </a:lnTo>
                  <a:lnTo>
                    <a:pt x="1281899" y="8162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987691" y="2461042"/>
              <a:ext cx="1282065" cy="816610"/>
            </a:xfrm>
            <a:custGeom>
              <a:avLst/>
              <a:gdLst/>
              <a:ahLst/>
              <a:cxnLst/>
              <a:rect l="l" t="t" r="r" b="b"/>
              <a:pathLst>
                <a:path w="1282064" h="816610">
                  <a:moveTo>
                    <a:pt x="0" y="816299"/>
                  </a:moveTo>
                  <a:lnTo>
                    <a:pt x="0" y="0"/>
                  </a:lnTo>
                  <a:lnTo>
                    <a:pt x="1281899" y="0"/>
                  </a:lnTo>
                  <a:lnTo>
                    <a:pt x="1281899" y="816299"/>
                  </a:lnTo>
                  <a:lnTo>
                    <a:pt x="0" y="816299"/>
                  </a:lnTo>
                  <a:close/>
                </a:path>
              </a:pathLst>
            </a:custGeom>
            <a:ln w="9524">
              <a:solidFill>
                <a:srgbClr val="93C4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493804" y="2138063"/>
            <a:ext cx="3022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latin typeface="Verdana"/>
                <a:cs typeface="Verdana"/>
              </a:rPr>
              <a:t>0.06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20" dirty="0">
                <a:latin typeface="Verdana"/>
                <a:cs typeface="Verdana"/>
              </a:rPr>
              <a:t>0.00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93804" y="2747663"/>
            <a:ext cx="2921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40" dirty="0">
                <a:latin typeface="Verdana"/>
                <a:cs typeface="Verdana"/>
              </a:rPr>
              <a:t>0.34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493804" y="3204863"/>
            <a:ext cx="2514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20" dirty="0">
                <a:latin typeface="Verdana"/>
                <a:cs typeface="Verdana"/>
              </a:rPr>
              <a:t>0.13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358904" y="2167817"/>
            <a:ext cx="518159" cy="1291590"/>
          </a:xfrm>
          <a:custGeom>
            <a:avLst/>
            <a:gdLst/>
            <a:ahLst/>
            <a:cxnLst/>
            <a:rect l="l" t="t" r="r" b="b"/>
            <a:pathLst>
              <a:path w="518160" h="1291589">
                <a:moveTo>
                  <a:pt x="61799" y="1291200"/>
                </a:moveTo>
                <a:lnTo>
                  <a:pt x="37744" y="1290795"/>
                </a:lnTo>
                <a:lnTo>
                  <a:pt x="18100" y="1289691"/>
                </a:lnTo>
                <a:lnTo>
                  <a:pt x="4856" y="1288054"/>
                </a:lnTo>
                <a:lnTo>
                  <a:pt x="0" y="1286050"/>
                </a:lnTo>
                <a:lnTo>
                  <a:pt x="0" y="5149"/>
                </a:lnTo>
                <a:lnTo>
                  <a:pt x="0" y="3783"/>
                </a:lnTo>
                <a:lnTo>
                  <a:pt x="6510" y="2474"/>
                </a:lnTo>
                <a:lnTo>
                  <a:pt x="18100" y="1508"/>
                </a:lnTo>
                <a:lnTo>
                  <a:pt x="27513" y="865"/>
                </a:lnTo>
                <a:lnTo>
                  <a:pt x="38149" y="392"/>
                </a:lnTo>
                <a:lnTo>
                  <a:pt x="49687" y="99"/>
                </a:lnTo>
                <a:lnTo>
                  <a:pt x="61799" y="0"/>
                </a:lnTo>
              </a:path>
              <a:path w="518160" h="1291589">
                <a:moveTo>
                  <a:pt x="456197" y="1291200"/>
                </a:moveTo>
                <a:lnTo>
                  <a:pt x="480252" y="1290795"/>
                </a:lnTo>
                <a:lnTo>
                  <a:pt x="499896" y="1289691"/>
                </a:lnTo>
                <a:lnTo>
                  <a:pt x="513140" y="1288054"/>
                </a:lnTo>
                <a:lnTo>
                  <a:pt x="517997" y="1286050"/>
                </a:lnTo>
                <a:lnTo>
                  <a:pt x="517997" y="5149"/>
                </a:lnTo>
                <a:lnTo>
                  <a:pt x="517997" y="3783"/>
                </a:lnTo>
                <a:lnTo>
                  <a:pt x="511485" y="2474"/>
                </a:lnTo>
                <a:lnTo>
                  <a:pt x="499896" y="1508"/>
                </a:lnTo>
                <a:lnTo>
                  <a:pt x="490483" y="865"/>
                </a:lnTo>
                <a:lnTo>
                  <a:pt x="479847" y="392"/>
                </a:lnTo>
                <a:lnTo>
                  <a:pt x="468310" y="99"/>
                </a:lnTo>
                <a:lnTo>
                  <a:pt x="456197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009667" y="2107022"/>
            <a:ext cx="1625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a as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009667" y="3173822"/>
            <a:ext cx="6343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Verdana"/>
                <a:cs typeface="Verdana"/>
              </a:rPr>
              <a:t>problems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274" y="2848054"/>
            <a:ext cx="666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0" dirty="0">
                <a:latin typeface="Verdana"/>
                <a:cs typeface="Verdana"/>
              </a:rPr>
              <a:t>i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769262" y="1605312"/>
            <a:ext cx="2423795" cy="2681605"/>
            <a:chOff x="3769262" y="1605312"/>
            <a:chExt cx="2423795" cy="2681605"/>
          </a:xfrm>
        </p:grpSpPr>
        <p:sp>
          <p:nvSpPr>
            <p:cNvPr id="34" name="object 34"/>
            <p:cNvSpPr/>
            <p:nvPr/>
          </p:nvSpPr>
          <p:spPr>
            <a:xfrm>
              <a:off x="3774025" y="2471600"/>
              <a:ext cx="100330" cy="793750"/>
            </a:xfrm>
            <a:custGeom>
              <a:avLst/>
              <a:gdLst/>
              <a:ahLst/>
              <a:cxnLst/>
              <a:rect l="l" t="t" r="r" b="b"/>
              <a:pathLst>
                <a:path w="100329" h="793750">
                  <a:moveTo>
                    <a:pt x="99899" y="793199"/>
                  </a:moveTo>
                  <a:lnTo>
                    <a:pt x="0" y="793199"/>
                  </a:lnTo>
                  <a:lnTo>
                    <a:pt x="0" y="0"/>
                  </a:lnTo>
                  <a:lnTo>
                    <a:pt x="99899" y="0"/>
                  </a:lnTo>
                  <a:lnTo>
                    <a:pt x="99899" y="793199"/>
                  </a:lnTo>
                  <a:close/>
                </a:path>
              </a:pathLst>
            </a:custGeom>
            <a:solidFill>
              <a:srgbClr val="6AA8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774025" y="2471600"/>
              <a:ext cx="100330" cy="793750"/>
            </a:xfrm>
            <a:custGeom>
              <a:avLst/>
              <a:gdLst/>
              <a:ahLst/>
              <a:cxnLst/>
              <a:rect l="l" t="t" r="r" b="b"/>
              <a:pathLst>
                <a:path w="100329" h="793750">
                  <a:moveTo>
                    <a:pt x="0" y="793199"/>
                  </a:moveTo>
                  <a:lnTo>
                    <a:pt x="0" y="0"/>
                  </a:lnTo>
                  <a:lnTo>
                    <a:pt x="99899" y="0"/>
                  </a:lnTo>
                  <a:lnTo>
                    <a:pt x="99899" y="793199"/>
                  </a:lnTo>
                  <a:lnTo>
                    <a:pt x="0" y="793199"/>
                  </a:lnTo>
                  <a:close/>
                </a:path>
              </a:pathLst>
            </a:custGeom>
            <a:ln w="9524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815065" y="1610074"/>
              <a:ext cx="1372870" cy="1019175"/>
            </a:xfrm>
            <a:custGeom>
              <a:avLst/>
              <a:gdLst/>
              <a:ahLst/>
              <a:cxnLst/>
              <a:rect l="l" t="t" r="r" b="b"/>
              <a:pathLst>
                <a:path w="1372870" h="1019175">
                  <a:moveTo>
                    <a:pt x="1372809" y="0"/>
                  </a:moveTo>
                  <a:lnTo>
                    <a:pt x="0" y="101893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780356" y="2616380"/>
              <a:ext cx="44450" cy="38735"/>
            </a:xfrm>
            <a:custGeom>
              <a:avLst/>
              <a:gdLst/>
              <a:ahLst/>
              <a:cxnLst/>
              <a:rect l="l" t="t" r="r" b="b"/>
              <a:pathLst>
                <a:path w="44450" h="38735">
                  <a:moveTo>
                    <a:pt x="0" y="38395"/>
                  </a:moveTo>
                  <a:lnTo>
                    <a:pt x="25332" y="0"/>
                  </a:lnTo>
                  <a:lnTo>
                    <a:pt x="44085" y="25266"/>
                  </a:lnTo>
                  <a:lnTo>
                    <a:pt x="0" y="3839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780356" y="2616380"/>
              <a:ext cx="44450" cy="38735"/>
            </a:xfrm>
            <a:custGeom>
              <a:avLst/>
              <a:gdLst/>
              <a:ahLst/>
              <a:cxnLst/>
              <a:rect l="l" t="t" r="r" b="b"/>
              <a:pathLst>
                <a:path w="44450" h="38735">
                  <a:moveTo>
                    <a:pt x="25332" y="0"/>
                  </a:moveTo>
                  <a:lnTo>
                    <a:pt x="0" y="38395"/>
                  </a:lnTo>
                  <a:lnTo>
                    <a:pt x="44085" y="25266"/>
                  </a:lnTo>
                  <a:lnTo>
                    <a:pt x="25332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55950" y="2724050"/>
              <a:ext cx="359410" cy="274320"/>
            </a:xfrm>
            <a:custGeom>
              <a:avLst/>
              <a:gdLst/>
              <a:ahLst/>
              <a:cxnLst/>
              <a:rect l="l" t="t" r="r" b="b"/>
              <a:pathLst>
                <a:path w="359410" h="274319">
                  <a:moveTo>
                    <a:pt x="0" y="0"/>
                  </a:moveTo>
                  <a:lnTo>
                    <a:pt x="359099" y="0"/>
                  </a:lnTo>
                  <a:lnTo>
                    <a:pt x="359099" y="273899"/>
                  </a:lnTo>
                  <a:lnTo>
                    <a:pt x="0" y="273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992175" y="3141535"/>
              <a:ext cx="516890" cy="1140460"/>
            </a:xfrm>
            <a:custGeom>
              <a:avLst/>
              <a:gdLst/>
              <a:ahLst/>
              <a:cxnLst/>
              <a:rect l="l" t="t" r="r" b="b"/>
              <a:pathLst>
                <a:path w="516889" h="1140460">
                  <a:moveTo>
                    <a:pt x="516424" y="1140438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974344" y="3102159"/>
              <a:ext cx="32384" cy="46355"/>
            </a:xfrm>
            <a:custGeom>
              <a:avLst/>
              <a:gdLst/>
              <a:ahLst/>
              <a:cxnLst/>
              <a:rect l="l" t="t" r="r" b="b"/>
              <a:pathLst>
                <a:path w="32385" h="46355">
                  <a:moveTo>
                    <a:pt x="3498" y="45866"/>
                  </a:moveTo>
                  <a:lnTo>
                    <a:pt x="0" y="0"/>
                  </a:lnTo>
                  <a:lnTo>
                    <a:pt x="32162" y="32886"/>
                  </a:lnTo>
                  <a:lnTo>
                    <a:pt x="3498" y="4586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974344" y="3102159"/>
              <a:ext cx="32384" cy="46355"/>
            </a:xfrm>
            <a:custGeom>
              <a:avLst/>
              <a:gdLst/>
              <a:ahLst/>
              <a:cxnLst/>
              <a:rect l="l" t="t" r="r" b="b"/>
              <a:pathLst>
                <a:path w="32385" h="46355">
                  <a:moveTo>
                    <a:pt x="32162" y="32886"/>
                  </a:moveTo>
                  <a:lnTo>
                    <a:pt x="0" y="0"/>
                  </a:lnTo>
                  <a:lnTo>
                    <a:pt x="3498" y="45866"/>
                  </a:lnTo>
                  <a:lnTo>
                    <a:pt x="32162" y="3288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779925" y="2198728"/>
            <a:ext cx="673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0" dirty="0">
                <a:latin typeface="Verdana"/>
                <a:cs typeface="Verdana"/>
              </a:rPr>
              <a:t>j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009667" y="2695704"/>
            <a:ext cx="6794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aseline="2777" dirty="0">
                <a:latin typeface="Verdana"/>
                <a:cs typeface="Verdana"/>
              </a:rPr>
              <a:t>banking</a:t>
            </a:r>
            <a:r>
              <a:rPr sz="1500" spc="660" baseline="2777" dirty="0">
                <a:latin typeface="Verdana"/>
                <a:cs typeface="Verdana"/>
              </a:rPr>
              <a:t> </a:t>
            </a:r>
            <a:r>
              <a:rPr sz="1200" i="1" spc="-50" dirty="0">
                <a:latin typeface="Verdana"/>
                <a:cs typeface="Verdana"/>
              </a:rPr>
              <a:t>j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486324" y="864871"/>
            <a:ext cx="129413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Verdana"/>
                <a:cs typeface="Verdana"/>
              </a:rPr>
              <a:t>скалярное произведение </a:t>
            </a:r>
            <a:r>
              <a:rPr sz="1300" dirty="0">
                <a:latin typeface="Verdana"/>
                <a:cs typeface="Verdana"/>
              </a:rPr>
              <a:t>векторов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20" dirty="0">
                <a:latin typeface="Verdana"/>
                <a:cs typeface="Verdana"/>
              </a:rPr>
              <a:t>i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50" dirty="0">
                <a:latin typeface="Verdana"/>
                <a:cs typeface="Verdana"/>
              </a:rPr>
              <a:t>и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50" dirty="0">
                <a:latin typeface="Verdana"/>
                <a:cs typeface="Verdana"/>
              </a:rPr>
              <a:t>j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53950" y="4371221"/>
            <a:ext cx="115379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Verdana"/>
                <a:cs typeface="Verdana"/>
              </a:rPr>
              <a:t>вектор</a:t>
            </a:r>
            <a:r>
              <a:rPr sz="1300" spc="-75" dirty="0">
                <a:latin typeface="Verdana"/>
                <a:cs typeface="Verdana"/>
              </a:rPr>
              <a:t> </a:t>
            </a:r>
            <a:r>
              <a:rPr sz="1300" spc="-20" dirty="0">
                <a:latin typeface="Verdana"/>
                <a:cs typeface="Verdana"/>
              </a:rPr>
              <a:t>слова </a:t>
            </a:r>
            <a:r>
              <a:rPr sz="1300" spc="55" dirty="0">
                <a:latin typeface="Verdana"/>
                <a:cs typeface="Verdana"/>
              </a:rPr>
              <a:t>номер</a:t>
            </a:r>
            <a:r>
              <a:rPr sz="1300" spc="-110" dirty="0">
                <a:latin typeface="Verdana"/>
                <a:cs typeface="Verdana"/>
              </a:rPr>
              <a:t> </a:t>
            </a:r>
            <a:r>
              <a:rPr sz="1300" spc="-50" dirty="0">
                <a:latin typeface="Verdana"/>
                <a:cs typeface="Verdana"/>
              </a:rPr>
              <a:t>i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910525" y="4348396"/>
            <a:ext cx="115379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Verdana"/>
                <a:cs typeface="Verdana"/>
              </a:rPr>
              <a:t>вектор</a:t>
            </a:r>
            <a:r>
              <a:rPr sz="1300" spc="-75" dirty="0">
                <a:latin typeface="Verdana"/>
                <a:cs typeface="Verdana"/>
              </a:rPr>
              <a:t> </a:t>
            </a:r>
            <a:r>
              <a:rPr sz="1300" spc="-20" dirty="0">
                <a:latin typeface="Verdana"/>
                <a:cs typeface="Verdana"/>
              </a:rPr>
              <a:t>слова </a:t>
            </a:r>
            <a:r>
              <a:rPr sz="1300" spc="55" dirty="0">
                <a:latin typeface="Verdana"/>
                <a:cs typeface="Verdana"/>
              </a:rPr>
              <a:t>номер</a:t>
            </a:r>
            <a:r>
              <a:rPr sz="1300" spc="-110" dirty="0">
                <a:latin typeface="Verdana"/>
                <a:cs typeface="Verdana"/>
              </a:rPr>
              <a:t> </a:t>
            </a:r>
            <a:r>
              <a:rPr sz="1300" spc="-50" dirty="0">
                <a:latin typeface="Verdana"/>
                <a:cs typeface="Verdana"/>
              </a:rPr>
              <a:t>j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18375" y="1182620"/>
            <a:ext cx="211645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b="1" spc="-25" dirty="0">
                <a:latin typeface="Verdana"/>
                <a:cs typeface="Verdana"/>
              </a:rPr>
              <a:t>Строки</a:t>
            </a:r>
            <a:r>
              <a:rPr sz="1300" b="1" spc="-90" dirty="0">
                <a:latin typeface="Verdana"/>
                <a:cs typeface="Verdana"/>
              </a:rPr>
              <a:t> </a:t>
            </a:r>
            <a:r>
              <a:rPr sz="1300" b="1" spc="-30" dirty="0">
                <a:latin typeface="Verdana"/>
                <a:cs typeface="Verdana"/>
              </a:rPr>
              <a:t>матриц</a:t>
            </a:r>
            <a:r>
              <a:rPr sz="1300" b="1" spc="-80" dirty="0">
                <a:latin typeface="Verdana"/>
                <a:cs typeface="Verdana"/>
              </a:rPr>
              <a:t> </a:t>
            </a:r>
            <a:r>
              <a:rPr sz="1300" b="1" dirty="0">
                <a:latin typeface="Verdana"/>
                <a:cs typeface="Verdana"/>
              </a:rPr>
              <a:t>A</a:t>
            </a:r>
            <a:r>
              <a:rPr sz="1300" b="1" spc="-85" dirty="0">
                <a:latin typeface="Verdana"/>
                <a:cs typeface="Verdana"/>
              </a:rPr>
              <a:t> </a:t>
            </a:r>
            <a:r>
              <a:rPr sz="1300" b="1" dirty="0">
                <a:latin typeface="Verdana"/>
                <a:cs typeface="Verdana"/>
              </a:rPr>
              <a:t>и</a:t>
            </a:r>
            <a:r>
              <a:rPr sz="1300" b="1" spc="-85" dirty="0">
                <a:latin typeface="Verdana"/>
                <a:cs typeface="Verdana"/>
              </a:rPr>
              <a:t> </a:t>
            </a:r>
            <a:r>
              <a:rPr sz="1300" b="1" dirty="0">
                <a:latin typeface="Verdana"/>
                <a:cs typeface="Verdana"/>
              </a:rPr>
              <a:t>B</a:t>
            </a:r>
            <a:r>
              <a:rPr sz="1300" b="1" spc="-85" dirty="0">
                <a:latin typeface="Verdana"/>
                <a:cs typeface="Verdana"/>
              </a:rPr>
              <a:t> </a:t>
            </a:r>
            <a:r>
              <a:rPr sz="1300" b="1" spc="-50" dirty="0">
                <a:latin typeface="Verdana"/>
                <a:cs typeface="Verdana"/>
              </a:rPr>
              <a:t>— это</a:t>
            </a:r>
            <a:r>
              <a:rPr sz="1300" b="1" spc="-55" dirty="0">
                <a:latin typeface="Verdana"/>
                <a:cs typeface="Verdana"/>
              </a:rPr>
              <a:t> векторы </a:t>
            </a:r>
            <a:r>
              <a:rPr sz="1300" b="1" spc="-20" dirty="0">
                <a:latin typeface="Verdana"/>
                <a:cs typeface="Verdana"/>
              </a:rPr>
              <a:t>слов </a:t>
            </a:r>
            <a:r>
              <a:rPr sz="1300" b="1" spc="-10" dirty="0">
                <a:latin typeface="Verdana"/>
                <a:cs typeface="Verdana"/>
              </a:rPr>
              <a:t>словаря.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89509"/>
            <a:ext cx="15875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70" dirty="0"/>
              <a:t>Word2Vec</a:t>
            </a:r>
            <a:endParaRPr sz="2700"/>
          </a:p>
        </p:txBody>
      </p:sp>
      <p:grpSp>
        <p:nvGrpSpPr>
          <p:cNvPr id="3" name="object 3"/>
          <p:cNvGrpSpPr/>
          <p:nvPr/>
        </p:nvGrpSpPr>
        <p:grpSpPr>
          <a:xfrm>
            <a:off x="1409956" y="2216929"/>
            <a:ext cx="883919" cy="1301115"/>
            <a:chOff x="1409956" y="2216929"/>
            <a:chExt cx="883919" cy="1301115"/>
          </a:xfrm>
        </p:grpSpPr>
        <p:sp>
          <p:nvSpPr>
            <p:cNvPr id="4" name="object 4"/>
            <p:cNvSpPr/>
            <p:nvPr/>
          </p:nvSpPr>
          <p:spPr>
            <a:xfrm>
              <a:off x="1414716" y="2221699"/>
              <a:ext cx="874394" cy="1291590"/>
            </a:xfrm>
            <a:custGeom>
              <a:avLst/>
              <a:gdLst/>
              <a:ahLst/>
              <a:cxnLst/>
              <a:rect l="l" t="t" r="r" b="b"/>
              <a:pathLst>
                <a:path w="874394" h="1291589">
                  <a:moveTo>
                    <a:pt x="874191" y="792530"/>
                  </a:moveTo>
                  <a:lnTo>
                    <a:pt x="0" y="792530"/>
                  </a:lnTo>
                  <a:lnTo>
                    <a:pt x="0" y="1291196"/>
                  </a:lnTo>
                  <a:lnTo>
                    <a:pt x="874191" y="1291196"/>
                  </a:lnTo>
                  <a:lnTo>
                    <a:pt x="874191" y="792530"/>
                  </a:lnTo>
                  <a:close/>
                </a:path>
                <a:path w="874394" h="1291589">
                  <a:moveTo>
                    <a:pt x="874191" y="0"/>
                  </a:moveTo>
                  <a:lnTo>
                    <a:pt x="0" y="0"/>
                  </a:lnTo>
                  <a:lnTo>
                    <a:pt x="0" y="695629"/>
                  </a:lnTo>
                  <a:lnTo>
                    <a:pt x="874191" y="695629"/>
                  </a:lnTo>
                  <a:lnTo>
                    <a:pt x="874191" y="0"/>
                  </a:lnTo>
                  <a:close/>
                </a:path>
              </a:pathLst>
            </a:custGeom>
            <a:solidFill>
              <a:srgbClr val="F9CB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14719" y="2221692"/>
              <a:ext cx="874394" cy="1291590"/>
            </a:xfrm>
            <a:custGeom>
              <a:avLst/>
              <a:gdLst/>
              <a:ahLst/>
              <a:cxnLst/>
              <a:rect l="l" t="t" r="r" b="b"/>
              <a:pathLst>
                <a:path w="874394" h="1291589">
                  <a:moveTo>
                    <a:pt x="0" y="0"/>
                  </a:moveTo>
                  <a:lnTo>
                    <a:pt x="874199" y="0"/>
                  </a:lnTo>
                  <a:lnTo>
                    <a:pt x="874199" y="1291199"/>
                  </a:lnTo>
                  <a:lnTo>
                    <a:pt x="0" y="1291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27487" y="2182535"/>
            <a:ext cx="1098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5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7487" y="2792135"/>
            <a:ext cx="1079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35" dirty="0">
                <a:latin typeface="Verdana"/>
                <a:cs typeface="Verdana"/>
              </a:rPr>
              <a:t>1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2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7487" y="3249336"/>
            <a:ext cx="1098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44736" y="2207528"/>
            <a:ext cx="715010" cy="1301115"/>
            <a:chOff x="244736" y="2207528"/>
            <a:chExt cx="715010" cy="1301115"/>
          </a:xfrm>
        </p:grpSpPr>
        <p:sp>
          <p:nvSpPr>
            <p:cNvPr id="10" name="object 10"/>
            <p:cNvSpPr/>
            <p:nvPr/>
          </p:nvSpPr>
          <p:spPr>
            <a:xfrm>
              <a:off x="892588" y="2212290"/>
              <a:ext cx="62230" cy="1291590"/>
            </a:xfrm>
            <a:custGeom>
              <a:avLst/>
              <a:gdLst/>
              <a:ahLst/>
              <a:cxnLst/>
              <a:rect l="l" t="t" r="r" b="b"/>
              <a:pathLst>
                <a:path w="62230" h="1291589">
                  <a:moveTo>
                    <a:pt x="61799" y="1291200"/>
                  </a:moveTo>
                  <a:lnTo>
                    <a:pt x="37744" y="1290795"/>
                  </a:lnTo>
                  <a:lnTo>
                    <a:pt x="18100" y="1289691"/>
                  </a:lnTo>
                  <a:lnTo>
                    <a:pt x="4856" y="1288054"/>
                  </a:lnTo>
                  <a:lnTo>
                    <a:pt x="0" y="1286050"/>
                  </a:lnTo>
                  <a:lnTo>
                    <a:pt x="0" y="5149"/>
                  </a:lnTo>
                  <a:lnTo>
                    <a:pt x="0" y="3783"/>
                  </a:lnTo>
                  <a:lnTo>
                    <a:pt x="6510" y="2474"/>
                  </a:lnTo>
                  <a:lnTo>
                    <a:pt x="18100" y="1508"/>
                  </a:lnTo>
                  <a:lnTo>
                    <a:pt x="27513" y="865"/>
                  </a:lnTo>
                  <a:lnTo>
                    <a:pt x="38150" y="392"/>
                  </a:lnTo>
                  <a:lnTo>
                    <a:pt x="49687" y="99"/>
                  </a:lnTo>
                  <a:lnTo>
                    <a:pt x="6179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736" y="2851553"/>
              <a:ext cx="604419" cy="228440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198344" y="2212290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30" h="1291589">
                <a:moveTo>
                  <a:pt x="0" y="1291200"/>
                </a:moveTo>
                <a:lnTo>
                  <a:pt x="24055" y="1290795"/>
                </a:lnTo>
                <a:lnTo>
                  <a:pt x="43699" y="1289691"/>
                </a:lnTo>
                <a:lnTo>
                  <a:pt x="56943" y="1288054"/>
                </a:lnTo>
                <a:lnTo>
                  <a:pt x="61799" y="12860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4"/>
                </a:lnTo>
                <a:lnTo>
                  <a:pt x="43699" y="1508"/>
                </a:lnTo>
                <a:lnTo>
                  <a:pt x="34286" y="865"/>
                </a:lnTo>
                <a:lnTo>
                  <a:pt x="23649" y="392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396980" y="2448688"/>
            <a:ext cx="3016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latin typeface="Verdana"/>
                <a:cs typeface="Verdana"/>
              </a:rPr>
              <a:t>0.56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0" dirty="0">
                <a:latin typeface="Verdana"/>
                <a:cs typeface="Verdana"/>
              </a:rPr>
              <a:t>-</a:t>
            </a:r>
            <a:r>
              <a:rPr sz="1000" spc="-110" dirty="0">
                <a:latin typeface="Verdana"/>
                <a:cs typeface="Verdana"/>
              </a:rPr>
              <a:t>1.34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96980" y="3058288"/>
            <a:ext cx="3670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40" dirty="0">
                <a:latin typeface="Verdana"/>
                <a:cs typeface="Verdana"/>
              </a:rPr>
              <a:t>0.056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47262" y="2392834"/>
            <a:ext cx="1352550" cy="1917064"/>
            <a:chOff x="1047262" y="2392834"/>
            <a:chExt cx="1352550" cy="1917064"/>
          </a:xfrm>
        </p:grpSpPr>
        <p:sp>
          <p:nvSpPr>
            <p:cNvPr id="16" name="object 16"/>
            <p:cNvSpPr/>
            <p:nvPr/>
          </p:nvSpPr>
          <p:spPr>
            <a:xfrm>
              <a:off x="2332854" y="2397596"/>
              <a:ext cx="62230" cy="920750"/>
            </a:xfrm>
            <a:custGeom>
              <a:avLst/>
              <a:gdLst/>
              <a:ahLst/>
              <a:cxnLst/>
              <a:rect l="l" t="t" r="r" b="b"/>
              <a:pathLst>
                <a:path w="62230" h="920750">
                  <a:moveTo>
                    <a:pt x="61799" y="920700"/>
                  </a:moveTo>
                  <a:lnTo>
                    <a:pt x="37744" y="920295"/>
                  </a:lnTo>
                  <a:lnTo>
                    <a:pt x="18100" y="919191"/>
                  </a:lnTo>
                  <a:lnTo>
                    <a:pt x="4856" y="917554"/>
                  </a:lnTo>
                  <a:lnTo>
                    <a:pt x="0" y="915550"/>
                  </a:lnTo>
                  <a:lnTo>
                    <a:pt x="0" y="5149"/>
                  </a:lnTo>
                  <a:lnTo>
                    <a:pt x="0" y="3783"/>
                  </a:lnTo>
                  <a:lnTo>
                    <a:pt x="6510" y="2474"/>
                  </a:lnTo>
                  <a:lnTo>
                    <a:pt x="18100" y="1508"/>
                  </a:lnTo>
                  <a:lnTo>
                    <a:pt x="27513" y="865"/>
                  </a:lnTo>
                  <a:lnTo>
                    <a:pt x="38150" y="392"/>
                  </a:lnTo>
                  <a:lnTo>
                    <a:pt x="49687" y="99"/>
                  </a:lnTo>
                  <a:lnTo>
                    <a:pt x="6179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07800" y="2917324"/>
              <a:ext cx="874394" cy="97155"/>
            </a:xfrm>
            <a:custGeom>
              <a:avLst/>
              <a:gdLst/>
              <a:ahLst/>
              <a:cxnLst/>
              <a:rect l="l" t="t" r="r" b="b"/>
              <a:pathLst>
                <a:path w="874394" h="97155">
                  <a:moveTo>
                    <a:pt x="874199" y="96899"/>
                  </a:moveTo>
                  <a:lnTo>
                    <a:pt x="0" y="96899"/>
                  </a:lnTo>
                  <a:lnTo>
                    <a:pt x="0" y="0"/>
                  </a:lnTo>
                  <a:lnTo>
                    <a:pt x="874199" y="0"/>
                  </a:lnTo>
                  <a:lnTo>
                    <a:pt x="874199" y="96899"/>
                  </a:lnTo>
                  <a:close/>
                </a:path>
              </a:pathLst>
            </a:custGeom>
            <a:solidFill>
              <a:srgbClr val="B45F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07800" y="2917324"/>
              <a:ext cx="874394" cy="97155"/>
            </a:xfrm>
            <a:custGeom>
              <a:avLst/>
              <a:gdLst/>
              <a:ahLst/>
              <a:cxnLst/>
              <a:rect l="l" t="t" r="r" b="b"/>
              <a:pathLst>
                <a:path w="874394" h="97155">
                  <a:moveTo>
                    <a:pt x="0" y="0"/>
                  </a:moveTo>
                  <a:lnTo>
                    <a:pt x="874199" y="0"/>
                  </a:lnTo>
                  <a:lnTo>
                    <a:pt x="874199" y="96899"/>
                  </a:lnTo>
                  <a:lnTo>
                    <a:pt x="0" y="96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B45F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52025" y="3191520"/>
              <a:ext cx="626110" cy="1113790"/>
            </a:xfrm>
            <a:custGeom>
              <a:avLst/>
              <a:gdLst/>
              <a:ahLst/>
              <a:cxnLst/>
              <a:rect l="l" t="t" r="r" b="b"/>
              <a:pathLst>
                <a:path w="626110" h="1113789">
                  <a:moveTo>
                    <a:pt x="0" y="1113279"/>
                  </a:moveTo>
                  <a:lnTo>
                    <a:pt x="62569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664009" y="3153838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19">
                  <a:moveTo>
                    <a:pt x="27429" y="45389"/>
                  </a:moveTo>
                  <a:lnTo>
                    <a:pt x="0" y="29973"/>
                  </a:lnTo>
                  <a:lnTo>
                    <a:pt x="34893" y="0"/>
                  </a:lnTo>
                  <a:lnTo>
                    <a:pt x="27429" y="4538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664009" y="3153838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19">
                  <a:moveTo>
                    <a:pt x="27429" y="45389"/>
                  </a:moveTo>
                  <a:lnTo>
                    <a:pt x="34893" y="0"/>
                  </a:lnTo>
                  <a:lnTo>
                    <a:pt x="0" y="29973"/>
                  </a:lnTo>
                  <a:lnTo>
                    <a:pt x="27429" y="4538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2824011" y="2397596"/>
            <a:ext cx="62230" cy="920750"/>
          </a:xfrm>
          <a:custGeom>
            <a:avLst/>
            <a:gdLst/>
            <a:ahLst/>
            <a:cxnLst/>
            <a:rect l="l" t="t" r="r" b="b"/>
            <a:pathLst>
              <a:path w="62230" h="920750">
                <a:moveTo>
                  <a:pt x="0" y="920700"/>
                </a:moveTo>
                <a:lnTo>
                  <a:pt x="24055" y="920295"/>
                </a:lnTo>
                <a:lnTo>
                  <a:pt x="43699" y="919191"/>
                </a:lnTo>
                <a:lnTo>
                  <a:pt x="56943" y="917554"/>
                </a:lnTo>
                <a:lnTo>
                  <a:pt x="61799" y="9155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4"/>
                </a:lnTo>
                <a:lnTo>
                  <a:pt x="43699" y="1508"/>
                </a:lnTo>
                <a:lnTo>
                  <a:pt x="34286" y="865"/>
                </a:lnTo>
                <a:lnTo>
                  <a:pt x="23649" y="392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3" name="object 23"/>
          <p:cNvGrpSpPr/>
          <p:nvPr/>
        </p:nvGrpSpPr>
        <p:grpSpPr>
          <a:xfrm>
            <a:off x="2982928" y="2456279"/>
            <a:ext cx="1291590" cy="826135"/>
            <a:chOff x="2982928" y="2456279"/>
            <a:chExt cx="1291590" cy="826135"/>
          </a:xfrm>
        </p:grpSpPr>
        <p:sp>
          <p:nvSpPr>
            <p:cNvPr id="24" name="object 24"/>
            <p:cNvSpPr/>
            <p:nvPr/>
          </p:nvSpPr>
          <p:spPr>
            <a:xfrm>
              <a:off x="2987691" y="2461042"/>
              <a:ext cx="1282065" cy="816610"/>
            </a:xfrm>
            <a:custGeom>
              <a:avLst/>
              <a:gdLst/>
              <a:ahLst/>
              <a:cxnLst/>
              <a:rect l="l" t="t" r="r" b="b"/>
              <a:pathLst>
                <a:path w="1282064" h="816610">
                  <a:moveTo>
                    <a:pt x="1281899" y="816299"/>
                  </a:moveTo>
                  <a:lnTo>
                    <a:pt x="0" y="816299"/>
                  </a:lnTo>
                  <a:lnTo>
                    <a:pt x="0" y="0"/>
                  </a:lnTo>
                  <a:lnTo>
                    <a:pt x="1281899" y="0"/>
                  </a:lnTo>
                  <a:lnTo>
                    <a:pt x="1281899" y="8162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987691" y="2461042"/>
              <a:ext cx="1282065" cy="816610"/>
            </a:xfrm>
            <a:custGeom>
              <a:avLst/>
              <a:gdLst/>
              <a:ahLst/>
              <a:cxnLst/>
              <a:rect l="l" t="t" r="r" b="b"/>
              <a:pathLst>
                <a:path w="1282064" h="816610">
                  <a:moveTo>
                    <a:pt x="0" y="816299"/>
                  </a:moveTo>
                  <a:lnTo>
                    <a:pt x="0" y="0"/>
                  </a:lnTo>
                  <a:lnTo>
                    <a:pt x="1281899" y="0"/>
                  </a:lnTo>
                  <a:lnTo>
                    <a:pt x="1281899" y="816299"/>
                  </a:lnTo>
                  <a:lnTo>
                    <a:pt x="0" y="816299"/>
                  </a:lnTo>
                  <a:close/>
                </a:path>
              </a:pathLst>
            </a:custGeom>
            <a:ln w="9524">
              <a:solidFill>
                <a:srgbClr val="93C47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493804" y="2138063"/>
            <a:ext cx="3022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latin typeface="Verdana"/>
                <a:cs typeface="Verdana"/>
              </a:rPr>
              <a:t>0.06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20" dirty="0">
                <a:latin typeface="Verdana"/>
                <a:cs typeface="Verdana"/>
              </a:rPr>
              <a:t>0.00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93804" y="2747663"/>
            <a:ext cx="2921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40" dirty="0">
                <a:latin typeface="Verdana"/>
                <a:cs typeface="Verdana"/>
              </a:rPr>
              <a:t>0.34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493804" y="3204863"/>
            <a:ext cx="2514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20" dirty="0">
                <a:latin typeface="Verdana"/>
                <a:cs typeface="Verdana"/>
              </a:rPr>
              <a:t>0.13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4358904" y="2167817"/>
            <a:ext cx="518159" cy="1291590"/>
          </a:xfrm>
          <a:custGeom>
            <a:avLst/>
            <a:gdLst/>
            <a:ahLst/>
            <a:cxnLst/>
            <a:rect l="l" t="t" r="r" b="b"/>
            <a:pathLst>
              <a:path w="518160" h="1291589">
                <a:moveTo>
                  <a:pt x="61799" y="1291200"/>
                </a:moveTo>
                <a:lnTo>
                  <a:pt x="37744" y="1290795"/>
                </a:lnTo>
                <a:lnTo>
                  <a:pt x="18100" y="1289691"/>
                </a:lnTo>
                <a:lnTo>
                  <a:pt x="4856" y="1288054"/>
                </a:lnTo>
                <a:lnTo>
                  <a:pt x="0" y="1286050"/>
                </a:lnTo>
                <a:lnTo>
                  <a:pt x="0" y="5149"/>
                </a:lnTo>
                <a:lnTo>
                  <a:pt x="0" y="3783"/>
                </a:lnTo>
                <a:lnTo>
                  <a:pt x="6510" y="2474"/>
                </a:lnTo>
                <a:lnTo>
                  <a:pt x="18100" y="1508"/>
                </a:lnTo>
                <a:lnTo>
                  <a:pt x="27513" y="865"/>
                </a:lnTo>
                <a:lnTo>
                  <a:pt x="38149" y="392"/>
                </a:lnTo>
                <a:lnTo>
                  <a:pt x="49687" y="99"/>
                </a:lnTo>
                <a:lnTo>
                  <a:pt x="61799" y="0"/>
                </a:lnTo>
              </a:path>
              <a:path w="518160" h="1291589">
                <a:moveTo>
                  <a:pt x="456197" y="1291200"/>
                </a:moveTo>
                <a:lnTo>
                  <a:pt x="480252" y="1290795"/>
                </a:lnTo>
                <a:lnTo>
                  <a:pt x="499896" y="1289691"/>
                </a:lnTo>
                <a:lnTo>
                  <a:pt x="513140" y="1288054"/>
                </a:lnTo>
                <a:lnTo>
                  <a:pt x="517997" y="1286050"/>
                </a:lnTo>
                <a:lnTo>
                  <a:pt x="517997" y="5149"/>
                </a:lnTo>
                <a:lnTo>
                  <a:pt x="517997" y="3783"/>
                </a:lnTo>
                <a:lnTo>
                  <a:pt x="511485" y="2474"/>
                </a:lnTo>
                <a:lnTo>
                  <a:pt x="499896" y="1508"/>
                </a:lnTo>
                <a:lnTo>
                  <a:pt x="490483" y="865"/>
                </a:lnTo>
                <a:lnTo>
                  <a:pt x="479847" y="392"/>
                </a:lnTo>
                <a:lnTo>
                  <a:pt x="468310" y="99"/>
                </a:lnTo>
                <a:lnTo>
                  <a:pt x="456197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009667" y="2107022"/>
            <a:ext cx="1625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a as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009667" y="3173822"/>
            <a:ext cx="6343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Verdana"/>
                <a:cs typeface="Verdana"/>
              </a:rPr>
              <a:t>problems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274" y="2848054"/>
            <a:ext cx="666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0" dirty="0">
                <a:latin typeface="Verdana"/>
                <a:cs typeface="Verdana"/>
              </a:rPr>
              <a:t>i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769262" y="1605312"/>
            <a:ext cx="2423795" cy="2681605"/>
            <a:chOff x="3769262" y="1605312"/>
            <a:chExt cx="2423795" cy="2681605"/>
          </a:xfrm>
        </p:grpSpPr>
        <p:sp>
          <p:nvSpPr>
            <p:cNvPr id="34" name="object 34"/>
            <p:cNvSpPr/>
            <p:nvPr/>
          </p:nvSpPr>
          <p:spPr>
            <a:xfrm>
              <a:off x="3774025" y="2471600"/>
              <a:ext cx="100330" cy="793750"/>
            </a:xfrm>
            <a:custGeom>
              <a:avLst/>
              <a:gdLst/>
              <a:ahLst/>
              <a:cxnLst/>
              <a:rect l="l" t="t" r="r" b="b"/>
              <a:pathLst>
                <a:path w="100329" h="793750">
                  <a:moveTo>
                    <a:pt x="99899" y="793199"/>
                  </a:moveTo>
                  <a:lnTo>
                    <a:pt x="0" y="793199"/>
                  </a:lnTo>
                  <a:lnTo>
                    <a:pt x="0" y="0"/>
                  </a:lnTo>
                  <a:lnTo>
                    <a:pt x="99899" y="0"/>
                  </a:lnTo>
                  <a:lnTo>
                    <a:pt x="99899" y="793199"/>
                  </a:lnTo>
                  <a:close/>
                </a:path>
              </a:pathLst>
            </a:custGeom>
            <a:solidFill>
              <a:srgbClr val="6AA84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774025" y="2471600"/>
              <a:ext cx="100330" cy="793750"/>
            </a:xfrm>
            <a:custGeom>
              <a:avLst/>
              <a:gdLst/>
              <a:ahLst/>
              <a:cxnLst/>
              <a:rect l="l" t="t" r="r" b="b"/>
              <a:pathLst>
                <a:path w="100329" h="793750">
                  <a:moveTo>
                    <a:pt x="0" y="793199"/>
                  </a:moveTo>
                  <a:lnTo>
                    <a:pt x="0" y="0"/>
                  </a:lnTo>
                  <a:lnTo>
                    <a:pt x="99899" y="0"/>
                  </a:lnTo>
                  <a:lnTo>
                    <a:pt x="99899" y="793199"/>
                  </a:lnTo>
                  <a:lnTo>
                    <a:pt x="0" y="793199"/>
                  </a:lnTo>
                  <a:close/>
                </a:path>
              </a:pathLst>
            </a:custGeom>
            <a:ln w="9524">
              <a:solidFill>
                <a:srgbClr val="6AA84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815065" y="1610074"/>
              <a:ext cx="1372870" cy="1019175"/>
            </a:xfrm>
            <a:custGeom>
              <a:avLst/>
              <a:gdLst/>
              <a:ahLst/>
              <a:cxnLst/>
              <a:rect l="l" t="t" r="r" b="b"/>
              <a:pathLst>
                <a:path w="1372870" h="1019175">
                  <a:moveTo>
                    <a:pt x="1372809" y="0"/>
                  </a:moveTo>
                  <a:lnTo>
                    <a:pt x="0" y="1018938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780356" y="2616380"/>
              <a:ext cx="44450" cy="38735"/>
            </a:xfrm>
            <a:custGeom>
              <a:avLst/>
              <a:gdLst/>
              <a:ahLst/>
              <a:cxnLst/>
              <a:rect l="l" t="t" r="r" b="b"/>
              <a:pathLst>
                <a:path w="44450" h="38735">
                  <a:moveTo>
                    <a:pt x="0" y="38395"/>
                  </a:moveTo>
                  <a:lnTo>
                    <a:pt x="25332" y="0"/>
                  </a:lnTo>
                  <a:lnTo>
                    <a:pt x="44085" y="25266"/>
                  </a:lnTo>
                  <a:lnTo>
                    <a:pt x="0" y="3839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780356" y="2616380"/>
              <a:ext cx="44450" cy="38735"/>
            </a:xfrm>
            <a:custGeom>
              <a:avLst/>
              <a:gdLst/>
              <a:ahLst/>
              <a:cxnLst/>
              <a:rect l="l" t="t" r="r" b="b"/>
              <a:pathLst>
                <a:path w="44450" h="38735">
                  <a:moveTo>
                    <a:pt x="25332" y="0"/>
                  </a:moveTo>
                  <a:lnTo>
                    <a:pt x="0" y="38395"/>
                  </a:lnTo>
                  <a:lnTo>
                    <a:pt x="44085" y="25266"/>
                  </a:lnTo>
                  <a:lnTo>
                    <a:pt x="25332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55950" y="2724050"/>
              <a:ext cx="359410" cy="274320"/>
            </a:xfrm>
            <a:custGeom>
              <a:avLst/>
              <a:gdLst/>
              <a:ahLst/>
              <a:cxnLst/>
              <a:rect l="l" t="t" r="r" b="b"/>
              <a:pathLst>
                <a:path w="359410" h="274319">
                  <a:moveTo>
                    <a:pt x="0" y="0"/>
                  </a:moveTo>
                  <a:lnTo>
                    <a:pt x="359099" y="0"/>
                  </a:lnTo>
                  <a:lnTo>
                    <a:pt x="359099" y="273899"/>
                  </a:lnTo>
                  <a:lnTo>
                    <a:pt x="0" y="273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992175" y="3141535"/>
              <a:ext cx="516890" cy="1140460"/>
            </a:xfrm>
            <a:custGeom>
              <a:avLst/>
              <a:gdLst/>
              <a:ahLst/>
              <a:cxnLst/>
              <a:rect l="l" t="t" r="r" b="b"/>
              <a:pathLst>
                <a:path w="516889" h="1140460">
                  <a:moveTo>
                    <a:pt x="516424" y="1140438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974344" y="3102159"/>
              <a:ext cx="32384" cy="46355"/>
            </a:xfrm>
            <a:custGeom>
              <a:avLst/>
              <a:gdLst/>
              <a:ahLst/>
              <a:cxnLst/>
              <a:rect l="l" t="t" r="r" b="b"/>
              <a:pathLst>
                <a:path w="32385" h="46355">
                  <a:moveTo>
                    <a:pt x="3498" y="45866"/>
                  </a:moveTo>
                  <a:lnTo>
                    <a:pt x="0" y="0"/>
                  </a:lnTo>
                  <a:lnTo>
                    <a:pt x="32162" y="32886"/>
                  </a:lnTo>
                  <a:lnTo>
                    <a:pt x="3498" y="4586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974344" y="3102159"/>
              <a:ext cx="32384" cy="46355"/>
            </a:xfrm>
            <a:custGeom>
              <a:avLst/>
              <a:gdLst/>
              <a:ahLst/>
              <a:cxnLst/>
              <a:rect l="l" t="t" r="r" b="b"/>
              <a:pathLst>
                <a:path w="32385" h="46355">
                  <a:moveTo>
                    <a:pt x="32162" y="32886"/>
                  </a:moveTo>
                  <a:lnTo>
                    <a:pt x="0" y="0"/>
                  </a:lnTo>
                  <a:lnTo>
                    <a:pt x="3498" y="45866"/>
                  </a:lnTo>
                  <a:lnTo>
                    <a:pt x="32162" y="3288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3779925" y="2198728"/>
            <a:ext cx="673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0" dirty="0">
                <a:latin typeface="Verdana"/>
                <a:cs typeface="Verdana"/>
              </a:rPr>
              <a:t>j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009667" y="2695704"/>
            <a:ext cx="6794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aseline="2777" dirty="0">
                <a:latin typeface="Verdana"/>
                <a:cs typeface="Verdana"/>
              </a:rPr>
              <a:t>banking</a:t>
            </a:r>
            <a:r>
              <a:rPr sz="1500" spc="660" baseline="2777" dirty="0">
                <a:latin typeface="Verdana"/>
                <a:cs typeface="Verdana"/>
              </a:rPr>
              <a:t> </a:t>
            </a:r>
            <a:r>
              <a:rPr sz="1200" i="1" spc="-50" dirty="0">
                <a:latin typeface="Verdana"/>
                <a:cs typeface="Verdana"/>
              </a:rPr>
              <a:t>j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486324" y="864871"/>
            <a:ext cx="129413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Verdana"/>
                <a:cs typeface="Verdana"/>
              </a:rPr>
              <a:t>скалярное произведение </a:t>
            </a:r>
            <a:r>
              <a:rPr sz="1300" dirty="0">
                <a:latin typeface="Verdana"/>
                <a:cs typeface="Verdana"/>
              </a:rPr>
              <a:t>векторов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20" dirty="0">
                <a:latin typeface="Verdana"/>
                <a:cs typeface="Verdana"/>
              </a:rPr>
              <a:t>i</a:t>
            </a:r>
            <a:r>
              <a:rPr sz="1300" spc="-85" dirty="0">
                <a:latin typeface="Verdana"/>
                <a:cs typeface="Verdana"/>
              </a:rPr>
              <a:t> </a:t>
            </a:r>
            <a:r>
              <a:rPr sz="1300" spc="50" dirty="0">
                <a:latin typeface="Verdana"/>
                <a:cs typeface="Verdana"/>
              </a:rPr>
              <a:t>и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50" dirty="0">
                <a:latin typeface="Verdana"/>
                <a:cs typeface="Verdana"/>
              </a:rPr>
              <a:t>j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53950" y="4371221"/>
            <a:ext cx="115379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Verdana"/>
                <a:cs typeface="Verdana"/>
              </a:rPr>
              <a:t>вектор</a:t>
            </a:r>
            <a:r>
              <a:rPr sz="1300" spc="-75" dirty="0">
                <a:latin typeface="Verdana"/>
                <a:cs typeface="Verdana"/>
              </a:rPr>
              <a:t> </a:t>
            </a:r>
            <a:r>
              <a:rPr sz="1300" spc="-20" dirty="0">
                <a:latin typeface="Verdana"/>
                <a:cs typeface="Verdana"/>
              </a:rPr>
              <a:t>слова </a:t>
            </a:r>
            <a:r>
              <a:rPr sz="1300" spc="55" dirty="0">
                <a:latin typeface="Verdana"/>
                <a:cs typeface="Verdana"/>
              </a:rPr>
              <a:t>номер</a:t>
            </a:r>
            <a:r>
              <a:rPr sz="1300" spc="-110" dirty="0">
                <a:latin typeface="Verdana"/>
                <a:cs typeface="Verdana"/>
              </a:rPr>
              <a:t> </a:t>
            </a:r>
            <a:r>
              <a:rPr sz="1300" spc="-50" dirty="0">
                <a:latin typeface="Verdana"/>
                <a:cs typeface="Verdana"/>
              </a:rPr>
              <a:t>i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3910525" y="4348396"/>
            <a:ext cx="115379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Verdana"/>
                <a:cs typeface="Verdana"/>
              </a:rPr>
              <a:t>вектор</a:t>
            </a:r>
            <a:r>
              <a:rPr sz="1300" spc="-75" dirty="0">
                <a:latin typeface="Verdana"/>
                <a:cs typeface="Verdana"/>
              </a:rPr>
              <a:t> </a:t>
            </a:r>
            <a:r>
              <a:rPr sz="1300" spc="-20" dirty="0">
                <a:latin typeface="Verdana"/>
                <a:cs typeface="Verdana"/>
              </a:rPr>
              <a:t>слова </a:t>
            </a:r>
            <a:r>
              <a:rPr sz="1300" spc="55" dirty="0">
                <a:latin typeface="Verdana"/>
                <a:cs typeface="Verdana"/>
              </a:rPr>
              <a:t>номер</a:t>
            </a:r>
            <a:r>
              <a:rPr sz="1300" spc="-110" dirty="0">
                <a:latin typeface="Verdana"/>
                <a:cs typeface="Verdana"/>
              </a:rPr>
              <a:t> </a:t>
            </a:r>
            <a:r>
              <a:rPr sz="1300" spc="-50" dirty="0">
                <a:latin typeface="Verdana"/>
                <a:cs typeface="Verdana"/>
              </a:rPr>
              <a:t>j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23375" y="1055696"/>
            <a:ext cx="401574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b="1" spc="-40" dirty="0">
                <a:latin typeface="Verdana"/>
                <a:cs typeface="Verdana"/>
              </a:rPr>
              <a:t>Нейросеть</a:t>
            </a:r>
            <a:r>
              <a:rPr sz="1300" b="1" spc="-60" dirty="0">
                <a:latin typeface="Verdana"/>
                <a:cs typeface="Verdana"/>
              </a:rPr>
              <a:t> </a:t>
            </a:r>
            <a:r>
              <a:rPr sz="1300" b="1" spc="-35" dirty="0">
                <a:latin typeface="Verdana"/>
                <a:cs typeface="Verdana"/>
              </a:rPr>
              <a:t>учит</a:t>
            </a:r>
            <a:r>
              <a:rPr sz="1300" b="1" spc="-60" dirty="0">
                <a:latin typeface="Verdana"/>
                <a:cs typeface="Verdana"/>
              </a:rPr>
              <a:t> </a:t>
            </a:r>
            <a:r>
              <a:rPr sz="1300" b="1" spc="-35" dirty="0">
                <a:latin typeface="Verdana"/>
                <a:cs typeface="Verdana"/>
              </a:rPr>
              <a:t>такие</a:t>
            </a:r>
            <a:r>
              <a:rPr sz="1300" b="1" spc="-60" dirty="0">
                <a:latin typeface="Verdana"/>
                <a:cs typeface="Verdana"/>
              </a:rPr>
              <a:t> </a:t>
            </a:r>
            <a:r>
              <a:rPr sz="1300" b="1" spc="-55" dirty="0">
                <a:latin typeface="Verdana"/>
                <a:cs typeface="Verdana"/>
              </a:rPr>
              <a:t>векторы</a:t>
            </a:r>
            <a:r>
              <a:rPr sz="1300" b="1" spc="-60" dirty="0">
                <a:latin typeface="Verdana"/>
                <a:cs typeface="Verdana"/>
              </a:rPr>
              <a:t> </a:t>
            </a:r>
            <a:r>
              <a:rPr sz="1300" b="1" spc="-70" dirty="0">
                <a:latin typeface="Verdana"/>
                <a:cs typeface="Verdana"/>
              </a:rPr>
              <a:t>слов,</a:t>
            </a:r>
            <a:r>
              <a:rPr sz="1300" b="1" spc="-60" dirty="0">
                <a:latin typeface="Verdana"/>
                <a:cs typeface="Verdana"/>
              </a:rPr>
              <a:t> </a:t>
            </a:r>
            <a:r>
              <a:rPr sz="1300" b="1" spc="-10" dirty="0">
                <a:latin typeface="Verdana"/>
                <a:cs typeface="Verdana"/>
              </a:rPr>
              <a:t>чтобы </a:t>
            </a:r>
            <a:r>
              <a:rPr sz="1300" b="1" spc="-55" dirty="0">
                <a:latin typeface="Verdana"/>
                <a:cs typeface="Verdana"/>
              </a:rPr>
              <a:t>скалярное</a:t>
            </a:r>
            <a:r>
              <a:rPr sz="1300" b="1" spc="-30" dirty="0">
                <a:latin typeface="Verdana"/>
                <a:cs typeface="Verdana"/>
              </a:rPr>
              <a:t> </a:t>
            </a:r>
            <a:r>
              <a:rPr sz="1300" b="1" spc="-40" dirty="0">
                <a:latin typeface="Verdana"/>
                <a:cs typeface="Verdana"/>
              </a:rPr>
              <a:t>произведение</a:t>
            </a:r>
            <a:r>
              <a:rPr sz="1300" b="1" spc="-30" dirty="0">
                <a:latin typeface="Verdana"/>
                <a:cs typeface="Verdana"/>
              </a:rPr>
              <a:t> </a:t>
            </a:r>
            <a:r>
              <a:rPr sz="1300" b="1" spc="-55" dirty="0">
                <a:latin typeface="Verdana"/>
                <a:cs typeface="Verdana"/>
              </a:rPr>
              <a:t>между</a:t>
            </a:r>
            <a:r>
              <a:rPr sz="1300" b="1" spc="-25" dirty="0">
                <a:latin typeface="Verdana"/>
                <a:cs typeface="Verdana"/>
              </a:rPr>
              <a:t> </a:t>
            </a:r>
            <a:r>
              <a:rPr sz="1300" b="1" spc="-30" dirty="0">
                <a:latin typeface="Verdana"/>
                <a:cs typeface="Verdana"/>
              </a:rPr>
              <a:t>векторами </a:t>
            </a:r>
            <a:r>
              <a:rPr sz="1300" b="1" spc="-75" dirty="0">
                <a:latin typeface="Verdana"/>
                <a:cs typeface="Verdana"/>
              </a:rPr>
              <a:t>двух</a:t>
            </a:r>
            <a:r>
              <a:rPr sz="1300" b="1" spc="-50" dirty="0">
                <a:latin typeface="Verdana"/>
                <a:cs typeface="Verdana"/>
              </a:rPr>
              <a:t> </a:t>
            </a:r>
            <a:r>
              <a:rPr sz="1300" b="1" spc="-70" dirty="0">
                <a:latin typeface="Verdana"/>
                <a:cs typeface="Verdana"/>
              </a:rPr>
              <a:t>слов,</a:t>
            </a:r>
            <a:r>
              <a:rPr sz="1300" b="1" spc="-50" dirty="0">
                <a:latin typeface="Verdana"/>
                <a:cs typeface="Verdana"/>
              </a:rPr>
              <a:t> </a:t>
            </a:r>
            <a:r>
              <a:rPr sz="1300" b="1" spc="-55" dirty="0">
                <a:latin typeface="Verdana"/>
                <a:cs typeface="Verdana"/>
              </a:rPr>
              <a:t>которые</a:t>
            </a:r>
            <a:r>
              <a:rPr sz="1300" b="1" spc="-50" dirty="0">
                <a:latin typeface="Verdana"/>
                <a:cs typeface="Verdana"/>
              </a:rPr>
              <a:t> часто</a:t>
            </a:r>
            <a:r>
              <a:rPr sz="1300" b="1" spc="-45" dirty="0">
                <a:latin typeface="Verdana"/>
                <a:cs typeface="Verdana"/>
              </a:rPr>
              <a:t> </a:t>
            </a:r>
            <a:r>
              <a:rPr sz="1300" b="1" spc="-60" dirty="0">
                <a:latin typeface="Verdana"/>
                <a:cs typeface="Verdana"/>
              </a:rPr>
              <a:t>используются</a:t>
            </a:r>
            <a:r>
              <a:rPr sz="1300" b="1" spc="-50" dirty="0">
                <a:latin typeface="Verdana"/>
                <a:cs typeface="Verdana"/>
              </a:rPr>
              <a:t> в </a:t>
            </a:r>
            <a:r>
              <a:rPr sz="1300" b="1" spc="-55" dirty="0">
                <a:latin typeface="Verdana"/>
                <a:cs typeface="Verdana"/>
              </a:rPr>
              <a:t>контексте,</a:t>
            </a:r>
            <a:r>
              <a:rPr sz="1300" b="1" spc="-60" dirty="0">
                <a:latin typeface="Verdana"/>
                <a:cs typeface="Verdana"/>
              </a:rPr>
              <a:t> </a:t>
            </a:r>
            <a:r>
              <a:rPr sz="1300" b="1" spc="-50" dirty="0">
                <a:latin typeface="Verdana"/>
                <a:cs typeface="Verdana"/>
              </a:rPr>
              <a:t>были</a:t>
            </a:r>
            <a:r>
              <a:rPr sz="1300" b="1" spc="-60" dirty="0">
                <a:latin typeface="Verdana"/>
                <a:cs typeface="Verdana"/>
              </a:rPr>
              <a:t> </a:t>
            </a:r>
            <a:r>
              <a:rPr sz="1300" b="1" spc="-70" dirty="0">
                <a:latin typeface="Verdana"/>
                <a:cs typeface="Verdana"/>
              </a:rPr>
              <a:t>как</a:t>
            </a:r>
            <a:r>
              <a:rPr sz="1300" b="1" spc="-60" dirty="0">
                <a:latin typeface="Verdana"/>
                <a:cs typeface="Verdana"/>
              </a:rPr>
              <a:t> </a:t>
            </a:r>
            <a:r>
              <a:rPr sz="1300" b="1" spc="-55" dirty="0">
                <a:latin typeface="Verdana"/>
                <a:cs typeface="Verdana"/>
              </a:rPr>
              <a:t>можно</a:t>
            </a:r>
            <a:r>
              <a:rPr sz="1300" b="1" spc="-60" dirty="0">
                <a:latin typeface="Verdana"/>
                <a:cs typeface="Verdana"/>
              </a:rPr>
              <a:t> </a:t>
            </a:r>
            <a:r>
              <a:rPr sz="1300" b="1" spc="-10" dirty="0">
                <a:latin typeface="Verdana"/>
                <a:cs typeface="Verdana"/>
              </a:rPr>
              <a:t>больше.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70" dirty="0"/>
              <a:t>Word2Vec</a:t>
            </a:r>
            <a:endParaRPr sz="2700"/>
          </a:p>
        </p:txBody>
      </p:sp>
      <p:grpSp>
        <p:nvGrpSpPr>
          <p:cNvPr id="3" name="object 3"/>
          <p:cNvGrpSpPr/>
          <p:nvPr/>
        </p:nvGrpSpPr>
        <p:grpSpPr>
          <a:xfrm>
            <a:off x="1409956" y="2216929"/>
            <a:ext cx="883919" cy="1301115"/>
            <a:chOff x="1409956" y="2216929"/>
            <a:chExt cx="883919" cy="1301115"/>
          </a:xfrm>
        </p:grpSpPr>
        <p:sp>
          <p:nvSpPr>
            <p:cNvPr id="4" name="object 4"/>
            <p:cNvSpPr/>
            <p:nvPr/>
          </p:nvSpPr>
          <p:spPr>
            <a:xfrm>
              <a:off x="1414716" y="2221699"/>
              <a:ext cx="874394" cy="1291590"/>
            </a:xfrm>
            <a:custGeom>
              <a:avLst/>
              <a:gdLst/>
              <a:ahLst/>
              <a:cxnLst/>
              <a:rect l="l" t="t" r="r" b="b"/>
              <a:pathLst>
                <a:path w="874394" h="1291589">
                  <a:moveTo>
                    <a:pt x="874191" y="792530"/>
                  </a:moveTo>
                  <a:lnTo>
                    <a:pt x="0" y="792530"/>
                  </a:lnTo>
                  <a:lnTo>
                    <a:pt x="0" y="1291196"/>
                  </a:lnTo>
                  <a:lnTo>
                    <a:pt x="874191" y="1291196"/>
                  </a:lnTo>
                  <a:lnTo>
                    <a:pt x="874191" y="792530"/>
                  </a:lnTo>
                  <a:close/>
                </a:path>
                <a:path w="874394" h="1291589">
                  <a:moveTo>
                    <a:pt x="874191" y="0"/>
                  </a:moveTo>
                  <a:lnTo>
                    <a:pt x="0" y="0"/>
                  </a:lnTo>
                  <a:lnTo>
                    <a:pt x="0" y="695629"/>
                  </a:lnTo>
                  <a:lnTo>
                    <a:pt x="874191" y="695629"/>
                  </a:lnTo>
                  <a:lnTo>
                    <a:pt x="874191" y="0"/>
                  </a:lnTo>
                  <a:close/>
                </a:path>
              </a:pathLst>
            </a:custGeom>
            <a:solidFill>
              <a:srgbClr val="F9CB9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14719" y="2221692"/>
              <a:ext cx="874394" cy="1291590"/>
            </a:xfrm>
            <a:custGeom>
              <a:avLst/>
              <a:gdLst/>
              <a:ahLst/>
              <a:cxnLst/>
              <a:rect l="l" t="t" r="r" b="b"/>
              <a:pathLst>
                <a:path w="874394" h="1291589">
                  <a:moveTo>
                    <a:pt x="0" y="0"/>
                  </a:moveTo>
                  <a:lnTo>
                    <a:pt x="874199" y="0"/>
                  </a:lnTo>
                  <a:lnTo>
                    <a:pt x="874199" y="1291199"/>
                  </a:lnTo>
                  <a:lnTo>
                    <a:pt x="0" y="12911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E6913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27487" y="2182535"/>
            <a:ext cx="1098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5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7487" y="2792135"/>
            <a:ext cx="1079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35" dirty="0">
                <a:latin typeface="Verdana"/>
                <a:cs typeface="Verdana"/>
              </a:rPr>
              <a:t>1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2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27487" y="3249336"/>
            <a:ext cx="1098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44736" y="2207528"/>
            <a:ext cx="715010" cy="1301115"/>
            <a:chOff x="244736" y="2207528"/>
            <a:chExt cx="715010" cy="1301115"/>
          </a:xfrm>
        </p:grpSpPr>
        <p:sp>
          <p:nvSpPr>
            <p:cNvPr id="10" name="object 10"/>
            <p:cNvSpPr/>
            <p:nvPr/>
          </p:nvSpPr>
          <p:spPr>
            <a:xfrm>
              <a:off x="892588" y="2212290"/>
              <a:ext cx="62230" cy="1291590"/>
            </a:xfrm>
            <a:custGeom>
              <a:avLst/>
              <a:gdLst/>
              <a:ahLst/>
              <a:cxnLst/>
              <a:rect l="l" t="t" r="r" b="b"/>
              <a:pathLst>
                <a:path w="62230" h="1291589">
                  <a:moveTo>
                    <a:pt x="61799" y="1291200"/>
                  </a:moveTo>
                  <a:lnTo>
                    <a:pt x="37744" y="1290795"/>
                  </a:lnTo>
                  <a:lnTo>
                    <a:pt x="18100" y="1289691"/>
                  </a:lnTo>
                  <a:lnTo>
                    <a:pt x="4856" y="1288054"/>
                  </a:lnTo>
                  <a:lnTo>
                    <a:pt x="0" y="1286050"/>
                  </a:lnTo>
                  <a:lnTo>
                    <a:pt x="0" y="5149"/>
                  </a:lnTo>
                  <a:lnTo>
                    <a:pt x="0" y="3783"/>
                  </a:lnTo>
                  <a:lnTo>
                    <a:pt x="6510" y="2474"/>
                  </a:lnTo>
                  <a:lnTo>
                    <a:pt x="18100" y="1508"/>
                  </a:lnTo>
                  <a:lnTo>
                    <a:pt x="27513" y="865"/>
                  </a:lnTo>
                  <a:lnTo>
                    <a:pt x="38150" y="392"/>
                  </a:lnTo>
                  <a:lnTo>
                    <a:pt x="49687" y="99"/>
                  </a:lnTo>
                  <a:lnTo>
                    <a:pt x="6179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736" y="2851553"/>
              <a:ext cx="604419" cy="228440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198344" y="2212290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30" h="1291589">
                <a:moveTo>
                  <a:pt x="0" y="1291200"/>
                </a:moveTo>
                <a:lnTo>
                  <a:pt x="24055" y="1290795"/>
                </a:lnTo>
                <a:lnTo>
                  <a:pt x="43699" y="1289691"/>
                </a:lnTo>
                <a:lnTo>
                  <a:pt x="56943" y="1288054"/>
                </a:lnTo>
                <a:lnTo>
                  <a:pt x="61799" y="12860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4"/>
                </a:lnTo>
                <a:lnTo>
                  <a:pt x="43699" y="1508"/>
                </a:lnTo>
                <a:lnTo>
                  <a:pt x="34286" y="865"/>
                </a:lnTo>
                <a:lnTo>
                  <a:pt x="23649" y="392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396980" y="2448688"/>
            <a:ext cx="3016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latin typeface="Verdana"/>
                <a:cs typeface="Verdana"/>
              </a:rPr>
              <a:t>0.56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0" dirty="0">
                <a:latin typeface="Verdana"/>
                <a:cs typeface="Verdana"/>
              </a:rPr>
              <a:t>-</a:t>
            </a:r>
            <a:r>
              <a:rPr sz="1000" spc="-110" dirty="0">
                <a:latin typeface="Verdana"/>
                <a:cs typeface="Verdana"/>
              </a:rPr>
              <a:t>1.34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96980" y="3058288"/>
            <a:ext cx="3670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40" dirty="0">
                <a:latin typeface="Verdana"/>
                <a:cs typeface="Verdana"/>
              </a:rPr>
              <a:t>0.056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403037" y="2392834"/>
            <a:ext cx="996950" cy="1917064"/>
            <a:chOff x="1403037" y="2392834"/>
            <a:chExt cx="996950" cy="1917064"/>
          </a:xfrm>
        </p:grpSpPr>
        <p:sp>
          <p:nvSpPr>
            <p:cNvPr id="16" name="object 16"/>
            <p:cNvSpPr/>
            <p:nvPr/>
          </p:nvSpPr>
          <p:spPr>
            <a:xfrm>
              <a:off x="2332854" y="2397596"/>
              <a:ext cx="62230" cy="920750"/>
            </a:xfrm>
            <a:custGeom>
              <a:avLst/>
              <a:gdLst/>
              <a:ahLst/>
              <a:cxnLst/>
              <a:rect l="l" t="t" r="r" b="b"/>
              <a:pathLst>
                <a:path w="62230" h="920750">
                  <a:moveTo>
                    <a:pt x="61799" y="920700"/>
                  </a:moveTo>
                  <a:lnTo>
                    <a:pt x="37744" y="920295"/>
                  </a:lnTo>
                  <a:lnTo>
                    <a:pt x="18100" y="919191"/>
                  </a:lnTo>
                  <a:lnTo>
                    <a:pt x="4856" y="917554"/>
                  </a:lnTo>
                  <a:lnTo>
                    <a:pt x="0" y="915550"/>
                  </a:lnTo>
                  <a:lnTo>
                    <a:pt x="0" y="5149"/>
                  </a:lnTo>
                  <a:lnTo>
                    <a:pt x="0" y="3783"/>
                  </a:lnTo>
                  <a:lnTo>
                    <a:pt x="6510" y="2474"/>
                  </a:lnTo>
                  <a:lnTo>
                    <a:pt x="18100" y="1508"/>
                  </a:lnTo>
                  <a:lnTo>
                    <a:pt x="27513" y="865"/>
                  </a:lnTo>
                  <a:lnTo>
                    <a:pt x="38150" y="392"/>
                  </a:lnTo>
                  <a:lnTo>
                    <a:pt x="49687" y="99"/>
                  </a:lnTo>
                  <a:lnTo>
                    <a:pt x="6179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07800" y="2917324"/>
              <a:ext cx="874394" cy="97155"/>
            </a:xfrm>
            <a:custGeom>
              <a:avLst/>
              <a:gdLst/>
              <a:ahLst/>
              <a:cxnLst/>
              <a:rect l="l" t="t" r="r" b="b"/>
              <a:pathLst>
                <a:path w="874394" h="97155">
                  <a:moveTo>
                    <a:pt x="874199" y="96899"/>
                  </a:moveTo>
                  <a:lnTo>
                    <a:pt x="0" y="96899"/>
                  </a:lnTo>
                  <a:lnTo>
                    <a:pt x="0" y="0"/>
                  </a:lnTo>
                  <a:lnTo>
                    <a:pt x="874199" y="0"/>
                  </a:lnTo>
                  <a:lnTo>
                    <a:pt x="874199" y="96899"/>
                  </a:lnTo>
                  <a:close/>
                </a:path>
              </a:pathLst>
            </a:custGeom>
            <a:solidFill>
              <a:srgbClr val="B45F0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07800" y="2917324"/>
              <a:ext cx="874394" cy="97155"/>
            </a:xfrm>
            <a:custGeom>
              <a:avLst/>
              <a:gdLst/>
              <a:ahLst/>
              <a:cxnLst/>
              <a:rect l="l" t="t" r="r" b="b"/>
              <a:pathLst>
                <a:path w="874394" h="97155">
                  <a:moveTo>
                    <a:pt x="0" y="0"/>
                  </a:moveTo>
                  <a:lnTo>
                    <a:pt x="874199" y="0"/>
                  </a:lnTo>
                  <a:lnTo>
                    <a:pt x="874199" y="96899"/>
                  </a:lnTo>
                  <a:lnTo>
                    <a:pt x="0" y="96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B45F0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77375" y="3191520"/>
              <a:ext cx="626110" cy="1113790"/>
            </a:xfrm>
            <a:custGeom>
              <a:avLst/>
              <a:gdLst/>
              <a:ahLst/>
              <a:cxnLst/>
              <a:rect l="l" t="t" r="r" b="b"/>
              <a:pathLst>
                <a:path w="626110" h="1113789">
                  <a:moveTo>
                    <a:pt x="0" y="1113279"/>
                  </a:moveTo>
                  <a:lnTo>
                    <a:pt x="62569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289359" y="3153838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19">
                  <a:moveTo>
                    <a:pt x="27429" y="45389"/>
                  </a:moveTo>
                  <a:lnTo>
                    <a:pt x="0" y="29973"/>
                  </a:lnTo>
                  <a:lnTo>
                    <a:pt x="34893" y="0"/>
                  </a:lnTo>
                  <a:lnTo>
                    <a:pt x="27429" y="45389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89359" y="3153838"/>
              <a:ext cx="34925" cy="45720"/>
            </a:xfrm>
            <a:custGeom>
              <a:avLst/>
              <a:gdLst/>
              <a:ahLst/>
              <a:cxnLst/>
              <a:rect l="l" t="t" r="r" b="b"/>
              <a:pathLst>
                <a:path w="34925" h="45719">
                  <a:moveTo>
                    <a:pt x="27429" y="45389"/>
                  </a:moveTo>
                  <a:lnTo>
                    <a:pt x="34893" y="0"/>
                  </a:lnTo>
                  <a:lnTo>
                    <a:pt x="0" y="29973"/>
                  </a:lnTo>
                  <a:lnTo>
                    <a:pt x="27429" y="4538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/>
          <p:nvPr/>
        </p:nvSpPr>
        <p:spPr>
          <a:xfrm>
            <a:off x="2824011" y="2397596"/>
            <a:ext cx="62230" cy="920750"/>
          </a:xfrm>
          <a:custGeom>
            <a:avLst/>
            <a:gdLst/>
            <a:ahLst/>
            <a:cxnLst/>
            <a:rect l="l" t="t" r="r" b="b"/>
            <a:pathLst>
              <a:path w="62230" h="920750">
                <a:moveTo>
                  <a:pt x="0" y="920700"/>
                </a:moveTo>
                <a:lnTo>
                  <a:pt x="24055" y="920295"/>
                </a:lnTo>
                <a:lnTo>
                  <a:pt x="43699" y="919191"/>
                </a:lnTo>
                <a:lnTo>
                  <a:pt x="56943" y="917554"/>
                </a:lnTo>
                <a:lnTo>
                  <a:pt x="61799" y="9155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4"/>
                </a:lnTo>
                <a:lnTo>
                  <a:pt x="43699" y="1508"/>
                </a:lnTo>
                <a:lnTo>
                  <a:pt x="34286" y="865"/>
                </a:lnTo>
                <a:lnTo>
                  <a:pt x="23649" y="392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23" name="object 23"/>
          <p:cNvGraphicFramePr>
            <a:graphicFrameLocks noGrp="1"/>
          </p:cNvGraphicFramePr>
          <p:nvPr/>
        </p:nvGraphicFramePr>
        <p:xfrm>
          <a:off x="2982928" y="2456279"/>
          <a:ext cx="1282699" cy="8159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16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8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1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15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93C47D"/>
                      </a:solidFill>
                      <a:prstDash val="solid"/>
                    </a:lnL>
                    <a:lnR w="3175">
                      <a:solidFill>
                        <a:srgbClr val="6AA84F"/>
                      </a:solidFill>
                      <a:prstDash val="solid"/>
                    </a:lnR>
                    <a:lnT w="9525">
                      <a:solidFill>
                        <a:srgbClr val="93C47D"/>
                      </a:solidFill>
                      <a:prstDash val="solid"/>
                    </a:lnT>
                    <a:lnB w="9525">
                      <a:solidFill>
                        <a:srgbClr val="93C47D"/>
                      </a:solidFill>
                      <a:prstDash val="soli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6AA8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>
                      <a:solidFill>
                        <a:srgbClr val="93C47D"/>
                      </a:solidFill>
                      <a:prstDash val="solid"/>
                    </a:lnT>
                    <a:lnB w="9525">
                      <a:solidFill>
                        <a:srgbClr val="93C47D"/>
                      </a:solidFill>
                      <a:prstDash val="solid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93C47D"/>
                      </a:solidFill>
                      <a:prstDash val="solid"/>
                    </a:lnR>
                    <a:lnT w="9525">
                      <a:solidFill>
                        <a:srgbClr val="93C47D"/>
                      </a:solidFill>
                      <a:prstDash val="solid"/>
                    </a:lnT>
                    <a:lnB w="9525">
                      <a:solidFill>
                        <a:srgbClr val="93C47D"/>
                      </a:solidFill>
                      <a:prstDash val="solid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" name="object 24"/>
          <p:cNvSpPr txBox="1"/>
          <p:nvPr/>
        </p:nvSpPr>
        <p:spPr>
          <a:xfrm>
            <a:off x="4493804" y="2138063"/>
            <a:ext cx="3022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latin typeface="Verdana"/>
                <a:cs typeface="Verdana"/>
              </a:rPr>
              <a:t>0.06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20" dirty="0">
                <a:latin typeface="Verdana"/>
                <a:cs typeface="Verdana"/>
              </a:rPr>
              <a:t>0.00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493804" y="2747663"/>
            <a:ext cx="2921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40" dirty="0">
                <a:latin typeface="Verdana"/>
                <a:cs typeface="Verdana"/>
              </a:rPr>
              <a:t>0.34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493804" y="3204863"/>
            <a:ext cx="2514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20" dirty="0">
                <a:latin typeface="Verdana"/>
                <a:cs typeface="Verdana"/>
              </a:rPr>
              <a:t>0.13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4358904" y="2167817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29" h="1291589">
                <a:moveTo>
                  <a:pt x="61799" y="1291200"/>
                </a:moveTo>
                <a:lnTo>
                  <a:pt x="37744" y="1290795"/>
                </a:lnTo>
                <a:lnTo>
                  <a:pt x="18100" y="1289691"/>
                </a:lnTo>
                <a:lnTo>
                  <a:pt x="4856" y="1288054"/>
                </a:lnTo>
                <a:lnTo>
                  <a:pt x="0" y="1286050"/>
                </a:lnTo>
                <a:lnTo>
                  <a:pt x="0" y="5149"/>
                </a:lnTo>
                <a:lnTo>
                  <a:pt x="0" y="3783"/>
                </a:lnTo>
                <a:lnTo>
                  <a:pt x="6510" y="2474"/>
                </a:lnTo>
                <a:lnTo>
                  <a:pt x="18100" y="1508"/>
                </a:lnTo>
                <a:lnTo>
                  <a:pt x="27513" y="865"/>
                </a:lnTo>
                <a:lnTo>
                  <a:pt x="38149" y="392"/>
                </a:lnTo>
                <a:lnTo>
                  <a:pt x="49687" y="99"/>
                </a:lnTo>
                <a:lnTo>
                  <a:pt x="61799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815102" y="2167817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29" h="1291589">
                <a:moveTo>
                  <a:pt x="0" y="1291200"/>
                </a:moveTo>
                <a:lnTo>
                  <a:pt x="24055" y="1290795"/>
                </a:lnTo>
                <a:lnTo>
                  <a:pt x="43699" y="1289691"/>
                </a:lnTo>
                <a:lnTo>
                  <a:pt x="56943" y="1288054"/>
                </a:lnTo>
                <a:lnTo>
                  <a:pt x="61799" y="12860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4"/>
                </a:lnTo>
                <a:lnTo>
                  <a:pt x="43698" y="1508"/>
                </a:lnTo>
                <a:lnTo>
                  <a:pt x="34286" y="865"/>
                </a:lnTo>
                <a:lnTo>
                  <a:pt x="23649" y="392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5009667" y="2107022"/>
            <a:ext cx="1625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a as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009667" y="3173822"/>
            <a:ext cx="6343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Verdana"/>
                <a:cs typeface="Verdana"/>
              </a:rPr>
              <a:t>problems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009667" y="2695704"/>
            <a:ext cx="6794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aseline="2777" dirty="0">
                <a:latin typeface="Verdana"/>
                <a:cs typeface="Verdana"/>
              </a:rPr>
              <a:t>banking</a:t>
            </a:r>
            <a:r>
              <a:rPr sz="1500" spc="660" baseline="2777" dirty="0">
                <a:latin typeface="Verdana"/>
                <a:cs typeface="Verdana"/>
              </a:rPr>
              <a:t> </a:t>
            </a:r>
            <a:r>
              <a:rPr sz="1200" i="1" spc="-50" dirty="0">
                <a:latin typeface="Verdana"/>
                <a:cs typeface="Verdana"/>
              </a:rPr>
              <a:t>j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274" y="2848054"/>
            <a:ext cx="666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0" dirty="0">
                <a:latin typeface="Verdana"/>
                <a:cs typeface="Verdana"/>
              </a:rPr>
              <a:t>i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779925" y="2198728"/>
            <a:ext cx="6731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i="1" spc="-50" dirty="0">
                <a:latin typeface="Verdana"/>
                <a:cs typeface="Verdana"/>
              </a:rPr>
              <a:t>j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53950" y="4371221"/>
            <a:ext cx="220599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Verdana"/>
                <a:cs typeface="Verdana"/>
              </a:rPr>
              <a:t>вектор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слова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55" dirty="0">
                <a:latin typeface="Verdana"/>
                <a:cs typeface="Verdana"/>
              </a:rPr>
              <a:t>номер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50" dirty="0">
                <a:latin typeface="Verdana"/>
                <a:cs typeface="Verdana"/>
              </a:rPr>
              <a:t>i</a:t>
            </a:r>
            <a:endParaRPr sz="1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300" b="1" spc="-70" dirty="0">
                <a:latin typeface="Verdana"/>
                <a:cs typeface="Verdana"/>
              </a:rPr>
              <a:t>как</a:t>
            </a:r>
            <a:r>
              <a:rPr sz="1300" b="1" spc="-30" dirty="0">
                <a:latin typeface="Verdana"/>
                <a:cs typeface="Verdana"/>
              </a:rPr>
              <a:t> </a:t>
            </a:r>
            <a:r>
              <a:rPr sz="1300" b="1" spc="-50" dirty="0">
                <a:latin typeface="Verdana"/>
                <a:cs typeface="Verdana"/>
              </a:rPr>
              <a:t>центрального</a:t>
            </a:r>
            <a:r>
              <a:rPr sz="1300" b="1" spc="-30" dirty="0">
                <a:latin typeface="Verdana"/>
                <a:cs typeface="Verdana"/>
              </a:rPr>
              <a:t> </a:t>
            </a:r>
            <a:r>
              <a:rPr sz="1300" b="1" spc="-35" dirty="0">
                <a:latin typeface="Verdana"/>
                <a:cs typeface="Verdana"/>
              </a:rPr>
              <a:t>слова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910525" y="4348396"/>
            <a:ext cx="185229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Verdana"/>
                <a:cs typeface="Verdana"/>
              </a:rPr>
              <a:t>вектор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слова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55" dirty="0">
                <a:latin typeface="Verdana"/>
                <a:cs typeface="Verdana"/>
              </a:rPr>
              <a:t>номер</a:t>
            </a:r>
            <a:r>
              <a:rPr sz="1300" spc="-90" dirty="0">
                <a:latin typeface="Verdana"/>
                <a:cs typeface="Verdana"/>
              </a:rPr>
              <a:t> </a:t>
            </a:r>
            <a:r>
              <a:rPr sz="1300" spc="-50" dirty="0">
                <a:latin typeface="Verdana"/>
                <a:cs typeface="Verdana"/>
              </a:rPr>
              <a:t>j</a:t>
            </a:r>
            <a:endParaRPr sz="13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300" b="1" spc="-70" dirty="0">
                <a:latin typeface="Verdana"/>
                <a:cs typeface="Verdana"/>
              </a:rPr>
              <a:t>как</a:t>
            </a:r>
            <a:r>
              <a:rPr sz="1300" b="1" spc="-65" dirty="0">
                <a:latin typeface="Verdana"/>
                <a:cs typeface="Verdana"/>
              </a:rPr>
              <a:t> </a:t>
            </a:r>
            <a:r>
              <a:rPr sz="1300" b="1" spc="-55" dirty="0">
                <a:latin typeface="Verdana"/>
                <a:cs typeface="Verdana"/>
              </a:rPr>
              <a:t>слова</a:t>
            </a:r>
            <a:r>
              <a:rPr sz="1300" b="1" spc="-65" dirty="0">
                <a:latin typeface="Verdana"/>
                <a:cs typeface="Verdana"/>
              </a:rPr>
              <a:t> </a:t>
            </a:r>
            <a:r>
              <a:rPr sz="1300" b="1" spc="-35" dirty="0">
                <a:latin typeface="Verdana"/>
                <a:cs typeface="Verdana"/>
              </a:rPr>
              <a:t>контекста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495481" y="3097397"/>
            <a:ext cx="544195" cy="1189355"/>
            <a:chOff x="4495481" y="3097397"/>
            <a:chExt cx="544195" cy="1189355"/>
          </a:xfrm>
        </p:grpSpPr>
        <p:sp>
          <p:nvSpPr>
            <p:cNvPr id="37" name="object 37"/>
            <p:cNvSpPr/>
            <p:nvPr/>
          </p:nvSpPr>
          <p:spPr>
            <a:xfrm>
              <a:off x="4518075" y="3141535"/>
              <a:ext cx="516890" cy="1140460"/>
            </a:xfrm>
            <a:custGeom>
              <a:avLst/>
              <a:gdLst/>
              <a:ahLst/>
              <a:cxnLst/>
              <a:rect l="l" t="t" r="r" b="b"/>
              <a:pathLst>
                <a:path w="516889" h="1140460">
                  <a:moveTo>
                    <a:pt x="516424" y="1140438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500244" y="3102159"/>
              <a:ext cx="32384" cy="46355"/>
            </a:xfrm>
            <a:custGeom>
              <a:avLst/>
              <a:gdLst/>
              <a:ahLst/>
              <a:cxnLst/>
              <a:rect l="l" t="t" r="r" b="b"/>
              <a:pathLst>
                <a:path w="32385" h="46355">
                  <a:moveTo>
                    <a:pt x="3498" y="45866"/>
                  </a:moveTo>
                  <a:lnTo>
                    <a:pt x="0" y="0"/>
                  </a:lnTo>
                  <a:lnTo>
                    <a:pt x="32162" y="32886"/>
                  </a:lnTo>
                  <a:lnTo>
                    <a:pt x="3498" y="4586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500244" y="3102159"/>
              <a:ext cx="32384" cy="46355"/>
            </a:xfrm>
            <a:custGeom>
              <a:avLst/>
              <a:gdLst/>
              <a:ahLst/>
              <a:cxnLst/>
              <a:rect l="l" t="t" r="r" b="b"/>
              <a:pathLst>
                <a:path w="32385" h="46355">
                  <a:moveTo>
                    <a:pt x="32162" y="32886"/>
                  </a:moveTo>
                  <a:lnTo>
                    <a:pt x="0" y="0"/>
                  </a:lnTo>
                  <a:lnTo>
                    <a:pt x="3498" y="45866"/>
                  </a:lnTo>
                  <a:lnTo>
                    <a:pt x="32162" y="3288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Word2Vec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8345"/>
            <a:ext cx="5624830" cy="2268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После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обучения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сети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мы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получаем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векторы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размера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spc="100" dirty="0">
                <a:latin typeface="Calibri"/>
                <a:cs typeface="Calibri"/>
              </a:rPr>
              <a:t>k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для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всех </a:t>
            </a:r>
            <a:r>
              <a:rPr sz="1600" dirty="0">
                <a:latin typeface="Calibri"/>
                <a:cs typeface="Calibri"/>
              </a:rPr>
              <a:t>слов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словаре.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600" dirty="0">
                <a:latin typeface="Calibri"/>
                <a:cs typeface="Calibri"/>
              </a:rPr>
              <a:t>Размер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spc="100" dirty="0">
                <a:latin typeface="Calibri"/>
                <a:cs typeface="Calibri"/>
              </a:rPr>
              <a:t>k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мы</a:t>
            </a:r>
            <a:r>
              <a:rPr sz="1600" spc="80" dirty="0">
                <a:latin typeface="Calibri"/>
                <a:cs typeface="Calibri"/>
              </a:rPr>
              <a:t> </a:t>
            </a:r>
            <a:r>
              <a:rPr sz="1600" spc="-75" dirty="0">
                <a:latin typeface="Calibri"/>
                <a:cs typeface="Calibri"/>
              </a:rPr>
              <a:t>можем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задавать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сами.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600">
              <a:latin typeface="Calibri"/>
              <a:cs typeface="Calibri"/>
            </a:endParaRPr>
          </a:p>
          <a:p>
            <a:pPr marL="12700" marR="501015">
              <a:lnSpc>
                <a:spcPct val="114999"/>
              </a:lnSpc>
            </a:pPr>
            <a:r>
              <a:rPr sz="1600" spc="85" dirty="0">
                <a:latin typeface="Calibri"/>
                <a:cs typeface="Calibri"/>
              </a:rPr>
              <a:t>Эти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векторы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содержат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смысл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слов.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170" dirty="0">
                <a:latin typeface="Calibri"/>
                <a:cs typeface="Calibri"/>
              </a:rPr>
              <a:t>Их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можно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сравнивать между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собой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помощью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косинусного</a:t>
            </a:r>
            <a:r>
              <a:rPr sz="1600" spc="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расстояния.</a:t>
            </a:r>
            <a:endParaRPr sz="1600">
              <a:latin typeface="Calibri"/>
              <a:cs typeface="Calibri"/>
            </a:endParaRPr>
          </a:p>
          <a:p>
            <a:pPr marL="12700" marR="318770">
              <a:lnSpc>
                <a:spcPct val="114999"/>
              </a:lnSpc>
            </a:pPr>
            <a:r>
              <a:rPr sz="1600" dirty="0">
                <a:latin typeface="Calibri"/>
                <a:cs typeface="Calibri"/>
              </a:rPr>
              <a:t>Косинусное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расстояние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spc="145" dirty="0">
                <a:latin typeface="Calibri"/>
                <a:cs typeface="Calibri"/>
              </a:rPr>
              <a:t>—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это</a:t>
            </a:r>
            <a:r>
              <a:rPr sz="1600" spc="16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нормализованное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скалярное </a:t>
            </a:r>
            <a:r>
              <a:rPr sz="1600" spc="-20" dirty="0">
                <a:latin typeface="Calibri"/>
                <a:cs typeface="Calibri"/>
              </a:rPr>
              <a:t>произведение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двух</a:t>
            </a:r>
            <a:r>
              <a:rPr sz="1600" spc="1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векторов.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3545" y="3774324"/>
            <a:ext cx="4571495" cy="1049579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70" dirty="0"/>
              <a:t>Word2Vec</a:t>
            </a:r>
            <a:endParaRPr sz="27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555" y="2654555"/>
            <a:ext cx="5028399" cy="180173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11624" y="4549512"/>
            <a:ext cx="2518410" cy="360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10" dirty="0">
                <a:latin typeface="Verdana"/>
                <a:cs typeface="Verdana"/>
              </a:rPr>
              <a:t>Иллюстрация</a:t>
            </a:r>
            <a:r>
              <a:rPr sz="1100" spc="80" dirty="0">
                <a:latin typeface="Verdana"/>
                <a:cs typeface="Verdana"/>
              </a:rPr>
              <a:t> </a:t>
            </a:r>
            <a:r>
              <a:rPr sz="1100" spc="10" dirty="0">
                <a:latin typeface="Verdana"/>
                <a:cs typeface="Verdana"/>
              </a:rPr>
              <a:t>эмбеддингов</a:t>
            </a:r>
            <a:r>
              <a:rPr sz="1100" spc="80" dirty="0">
                <a:latin typeface="Verdana"/>
                <a:cs typeface="Verdana"/>
              </a:rPr>
              <a:t> </a:t>
            </a:r>
            <a:r>
              <a:rPr sz="1100" spc="-20" dirty="0">
                <a:latin typeface="Verdana"/>
                <a:cs typeface="Verdana"/>
              </a:rPr>
              <a:t>после </a:t>
            </a:r>
            <a:r>
              <a:rPr sz="1100" dirty="0">
                <a:latin typeface="Verdana"/>
                <a:cs typeface="Verdana"/>
              </a:rPr>
              <a:t>понижения</a:t>
            </a:r>
            <a:r>
              <a:rPr sz="1100" spc="170" dirty="0">
                <a:latin typeface="Verdana"/>
                <a:cs typeface="Verdana"/>
              </a:rPr>
              <a:t> </a:t>
            </a:r>
            <a:r>
              <a:rPr sz="1100" spc="-10" dirty="0">
                <a:latin typeface="Verdana"/>
                <a:cs typeface="Verdana"/>
              </a:rPr>
              <a:t>размерности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4725" y="1218347"/>
            <a:ext cx="3788410" cy="1069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56845">
              <a:lnSpc>
                <a:spcPct val="114999"/>
              </a:lnSpc>
              <a:spcBef>
                <a:spcPts val="100"/>
              </a:spcBef>
            </a:pPr>
            <a:r>
              <a:rPr sz="1600" spc="140" dirty="0">
                <a:latin typeface="Calibri"/>
                <a:cs typeface="Calibri"/>
              </a:rPr>
              <a:t>На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векторах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word2vec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можно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проводить </a:t>
            </a:r>
            <a:r>
              <a:rPr sz="1600" dirty="0">
                <a:latin typeface="Calibri"/>
                <a:cs typeface="Calibri"/>
              </a:rPr>
              <a:t>векторную</a:t>
            </a:r>
            <a:r>
              <a:rPr sz="1600" spc="1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арифметику: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85"/>
              </a:spcBef>
            </a:pPr>
            <a:r>
              <a:rPr sz="1600" b="1" spc="80" dirty="0">
                <a:latin typeface="Calibri"/>
                <a:cs typeface="Calibri"/>
              </a:rPr>
              <a:t>v</a:t>
            </a:r>
            <a:r>
              <a:rPr sz="1600" spc="80" dirty="0">
                <a:latin typeface="Calibri"/>
                <a:cs typeface="Calibri"/>
              </a:rPr>
              <a:t>(king)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spc="100" dirty="0">
                <a:latin typeface="Calibri"/>
                <a:cs typeface="Calibri"/>
              </a:rPr>
              <a:t>-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b="1" spc="50" dirty="0">
                <a:latin typeface="Calibri"/>
                <a:cs typeface="Calibri"/>
              </a:rPr>
              <a:t>v</a:t>
            </a:r>
            <a:r>
              <a:rPr sz="1600" spc="50" dirty="0">
                <a:latin typeface="Calibri"/>
                <a:cs typeface="Calibri"/>
              </a:rPr>
              <a:t>(man)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spc="700" dirty="0">
                <a:latin typeface="Calibri"/>
                <a:cs typeface="Calibri"/>
              </a:rPr>
              <a:t>+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v</a:t>
            </a:r>
            <a:r>
              <a:rPr sz="1600" dirty="0">
                <a:latin typeface="Calibri"/>
                <a:cs typeface="Calibri"/>
              </a:rPr>
              <a:t>(woman)</a:t>
            </a:r>
            <a:r>
              <a:rPr sz="1600" spc="620" dirty="0">
                <a:latin typeface="Calibri"/>
                <a:cs typeface="Calibri"/>
              </a:rPr>
              <a:t> </a:t>
            </a:r>
            <a:r>
              <a:rPr sz="1600" spc="670" dirty="0">
                <a:latin typeface="Calibri"/>
                <a:cs typeface="Calibri"/>
              </a:rPr>
              <a:t>≈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v</a:t>
            </a:r>
            <a:r>
              <a:rPr sz="1600" spc="-10" dirty="0">
                <a:latin typeface="Calibri"/>
                <a:cs typeface="Calibri"/>
              </a:rPr>
              <a:t>(queen)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8012" y="1375075"/>
            <a:ext cx="5832475" cy="3669029"/>
            <a:chOff x="178012" y="1375075"/>
            <a:chExt cx="5832475" cy="366902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9400" y="1375075"/>
              <a:ext cx="5603700" cy="3336324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2774" y="4664825"/>
              <a:ext cx="5822950" cy="374650"/>
            </a:xfrm>
            <a:custGeom>
              <a:avLst/>
              <a:gdLst/>
              <a:ahLst/>
              <a:cxnLst/>
              <a:rect l="l" t="t" r="r" b="b"/>
              <a:pathLst>
                <a:path w="5822950" h="374650">
                  <a:moveTo>
                    <a:pt x="5822399" y="374399"/>
                  </a:moveTo>
                  <a:lnTo>
                    <a:pt x="0" y="374399"/>
                  </a:lnTo>
                  <a:lnTo>
                    <a:pt x="0" y="0"/>
                  </a:lnTo>
                  <a:lnTo>
                    <a:pt x="5822399" y="0"/>
                  </a:lnTo>
                  <a:lnTo>
                    <a:pt x="5822399" y="374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2774" y="4664825"/>
              <a:ext cx="5822950" cy="374650"/>
            </a:xfrm>
            <a:custGeom>
              <a:avLst/>
              <a:gdLst/>
              <a:ahLst/>
              <a:cxnLst/>
              <a:rect l="l" t="t" r="r" b="b"/>
              <a:pathLst>
                <a:path w="5822950" h="374650">
                  <a:moveTo>
                    <a:pt x="0" y="0"/>
                  </a:moveTo>
                  <a:lnTo>
                    <a:pt x="5822399" y="0"/>
                  </a:lnTo>
                  <a:lnTo>
                    <a:pt x="5822399" y="374399"/>
                  </a:lnTo>
                  <a:lnTo>
                    <a:pt x="0" y="3743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Word2Vec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799" y="1160573"/>
            <a:ext cx="5352275" cy="367135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Word2Vec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4400" y="1148800"/>
            <a:ext cx="5820197" cy="38985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Word2Vec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80" dirty="0"/>
              <a:t>Word2Vec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8345"/>
            <a:ext cx="5612130" cy="3670935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sz="1600" spc="-10" dirty="0">
                <a:latin typeface="Calibri"/>
                <a:cs typeface="Calibri"/>
              </a:rPr>
              <a:t>Преимущества:</a:t>
            </a:r>
            <a:endParaRPr sz="1600">
              <a:latin typeface="Calibri"/>
              <a:cs typeface="Calibri"/>
            </a:endParaRPr>
          </a:p>
          <a:p>
            <a:pPr marL="469265" indent="-303530">
              <a:lnSpc>
                <a:spcPct val="100000"/>
              </a:lnSpc>
              <a:spcBef>
                <a:spcPts val="290"/>
              </a:spcBef>
              <a:buChar char="-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Векторы</a:t>
            </a:r>
            <a:r>
              <a:rPr sz="1600" spc="1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отражают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смысл</a:t>
            </a:r>
            <a:r>
              <a:rPr sz="1600" spc="19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слов;</a:t>
            </a:r>
            <a:endParaRPr sz="1600">
              <a:latin typeface="Calibri"/>
              <a:cs typeface="Calibri"/>
            </a:endParaRPr>
          </a:p>
          <a:p>
            <a:pPr marL="469265" indent="-303530">
              <a:lnSpc>
                <a:spcPct val="100000"/>
              </a:lnSpc>
              <a:spcBef>
                <a:spcPts val="290"/>
              </a:spcBef>
              <a:buChar char="-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Размерность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векторов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не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зависит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от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размера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словаря;</a:t>
            </a:r>
            <a:endParaRPr sz="1600">
              <a:latin typeface="Calibri"/>
              <a:cs typeface="Calibri"/>
            </a:endParaRPr>
          </a:p>
          <a:p>
            <a:pPr marL="469265" indent="-303530">
              <a:lnSpc>
                <a:spcPct val="100000"/>
              </a:lnSpc>
              <a:spcBef>
                <a:spcPts val="285"/>
              </a:spcBef>
              <a:buChar char="-"/>
              <a:tabLst>
                <a:tab pos="469265" algn="l"/>
              </a:tabLst>
            </a:pPr>
            <a:r>
              <a:rPr sz="1600" spc="80" dirty="0">
                <a:latin typeface="Calibri"/>
                <a:cs typeface="Calibri"/>
              </a:rPr>
              <a:t>При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добавлении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документов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векторы</a:t>
            </a:r>
            <a:r>
              <a:rPr sz="1600" spc="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можно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дообучить.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40"/>
              </a:spcBef>
              <a:buFont typeface="Calibri"/>
              <a:buChar char="-"/>
            </a:pP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600" spc="-10" dirty="0">
                <a:latin typeface="Calibri"/>
                <a:cs typeface="Calibri"/>
              </a:rPr>
              <a:t>Недостатки:</a:t>
            </a:r>
            <a:endParaRPr sz="1600">
              <a:latin typeface="Calibri"/>
              <a:cs typeface="Calibri"/>
            </a:endParaRPr>
          </a:p>
          <a:p>
            <a:pPr marL="469900" marR="5080" indent="-304165">
              <a:lnSpc>
                <a:spcPct val="114999"/>
              </a:lnSpc>
              <a:buChar char="-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Фиксированный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размер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словаря.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80" dirty="0">
                <a:latin typeface="Calibri"/>
                <a:cs typeface="Calibri"/>
              </a:rPr>
              <a:t>При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изменении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размера </a:t>
            </a:r>
            <a:r>
              <a:rPr sz="1600" dirty="0">
                <a:latin typeface="Calibri"/>
                <a:cs typeface="Calibri"/>
              </a:rPr>
              <a:t>словаря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документов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векторы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нужно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пересчитывать;</a:t>
            </a:r>
            <a:endParaRPr sz="1600">
              <a:latin typeface="Calibri"/>
              <a:cs typeface="Calibri"/>
            </a:endParaRPr>
          </a:p>
          <a:p>
            <a:pPr marL="469900" marR="1473835" indent="-304165">
              <a:lnSpc>
                <a:spcPct val="114999"/>
              </a:lnSpc>
              <a:buChar char="-"/>
              <a:tabLst>
                <a:tab pos="469900" algn="l"/>
              </a:tabLst>
            </a:pPr>
            <a:r>
              <a:rPr sz="1600" spc="65" dirty="0">
                <a:latin typeface="Calibri"/>
                <a:cs typeface="Calibri"/>
              </a:rPr>
              <a:t>Для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редких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эмбеддинги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получаются неоптимальными;</a:t>
            </a:r>
            <a:endParaRPr sz="1600">
              <a:latin typeface="Calibri"/>
              <a:cs typeface="Calibri"/>
            </a:endParaRPr>
          </a:p>
          <a:p>
            <a:pPr marL="469900" marR="958850" indent="-304165">
              <a:lnSpc>
                <a:spcPct val="114999"/>
              </a:lnSpc>
              <a:buChar char="-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Слова,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-45" dirty="0">
                <a:latin typeface="Calibri"/>
                <a:cs typeface="Calibri"/>
              </a:rPr>
              <a:t>имеющие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один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корень,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обрабатываются нейросетью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по-</a:t>
            </a:r>
            <a:r>
              <a:rPr sz="1600" spc="-10" dirty="0">
                <a:latin typeface="Calibri"/>
                <a:cs typeface="Calibri"/>
              </a:rPr>
              <a:t>разному.</a:t>
            </a:r>
            <a:endParaRPr sz="16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285"/>
              </a:spcBef>
            </a:pPr>
            <a:r>
              <a:rPr sz="1600" i="1" dirty="0">
                <a:latin typeface="Calibri"/>
                <a:cs typeface="Calibri"/>
              </a:rPr>
              <a:t>eat,</a:t>
            </a:r>
            <a:r>
              <a:rPr sz="1600" i="1" spc="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eat</a:t>
            </a:r>
            <a:r>
              <a:rPr sz="1600" i="1" dirty="0">
                <a:solidFill>
                  <a:srgbClr val="37761C"/>
                </a:solidFill>
                <a:latin typeface="Calibri"/>
                <a:cs typeface="Calibri"/>
              </a:rPr>
              <a:t>er</a:t>
            </a:r>
            <a:r>
              <a:rPr sz="1600" i="1" dirty="0">
                <a:latin typeface="Calibri"/>
                <a:cs typeface="Calibri"/>
              </a:rPr>
              <a:t>,</a:t>
            </a:r>
            <a:r>
              <a:rPr sz="1600" i="1" spc="2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eat</a:t>
            </a:r>
            <a:r>
              <a:rPr sz="1600" i="1" spc="-10" dirty="0">
                <a:solidFill>
                  <a:srgbClr val="37761C"/>
                </a:solidFill>
                <a:latin typeface="Calibri"/>
                <a:cs typeface="Calibri"/>
              </a:rPr>
              <a:t>ing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70" dirty="0"/>
              <a:t>Word2Vec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1027487" y="2182535"/>
            <a:ext cx="1098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5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7487" y="2792135"/>
            <a:ext cx="1079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35" dirty="0">
                <a:latin typeface="Verdana"/>
                <a:cs typeface="Verdana"/>
              </a:rPr>
              <a:t>1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2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7487" y="3249336"/>
            <a:ext cx="1098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4736" y="2207528"/>
            <a:ext cx="715010" cy="1301115"/>
            <a:chOff x="244736" y="2207528"/>
            <a:chExt cx="715010" cy="1301115"/>
          </a:xfrm>
        </p:grpSpPr>
        <p:sp>
          <p:nvSpPr>
            <p:cNvPr id="7" name="object 7"/>
            <p:cNvSpPr/>
            <p:nvPr/>
          </p:nvSpPr>
          <p:spPr>
            <a:xfrm>
              <a:off x="892588" y="2212290"/>
              <a:ext cx="62230" cy="1291590"/>
            </a:xfrm>
            <a:custGeom>
              <a:avLst/>
              <a:gdLst/>
              <a:ahLst/>
              <a:cxnLst/>
              <a:rect l="l" t="t" r="r" b="b"/>
              <a:pathLst>
                <a:path w="62230" h="1291589">
                  <a:moveTo>
                    <a:pt x="61799" y="1291200"/>
                  </a:moveTo>
                  <a:lnTo>
                    <a:pt x="37744" y="1290795"/>
                  </a:lnTo>
                  <a:lnTo>
                    <a:pt x="18100" y="1289691"/>
                  </a:lnTo>
                  <a:lnTo>
                    <a:pt x="4856" y="1288054"/>
                  </a:lnTo>
                  <a:lnTo>
                    <a:pt x="0" y="1286050"/>
                  </a:lnTo>
                  <a:lnTo>
                    <a:pt x="0" y="5149"/>
                  </a:lnTo>
                  <a:lnTo>
                    <a:pt x="0" y="3783"/>
                  </a:lnTo>
                  <a:lnTo>
                    <a:pt x="6510" y="2474"/>
                  </a:lnTo>
                  <a:lnTo>
                    <a:pt x="18100" y="1508"/>
                  </a:lnTo>
                  <a:lnTo>
                    <a:pt x="27513" y="865"/>
                  </a:lnTo>
                  <a:lnTo>
                    <a:pt x="38150" y="392"/>
                  </a:lnTo>
                  <a:lnTo>
                    <a:pt x="49687" y="99"/>
                  </a:lnTo>
                  <a:lnTo>
                    <a:pt x="6179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736" y="2851553"/>
              <a:ext cx="604419" cy="228440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1198344" y="2212290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30" h="1291589">
                <a:moveTo>
                  <a:pt x="0" y="1291200"/>
                </a:moveTo>
                <a:lnTo>
                  <a:pt x="24055" y="1290795"/>
                </a:lnTo>
                <a:lnTo>
                  <a:pt x="43699" y="1289691"/>
                </a:lnTo>
                <a:lnTo>
                  <a:pt x="56943" y="1288054"/>
                </a:lnTo>
                <a:lnTo>
                  <a:pt x="61799" y="12860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4"/>
                </a:lnTo>
                <a:lnTo>
                  <a:pt x="43699" y="1508"/>
                </a:lnTo>
                <a:lnTo>
                  <a:pt x="34286" y="865"/>
                </a:lnTo>
                <a:lnTo>
                  <a:pt x="23649" y="392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14719" y="2221692"/>
            <a:ext cx="874394" cy="1291590"/>
          </a:xfrm>
          <a:prstGeom prst="rect">
            <a:avLst/>
          </a:prstGeom>
          <a:solidFill>
            <a:srgbClr val="F9CB9B"/>
          </a:solidFill>
          <a:ln w="9524">
            <a:solidFill>
              <a:srgbClr val="E6913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100">
              <a:latin typeface="Times New Roman"/>
              <a:cs typeface="Times New Roman"/>
            </a:endParaRPr>
          </a:p>
          <a:p>
            <a:pPr marL="54610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матрица</a:t>
            </a:r>
            <a:r>
              <a:rPr sz="1100" spc="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A</a:t>
            </a:r>
            <a:endParaRPr sz="1100">
              <a:latin typeface="Verdana"/>
              <a:cs typeface="Verdana"/>
            </a:endParaRPr>
          </a:p>
          <a:p>
            <a:pPr marL="238125">
              <a:lnSpc>
                <a:spcPct val="100000"/>
              </a:lnSpc>
            </a:pPr>
            <a:r>
              <a:rPr sz="1100" i="1" spc="-25" dirty="0">
                <a:latin typeface="Verdana"/>
                <a:cs typeface="Verdana"/>
              </a:rPr>
              <a:t>nxk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6980" y="2448688"/>
            <a:ext cx="3016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latin typeface="Verdana"/>
                <a:cs typeface="Verdana"/>
              </a:rPr>
              <a:t>0.56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0" dirty="0">
                <a:latin typeface="Verdana"/>
                <a:cs typeface="Verdana"/>
              </a:rPr>
              <a:t>-</a:t>
            </a:r>
            <a:r>
              <a:rPr sz="1000" spc="-110" dirty="0">
                <a:latin typeface="Verdana"/>
                <a:cs typeface="Verdana"/>
              </a:rPr>
              <a:t>1.34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96980" y="3058288"/>
            <a:ext cx="3670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40" dirty="0">
                <a:latin typeface="Verdana"/>
                <a:cs typeface="Verdana"/>
              </a:rPr>
              <a:t>0.056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32854" y="2397596"/>
            <a:ext cx="62230" cy="920750"/>
          </a:xfrm>
          <a:custGeom>
            <a:avLst/>
            <a:gdLst/>
            <a:ahLst/>
            <a:cxnLst/>
            <a:rect l="l" t="t" r="r" b="b"/>
            <a:pathLst>
              <a:path w="62230" h="920750">
                <a:moveTo>
                  <a:pt x="61799" y="920700"/>
                </a:moveTo>
                <a:lnTo>
                  <a:pt x="37744" y="920295"/>
                </a:lnTo>
                <a:lnTo>
                  <a:pt x="18100" y="919191"/>
                </a:lnTo>
                <a:lnTo>
                  <a:pt x="4856" y="917554"/>
                </a:lnTo>
                <a:lnTo>
                  <a:pt x="0" y="915550"/>
                </a:lnTo>
                <a:lnTo>
                  <a:pt x="0" y="5149"/>
                </a:lnTo>
                <a:lnTo>
                  <a:pt x="0" y="3783"/>
                </a:lnTo>
                <a:lnTo>
                  <a:pt x="6510" y="2474"/>
                </a:lnTo>
                <a:lnTo>
                  <a:pt x="18100" y="1508"/>
                </a:lnTo>
                <a:lnTo>
                  <a:pt x="27513" y="865"/>
                </a:lnTo>
                <a:lnTo>
                  <a:pt x="38150" y="392"/>
                </a:lnTo>
                <a:lnTo>
                  <a:pt x="49687" y="99"/>
                </a:lnTo>
                <a:lnTo>
                  <a:pt x="61799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824011" y="2397596"/>
            <a:ext cx="62230" cy="920750"/>
          </a:xfrm>
          <a:custGeom>
            <a:avLst/>
            <a:gdLst/>
            <a:ahLst/>
            <a:cxnLst/>
            <a:rect l="l" t="t" r="r" b="b"/>
            <a:pathLst>
              <a:path w="62230" h="920750">
                <a:moveTo>
                  <a:pt x="0" y="920700"/>
                </a:moveTo>
                <a:lnTo>
                  <a:pt x="24055" y="920295"/>
                </a:lnTo>
                <a:lnTo>
                  <a:pt x="43699" y="919191"/>
                </a:lnTo>
                <a:lnTo>
                  <a:pt x="56943" y="917554"/>
                </a:lnTo>
                <a:lnTo>
                  <a:pt x="61799" y="9155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4"/>
                </a:lnTo>
                <a:lnTo>
                  <a:pt x="43699" y="1508"/>
                </a:lnTo>
                <a:lnTo>
                  <a:pt x="34286" y="865"/>
                </a:lnTo>
                <a:lnTo>
                  <a:pt x="23649" y="392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987691" y="2461042"/>
            <a:ext cx="1282065" cy="816610"/>
          </a:xfrm>
          <a:prstGeom prst="rect">
            <a:avLst/>
          </a:prstGeom>
          <a:solidFill>
            <a:srgbClr val="B6D7A8"/>
          </a:solidFill>
          <a:ln w="9524">
            <a:solidFill>
              <a:srgbClr val="93C47D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100">
              <a:latin typeface="Times New Roman"/>
              <a:cs typeface="Times New Roman"/>
            </a:endParaRPr>
          </a:p>
          <a:p>
            <a:pPr marL="68580" algn="ctr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матрица</a:t>
            </a:r>
            <a:r>
              <a:rPr sz="1100" spc="85" dirty="0">
                <a:latin typeface="Verdana"/>
                <a:cs typeface="Verdana"/>
              </a:rPr>
              <a:t> </a:t>
            </a:r>
            <a:r>
              <a:rPr sz="1100" spc="25" dirty="0">
                <a:latin typeface="Verdana"/>
                <a:cs typeface="Verdana"/>
              </a:rPr>
              <a:t>B</a:t>
            </a:r>
            <a:endParaRPr sz="1100">
              <a:latin typeface="Verdana"/>
              <a:cs typeface="Verdana"/>
            </a:endParaRPr>
          </a:p>
          <a:p>
            <a:pPr marR="76200" algn="ctr">
              <a:lnSpc>
                <a:spcPct val="100000"/>
              </a:lnSpc>
            </a:pPr>
            <a:r>
              <a:rPr sz="1100" i="1" spc="-25" dirty="0">
                <a:latin typeface="Verdana"/>
                <a:cs typeface="Verdana"/>
              </a:rPr>
              <a:t>kxn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93804" y="2138063"/>
            <a:ext cx="3022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latin typeface="Verdana"/>
                <a:cs typeface="Verdana"/>
              </a:rPr>
              <a:t>0.06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20" dirty="0">
                <a:latin typeface="Verdana"/>
                <a:cs typeface="Verdana"/>
              </a:rPr>
              <a:t>0.00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93804" y="2747663"/>
            <a:ext cx="2921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40" dirty="0">
                <a:latin typeface="Verdana"/>
                <a:cs typeface="Verdana"/>
              </a:rPr>
              <a:t>0.34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93804" y="3204863"/>
            <a:ext cx="2514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20" dirty="0">
                <a:latin typeface="Verdana"/>
                <a:cs typeface="Verdana"/>
              </a:rPr>
              <a:t>0.13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358904" y="2167817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29" h="1291589">
                <a:moveTo>
                  <a:pt x="61799" y="1291200"/>
                </a:moveTo>
                <a:lnTo>
                  <a:pt x="37744" y="1290795"/>
                </a:lnTo>
                <a:lnTo>
                  <a:pt x="18100" y="1289691"/>
                </a:lnTo>
                <a:lnTo>
                  <a:pt x="4856" y="1288054"/>
                </a:lnTo>
                <a:lnTo>
                  <a:pt x="0" y="1286050"/>
                </a:lnTo>
                <a:lnTo>
                  <a:pt x="0" y="5149"/>
                </a:lnTo>
                <a:lnTo>
                  <a:pt x="0" y="3783"/>
                </a:lnTo>
                <a:lnTo>
                  <a:pt x="6510" y="2474"/>
                </a:lnTo>
                <a:lnTo>
                  <a:pt x="18100" y="1508"/>
                </a:lnTo>
                <a:lnTo>
                  <a:pt x="27513" y="865"/>
                </a:lnTo>
                <a:lnTo>
                  <a:pt x="38149" y="392"/>
                </a:lnTo>
                <a:lnTo>
                  <a:pt x="49687" y="99"/>
                </a:lnTo>
                <a:lnTo>
                  <a:pt x="61799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815102" y="2167817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29" h="1291589">
                <a:moveTo>
                  <a:pt x="0" y="1291200"/>
                </a:moveTo>
                <a:lnTo>
                  <a:pt x="24055" y="1290795"/>
                </a:lnTo>
                <a:lnTo>
                  <a:pt x="43699" y="1289691"/>
                </a:lnTo>
                <a:lnTo>
                  <a:pt x="56943" y="1288054"/>
                </a:lnTo>
                <a:lnTo>
                  <a:pt x="61799" y="12860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4"/>
                </a:lnTo>
                <a:lnTo>
                  <a:pt x="43698" y="1508"/>
                </a:lnTo>
                <a:lnTo>
                  <a:pt x="34286" y="865"/>
                </a:lnTo>
                <a:lnTo>
                  <a:pt x="23649" y="392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009667" y="2107022"/>
            <a:ext cx="1625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a as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09667" y="2716622"/>
            <a:ext cx="5549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Verdana"/>
                <a:cs typeface="Verdana"/>
              </a:rPr>
              <a:t>banking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009667" y="3173822"/>
            <a:ext cx="6343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Verdana"/>
                <a:cs typeface="Verdana"/>
              </a:rPr>
              <a:t>problems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704582" y="2130859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29" h="1291589">
                <a:moveTo>
                  <a:pt x="61799" y="1291200"/>
                </a:moveTo>
                <a:lnTo>
                  <a:pt x="37744" y="1290795"/>
                </a:lnTo>
                <a:lnTo>
                  <a:pt x="18100" y="1289691"/>
                </a:lnTo>
                <a:lnTo>
                  <a:pt x="4856" y="1288054"/>
                </a:lnTo>
                <a:lnTo>
                  <a:pt x="0" y="1286050"/>
                </a:lnTo>
                <a:lnTo>
                  <a:pt x="0" y="5149"/>
                </a:lnTo>
                <a:lnTo>
                  <a:pt x="0" y="3783"/>
                </a:lnTo>
                <a:lnTo>
                  <a:pt x="6511" y="2474"/>
                </a:lnTo>
                <a:lnTo>
                  <a:pt x="18100" y="1508"/>
                </a:lnTo>
                <a:lnTo>
                  <a:pt x="27513" y="865"/>
                </a:lnTo>
                <a:lnTo>
                  <a:pt x="38150" y="392"/>
                </a:lnTo>
                <a:lnTo>
                  <a:pt x="49687" y="99"/>
                </a:lnTo>
                <a:lnTo>
                  <a:pt x="61799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028096" y="2141868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29" h="1291589">
                <a:moveTo>
                  <a:pt x="0" y="1291199"/>
                </a:moveTo>
                <a:lnTo>
                  <a:pt x="24055" y="1290795"/>
                </a:lnTo>
                <a:lnTo>
                  <a:pt x="43699" y="1289691"/>
                </a:lnTo>
                <a:lnTo>
                  <a:pt x="56943" y="1288054"/>
                </a:lnTo>
                <a:lnTo>
                  <a:pt x="61799" y="12860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3"/>
                </a:lnTo>
                <a:lnTo>
                  <a:pt x="43699" y="1508"/>
                </a:lnTo>
                <a:lnTo>
                  <a:pt x="34286" y="865"/>
                </a:lnTo>
                <a:lnTo>
                  <a:pt x="23649" y="391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855094" y="2112113"/>
            <a:ext cx="1098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5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55094" y="2721713"/>
            <a:ext cx="1079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35" dirty="0">
                <a:latin typeface="Verdana"/>
                <a:cs typeface="Verdana"/>
              </a:rPr>
              <a:t>1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2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855094" y="3178913"/>
            <a:ext cx="1098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</p:txBody>
      </p:sp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9649" y="3974124"/>
            <a:ext cx="5523601" cy="242825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49879" y="2692011"/>
            <a:ext cx="538071" cy="242824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473400" y="1260433"/>
            <a:ext cx="397573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spc="-35" dirty="0">
                <a:latin typeface="Verdana"/>
                <a:cs typeface="Verdana"/>
              </a:rPr>
              <a:t>Skip-</a:t>
            </a:r>
            <a:r>
              <a:rPr sz="1300" dirty="0">
                <a:latin typeface="Verdana"/>
                <a:cs typeface="Verdana"/>
              </a:rPr>
              <a:t>Gram</a:t>
            </a:r>
            <a:r>
              <a:rPr sz="1300" spc="-35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—</a:t>
            </a:r>
            <a:r>
              <a:rPr sz="1300" spc="-35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предсказание</a:t>
            </a:r>
            <a:r>
              <a:rPr sz="1300" spc="-35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слов</a:t>
            </a:r>
            <a:r>
              <a:rPr sz="1300" spc="-35" dirty="0">
                <a:latin typeface="Verdana"/>
                <a:cs typeface="Verdana"/>
              </a:rPr>
              <a:t> </a:t>
            </a:r>
            <a:r>
              <a:rPr sz="1300" spc="-20" dirty="0">
                <a:latin typeface="Verdana"/>
                <a:cs typeface="Verdana"/>
              </a:rPr>
              <a:t>контекста</a:t>
            </a:r>
            <a:r>
              <a:rPr sz="1300" spc="-50" dirty="0">
                <a:latin typeface="Verdana"/>
                <a:cs typeface="Verdana"/>
              </a:rPr>
              <a:t> </a:t>
            </a:r>
            <a:r>
              <a:rPr sz="1300" spc="-25" dirty="0">
                <a:latin typeface="Verdana"/>
                <a:cs typeface="Verdana"/>
              </a:rPr>
              <a:t>по </a:t>
            </a:r>
            <a:r>
              <a:rPr sz="1300" dirty="0">
                <a:latin typeface="Verdana"/>
                <a:cs typeface="Verdana"/>
              </a:rPr>
              <a:t>центральному</a:t>
            </a:r>
            <a:r>
              <a:rPr sz="1300" spc="140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слову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70" dirty="0"/>
              <a:t>Word2Vec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1027487" y="2182535"/>
            <a:ext cx="1098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5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7487" y="2792135"/>
            <a:ext cx="1079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35" dirty="0">
                <a:latin typeface="Verdana"/>
                <a:cs typeface="Verdana"/>
              </a:rPr>
              <a:t>1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2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7487" y="3249336"/>
            <a:ext cx="1098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92587" y="2212290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30" h="1291589">
                <a:moveTo>
                  <a:pt x="61799" y="1291200"/>
                </a:moveTo>
                <a:lnTo>
                  <a:pt x="37744" y="1290795"/>
                </a:lnTo>
                <a:lnTo>
                  <a:pt x="18100" y="1289691"/>
                </a:lnTo>
                <a:lnTo>
                  <a:pt x="4856" y="1288054"/>
                </a:lnTo>
                <a:lnTo>
                  <a:pt x="0" y="1286050"/>
                </a:lnTo>
                <a:lnTo>
                  <a:pt x="0" y="5149"/>
                </a:lnTo>
                <a:lnTo>
                  <a:pt x="0" y="3783"/>
                </a:lnTo>
                <a:lnTo>
                  <a:pt x="6510" y="2474"/>
                </a:lnTo>
                <a:lnTo>
                  <a:pt x="18100" y="1508"/>
                </a:lnTo>
                <a:lnTo>
                  <a:pt x="27513" y="865"/>
                </a:lnTo>
                <a:lnTo>
                  <a:pt x="38150" y="392"/>
                </a:lnTo>
                <a:lnTo>
                  <a:pt x="49687" y="99"/>
                </a:lnTo>
                <a:lnTo>
                  <a:pt x="61799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198344" y="2212290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30" h="1291589">
                <a:moveTo>
                  <a:pt x="0" y="1291200"/>
                </a:moveTo>
                <a:lnTo>
                  <a:pt x="24055" y="1290795"/>
                </a:lnTo>
                <a:lnTo>
                  <a:pt x="43699" y="1289691"/>
                </a:lnTo>
                <a:lnTo>
                  <a:pt x="56943" y="1288054"/>
                </a:lnTo>
                <a:lnTo>
                  <a:pt x="61799" y="12860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4"/>
                </a:lnTo>
                <a:lnTo>
                  <a:pt x="43699" y="1508"/>
                </a:lnTo>
                <a:lnTo>
                  <a:pt x="34286" y="865"/>
                </a:lnTo>
                <a:lnTo>
                  <a:pt x="23649" y="392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414719" y="2221692"/>
            <a:ext cx="874394" cy="1291590"/>
          </a:xfrm>
          <a:prstGeom prst="rect">
            <a:avLst/>
          </a:prstGeom>
          <a:solidFill>
            <a:srgbClr val="F9CB9B"/>
          </a:solidFill>
          <a:ln w="9524">
            <a:solidFill>
              <a:srgbClr val="E6913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100">
              <a:latin typeface="Times New Roman"/>
              <a:cs typeface="Times New Roman"/>
            </a:endParaRPr>
          </a:p>
          <a:p>
            <a:pPr marL="54610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матрица</a:t>
            </a:r>
            <a:r>
              <a:rPr sz="1100" spc="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A</a:t>
            </a:r>
            <a:endParaRPr sz="1100">
              <a:latin typeface="Verdana"/>
              <a:cs typeface="Verdana"/>
            </a:endParaRPr>
          </a:p>
          <a:p>
            <a:pPr marL="238125">
              <a:lnSpc>
                <a:spcPct val="100000"/>
              </a:lnSpc>
            </a:pPr>
            <a:r>
              <a:rPr sz="1100" i="1" spc="-25" dirty="0">
                <a:latin typeface="Verdana"/>
                <a:cs typeface="Verdana"/>
              </a:rPr>
              <a:t>nxk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96980" y="2448688"/>
            <a:ext cx="3016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latin typeface="Verdana"/>
                <a:cs typeface="Verdana"/>
              </a:rPr>
              <a:t>0.56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0" dirty="0">
                <a:latin typeface="Verdana"/>
                <a:cs typeface="Verdana"/>
              </a:rPr>
              <a:t>-</a:t>
            </a:r>
            <a:r>
              <a:rPr sz="1000" spc="-110" dirty="0">
                <a:latin typeface="Verdana"/>
                <a:cs typeface="Verdana"/>
              </a:rPr>
              <a:t>1.34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96980" y="3058288"/>
            <a:ext cx="3670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40" dirty="0">
                <a:latin typeface="Verdana"/>
                <a:cs typeface="Verdana"/>
              </a:rPr>
              <a:t>0.056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332854" y="2397596"/>
            <a:ext cx="62230" cy="920750"/>
          </a:xfrm>
          <a:custGeom>
            <a:avLst/>
            <a:gdLst/>
            <a:ahLst/>
            <a:cxnLst/>
            <a:rect l="l" t="t" r="r" b="b"/>
            <a:pathLst>
              <a:path w="62230" h="920750">
                <a:moveTo>
                  <a:pt x="61799" y="920700"/>
                </a:moveTo>
                <a:lnTo>
                  <a:pt x="37744" y="920295"/>
                </a:lnTo>
                <a:lnTo>
                  <a:pt x="18100" y="919191"/>
                </a:lnTo>
                <a:lnTo>
                  <a:pt x="4856" y="917554"/>
                </a:lnTo>
                <a:lnTo>
                  <a:pt x="0" y="915550"/>
                </a:lnTo>
                <a:lnTo>
                  <a:pt x="0" y="5149"/>
                </a:lnTo>
                <a:lnTo>
                  <a:pt x="0" y="3783"/>
                </a:lnTo>
                <a:lnTo>
                  <a:pt x="6510" y="2474"/>
                </a:lnTo>
                <a:lnTo>
                  <a:pt x="18100" y="1508"/>
                </a:lnTo>
                <a:lnTo>
                  <a:pt x="27513" y="865"/>
                </a:lnTo>
                <a:lnTo>
                  <a:pt x="38150" y="392"/>
                </a:lnTo>
                <a:lnTo>
                  <a:pt x="49687" y="99"/>
                </a:lnTo>
                <a:lnTo>
                  <a:pt x="61799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824011" y="2397596"/>
            <a:ext cx="62230" cy="920750"/>
          </a:xfrm>
          <a:custGeom>
            <a:avLst/>
            <a:gdLst/>
            <a:ahLst/>
            <a:cxnLst/>
            <a:rect l="l" t="t" r="r" b="b"/>
            <a:pathLst>
              <a:path w="62230" h="920750">
                <a:moveTo>
                  <a:pt x="0" y="920700"/>
                </a:moveTo>
                <a:lnTo>
                  <a:pt x="24055" y="920295"/>
                </a:lnTo>
                <a:lnTo>
                  <a:pt x="43699" y="919191"/>
                </a:lnTo>
                <a:lnTo>
                  <a:pt x="56943" y="917554"/>
                </a:lnTo>
                <a:lnTo>
                  <a:pt x="61799" y="9155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4"/>
                </a:lnTo>
                <a:lnTo>
                  <a:pt x="43699" y="1508"/>
                </a:lnTo>
                <a:lnTo>
                  <a:pt x="34286" y="865"/>
                </a:lnTo>
                <a:lnTo>
                  <a:pt x="23649" y="392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2987691" y="2461042"/>
            <a:ext cx="1282065" cy="816610"/>
          </a:xfrm>
          <a:prstGeom prst="rect">
            <a:avLst/>
          </a:prstGeom>
          <a:solidFill>
            <a:srgbClr val="B6D7A8"/>
          </a:solidFill>
          <a:ln w="9524">
            <a:solidFill>
              <a:srgbClr val="93C47D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100">
              <a:latin typeface="Times New Roman"/>
              <a:cs typeface="Times New Roman"/>
            </a:endParaRPr>
          </a:p>
          <a:p>
            <a:pPr marL="68580" algn="ctr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матрица</a:t>
            </a:r>
            <a:r>
              <a:rPr sz="1100" spc="85" dirty="0">
                <a:latin typeface="Verdana"/>
                <a:cs typeface="Verdana"/>
              </a:rPr>
              <a:t> </a:t>
            </a:r>
            <a:r>
              <a:rPr sz="1100" spc="25" dirty="0">
                <a:latin typeface="Verdana"/>
                <a:cs typeface="Verdana"/>
              </a:rPr>
              <a:t>B</a:t>
            </a:r>
            <a:endParaRPr sz="1100">
              <a:latin typeface="Verdana"/>
              <a:cs typeface="Verdana"/>
            </a:endParaRPr>
          </a:p>
          <a:p>
            <a:pPr marR="76200" algn="ctr">
              <a:lnSpc>
                <a:spcPct val="100000"/>
              </a:lnSpc>
            </a:pPr>
            <a:r>
              <a:rPr sz="1100" i="1" spc="-25" dirty="0">
                <a:latin typeface="Verdana"/>
                <a:cs typeface="Verdana"/>
              </a:rPr>
              <a:t>kxn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493804" y="2138063"/>
            <a:ext cx="3022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latin typeface="Verdana"/>
                <a:cs typeface="Verdana"/>
              </a:rPr>
              <a:t>0.06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20" dirty="0">
                <a:latin typeface="Verdana"/>
                <a:cs typeface="Verdana"/>
              </a:rPr>
              <a:t>0.00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93804" y="2747663"/>
            <a:ext cx="2921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40" dirty="0">
                <a:latin typeface="Verdana"/>
                <a:cs typeface="Verdana"/>
              </a:rPr>
              <a:t>0.34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93804" y="3204863"/>
            <a:ext cx="2514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20" dirty="0">
                <a:latin typeface="Verdana"/>
                <a:cs typeface="Verdana"/>
              </a:rPr>
              <a:t>0.13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358904" y="2167817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29" h="1291589">
                <a:moveTo>
                  <a:pt x="61799" y="1291200"/>
                </a:moveTo>
                <a:lnTo>
                  <a:pt x="37744" y="1290795"/>
                </a:lnTo>
                <a:lnTo>
                  <a:pt x="18100" y="1289691"/>
                </a:lnTo>
                <a:lnTo>
                  <a:pt x="4856" y="1288054"/>
                </a:lnTo>
                <a:lnTo>
                  <a:pt x="0" y="1286050"/>
                </a:lnTo>
                <a:lnTo>
                  <a:pt x="0" y="5149"/>
                </a:lnTo>
                <a:lnTo>
                  <a:pt x="0" y="3783"/>
                </a:lnTo>
                <a:lnTo>
                  <a:pt x="6510" y="2474"/>
                </a:lnTo>
                <a:lnTo>
                  <a:pt x="18100" y="1508"/>
                </a:lnTo>
                <a:lnTo>
                  <a:pt x="27513" y="865"/>
                </a:lnTo>
                <a:lnTo>
                  <a:pt x="38149" y="392"/>
                </a:lnTo>
                <a:lnTo>
                  <a:pt x="49687" y="99"/>
                </a:lnTo>
                <a:lnTo>
                  <a:pt x="61799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815102" y="2167817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29" h="1291589">
                <a:moveTo>
                  <a:pt x="0" y="1291200"/>
                </a:moveTo>
                <a:lnTo>
                  <a:pt x="24055" y="1290795"/>
                </a:lnTo>
                <a:lnTo>
                  <a:pt x="43699" y="1289691"/>
                </a:lnTo>
                <a:lnTo>
                  <a:pt x="56943" y="1288054"/>
                </a:lnTo>
                <a:lnTo>
                  <a:pt x="61799" y="12860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4"/>
                </a:lnTo>
                <a:lnTo>
                  <a:pt x="43698" y="1508"/>
                </a:lnTo>
                <a:lnTo>
                  <a:pt x="34286" y="865"/>
                </a:lnTo>
                <a:lnTo>
                  <a:pt x="23649" y="392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5009667" y="2107022"/>
            <a:ext cx="1625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a as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09667" y="2716622"/>
            <a:ext cx="5549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Verdana"/>
                <a:cs typeface="Verdana"/>
              </a:rPr>
              <a:t>banking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009667" y="3173822"/>
            <a:ext cx="6343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Verdana"/>
                <a:cs typeface="Verdana"/>
              </a:rPr>
              <a:t>problems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704582" y="2130859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29" h="1291589">
                <a:moveTo>
                  <a:pt x="61799" y="1291200"/>
                </a:moveTo>
                <a:lnTo>
                  <a:pt x="37744" y="1290795"/>
                </a:lnTo>
                <a:lnTo>
                  <a:pt x="18100" y="1289691"/>
                </a:lnTo>
                <a:lnTo>
                  <a:pt x="4856" y="1288054"/>
                </a:lnTo>
                <a:lnTo>
                  <a:pt x="0" y="1286050"/>
                </a:lnTo>
                <a:lnTo>
                  <a:pt x="0" y="5149"/>
                </a:lnTo>
                <a:lnTo>
                  <a:pt x="0" y="3783"/>
                </a:lnTo>
                <a:lnTo>
                  <a:pt x="6511" y="2474"/>
                </a:lnTo>
                <a:lnTo>
                  <a:pt x="18100" y="1508"/>
                </a:lnTo>
                <a:lnTo>
                  <a:pt x="27513" y="865"/>
                </a:lnTo>
                <a:lnTo>
                  <a:pt x="38150" y="392"/>
                </a:lnTo>
                <a:lnTo>
                  <a:pt x="49687" y="99"/>
                </a:lnTo>
                <a:lnTo>
                  <a:pt x="61799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6028096" y="2141868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29" h="1291589">
                <a:moveTo>
                  <a:pt x="0" y="1291199"/>
                </a:moveTo>
                <a:lnTo>
                  <a:pt x="24055" y="1290795"/>
                </a:lnTo>
                <a:lnTo>
                  <a:pt x="43699" y="1289691"/>
                </a:lnTo>
                <a:lnTo>
                  <a:pt x="56943" y="1288054"/>
                </a:lnTo>
                <a:lnTo>
                  <a:pt x="61799" y="12860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3"/>
                </a:lnTo>
                <a:lnTo>
                  <a:pt x="43699" y="1508"/>
                </a:lnTo>
                <a:lnTo>
                  <a:pt x="34286" y="865"/>
                </a:lnTo>
                <a:lnTo>
                  <a:pt x="23649" y="391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5855094" y="2112113"/>
            <a:ext cx="1098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5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855094" y="2721713"/>
            <a:ext cx="1079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35" dirty="0">
                <a:latin typeface="Verdana"/>
                <a:cs typeface="Verdana"/>
              </a:rPr>
              <a:t>1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2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855094" y="3178913"/>
            <a:ext cx="1098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96548" y="2708378"/>
            <a:ext cx="604418" cy="22844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9649" y="3974124"/>
            <a:ext cx="5523601" cy="242825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5079" y="2776474"/>
            <a:ext cx="538071" cy="242824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473400" y="1260433"/>
            <a:ext cx="385381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spc="65" dirty="0">
                <a:latin typeface="Verdana"/>
                <a:cs typeface="Verdana"/>
              </a:rPr>
              <a:t>CBOW</a:t>
            </a:r>
            <a:r>
              <a:rPr sz="1300" spc="-10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—</a:t>
            </a:r>
            <a:r>
              <a:rPr sz="1300" spc="-5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предсказание</a:t>
            </a:r>
            <a:r>
              <a:rPr sz="1300" spc="-10" dirty="0">
                <a:latin typeface="Verdana"/>
                <a:cs typeface="Verdana"/>
              </a:rPr>
              <a:t> </a:t>
            </a:r>
            <a:r>
              <a:rPr sz="1300" dirty="0">
                <a:latin typeface="Verdana"/>
                <a:cs typeface="Verdana"/>
              </a:rPr>
              <a:t>центрального</a:t>
            </a:r>
            <a:r>
              <a:rPr sz="1300" spc="-5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слова </a:t>
            </a:r>
            <a:r>
              <a:rPr sz="1300" dirty="0">
                <a:latin typeface="Verdana"/>
                <a:cs typeface="Verdana"/>
              </a:rPr>
              <a:t>по словам</a:t>
            </a:r>
            <a:r>
              <a:rPr sz="1300" spc="5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контекста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70" dirty="0"/>
              <a:t>Word2Vec</a:t>
            </a:r>
            <a:endParaRPr sz="27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7703" y="1530189"/>
            <a:ext cx="3011615" cy="337674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36189" y="1409749"/>
            <a:ext cx="2655669" cy="336503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223150" y="969321"/>
            <a:ext cx="59944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20" dirty="0">
                <a:latin typeface="Verdana"/>
                <a:cs typeface="Verdana"/>
              </a:rPr>
              <a:t>CBOW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1225" y="1053470"/>
            <a:ext cx="92519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-75" dirty="0">
                <a:latin typeface="Verdana"/>
                <a:cs typeface="Verdana"/>
              </a:rPr>
              <a:t>Skip-</a:t>
            </a:r>
            <a:r>
              <a:rPr sz="1300" b="1" spc="-40" dirty="0">
                <a:latin typeface="Verdana"/>
                <a:cs typeface="Verdana"/>
              </a:rPr>
              <a:t>gram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82333" y="2512992"/>
            <a:ext cx="6428192" cy="819904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07312" marR="5080" indent="-95248" algn="ctr">
              <a:lnSpc>
                <a:spcPct val="114999"/>
              </a:lnSpc>
              <a:spcBef>
                <a:spcPts val="100"/>
              </a:spcBef>
            </a:pP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4. </a:t>
            </a:r>
            <a:r>
              <a:rPr lang="ru-RU" sz="2400" dirty="0" err="1">
                <a:latin typeface="Verdana" panose="020B0604030504040204" pitchFamily="34" charset="0"/>
                <a:ea typeface="Verdana" panose="020B0604030504040204" pitchFamily="34" charset="0"/>
              </a:rPr>
              <a:t>Эмбеддинги</a:t>
            </a:r>
            <a: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  <a:t> фраз </a:t>
            </a:r>
            <a:r>
              <a:rPr lang="ru-RU" sz="2400">
                <a:latin typeface="Verdana" panose="020B0604030504040204" pitchFamily="34" charset="0"/>
                <a:ea typeface="Verdana" panose="020B0604030504040204" pitchFamily="34" charset="0"/>
              </a:rPr>
              <a:t>и предложений</a:t>
            </a:r>
            <a:br>
              <a:rPr lang="ru-RU" sz="2400" dirty="0">
                <a:latin typeface="Verdana" panose="020B0604030504040204" pitchFamily="34" charset="0"/>
                <a:ea typeface="Verdana" panose="020B0604030504040204" pitchFamily="34" charset="0"/>
              </a:rPr>
            </a:br>
            <a:endParaRPr lang="ru-RU" sz="24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97032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389509"/>
            <a:ext cx="15875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70" dirty="0">
                <a:latin typeface="Calibri"/>
                <a:cs typeface="Calibri"/>
              </a:rPr>
              <a:t>Word2Vec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7487" y="2182535"/>
            <a:ext cx="1098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5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7487" y="2792135"/>
            <a:ext cx="1079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35" dirty="0">
                <a:latin typeface="Verdana"/>
                <a:cs typeface="Verdana"/>
              </a:rPr>
              <a:t>1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2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7487" y="3249336"/>
            <a:ext cx="1098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44736" y="2207528"/>
            <a:ext cx="715010" cy="1301115"/>
            <a:chOff x="244736" y="2207528"/>
            <a:chExt cx="715010" cy="1301115"/>
          </a:xfrm>
        </p:grpSpPr>
        <p:sp>
          <p:nvSpPr>
            <p:cNvPr id="7" name="object 7"/>
            <p:cNvSpPr/>
            <p:nvPr/>
          </p:nvSpPr>
          <p:spPr>
            <a:xfrm>
              <a:off x="892588" y="2212290"/>
              <a:ext cx="62230" cy="1291590"/>
            </a:xfrm>
            <a:custGeom>
              <a:avLst/>
              <a:gdLst/>
              <a:ahLst/>
              <a:cxnLst/>
              <a:rect l="l" t="t" r="r" b="b"/>
              <a:pathLst>
                <a:path w="62230" h="1291589">
                  <a:moveTo>
                    <a:pt x="61799" y="1291200"/>
                  </a:moveTo>
                  <a:lnTo>
                    <a:pt x="37744" y="1290795"/>
                  </a:lnTo>
                  <a:lnTo>
                    <a:pt x="18100" y="1289691"/>
                  </a:lnTo>
                  <a:lnTo>
                    <a:pt x="4856" y="1288054"/>
                  </a:lnTo>
                  <a:lnTo>
                    <a:pt x="0" y="1286050"/>
                  </a:lnTo>
                  <a:lnTo>
                    <a:pt x="0" y="5149"/>
                  </a:lnTo>
                  <a:lnTo>
                    <a:pt x="0" y="3783"/>
                  </a:lnTo>
                  <a:lnTo>
                    <a:pt x="6510" y="2474"/>
                  </a:lnTo>
                  <a:lnTo>
                    <a:pt x="18100" y="1508"/>
                  </a:lnTo>
                  <a:lnTo>
                    <a:pt x="27513" y="865"/>
                  </a:lnTo>
                  <a:lnTo>
                    <a:pt x="38150" y="392"/>
                  </a:lnTo>
                  <a:lnTo>
                    <a:pt x="49687" y="99"/>
                  </a:lnTo>
                  <a:lnTo>
                    <a:pt x="61799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4736" y="2851553"/>
              <a:ext cx="604419" cy="228440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1198344" y="2212290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30" h="1291589">
                <a:moveTo>
                  <a:pt x="0" y="1291200"/>
                </a:moveTo>
                <a:lnTo>
                  <a:pt x="24055" y="1290795"/>
                </a:lnTo>
                <a:lnTo>
                  <a:pt x="43699" y="1289691"/>
                </a:lnTo>
                <a:lnTo>
                  <a:pt x="56943" y="1288054"/>
                </a:lnTo>
                <a:lnTo>
                  <a:pt x="61799" y="12860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4"/>
                </a:lnTo>
                <a:lnTo>
                  <a:pt x="43699" y="1508"/>
                </a:lnTo>
                <a:lnTo>
                  <a:pt x="34286" y="865"/>
                </a:lnTo>
                <a:lnTo>
                  <a:pt x="23649" y="392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414719" y="2221692"/>
            <a:ext cx="874394" cy="1291590"/>
          </a:xfrm>
          <a:prstGeom prst="rect">
            <a:avLst/>
          </a:prstGeom>
          <a:solidFill>
            <a:srgbClr val="F9CB9B"/>
          </a:solidFill>
          <a:ln w="9524">
            <a:solidFill>
              <a:srgbClr val="E6913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100">
              <a:latin typeface="Times New Roman"/>
              <a:cs typeface="Times New Roman"/>
            </a:endParaRPr>
          </a:p>
          <a:p>
            <a:pPr marL="54610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матрица</a:t>
            </a:r>
            <a:r>
              <a:rPr sz="1100" spc="85" dirty="0">
                <a:latin typeface="Verdana"/>
                <a:cs typeface="Verdana"/>
              </a:rPr>
              <a:t> </a:t>
            </a:r>
            <a:r>
              <a:rPr sz="1100" spc="-50" dirty="0">
                <a:latin typeface="Verdana"/>
                <a:cs typeface="Verdana"/>
              </a:rPr>
              <a:t>A</a:t>
            </a:r>
            <a:endParaRPr sz="1100">
              <a:latin typeface="Verdana"/>
              <a:cs typeface="Verdana"/>
            </a:endParaRPr>
          </a:p>
          <a:p>
            <a:pPr marL="238125">
              <a:lnSpc>
                <a:spcPct val="100000"/>
              </a:lnSpc>
            </a:pPr>
            <a:r>
              <a:rPr sz="1100" i="1" spc="-25" dirty="0">
                <a:latin typeface="Verdana"/>
                <a:cs typeface="Verdana"/>
              </a:rPr>
              <a:t>nxk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96980" y="2448688"/>
            <a:ext cx="30162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latin typeface="Verdana"/>
                <a:cs typeface="Verdana"/>
              </a:rPr>
              <a:t>0.56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0" dirty="0">
                <a:latin typeface="Verdana"/>
                <a:cs typeface="Verdana"/>
              </a:rPr>
              <a:t>-</a:t>
            </a:r>
            <a:r>
              <a:rPr sz="1000" spc="-110" dirty="0">
                <a:latin typeface="Verdana"/>
                <a:cs typeface="Verdana"/>
              </a:rPr>
              <a:t>1.34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96980" y="3058288"/>
            <a:ext cx="36703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40" dirty="0">
                <a:latin typeface="Verdana"/>
                <a:cs typeface="Verdana"/>
              </a:rPr>
              <a:t>0.056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32854" y="2397596"/>
            <a:ext cx="62230" cy="920750"/>
          </a:xfrm>
          <a:custGeom>
            <a:avLst/>
            <a:gdLst/>
            <a:ahLst/>
            <a:cxnLst/>
            <a:rect l="l" t="t" r="r" b="b"/>
            <a:pathLst>
              <a:path w="62230" h="920750">
                <a:moveTo>
                  <a:pt x="61799" y="920700"/>
                </a:moveTo>
                <a:lnTo>
                  <a:pt x="37744" y="920295"/>
                </a:lnTo>
                <a:lnTo>
                  <a:pt x="18100" y="919191"/>
                </a:lnTo>
                <a:lnTo>
                  <a:pt x="4856" y="917554"/>
                </a:lnTo>
                <a:lnTo>
                  <a:pt x="0" y="915550"/>
                </a:lnTo>
                <a:lnTo>
                  <a:pt x="0" y="5149"/>
                </a:lnTo>
                <a:lnTo>
                  <a:pt x="0" y="3783"/>
                </a:lnTo>
                <a:lnTo>
                  <a:pt x="6510" y="2474"/>
                </a:lnTo>
                <a:lnTo>
                  <a:pt x="18100" y="1508"/>
                </a:lnTo>
                <a:lnTo>
                  <a:pt x="27513" y="865"/>
                </a:lnTo>
                <a:lnTo>
                  <a:pt x="38150" y="392"/>
                </a:lnTo>
                <a:lnTo>
                  <a:pt x="49687" y="99"/>
                </a:lnTo>
                <a:lnTo>
                  <a:pt x="61799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824011" y="2397596"/>
            <a:ext cx="62230" cy="920750"/>
          </a:xfrm>
          <a:custGeom>
            <a:avLst/>
            <a:gdLst/>
            <a:ahLst/>
            <a:cxnLst/>
            <a:rect l="l" t="t" r="r" b="b"/>
            <a:pathLst>
              <a:path w="62230" h="920750">
                <a:moveTo>
                  <a:pt x="0" y="920700"/>
                </a:moveTo>
                <a:lnTo>
                  <a:pt x="24055" y="920295"/>
                </a:lnTo>
                <a:lnTo>
                  <a:pt x="43699" y="919191"/>
                </a:lnTo>
                <a:lnTo>
                  <a:pt x="56943" y="917554"/>
                </a:lnTo>
                <a:lnTo>
                  <a:pt x="61799" y="9155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4"/>
                </a:lnTo>
                <a:lnTo>
                  <a:pt x="43699" y="1508"/>
                </a:lnTo>
                <a:lnTo>
                  <a:pt x="34286" y="865"/>
                </a:lnTo>
                <a:lnTo>
                  <a:pt x="23649" y="392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987691" y="2461042"/>
            <a:ext cx="1282065" cy="816610"/>
          </a:xfrm>
          <a:prstGeom prst="rect">
            <a:avLst/>
          </a:prstGeom>
          <a:solidFill>
            <a:srgbClr val="B6D7A8"/>
          </a:solidFill>
          <a:ln w="9524">
            <a:solidFill>
              <a:srgbClr val="93C47D"/>
            </a:solidFill>
          </a:ln>
        </p:spPr>
        <p:txBody>
          <a:bodyPr vert="horz" wrap="square" lIns="0" tIns="9461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745"/>
              </a:spcBef>
            </a:pPr>
            <a:endParaRPr sz="1100">
              <a:latin typeface="Times New Roman"/>
              <a:cs typeface="Times New Roman"/>
            </a:endParaRPr>
          </a:p>
          <a:p>
            <a:pPr marL="68580" algn="ctr">
              <a:lnSpc>
                <a:spcPct val="100000"/>
              </a:lnSpc>
            </a:pPr>
            <a:r>
              <a:rPr sz="1100" dirty="0">
                <a:latin typeface="Verdana"/>
                <a:cs typeface="Verdana"/>
              </a:rPr>
              <a:t>матрица</a:t>
            </a:r>
            <a:r>
              <a:rPr sz="1100" spc="85" dirty="0">
                <a:latin typeface="Verdana"/>
                <a:cs typeface="Verdana"/>
              </a:rPr>
              <a:t> </a:t>
            </a:r>
            <a:r>
              <a:rPr sz="1100" spc="25" dirty="0">
                <a:latin typeface="Verdana"/>
                <a:cs typeface="Verdana"/>
              </a:rPr>
              <a:t>B</a:t>
            </a:r>
            <a:endParaRPr sz="1100">
              <a:latin typeface="Verdana"/>
              <a:cs typeface="Verdana"/>
            </a:endParaRPr>
          </a:p>
          <a:p>
            <a:pPr marR="76200" algn="ctr">
              <a:lnSpc>
                <a:spcPct val="100000"/>
              </a:lnSpc>
            </a:pPr>
            <a:r>
              <a:rPr sz="1100" i="1" spc="-25" dirty="0">
                <a:latin typeface="Verdana"/>
                <a:cs typeface="Verdana"/>
              </a:rPr>
              <a:t>kxn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93804" y="2138063"/>
            <a:ext cx="30226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20" dirty="0">
                <a:latin typeface="Verdana"/>
                <a:cs typeface="Verdana"/>
              </a:rPr>
              <a:t>0.06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20" dirty="0">
                <a:latin typeface="Verdana"/>
                <a:cs typeface="Verdana"/>
              </a:rPr>
              <a:t>0.00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493804" y="2747663"/>
            <a:ext cx="2921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40" dirty="0">
                <a:latin typeface="Verdana"/>
                <a:cs typeface="Verdana"/>
              </a:rPr>
              <a:t>0.34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493804" y="3204863"/>
            <a:ext cx="25146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20" dirty="0">
                <a:latin typeface="Verdana"/>
                <a:cs typeface="Verdana"/>
              </a:rPr>
              <a:t>0.13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358904" y="2167817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29" h="1291589">
                <a:moveTo>
                  <a:pt x="61799" y="1291200"/>
                </a:moveTo>
                <a:lnTo>
                  <a:pt x="37744" y="1290795"/>
                </a:lnTo>
                <a:lnTo>
                  <a:pt x="18100" y="1289691"/>
                </a:lnTo>
                <a:lnTo>
                  <a:pt x="4856" y="1288054"/>
                </a:lnTo>
                <a:lnTo>
                  <a:pt x="0" y="1286050"/>
                </a:lnTo>
                <a:lnTo>
                  <a:pt x="0" y="5149"/>
                </a:lnTo>
                <a:lnTo>
                  <a:pt x="0" y="3783"/>
                </a:lnTo>
                <a:lnTo>
                  <a:pt x="6510" y="2474"/>
                </a:lnTo>
                <a:lnTo>
                  <a:pt x="18100" y="1508"/>
                </a:lnTo>
                <a:lnTo>
                  <a:pt x="27513" y="865"/>
                </a:lnTo>
                <a:lnTo>
                  <a:pt x="38149" y="392"/>
                </a:lnTo>
                <a:lnTo>
                  <a:pt x="49687" y="99"/>
                </a:lnTo>
                <a:lnTo>
                  <a:pt x="61799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815102" y="2167817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29" h="1291589">
                <a:moveTo>
                  <a:pt x="0" y="1291200"/>
                </a:moveTo>
                <a:lnTo>
                  <a:pt x="24055" y="1290795"/>
                </a:lnTo>
                <a:lnTo>
                  <a:pt x="43699" y="1289691"/>
                </a:lnTo>
                <a:lnTo>
                  <a:pt x="56943" y="1288054"/>
                </a:lnTo>
                <a:lnTo>
                  <a:pt x="61799" y="12860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4"/>
                </a:lnTo>
                <a:lnTo>
                  <a:pt x="43698" y="1508"/>
                </a:lnTo>
                <a:lnTo>
                  <a:pt x="34286" y="865"/>
                </a:lnTo>
                <a:lnTo>
                  <a:pt x="23649" y="392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009667" y="2107022"/>
            <a:ext cx="1625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a as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009667" y="2716622"/>
            <a:ext cx="55499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Verdana"/>
                <a:cs typeface="Verdana"/>
              </a:rPr>
              <a:t>banking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009667" y="3173822"/>
            <a:ext cx="63436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10" dirty="0">
                <a:latin typeface="Verdana"/>
                <a:cs typeface="Verdana"/>
              </a:rPr>
              <a:t>problems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704582" y="2130859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29" h="1291589">
                <a:moveTo>
                  <a:pt x="61799" y="1291200"/>
                </a:moveTo>
                <a:lnTo>
                  <a:pt x="37744" y="1290795"/>
                </a:lnTo>
                <a:lnTo>
                  <a:pt x="18100" y="1289691"/>
                </a:lnTo>
                <a:lnTo>
                  <a:pt x="4856" y="1288054"/>
                </a:lnTo>
                <a:lnTo>
                  <a:pt x="0" y="1286050"/>
                </a:lnTo>
                <a:lnTo>
                  <a:pt x="0" y="5149"/>
                </a:lnTo>
                <a:lnTo>
                  <a:pt x="0" y="3783"/>
                </a:lnTo>
                <a:lnTo>
                  <a:pt x="6511" y="2474"/>
                </a:lnTo>
                <a:lnTo>
                  <a:pt x="18100" y="1508"/>
                </a:lnTo>
                <a:lnTo>
                  <a:pt x="27513" y="865"/>
                </a:lnTo>
                <a:lnTo>
                  <a:pt x="38150" y="392"/>
                </a:lnTo>
                <a:lnTo>
                  <a:pt x="49687" y="99"/>
                </a:lnTo>
                <a:lnTo>
                  <a:pt x="61799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6028096" y="2141868"/>
            <a:ext cx="62230" cy="1291590"/>
          </a:xfrm>
          <a:custGeom>
            <a:avLst/>
            <a:gdLst/>
            <a:ahLst/>
            <a:cxnLst/>
            <a:rect l="l" t="t" r="r" b="b"/>
            <a:pathLst>
              <a:path w="62229" h="1291589">
                <a:moveTo>
                  <a:pt x="0" y="1291199"/>
                </a:moveTo>
                <a:lnTo>
                  <a:pt x="24055" y="1290795"/>
                </a:lnTo>
                <a:lnTo>
                  <a:pt x="43699" y="1289691"/>
                </a:lnTo>
                <a:lnTo>
                  <a:pt x="56943" y="1288054"/>
                </a:lnTo>
                <a:lnTo>
                  <a:pt x="61799" y="1286050"/>
                </a:lnTo>
                <a:lnTo>
                  <a:pt x="61799" y="5149"/>
                </a:lnTo>
                <a:lnTo>
                  <a:pt x="61799" y="3783"/>
                </a:lnTo>
                <a:lnTo>
                  <a:pt x="55288" y="2473"/>
                </a:lnTo>
                <a:lnTo>
                  <a:pt x="43699" y="1508"/>
                </a:lnTo>
                <a:lnTo>
                  <a:pt x="34286" y="865"/>
                </a:lnTo>
                <a:lnTo>
                  <a:pt x="23649" y="391"/>
                </a:lnTo>
                <a:lnTo>
                  <a:pt x="12112" y="99"/>
                </a:lnTo>
                <a:lnTo>
                  <a:pt x="0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5855094" y="2112113"/>
            <a:ext cx="1098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05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55094" y="2721713"/>
            <a:ext cx="10795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335" dirty="0">
                <a:latin typeface="Verdana"/>
                <a:cs typeface="Verdana"/>
              </a:rPr>
              <a:t>1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spc="-120" dirty="0">
                <a:latin typeface="Verdana"/>
                <a:cs typeface="Verdana"/>
              </a:rPr>
              <a:t>…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855094" y="3178913"/>
            <a:ext cx="10985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spc="-50" dirty="0">
                <a:latin typeface="Verdana"/>
                <a:cs typeface="Verdana"/>
              </a:rPr>
              <a:t>0</a:t>
            </a:r>
            <a:endParaRPr sz="1000">
              <a:latin typeface="Verdana"/>
              <a:cs typeface="Verdana"/>
            </a:endParaRPr>
          </a:p>
        </p:txBody>
      </p:sp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9649" y="3974124"/>
            <a:ext cx="5523601" cy="242825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49879" y="2692011"/>
            <a:ext cx="538071" cy="242824"/>
          </a:xfrm>
          <a:prstGeom prst="rect">
            <a:avLst/>
          </a:prstGeom>
        </p:spPr>
      </p:pic>
      <p:grpSp>
        <p:nvGrpSpPr>
          <p:cNvPr id="31" name="object 31"/>
          <p:cNvGrpSpPr/>
          <p:nvPr/>
        </p:nvGrpSpPr>
        <p:grpSpPr>
          <a:xfrm>
            <a:off x="4233762" y="357737"/>
            <a:ext cx="3157220" cy="1086485"/>
            <a:chOff x="4233762" y="357737"/>
            <a:chExt cx="3157220" cy="1086485"/>
          </a:xfrm>
        </p:grpSpPr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197914" y="938156"/>
              <a:ext cx="2192524" cy="505972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238525" y="362499"/>
              <a:ext cx="994410" cy="549910"/>
            </a:xfrm>
            <a:custGeom>
              <a:avLst/>
              <a:gdLst/>
              <a:ahLst/>
              <a:cxnLst/>
              <a:rect l="l" t="t" r="r" b="b"/>
              <a:pathLst>
                <a:path w="994410" h="549910">
                  <a:moveTo>
                    <a:pt x="0" y="0"/>
                  </a:moveTo>
                  <a:lnTo>
                    <a:pt x="994287" y="549843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225199" y="898575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45440" y="34686"/>
                  </a:moveTo>
                  <a:lnTo>
                    <a:pt x="0" y="27535"/>
                  </a:lnTo>
                  <a:lnTo>
                    <a:pt x="15227" y="0"/>
                  </a:lnTo>
                  <a:lnTo>
                    <a:pt x="45440" y="3468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5225199" y="898575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0" y="27535"/>
                  </a:moveTo>
                  <a:lnTo>
                    <a:pt x="45440" y="34686"/>
                  </a:lnTo>
                  <a:lnTo>
                    <a:pt x="15227" y="0"/>
                  </a:lnTo>
                  <a:lnTo>
                    <a:pt x="0" y="2753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4354139" y="1577594"/>
            <a:ext cx="1781175" cy="191770"/>
            <a:chOff x="4354139" y="1577594"/>
            <a:chExt cx="1781175" cy="191770"/>
          </a:xfrm>
        </p:grpSpPr>
        <p:sp>
          <p:nvSpPr>
            <p:cNvPr id="37" name="object 37"/>
            <p:cNvSpPr/>
            <p:nvPr/>
          </p:nvSpPr>
          <p:spPr>
            <a:xfrm>
              <a:off x="4358902" y="1598017"/>
              <a:ext cx="1728470" cy="166370"/>
            </a:xfrm>
            <a:custGeom>
              <a:avLst/>
              <a:gdLst/>
              <a:ahLst/>
              <a:cxnLst/>
              <a:rect l="l" t="t" r="r" b="b"/>
              <a:pathLst>
                <a:path w="1728470" h="166369">
                  <a:moveTo>
                    <a:pt x="0" y="166131"/>
                  </a:moveTo>
                  <a:lnTo>
                    <a:pt x="1728411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085809" y="1582357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3010" y="31321"/>
                  </a:moveTo>
                  <a:lnTo>
                    <a:pt x="0" y="0"/>
                  </a:lnTo>
                  <a:lnTo>
                    <a:pt x="44532" y="11524"/>
                  </a:lnTo>
                  <a:lnTo>
                    <a:pt x="3010" y="3132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085809" y="1582357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3010" y="31321"/>
                  </a:moveTo>
                  <a:lnTo>
                    <a:pt x="44532" y="11524"/>
                  </a:lnTo>
                  <a:lnTo>
                    <a:pt x="0" y="0"/>
                  </a:lnTo>
                  <a:lnTo>
                    <a:pt x="3010" y="3132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>
            <a:spLocks noGrp="1"/>
          </p:cNvSpPr>
          <p:nvPr>
            <p:ph type="title"/>
          </p:nvPr>
        </p:nvSpPr>
        <p:spPr>
          <a:xfrm>
            <a:off x="3432200" y="194271"/>
            <a:ext cx="69723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Verdana"/>
                <a:cs typeface="Verdana"/>
              </a:rPr>
              <a:t>SoftMax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062375" y="1165045"/>
            <a:ext cx="138239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Verdana"/>
                <a:cs typeface="Verdana"/>
              </a:rPr>
              <a:t>огромное </a:t>
            </a:r>
            <a:r>
              <a:rPr sz="1300" dirty="0">
                <a:latin typeface="Verdana"/>
                <a:cs typeface="Verdana"/>
              </a:rPr>
              <a:t>выражение</a:t>
            </a:r>
            <a:r>
              <a:rPr sz="1300" spc="80" dirty="0">
                <a:latin typeface="Verdana"/>
                <a:cs typeface="Verdana"/>
              </a:rPr>
              <a:t> </a:t>
            </a:r>
            <a:r>
              <a:rPr sz="1300" spc="-25" dirty="0">
                <a:latin typeface="Verdana"/>
                <a:cs typeface="Verdana"/>
              </a:rPr>
              <a:t>для </a:t>
            </a:r>
            <a:r>
              <a:rPr sz="1300" spc="-10" dirty="0">
                <a:latin typeface="Verdana"/>
                <a:cs typeface="Verdana"/>
              </a:rPr>
              <a:t>вычисления</a:t>
            </a:r>
            <a:endParaRPr sz="13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89509"/>
            <a:ext cx="158750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70" dirty="0"/>
              <a:t>Word2Vec</a:t>
            </a:r>
            <a:endParaRPr sz="2700"/>
          </a:p>
        </p:txBody>
      </p:sp>
      <p:grpSp>
        <p:nvGrpSpPr>
          <p:cNvPr id="3" name="object 3"/>
          <p:cNvGrpSpPr/>
          <p:nvPr/>
        </p:nvGrpSpPr>
        <p:grpSpPr>
          <a:xfrm>
            <a:off x="4233762" y="357737"/>
            <a:ext cx="3157220" cy="1086485"/>
            <a:chOff x="4233762" y="357737"/>
            <a:chExt cx="3157220" cy="10864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97914" y="938156"/>
              <a:ext cx="2192524" cy="50597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238525" y="362499"/>
              <a:ext cx="994410" cy="549910"/>
            </a:xfrm>
            <a:custGeom>
              <a:avLst/>
              <a:gdLst/>
              <a:ahLst/>
              <a:cxnLst/>
              <a:rect l="l" t="t" r="r" b="b"/>
              <a:pathLst>
                <a:path w="994410" h="549910">
                  <a:moveTo>
                    <a:pt x="0" y="0"/>
                  </a:moveTo>
                  <a:lnTo>
                    <a:pt x="994287" y="549843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25199" y="898575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45440" y="34686"/>
                  </a:moveTo>
                  <a:lnTo>
                    <a:pt x="0" y="27535"/>
                  </a:lnTo>
                  <a:lnTo>
                    <a:pt x="15227" y="0"/>
                  </a:lnTo>
                  <a:lnTo>
                    <a:pt x="45440" y="3468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25199" y="898575"/>
              <a:ext cx="45720" cy="34925"/>
            </a:xfrm>
            <a:custGeom>
              <a:avLst/>
              <a:gdLst/>
              <a:ahLst/>
              <a:cxnLst/>
              <a:rect l="l" t="t" r="r" b="b"/>
              <a:pathLst>
                <a:path w="45720" h="34925">
                  <a:moveTo>
                    <a:pt x="0" y="27535"/>
                  </a:moveTo>
                  <a:lnTo>
                    <a:pt x="45440" y="34686"/>
                  </a:lnTo>
                  <a:lnTo>
                    <a:pt x="15227" y="0"/>
                  </a:lnTo>
                  <a:lnTo>
                    <a:pt x="0" y="2753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354139" y="1577594"/>
            <a:ext cx="1781175" cy="191770"/>
            <a:chOff x="4354139" y="1577594"/>
            <a:chExt cx="1781175" cy="191770"/>
          </a:xfrm>
        </p:grpSpPr>
        <p:sp>
          <p:nvSpPr>
            <p:cNvPr id="9" name="object 9"/>
            <p:cNvSpPr/>
            <p:nvPr/>
          </p:nvSpPr>
          <p:spPr>
            <a:xfrm>
              <a:off x="4358902" y="1598017"/>
              <a:ext cx="1728470" cy="166370"/>
            </a:xfrm>
            <a:custGeom>
              <a:avLst/>
              <a:gdLst/>
              <a:ahLst/>
              <a:cxnLst/>
              <a:rect l="l" t="t" r="r" b="b"/>
              <a:pathLst>
                <a:path w="1728470" h="166369">
                  <a:moveTo>
                    <a:pt x="0" y="166131"/>
                  </a:moveTo>
                  <a:lnTo>
                    <a:pt x="1728411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085809" y="1582357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3010" y="31321"/>
                  </a:moveTo>
                  <a:lnTo>
                    <a:pt x="0" y="0"/>
                  </a:lnTo>
                  <a:lnTo>
                    <a:pt x="44532" y="11524"/>
                  </a:lnTo>
                  <a:lnTo>
                    <a:pt x="3010" y="31321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085809" y="1582357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3010" y="31321"/>
                  </a:moveTo>
                  <a:lnTo>
                    <a:pt x="44532" y="11524"/>
                  </a:lnTo>
                  <a:lnTo>
                    <a:pt x="0" y="0"/>
                  </a:lnTo>
                  <a:lnTo>
                    <a:pt x="3010" y="31321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432200" y="194271"/>
            <a:ext cx="697230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Verdana"/>
                <a:cs typeface="Verdana"/>
              </a:rPr>
              <a:t>SoftMax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62375" y="1165045"/>
            <a:ext cx="1382395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Verdana"/>
                <a:cs typeface="Verdana"/>
              </a:rPr>
              <a:t>огромное </a:t>
            </a:r>
            <a:r>
              <a:rPr sz="1300" dirty="0">
                <a:latin typeface="Verdana"/>
                <a:cs typeface="Verdana"/>
              </a:rPr>
              <a:t>выражение</a:t>
            </a:r>
            <a:r>
              <a:rPr sz="1300" spc="80" dirty="0">
                <a:latin typeface="Verdana"/>
                <a:cs typeface="Verdana"/>
              </a:rPr>
              <a:t> </a:t>
            </a:r>
            <a:r>
              <a:rPr sz="1300" spc="-25" dirty="0">
                <a:latin typeface="Verdana"/>
                <a:cs typeface="Verdana"/>
              </a:rPr>
              <a:t>для </a:t>
            </a:r>
            <a:r>
              <a:rPr sz="1300" spc="-10" dirty="0">
                <a:latin typeface="Verdana"/>
                <a:cs typeface="Verdana"/>
              </a:rPr>
              <a:t>вычисления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69100" y="2484347"/>
            <a:ext cx="2713355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Идеи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решения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проблемы:</a:t>
            </a:r>
            <a:endParaRPr sz="1600">
              <a:latin typeface="Calibri"/>
              <a:cs typeface="Calibri"/>
            </a:endParaRPr>
          </a:p>
          <a:p>
            <a:pPr marL="469265" indent="-303530">
              <a:lnSpc>
                <a:spcPct val="100000"/>
              </a:lnSpc>
              <a:spcBef>
                <a:spcPts val="1920"/>
              </a:spcBef>
              <a:buChar char="-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Иерархический</a:t>
            </a:r>
            <a:r>
              <a:rPr sz="1600" spc="360" dirty="0">
                <a:latin typeface="Calibri"/>
                <a:cs typeface="Calibri"/>
              </a:rPr>
              <a:t> </a:t>
            </a:r>
            <a:r>
              <a:rPr sz="1600" spc="40" dirty="0">
                <a:latin typeface="Calibri"/>
                <a:cs typeface="Calibri"/>
              </a:rPr>
              <a:t>SoftMax;</a:t>
            </a:r>
            <a:endParaRPr sz="1600">
              <a:latin typeface="Calibri"/>
              <a:cs typeface="Calibri"/>
            </a:endParaRPr>
          </a:p>
          <a:p>
            <a:pPr marL="469265" indent="-303530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Negative</a:t>
            </a:r>
            <a:r>
              <a:rPr sz="1600" spc="38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sampling;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52675" y="1303059"/>
            <a:ext cx="577342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Word2vec</a:t>
            </a:r>
            <a:r>
              <a:rPr sz="1600" spc="1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</a:t>
            </a:r>
            <a:r>
              <a:rPr sz="1600" spc="2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negative</a:t>
            </a:r>
            <a:r>
              <a:rPr sz="1600" spc="2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sampling</a:t>
            </a:r>
            <a:r>
              <a:rPr sz="1600" spc="2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получает</a:t>
            </a:r>
            <a:r>
              <a:rPr sz="1600" spc="20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эмбеддинги,</a:t>
            </a:r>
            <a:r>
              <a:rPr sz="1600" spc="1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похожие</a:t>
            </a:r>
            <a:r>
              <a:rPr sz="1600" spc="20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на эмбеддинги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из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60" dirty="0">
                <a:latin typeface="Calibri"/>
                <a:cs typeface="Calibri"/>
              </a:rPr>
              <a:t>SVD-</a:t>
            </a:r>
            <a:r>
              <a:rPr sz="1600" spc="55" dirty="0">
                <a:latin typeface="Calibri"/>
                <a:cs typeface="Calibri"/>
              </a:rPr>
              <a:t>разложения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80" dirty="0"/>
              <a:t>Word2Veс</a:t>
            </a:r>
            <a:r>
              <a:rPr sz="2700" spc="155" dirty="0"/>
              <a:t> vs</a:t>
            </a:r>
            <a:r>
              <a:rPr sz="2700" spc="160" dirty="0"/>
              <a:t> </a:t>
            </a:r>
            <a:r>
              <a:rPr sz="2700" spc="445" dirty="0"/>
              <a:t>SVD</a:t>
            </a:r>
            <a:endParaRPr sz="2700"/>
          </a:p>
        </p:txBody>
      </p:sp>
      <p:grpSp>
        <p:nvGrpSpPr>
          <p:cNvPr id="4" name="object 4"/>
          <p:cNvGrpSpPr/>
          <p:nvPr/>
        </p:nvGrpSpPr>
        <p:grpSpPr>
          <a:xfrm>
            <a:off x="2146720" y="2033565"/>
            <a:ext cx="2684145" cy="960755"/>
            <a:chOff x="2146720" y="2033565"/>
            <a:chExt cx="2684145" cy="960755"/>
          </a:xfrm>
        </p:grpSpPr>
        <p:sp>
          <p:nvSpPr>
            <p:cNvPr id="5" name="object 5"/>
            <p:cNvSpPr/>
            <p:nvPr/>
          </p:nvSpPr>
          <p:spPr>
            <a:xfrm>
              <a:off x="3562693" y="2121484"/>
              <a:ext cx="1254125" cy="765175"/>
            </a:xfrm>
            <a:custGeom>
              <a:avLst/>
              <a:gdLst/>
              <a:ahLst/>
              <a:cxnLst/>
              <a:rect l="l" t="t" r="r" b="b"/>
              <a:pathLst>
                <a:path w="1254125" h="765175">
                  <a:moveTo>
                    <a:pt x="617372" y="0"/>
                  </a:moveTo>
                  <a:lnTo>
                    <a:pt x="0" y="0"/>
                  </a:lnTo>
                  <a:lnTo>
                    <a:pt x="0" y="764781"/>
                  </a:lnTo>
                  <a:lnTo>
                    <a:pt x="617372" y="764781"/>
                  </a:lnTo>
                  <a:lnTo>
                    <a:pt x="617372" y="0"/>
                  </a:lnTo>
                  <a:close/>
                </a:path>
                <a:path w="1254125" h="765175">
                  <a:moveTo>
                    <a:pt x="1253693" y="0"/>
                  </a:moveTo>
                  <a:lnTo>
                    <a:pt x="685761" y="0"/>
                  </a:lnTo>
                  <a:lnTo>
                    <a:pt x="685761" y="764781"/>
                  </a:lnTo>
                  <a:lnTo>
                    <a:pt x="1253693" y="764781"/>
                  </a:lnTo>
                  <a:lnTo>
                    <a:pt x="1253693" y="0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562695" y="2053456"/>
              <a:ext cx="1254125" cy="833119"/>
            </a:xfrm>
            <a:custGeom>
              <a:avLst/>
              <a:gdLst/>
              <a:ahLst/>
              <a:cxnLst/>
              <a:rect l="l" t="t" r="r" b="b"/>
              <a:pathLst>
                <a:path w="1254125" h="833119">
                  <a:moveTo>
                    <a:pt x="0" y="0"/>
                  </a:moveTo>
                  <a:lnTo>
                    <a:pt x="1253699" y="0"/>
                  </a:lnTo>
                  <a:lnTo>
                    <a:pt x="1253699" y="832799"/>
                  </a:lnTo>
                  <a:lnTo>
                    <a:pt x="0" y="832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562679" y="2053071"/>
              <a:ext cx="1254125" cy="68580"/>
            </a:xfrm>
            <a:custGeom>
              <a:avLst/>
              <a:gdLst/>
              <a:ahLst/>
              <a:cxnLst/>
              <a:rect l="l" t="t" r="r" b="b"/>
              <a:pathLst>
                <a:path w="1254125" h="68580">
                  <a:moveTo>
                    <a:pt x="1253699" y="68399"/>
                  </a:moveTo>
                  <a:lnTo>
                    <a:pt x="0" y="68399"/>
                  </a:lnTo>
                  <a:lnTo>
                    <a:pt x="0" y="0"/>
                  </a:lnTo>
                  <a:lnTo>
                    <a:pt x="1253699" y="0"/>
                  </a:lnTo>
                  <a:lnTo>
                    <a:pt x="1253699" y="68399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62679" y="2053071"/>
              <a:ext cx="1254125" cy="68580"/>
            </a:xfrm>
            <a:custGeom>
              <a:avLst/>
              <a:gdLst/>
              <a:ahLst/>
              <a:cxnLst/>
              <a:rect l="l" t="t" r="r" b="b"/>
              <a:pathLst>
                <a:path w="1254125" h="68580">
                  <a:moveTo>
                    <a:pt x="0" y="0"/>
                  </a:moveTo>
                  <a:lnTo>
                    <a:pt x="1253699" y="0"/>
                  </a:lnTo>
                  <a:lnTo>
                    <a:pt x="1253699" y="68399"/>
                  </a:lnTo>
                  <a:lnTo>
                    <a:pt x="0" y="683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E0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180065" y="2047853"/>
              <a:ext cx="68580" cy="843915"/>
            </a:xfrm>
            <a:custGeom>
              <a:avLst/>
              <a:gdLst/>
              <a:ahLst/>
              <a:cxnLst/>
              <a:rect l="l" t="t" r="r" b="b"/>
              <a:pathLst>
                <a:path w="68579" h="843914">
                  <a:moveTo>
                    <a:pt x="68399" y="843599"/>
                  </a:moveTo>
                  <a:lnTo>
                    <a:pt x="0" y="843599"/>
                  </a:lnTo>
                  <a:lnTo>
                    <a:pt x="0" y="0"/>
                  </a:lnTo>
                  <a:lnTo>
                    <a:pt x="68399" y="0"/>
                  </a:lnTo>
                  <a:lnTo>
                    <a:pt x="68399" y="843599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180065" y="2047853"/>
              <a:ext cx="68580" cy="843915"/>
            </a:xfrm>
            <a:custGeom>
              <a:avLst/>
              <a:gdLst/>
              <a:ahLst/>
              <a:cxnLst/>
              <a:rect l="l" t="t" r="r" b="b"/>
              <a:pathLst>
                <a:path w="68579" h="843914">
                  <a:moveTo>
                    <a:pt x="0" y="843599"/>
                  </a:moveTo>
                  <a:lnTo>
                    <a:pt x="0" y="0"/>
                  </a:lnTo>
                  <a:lnTo>
                    <a:pt x="68399" y="0"/>
                  </a:lnTo>
                  <a:lnTo>
                    <a:pt x="68399" y="843599"/>
                  </a:lnTo>
                  <a:lnTo>
                    <a:pt x="0" y="843599"/>
                  </a:lnTo>
                  <a:close/>
                </a:path>
              </a:pathLst>
            </a:custGeom>
            <a:ln w="28574">
              <a:solidFill>
                <a:srgbClr val="E0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36679" y="2095122"/>
              <a:ext cx="1270000" cy="176530"/>
            </a:xfrm>
            <a:custGeom>
              <a:avLst/>
              <a:gdLst/>
              <a:ahLst/>
              <a:cxnLst/>
              <a:rect l="l" t="t" r="r" b="b"/>
              <a:pathLst>
                <a:path w="1270000" h="176530">
                  <a:moveTo>
                    <a:pt x="0" y="176049"/>
                  </a:moveTo>
                  <a:lnTo>
                    <a:pt x="1269391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503909" y="2079538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4322" y="31167"/>
                  </a:moveTo>
                  <a:lnTo>
                    <a:pt x="0" y="0"/>
                  </a:lnTo>
                  <a:lnTo>
                    <a:pt x="44976" y="9645"/>
                  </a:lnTo>
                  <a:lnTo>
                    <a:pt x="4322" y="3116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503909" y="2079538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4322" y="31167"/>
                  </a:moveTo>
                  <a:lnTo>
                    <a:pt x="44976" y="9645"/>
                  </a:lnTo>
                  <a:lnTo>
                    <a:pt x="0" y="0"/>
                  </a:lnTo>
                  <a:lnTo>
                    <a:pt x="4322" y="31167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151482" y="2740210"/>
              <a:ext cx="1891030" cy="248920"/>
            </a:xfrm>
            <a:custGeom>
              <a:avLst/>
              <a:gdLst/>
              <a:ahLst/>
              <a:cxnLst/>
              <a:rect l="l" t="t" r="r" b="b"/>
              <a:pathLst>
                <a:path w="1891029" h="248919">
                  <a:moveTo>
                    <a:pt x="0" y="248746"/>
                  </a:moveTo>
                  <a:lnTo>
                    <a:pt x="189093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040369" y="2724611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4103" y="31196"/>
                  </a:moveTo>
                  <a:lnTo>
                    <a:pt x="0" y="0"/>
                  </a:lnTo>
                  <a:lnTo>
                    <a:pt x="44907" y="9960"/>
                  </a:lnTo>
                  <a:lnTo>
                    <a:pt x="4103" y="3119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40369" y="2724611"/>
              <a:ext cx="45085" cy="31750"/>
            </a:xfrm>
            <a:custGeom>
              <a:avLst/>
              <a:gdLst/>
              <a:ahLst/>
              <a:cxnLst/>
              <a:rect l="l" t="t" r="r" b="b"/>
              <a:pathLst>
                <a:path w="45085" h="31750">
                  <a:moveTo>
                    <a:pt x="4103" y="31196"/>
                  </a:moveTo>
                  <a:lnTo>
                    <a:pt x="44907" y="9960"/>
                  </a:lnTo>
                  <a:lnTo>
                    <a:pt x="0" y="0"/>
                  </a:lnTo>
                  <a:lnTo>
                    <a:pt x="4103" y="3119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546872" y="2154379"/>
            <a:ext cx="491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Verdana"/>
                <a:cs typeface="Verdana"/>
              </a:rPr>
              <a:t>слово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546873" y="2833325"/>
            <a:ext cx="4914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Verdana"/>
                <a:cs typeface="Verdana"/>
              </a:rPr>
              <a:t>слово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79813" y="4019379"/>
            <a:ext cx="2209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60" dirty="0">
                <a:latin typeface="Tahoma"/>
                <a:cs typeface="Tahoma"/>
              </a:rPr>
              <a:t>≈</a:t>
            </a:r>
            <a:endParaRPr sz="28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053684" y="3694310"/>
            <a:ext cx="974725" cy="854075"/>
            <a:chOff x="1053684" y="3694310"/>
            <a:chExt cx="974725" cy="854075"/>
          </a:xfrm>
        </p:grpSpPr>
        <p:sp>
          <p:nvSpPr>
            <p:cNvPr id="21" name="object 21"/>
            <p:cNvSpPr/>
            <p:nvPr/>
          </p:nvSpPr>
          <p:spPr>
            <a:xfrm>
              <a:off x="1067968" y="3703434"/>
              <a:ext cx="946150" cy="840105"/>
            </a:xfrm>
            <a:custGeom>
              <a:avLst/>
              <a:gdLst/>
              <a:ahLst/>
              <a:cxnLst/>
              <a:rect l="l" t="t" r="r" b="b"/>
              <a:pathLst>
                <a:path w="946150" h="840104">
                  <a:moveTo>
                    <a:pt x="945896" y="73571"/>
                  </a:moveTo>
                  <a:lnTo>
                    <a:pt x="0" y="73571"/>
                  </a:lnTo>
                  <a:lnTo>
                    <a:pt x="0" y="839698"/>
                  </a:lnTo>
                  <a:lnTo>
                    <a:pt x="945896" y="839698"/>
                  </a:lnTo>
                  <a:lnTo>
                    <a:pt x="945896" y="73571"/>
                  </a:lnTo>
                  <a:close/>
                </a:path>
                <a:path w="946150" h="840104">
                  <a:moveTo>
                    <a:pt x="945896" y="0"/>
                  </a:moveTo>
                  <a:lnTo>
                    <a:pt x="0" y="0"/>
                  </a:lnTo>
                  <a:lnTo>
                    <a:pt x="0" y="5168"/>
                  </a:lnTo>
                  <a:lnTo>
                    <a:pt x="945896" y="5168"/>
                  </a:lnTo>
                  <a:lnTo>
                    <a:pt x="945896" y="0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67973" y="3703431"/>
              <a:ext cx="946150" cy="840105"/>
            </a:xfrm>
            <a:custGeom>
              <a:avLst/>
              <a:gdLst/>
              <a:ahLst/>
              <a:cxnLst/>
              <a:rect l="l" t="t" r="r" b="b"/>
              <a:pathLst>
                <a:path w="946150" h="840104">
                  <a:moveTo>
                    <a:pt x="0" y="0"/>
                  </a:moveTo>
                  <a:lnTo>
                    <a:pt x="945899" y="0"/>
                  </a:lnTo>
                  <a:lnTo>
                    <a:pt x="945899" y="839699"/>
                  </a:lnTo>
                  <a:lnTo>
                    <a:pt x="0" y="8396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67971" y="3708597"/>
              <a:ext cx="946150" cy="68580"/>
            </a:xfrm>
            <a:custGeom>
              <a:avLst/>
              <a:gdLst/>
              <a:ahLst/>
              <a:cxnLst/>
              <a:rect l="l" t="t" r="r" b="b"/>
              <a:pathLst>
                <a:path w="946150" h="68579">
                  <a:moveTo>
                    <a:pt x="945900" y="68399"/>
                  </a:moveTo>
                  <a:lnTo>
                    <a:pt x="0" y="68399"/>
                  </a:lnTo>
                  <a:lnTo>
                    <a:pt x="0" y="0"/>
                  </a:lnTo>
                  <a:lnTo>
                    <a:pt x="945900" y="0"/>
                  </a:lnTo>
                  <a:lnTo>
                    <a:pt x="945900" y="68399"/>
                  </a:lnTo>
                  <a:close/>
                </a:path>
              </a:pathLst>
            </a:custGeom>
            <a:solidFill>
              <a:srgbClr val="E0666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067971" y="3708597"/>
              <a:ext cx="946150" cy="68580"/>
            </a:xfrm>
            <a:custGeom>
              <a:avLst/>
              <a:gdLst/>
              <a:ahLst/>
              <a:cxnLst/>
              <a:rect l="l" t="t" r="r" b="b"/>
              <a:pathLst>
                <a:path w="946150" h="68579">
                  <a:moveTo>
                    <a:pt x="0" y="0"/>
                  </a:moveTo>
                  <a:lnTo>
                    <a:pt x="945900" y="0"/>
                  </a:lnTo>
                  <a:lnTo>
                    <a:pt x="945900" y="68399"/>
                  </a:lnTo>
                  <a:lnTo>
                    <a:pt x="0" y="68399"/>
                  </a:lnTo>
                  <a:lnTo>
                    <a:pt x="0" y="0"/>
                  </a:lnTo>
                  <a:close/>
                </a:path>
              </a:pathLst>
            </a:custGeom>
            <a:ln w="28574">
              <a:solidFill>
                <a:srgbClr val="E0666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928953" y="3654188"/>
            <a:ext cx="13779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15" dirty="0">
                <a:latin typeface="Verdana"/>
                <a:cs typeface="Verdana"/>
              </a:rPr>
              <a:t>d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52675" y="3927804"/>
            <a:ext cx="37655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25" dirty="0">
                <a:latin typeface="Verdana"/>
                <a:cs typeface="Verdana"/>
              </a:rPr>
              <a:t>SVD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877819" y="3317612"/>
            <a:ext cx="10674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34343"/>
                </a:solidFill>
                <a:latin typeface="Verdana"/>
                <a:cs typeface="Verdana"/>
              </a:rPr>
              <a:t>вектор</a:t>
            </a:r>
            <a:r>
              <a:rPr sz="1200" spc="-70" dirty="0">
                <a:solidFill>
                  <a:srgbClr val="434343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34343"/>
                </a:solidFill>
                <a:latin typeface="Verdana"/>
                <a:cs typeface="Verdana"/>
              </a:rPr>
              <a:t>слова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282878" y="3440593"/>
            <a:ext cx="529590" cy="224154"/>
            <a:chOff x="1282878" y="3440593"/>
            <a:chExt cx="529590" cy="224154"/>
          </a:xfrm>
        </p:grpSpPr>
        <p:sp>
          <p:nvSpPr>
            <p:cNvPr id="29" name="object 29"/>
            <p:cNvSpPr/>
            <p:nvPr/>
          </p:nvSpPr>
          <p:spPr>
            <a:xfrm>
              <a:off x="1327601" y="3445355"/>
              <a:ext cx="480059" cy="198120"/>
            </a:xfrm>
            <a:custGeom>
              <a:avLst/>
              <a:gdLst/>
              <a:ahLst/>
              <a:cxnLst/>
              <a:rect l="l" t="t" r="r" b="b"/>
              <a:pathLst>
                <a:path w="480060" h="198120">
                  <a:moveTo>
                    <a:pt x="479666" y="0"/>
                  </a:moveTo>
                  <a:lnTo>
                    <a:pt x="0" y="197811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287640" y="3628622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5" h="31114">
                  <a:moveTo>
                    <a:pt x="0" y="31024"/>
                  </a:moveTo>
                  <a:lnTo>
                    <a:pt x="33962" y="0"/>
                  </a:lnTo>
                  <a:lnTo>
                    <a:pt x="45958" y="29088"/>
                  </a:lnTo>
                  <a:lnTo>
                    <a:pt x="0" y="310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287640" y="3628622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5" h="31114">
                  <a:moveTo>
                    <a:pt x="33962" y="0"/>
                  </a:moveTo>
                  <a:lnTo>
                    <a:pt x="0" y="31024"/>
                  </a:lnTo>
                  <a:lnTo>
                    <a:pt x="45958" y="29088"/>
                  </a:lnTo>
                  <a:lnTo>
                    <a:pt x="33962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278598" y="4725589"/>
            <a:ext cx="5473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70" dirty="0">
                <a:latin typeface="Verdana"/>
                <a:cs typeface="Verdana"/>
              </a:rPr>
              <a:t>U</a:t>
            </a:r>
            <a:r>
              <a:rPr sz="1200" spc="-110" dirty="0">
                <a:latin typeface="Verdana"/>
                <a:cs typeface="Verdana"/>
              </a:rPr>
              <a:t> </a:t>
            </a:r>
            <a:r>
              <a:rPr sz="1200" spc="-75" dirty="0">
                <a:latin typeface="Verdana"/>
                <a:cs typeface="Verdana"/>
              </a:rPr>
              <a:t>(kxk)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186607" y="4020570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MS PGothic"/>
                <a:cs typeface="MS PGothic"/>
              </a:rPr>
              <a:t>✕</a:t>
            </a:r>
            <a:endParaRPr sz="1400">
              <a:latin typeface="MS PGothic"/>
              <a:cs typeface="MS PGothic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436028" y="3374748"/>
            <a:ext cx="1822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30" dirty="0">
                <a:latin typeface="Verdana"/>
                <a:cs typeface="Verdana"/>
              </a:rPr>
              <a:t>w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498448" y="3170529"/>
            <a:ext cx="10674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434343"/>
                </a:solidFill>
                <a:latin typeface="Verdana"/>
                <a:cs typeface="Verdana"/>
              </a:rPr>
              <a:t>вектор</a:t>
            </a:r>
            <a:r>
              <a:rPr sz="1200" spc="-70" dirty="0">
                <a:solidFill>
                  <a:srgbClr val="434343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34343"/>
                </a:solidFill>
                <a:latin typeface="Verdana"/>
                <a:cs typeface="Verdana"/>
              </a:rPr>
              <a:t>слова</a:t>
            </a:r>
            <a:endParaRPr sz="120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627189" y="4614915"/>
            <a:ext cx="956310" cy="514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58775">
              <a:lnSpc>
                <a:spcPct val="100000"/>
              </a:lnSpc>
              <a:spcBef>
                <a:spcPts val="100"/>
              </a:spcBef>
            </a:pPr>
            <a:r>
              <a:rPr sz="1200" spc="-100" dirty="0">
                <a:latin typeface="Verdana"/>
                <a:cs typeface="Verdana"/>
              </a:rPr>
              <a:t>S</a:t>
            </a:r>
            <a:r>
              <a:rPr sz="1200" spc="-105" dirty="0">
                <a:latin typeface="Verdana"/>
                <a:cs typeface="Verdana"/>
              </a:rPr>
              <a:t> </a:t>
            </a:r>
            <a:r>
              <a:rPr sz="1200" spc="-10" dirty="0">
                <a:latin typeface="Verdana"/>
                <a:cs typeface="Verdana"/>
              </a:rPr>
              <a:t>(kxn) </a:t>
            </a:r>
            <a:r>
              <a:rPr sz="1000" spc="-10" dirty="0">
                <a:latin typeface="Verdana"/>
                <a:cs typeface="Verdana"/>
              </a:rPr>
              <a:t>диагональная матрица</a:t>
            </a:r>
            <a:endParaRPr sz="100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629860" y="4725597"/>
            <a:ext cx="6286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Verdana"/>
                <a:cs typeface="Verdana"/>
              </a:rPr>
              <a:t>V</a:t>
            </a:r>
            <a:r>
              <a:rPr sz="1200" spc="-15" baseline="31250" dirty="0">
                <a:latin typeface="Verdana"/>
                <a:cs typeface="Verdana"/>
              </a:rPr>
              <a:t>T</a:t>
            </a:r>
            <a:r>
              <a:rPr sz="1200" spc="-10" dirty="0">
                <a:latin typeface="Verdana"/>
                <a:cs typeface="Verdana"/>
              </a:rPr>
              <a:t>(nxn)</a:t>
            </a:r>
            <a:endParaRPr sz="1200">
              <a:latin typeface="Verdana"/>
              <a:cs typeface="Verdan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518624" y="3682448"/>
            <a:ext cx="1335405" cy="880110"/>
            <a:chOff x="2518624" y="3682448"/>
            <a:chExt cx="1335405" cy="880110"/>
          </a:xfrm>
        </p:grpSpPr>
        <p:sp>
          <p:nvSpPr>
            <p:cNvPr id="39" name="object 39"/>
            <p:cNvSpPr/>
            <p:nvPr/>
          </p:nvSpPr>
          <p:spPr>
            <a:xfrm>
              <a:off x="2554154" y="3706900"/>
              <a:ext cx="1295400" cy="829310"/>
            </a:xfrm>
            <a:custGeom>
              <a:avLst/>
              <a:gdLst/>
              <a:ahLst/>
              <a:cxnLst/>
              <a:rect l="l" t="t" r="r" b="b"/>
              <a:pathLst>
                <a:path w="1295400" h="829310">
                  <a:moveTo>
                    <a:pt x="1295100" y="828899"/>
                  </a:moveTo>
                  <a:lnTo>
                    <a:pt x="0" y="828899"/>
                  </a:lnTo>
                  <a:lnTo>
                    <a:pt x="0" y="0"/>
                  </a:lnTo>
                  <a:lnTo>
                    <a:pt x="1295100" y="0"/>
                  </a:lnTo>
                  <a:lnTo>
                    <a:pt x="1295100" y="828899"/>
                  </a:lnTo>
                  <a:close/>
                </a:path>
              </a:pathLst>
            </a:custGeom>
            <a:solidFill>
              <a:srgbClr val="B6D7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554154" y="3706900"/>
              <a:ext cx="1295400" cy="829310"/>
            </a:xfrm>
            <a:custGeom>
              <a:avLst/>
              <a:gdLst/>
              <a:ahLst/>
              <a:cxnLst/>
              <a:rect l="l" t="t" r="r" b="b"/>
              <a:pathLst>
                <a:path w="1295400" h="829310">
                  <a:moveTo>
                    <a:pt x="0" y="0"/>
                  </a:moveTo>
                  <a:lnTo>
                    <a:pt x="1295100" y="0"/>
                  </a:lnTo>
                  <a:lnTo>
                    <a:pt x="1295100" y="828899"/>
                  </a:lnTo>
                  <a:lnTo>
                    <a:pt x="0" y="8288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537674" y="3701498"/>
              <a:ext cx="1000125" cy="842010"/>
            </a:xfrm>
            <a:custGeom>
              <a:avLst/>
              <a:gdLst/>
              <a:ahLst/>
              <a:cxnLst/>
              <a:rect l="l" t="t" r="r" b="b"/>
              <a:pathLst>
                <a:path w="1000125" h="842010">
                  <a:moveTo>
                    <a:pt x="0" y="0"/>
                  </a:moveTo>
                  <a:lnTo>
                    <a:pt x="999899" y="841499"/>
                  </a:lnTo>
                </a:path>
              </a:pathLst>
            </a:custGeom>
            <a:ln w="38099">
              <a:solidFill>
                <a:srgbClr val="37761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4249531" y="3578309"/>
          <a:ext cx="1381125" cy="10115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71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115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595959"/>
                      </a:solidFill>
                      <a:prstDash val="soli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FF0000"/>
                      </a:solidFill>
                      <a:prstDash val="solid"/>
                    </a:lnR>
                    <a:lnT w="19050">
                      <a:solidFill>
                        <a:srgbClr val="FF0000"/>
                      </a:solidFill>
                      <a:prstDash val="solid"/>
                    </a:lnT>
                    <a:lnB w="19050">
                      <a:solidFill>
                        <a:srgbClr val="FF0000"/>
                      </a:solidFill>
                      <a:prstDash val="solid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FF0000"/>
                      </a:solidFill>
                      <a:prstDash val="solid"/>
                    </a:lnL>
                    <a:lnR w="9525">
                      <a:solidFill>
                        <a:srgbClr val="595959"/>
                      </a:solidFill>
                      <a:prstDash val="solid"/>
                    </a:lnR>
                    <a:lnT w="9525">
                      <a:solidFill>
                        <a:srgbClr val="595959"/>
                      </a:solidFill>
                      <a:prstDash val="solid"/>
                    </a:lnT>
                    <a:lnB w="9525">
                      <a:solidFill>
                        <a:srgbClr val="595959"/>
                      </a:solidFill>
                      <a:prstDash val="solid"/>
                    </a:lnB>
                    <a:solidFill>
                      <a:srgbClr val="B6D7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43" name="object 43"/>
          <p:cNvGrpSpPr/>
          <p:nvPr/>
        </p:nvGrpSpPr>
        <p:grpSpPr>
          <a:xfrm>
            <a:off x="4038440" y="3348036"/>
            <a:ext cx="406400" cy="167640"/>
            <a:chOff x="4038440" y="3348036"/>
            <a:chExt cx="406400" cy="167640"/>
          </a:xfrm>
        </p:grpSpPr>
        <p:sp>
          <p:nvSpPr>
            <p:cNvPr id="44" name="object 44"/>
            <p:cNvSpPr/>
            <p:nvPr/>
          </p:nvSpPr>
          <p:spPr>
            <a:xfrm>
              <a:off x="4043202" y="3352799"/>
              <a:ext cx="356870" cy="142240"/>
            </a:xfrm>
            <a:custGeom>
              <a:avLst/>
              <a:gdLst/>
              <a:ahLst/>
              <a:cxnLst/>
              <a:rect l="l" t="t" r="r" b="b"/>
              <a:pathLst>
                <a:path w="356870" h="142239">
                  <a:moveTo>
                    <a:pt x="0" y="0"/>
                  </a:moveTo>
                  <a:lnTo>
                    <a:pt x="356397" y="141775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393784" y="3479956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4" h="31114">
                  <a:moveTo>
                    <a:pt x="45979" y="30596"/>
                  </a:moveTo>
                  <a:lnTo>
                    <a:pt x="0" y="29236"/>
                  </a:lnTo>
                  <a:lnTo>
                    <a:pt x="11630" y="0"/>
                  </a:lnTo>
                  <a:lnTo>
                    <a:pt x="45979" y="3059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393784" y="3479956"/>
              <a:ext cx="46355" cy="31115"/>
            </a:xfrm>
            <a:custGeom>
              <a:avLst/>
              <a:gdLst/>
              <a:ahLst/>
              <a:cxnLst/>
              <a:rect l="l" t="t" r="r" b="b"/>
              <a:pathLst>
                <a:path w="46354" h="31114">
                  <a:moveTo>
                    <a:pt x="0" y="29236"/>
                  </a:moveTo>
                  <a:lnTo>
                    <a:pt x="45979" y="30596"/>
                  </a:lnTo>
                  <a:lnTo>
                    <a:pt x="11630" y="0"/>
                  </a:lnTo>
                  <a:lnTo>
                    <a:pt x="0" y="29236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5041011" y="2274252"/>
            <a:ext cx="22097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560" dirty="0">
                <a:latin typeface="Tahoma"/>
                <a:cs typeface="Tahoma"/>
              </a:rPr>
              <a:t>≈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962637" y="4042791"/>
            <a:ext cx="20320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50" dirty="0">
                <a:latin typeface="MS PGothic"/>
                <a:cs typeface="MS PGothic"/>
              </a:rPr>
              <a:t>✕</a:t>
            </a:r>
            <a:endParaRPr sz="1400">
              <a:latin typeface="MS PGothic"/>
              <a:cs typeface="MS PGothic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35" dirty="0"/>
              <a:t>FastText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384725" y="1054746"/>
            <a:ext cx="5138420" cy="2061845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Идея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spc="145" dirty="0">
                <a:latin typeface="Calibri"/>
                <a:cs typeface="Calibri"/>
              </a:rPr>
              <a:t>—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будем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строить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векторы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для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частей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слов,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а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не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для </a:t>
            </a:r>
            <a:r>
              <a:rPr sz="1600" dirty="0">
                <a:latin typeface="Calibri"/>
                <a:cs typeface="Calibri"/>
              </a:rPr>
              <a:t>целых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слов.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600">
              <a:latin typeface="Calibri"/>
              <a:cs typeface="Calibri"/>
            </a:endParaRPr>
          </a:p>
          <a:p>
            <a:pPr marL="469900" marR="1360170" indent="-304165">
              <a:lnSpc>
                <a:spcPct val="105000"/>
              </a:lnSpc>
              <a:buChar char="-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Делим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слова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на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n-</a:t>
            </a:r>
            <a:r>
              <a:rPr sz="1600" dirty="0">
                <a:latin typeface="Calibri"/>
                <a:cs typeface="Calibri"/>
              </a:rPr>
              <a:t>граммы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буквам: </a:t>
            </a:r>
            <a:r>
              <a:rPr sz="1600" dirty="0">
                <a:latin typeface="Calibri"/>
                <a:cs typeface="Calibri"/>
              </a:rPr>
              <a:t>apple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spc="700" dirty="0">
                <a:latin typeface="Calibri"/>
                <a:cs typeface="Calibri"/>
              </a:rPr>
              <a:t>=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spc="185" dirty="0">
                <a:latin typeface="Calibri"/>
                <a:cs typeface="Calibri"/>
              </a:rPr>
              <a:t>&lt;ap,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ppl,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ple,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spc="210" dirty="0">
                <a:latin typeface="Calibri"/>
                <a:cs typeface="Calibri"/>
              </a:rPr>
              <a:t>le&gt;</a:t>
            </a:r>
            <a:endParaRPr sz="1600">
              <a:latin typeface="Calibri"/>
              <a:cs typeface="Calibri"/>
            </a:endParaRPr>
          </a:p>
          <a:p>
            <a:pPr marL="469265" indent="-303530">
              <a:lnSpc>
                <a:spcPct val="100000"/>
              </a:lnSpc>
              <a:spcBef>
                <a:spcPts val="95"/>
              </a:spcBef>
              <a:buChar char="-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Учим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векторы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для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n-грамм;</a:t>
            </a:r>
            <a:endParaRPr sz="1600">
              <a:latin typeface="Calibri"/>
              <a:cs typeface="Calibri"/>
            </a:endParaRPr>
          </a:p>
          <a:p>
            <a:pPr marL="469900" marR="149860" indent="-304165">
              <a:lnSpc>
                <a:spcPct val="105000"/>
              </a:lnSpc>
              <a:buChar char="-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Вектор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слова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получаем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spc="50" dirty="0">
                <a:latin typeface="Calibri"/>
                <a:cs typeface="Calibri"/>
              </a:rPr>
              <a:t>как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сумму</a:t>
            </a:r>
            <a:r>
              <a:rPr sz="1600" spc="85" dirty="0">
                <a:latin typeface="Calibri"/>
                <a:cs typeface="Calibri"/>
              </a:rPr>
              <a:t>  </a:t>
            </a:r>
            <a:r>
              <a:rPr sz="1600" dirty="0">
                <a:latin typeface="Calibri"/>
                <a:cs typeface="Calibri"/>
              </a:rPr>
              <a:t>векторов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его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spc="30" dirty="0">
                <a:latin typeface="Calibri"/>
                <a:cs typeface="Calibri"/>
              </a:rPr>
              <a:t>n- </a:t>
            </a:r>
            <a:r>
              <a:rPr sz="1600" spc="-10" dirty="0">
                <a:latin typeface="Calibri"/>
                <a:cs typeface="Calibri"/>
              </a:rPr>
              <a:t>грамм.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135" dirty="0"/>
              <a:t>FastText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384725" y="1054746"/>
            <a:ext cx="5146040" cy="375412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2700" marR="12065">
              <a:lnSpc>
                <a:spcPct val="105000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Идея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spc="145" dirty="0">
                <a:latin typeface="Calibri"/>
                <a:cs typeface="Calibri"/>
              </a:rPr>
              <a:t>—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будем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строить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векторы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для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частей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слов,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а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не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для </a:t>
            </a:r>
            <a:r>
              <a:rPr sz="1600" dirty="0">
                <a:latin typeface="Calibri"/>
                <a:cs typeface="Calibri"/>
              </a:rPr>
              <a:t>целых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слов.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600">
              <a:latin typeface="Calibri"/>
              <a:cs typeface="Calibri"/>
            </a:endParaRPr>
          </a:p>
          <a:p>
            <a:pPr marL="469900" marR="1367155" indent="-304165">
              <a:lnSpc>
                <a:spcPct val="105000"/>
              </a:lnSpc>
              <a:buChar char="-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Делим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слова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на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n-</a:t>
            </a:r>
            <a:r>
              <a:rPr sz="1600" dirty="0">
                <a:latin typeface="Calibri"/>
                <a:cs typeface="Calibri"/>
              </a:rPr>
              <a:t>граммы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буквам: </a:t>
            </a:r>
            <a:r>
              <a:rPr sz="1600" dirty="0">
                <a:latin typeface="Calibri"/>
                <a:cs typeface="Calibri"/>
              </a:rPr>
              <a:t>apple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spc="700" dirty="0">
                <a:latin typeface="Calibri"/>
                <a:cs typeface="Calibri"/>
              </a:rPr>
              <a:t>=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spc="185" dirty="0">
                <a:latin typeface="Calibri"/>
                <a:cs typeface="Calibri"/>
              </a:rPr>
              <a:t>&lt;ap,</a:t>
            </a:r>
            <a:r>
              <a:rPr sz="1600" spc="1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ppl,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ple,</a:t>
            </a:r>
            <a:r>
              <a:rPr sz="1600" spc="114" dirty="0">
                <a:latin typeface="Calibri"/>
                <a:cs typeface="Calibri"/>
              </a:rPr>
              <a:t> </a:t>
            </a:r>
            <a:r>
              <a:rPr sz="1600" spc="210" dirty="0">
                <a:latin typeface="Calibri"/>
                <a:cs typeface="Calibri"/>
              </a:rPr>
              <a:t>le&gt;</a:t>
            </a:r>
            <a:endParaRPr sz="1600">
              <a:latin typeface="Calibri"/>
              <a:cs typeface="Calibri"/>
            </a:endParaRPr>
          </a:p>
          <a:p>
            <a:pPr marL="469265" indent="-303530">
              <a:lnSpc>
                <a:spcPct val="100000"/>
              </a:lnSpc>
              <a:spcBef>
                <a:spcPts val="95"/>
              </a:spcBef>
              <a:buChar char="-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Учим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векторы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для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n-грамм;</a:t>
            </a:r>
            <a:endParaRPr sz="1600">
              <a:latin typeface="Calibri"/>
              <a:cs typeface="Calibri"/>
            </a:endParaRPr>
          </a:p>
          <a:p>
            <a:pPr marL="469900" marR="157480" indent="-304165">
              <a:lnSpc>
                <a:spcPct val="105000"/>
              </a:lnSpc>
              <a:buChar char="-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Вектор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слова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получаем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spc="50" dirty="0">
                <a:latin typeface="Calibri"/>
                <a:cs typeface="Calibri"/>
              </a:rPr>
              <a:t>как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сумму</a:t>
            </a:r>
            <a:r>
              <a:rPr sz="1600" spc="85" dirty="0">
                <a:latin typeface="Calibri"/>
                <a:cs typeface="Calibri"/>
              </a:rPr>
              <a:t>  </a:t>
            </a:r>
            <a:r>
              <a:rPr sz="1600" dirty="0">
                <a:latin typeface="Calibri"/>
                <a:cs typeface="Calibri"/>
              </a:rPr>
              <a:t>векторов</a:t>
            </a:r>
            <a:r>
              <a:rPr sz="1600" spc="9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его</a:t>
            </a:r>
            <a:r>
              <a:rPr sz="1600" spc="90" dirty="0">
                <a:latin typeface="Calibri"/>
                <a:cs typeface="Calibri"/>
              </a:rPr>
              <a:t> </a:t>
            </a:r>
            <a:r>
              <a:rPr sz="1600" spc="30" dirty="0">
                <a:latin typeface="Calibri"/>
                <a:cs typeface="Calibri"/>
              </a:rPr>
              <a:t>n- </a:t>
            </a:r>
            <a:r>
              <a:rPr sz="1600" spc="-10" dirty="0">
                <a:latin typeface="Calibri"/>
                <a:cs typeface="Calibri"/>
              </a:rPr>
              <a:t>грамм.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ts val="1805"/>
              </a:lnSpc>
            </a:pPr>
            <a:r>
              <a:rPr sz="1600" spc="-10" dirty="0">
                <a:latin typeface="Calibri"/>
                <a:cs typeface="Calibri"/>
              </a:rPr>
              <a:t>Плюсы:</a:t>
            </a:r>
            <a:endParaRPr sz="1600">
              <a:latin typeface="Calibri"/>
              <a:cs typeface="Calibri"/>
            </a:endParaRPr>
          </a:p>
          <a:p>
            <a:pPr marL="469900" marR="83820" indent="-304165">
              <a:lnSpc>
                <a:spcPct val="100000"/>
              </a:lnSpc>
              <a:spcBef>
                <a:spcPts val="1920"/>
              </a:spcBef>
              <a:buChar char="-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Можно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получить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spc="-35" dirty="0">
                <a:latin typeface="Calibri"/>
                <a:cs typeface="Calibri"/>
              </a:rPr>
              <a:t>более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адекватные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эмбеддинги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для </a:t>
            </a:r>
            <a:r>
              <a:rPr sz="1600" dirty="0">
                <a:latin typeface="Calibri"/>
                <a:cs typeface="Calibri"/>
              </a:rPr>
              <a:t>редких</a:t>
            </a:r>
            <a:r>
              <a:rPr sz="1600" spc="1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и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неизвестных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слов;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spc="-10" dirty="0">
                <a:latin typeface="Calibri"/>
                <a:cs typeface="Calibri"/>
              </a:rPr>
              <a:t>Недостатки:</a:t>
            </a:r>
            <a:endParaRPr sz="1600">
              <a:latin typeface="Calibri"/>
              <a:cs typeface="Calibri"/>
            </a:endParaRPr>
          </a:p>
          <a:p>
            <a:pPr marL="469900" marR="5080" indent="-304165">
              <a:lnSpc>
                <a:spcPct val="100000"/>
              </a:lnSpc>
              <a:buChar char="-"/>
              <a:tabLst>
                <a:tab pos="469900" algn="l"/>
              </a:tabLst>
            </a:pPr>
            <a:r>
              <a:rPr sz="1600" spc="-10" dirty="0">
                <a:latin typeface="Calibri"/>
                <a:cs typeface="Calibri"/>
              </a:rPr>
              <a:t>n-</a:t>
            </a:r>
            <a:r>
              <a:rPr sz="1600" dirty="0">
                <a:latin typeface="Calibri"/>
                <a:cs typeface="Calibri"/>
              </a:rPr>
              <a:t>грамм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может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быть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очень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много.</a:t>
            </a:r>
            <a:r>
              <a:rPr sz="1600" spc="10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Требуется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больше </a:t>
            </a:r>
            <a:r>
              <a:rPr sz="1600" dirty="0">
                <a:latin typeface="Calibri"/>
                <a:cs typeface="Calibri"/>
              </a:rPr>
              <a:t>вычислительных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ресурсов.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GloVe</a:t>
            </a:r>
            <a:r>
              <a:rPr spc="180" dirty="0"/>
              <a:t> </a:t>
            </a:r>
            <a:r>
              <a:rPr spc="85" dirty="0"/>
              <a:t>(Global</a:t>
            </a:r>
            <a:r>
              <a:rPr spc="180" dirty="0"/>
              <a:t> </a:t>
            </a:r>
            <a:r>
              <a:rPr spc="75" dirty="0"/>
              <a:t>Vectors)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218345"/>
            <a:ext cx="5149215" cy="2268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GloVe</a:t>
            </a:r>
            <a:r>
              <a:rPr sz="1600" spc="229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использует</a:t>
            </a:r>
            <a:r>
              <a:rPr sz="1600" spc="229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статистическую</a:t>
            </a:r>
            <a:r>
              <a:rPr sz="1600" spc="229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информацию</a:t>
            </a:r>
            <a:r>
              <a:rPr sz="1600" spc="2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</a:t>
            </a:r>
            <a:r>
              <a:rPr sz="1600" spc="21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частоте </a:t>
            </a:r>
            <a:r>
              <a:rPr sz="1600" dirty="0">
                <a:latin typeface="Calibri"/>
                <a:cs typeface="Calibri"/>
              </a:rPr>
              <a:t>встречаемости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и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фраз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тексте,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чтобы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улучшить </a:t>
            </a:r>
            <a:r>
              <a:rPr sz="1600" dirty="0">
                <a:latin typeface="Calibri"/>
                <a:cs typeface="Calibri"/>
              </a:rPr>
              <a:t>обучение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40" dirty="0">
                <a:latin typeface="Calibri"/>
                <a:cs typeface="Calibri"/>
              </a:rPr>
              <a:t>эмбеддингов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редких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слов.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600">
              <a:latin typeface="Calibri"/>
              <a:cs typeface="Calibri"/>
            </a:endParaRPr>
          </a:p>
          <a:p>
            <a:pPr marL="12700" marR="23495">
              <a:lnSpc>
                <a:spcPct val="114999"/>
              </a:lnSpc>
              <a:spcBef>
                <a:spcPts val="5"/>
              </a:spcBef>
            </a:pPr>
            <a:r>
              <a:rPr sz="1600" spc="-25" dirty="0">
                <a:latin typeface="Calibri"/>
                <a:cs typeface="Calibri"/>
              </a:rPr>
              <a:t>Подробнее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можно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35" dirty="0">
                <a:latin typeface="Calibri"/>
                <a:cs typeface="Calibri"/>
              </a:rPr>
              <a:t>почитать</a:t>
            </a:r>
            <a:r>
              <a:rPr sz="1600" spc="85" dirty="0">
                <a:latin typeface="Calibri"/>
                <a:cs typeface="Calibri"/>
              </a:rPr>
              <a:t> </a:t>
            </a:r>
            <a:r>
              <a:rPr sz="1600" spc="95" dirty="0">
                <a:latin typeface="Calibri"/>
                <a:cs typeface="Calibri"/>
              </a:rPr>
              <a:t>тут: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u="heavy" spc="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Calibri"/>
                <a:cs typeface="Calibri"/>
                <a:hlinkClick r:id="rId2"/>
              </a:rPr>
              <a:t>https://towardsdatascience.com/light-</a:t>
            </a:r>
            <a:r>
              <a:rPr sz="1600" u="heavy" spc="3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Calibri"/>
                <a:cs typeface="Calibri"/>
                <a:hlinkClick r:id="rId2"/>
              </a:rPr>
              <a:t>on-math-ml-</a:t>
            </a:r>
            <a:r>
              <a:rPr sz="1600" u="heavy" spc="2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Calibri"/>
                <a:cs typeface="Calibri"/>
                <a:hlinkClick r:id="rId2"/>
              </a:rPr>
              <a:t>intuitiv</a:t>
            </a:r>
            <a:r>
              <a:rPr sz="1600" spc="15" dirty="0">
                <a:solidFill>
                  <a:srgbClr val="0097A7"/>
                </a:solidFill>
                <a:latin typeface="Calibri"/>
                <a:cs typeface="Calibri"/>
              </a:rPr>
              <a:t> </a:t>
            </a:r>
            <a:r>
              <a:rPr sz="1600" u="heavy" spc="3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Calibri"/>
                <a:cs typeface="Calibri"/>
                <a:hlinkClick r:id="rId2"/>
              </a:rPr>
              <a:t>e-guide-to-</a:t>
            </a:r>
            <a:r>
              <a:rPr sz="1600" u="heavy" spc="3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Calibri"/>
                <a:cs typeface="Calibri"/>
                <a:hlinkClick r:id="rId2"/>
              </a:rPr>
              <a:t>understanding-</a:t>
            </a:r>
            <a:r>
              <a:rPr sz="1600" u="heavy" spc="2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Calibri"/>
                <a:cs typeface="Calibri"/>
                <a:hlinkClick r:id="rId2"/>
              </a:rPr>
              <a:t>glove-</a:t>
            </a:r>
            <a:r>
              <a:rPr sz="1600" u="heavy" spc="45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Calibri"/>
                <a:cs typeface="Calibri"/>
                <a:hlinkClick r:id="rId2"/>
              </a:rPr>
              <a:t>embeddings-b13b4f19c01</a:t>
            </a:r>
            <a:r>
              <a:rPr sz="1600" spc="20" dirty="0">
                <a:solidFill>
                  <a:srgbClr val="0097A7"/>
                </a:solidFill>
                <a:latin typeface="Calibri"/>
                <a:cs typeface="Calibri"/>
              </a:rPr>
              <a:t> </a:t>
            </a:r>
            <a:r>
              <a:rPr sz="1600" u="heavy" spc="110" dirty="0">
                <a:solidFill>
                  <a:srgbClr val="0097A7"/>
                </a:solidFill>
                <a:uFill>
                  <a:solidFill>
                    <a:srgbClr val="0097A7"/>
                  </a:solidFill>
                </a:uFill>
                <a:latin typeface="Calibri"/>
                <a:cs typeface="Calibri"/>
                <a:hlinkClick r:id="rId2"/>
              </a:rPr>
              <a:t>0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5" dirty="0"/>
              <a:t>Эмбеддинги</a:t>
            </a:r>
            <a:r>
              <a:rPr sz="2700" spc="-40" dirty="0"/>
              <a:t> </a:t>
            </a:r>
            <a:r>
              <a:rPr sz="2700" spc="-20" dirty="0"/>
              <a:t>предложений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384725" y="1218347"/>
            <a:ext cx="4175125" cy="86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600" spc="125" dirty="0">
                <a:latin typeface="Calibri"/>
                <a:cs typeface="Calibri"/>
              </a:rPr>
              <a:t>Как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можно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использовать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-35" dirty="0">
                <a:latin typeface="Calibri"/>
                <a:cs typeface="Calibri"/>
              </a:rPr>
              <a:t>идею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для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получения </a:t>
            </a:r>
            <a:r>
              <a:rPr sz="1600" spc="-40" dirty="0">
                <a:latin typeface="Calibri"/>
                <a:cs typeface="Calibri"/>
              </a:rPr>
              <a:t>эмбеддингов</a:t>
            </a:r>
            <a:r>
              <a:rPr sz="1600" spc="1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слов,</a:t>
            </a:r>
            <a:r>
              <a:rPr sz="1600" spc="1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чтобы</a:t>
            </a:r>
            <a:r>
              <a:rPr sz="1600" spc="1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получить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spc="-30" dirty="0">
                <a:latin typeface="Calibri"/>
                <a:cs typeface="Calibri"/>
              </a:rPr>
              <a:t>эмбеддинги </a:t>
            </a:r>
            <a:r>
              <a:rPr sz="1600" spc="-10" dirty="0">
                <a:latin typeface="Calibri"/>
                <a:cs typeface="Calibri"/>
              </a:rPr>
              <a:t>предложенийṢ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5" dirty="0"/>
              <a:t>Эмбеддинги</a:t>
            </a:r>
            <a:r>
              <a:rPr sz="2700" spc="-40" dirty="0"/>
              <a:t> </a:t>
            </a:r>
            <a:r>
              <a:rPr sz="2700" spc="-20" dirty="0"/>
              <a:t>предложений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384725" y="1167896"/>
            <a:ext cx="5398135" cy="3811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spc="114" dirty="0">
                <a:latin typeface="Calibri"/>
                <a:cs typeface="Calibri"/>
              </a:rPr>
              <a:t>Что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мы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делали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со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словами:</a:t>
            </a:r>
            <a:endParaRPr sz="1600">
              <a:latin typeface="Calibri"/>
              <a:cs typeface="Calibri"/>
            </a:endParaRPr>
          </a:p>
          <a:p>
            <a:pPr marL="469265" indent="-303530">
              <a:lnSpc>
                <a:spcPct val="100000"/>
              </a:lnSpc>
              <a:spcBef>
                <a:spcPts val="1485"/>
              </a:spcBef>
              <a:buChar char="-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Предсказывали</a:t>
            </a:r>
            <a:r>
              <a:rPr sz="1600" spc="18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следующее/предыдущее</a:t>
            </a:r>
            <a:r>
              <a:rPr sz="1600" spc="18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слово.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sz="1600" spc="114" dirty="0">
                <a:latin typeface="Calibri"/>
                <a:cs typeface="Calibri"/>
              </a:rPr>
              <a:t>Что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можно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делать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для</a:t>
            </a:r>
            <a:r>
              <a:rPr sz="1600" spc="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предложений:</a:t>
            </a:r>
            <a:endParaRPr sz="1600">
              <a:latin typeface="Calibri"/>
              <a:cs typeface="Calibri"/>
            </a:endParaRPr>
          </a:p>
          <a:p>
            <a:pPr marL="469900" marR="5080" indent="-304165">
              <a:lnSpc>
                <a:spcPct val="114999"/>
              </a:lnSpc>
              <a:spcBef>
                <a:spcPts val="1200"/>
              </a:spcBef>
              <a:buChar char="-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Предсказывать</a:t>
            </a:r>
            <a:r>
              <a:rPr sz="1600" spc="1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порядок</a:t>
            </a:r>
            <a:r>
              <a:rPr sz="1600" spc="1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следования</a:t>
            </a:r>
            <a:r>
              <a:rPr sz="1600" spc="1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двух</a:t>
            </a:r>
            <a:r>
              <a:rPr sz="1600" spc="17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предложений </a:t>
            </a:r>
            <a:r>
              <a:rPr sz="1600" dirty="0">
                <a:latin typeface="Calibri"/>
                <a:cs typeface="Calibri"/>
              </a:rPr>
              <a:t>(бинарная</a:t>
            </a:r>
            <a:r>
              <a:rPr sz="1600" spc="29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классификация);</a:t>
            </a:r>
            <a:endParaRPr sz="1600">
              <a:latin typeface="Calibri"/>
              <a:cs typeface="Calibri"/>
            </a:endParaRPr>
          </a:p>
          <a:p>
            <a:pPr marL="469900" marR="56515" indent="-304165">
              <a:lnSpc>
                <a:spcPct val="114999"/>
              </a:lnSpc>
              <a:buChar char="-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Может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ли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предложение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295" dirty="0">
                <a:latin typeface="Calibri"/>
                <a:cs typeface="Calibri"/>
              </a:rPr>
              <a:t>A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идти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после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предложения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95" dirty="0">
                <a:latin typeface="Calibri"/>
                <a:cs typeface="Calibri"/>
              </a:rPr>
              <a:t>BṢ </a:t>
            </a:r>
            <a:r>
              <a:rPr sz="1600" dirty="0">
                <a:latin typeface="Calibri"/>
                <a:cs typeface="Calibri"/>
              </a:rPr>
              <a:t>(бинарная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или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многоклассовая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классификация)</a:t>
            </a:r>
            <a:endParaRPr sz="1600">
              <a:latin typeface="Calibri"/>
              <a:cs typeface="Calibri"/>
            </a:endParaRPr>
          </a:p>
          <a:p>
            <a:pPr marL="469900" marR="379730" indent="-304165">
              <a:lnSpc>
                <a:spcPct val="114999"/>
              </a:lnSpc>
              <a:buChar char="-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Предсказание</a:t>
            </a:r>
            <a:r>
              <a:rPr sz="1600" spc="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соединительного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слова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между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двумя предложениями.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4"/>
              </a:spcBef>
            </a:pPr>
            <a:endParaRPr sz="1600">
              <a:latin typeface="Calibri"/>
              <a:cs typeface="Calibri"/>
            </a:endParaRPr>
          </a:p>
          <a:p>
            <a:pPr marL="12700" marR="111125">
              <a:lnSpc>
                <a:spcPct val="114999"/>
              </a:lnSpc>
            </a:pPr>
            <a:r>
              <a:rPr sz="1600" dirty="0">
                <a:latin typeface="Calibri"/>
                <a:cs typeface="Calibri"/>
              </a:rPr>
              <a:t>Обучаясь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на</a:t>
            </a:r>
            <a:r>
              <a:rPr sz="1600" spc="135" dirty="0">
                <a:latin typeface="Calibri"/>
                <a:cs typeface="Calibri"/>
              </a:rPr>
              <a:t> </a:t>
            </a:r>
            <a:r>
              <a:rPr sz="1600" spc="-30" dirty="0">
                <a:latin typeface="Calibri"/>
                <a:cs typeface="Calibri"/>
              </a:rPr>
              <a:t>подобные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задачи,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нейросеть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выучивает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некую </a:t>
            </a:r>
            <a:r>
              <a:rPr sz="1600" spc="-20" dirty="0">
                <a:latin typeface="Calibri"/>
                <a:cs typeface="Calibri"/>
              </a:rPr>
              <a:t>информацию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</a:t>
            </a:r>
            <a:r>
              <a:rPr sz="1600" spc="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предложениях.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65" dirty="0"/>
              <a:t>Классификация</a:t>
            </a:r>
            <a:r>
              <a:rPr sz="2700" spc="114" dirty="0"/>
              <a:t> </a:t>
            </a:r>
            <a:r>
              <a:rPr sz="2700" spc="80" dirty="0"/>
              <a:t>текста</a:t>
            </a:r>
            <a:r>
              <a:rPr sz="2700" spc="114" dirty="0"/>
              <a:t> </a:t>
            </a:r>
            <a:r>
              <a:rPr sz="2700" dirty="0"/>
              <a:t>с</a:t>
            </a:r>
            <a:r>
              <a:rPr sz="2700" spc="114" dirty="0"/>
              <a:t> </a:t>
            </a:r>
            <a:r>
              <a:rPr sz="2700" spc="-75" dirty="0"/>
              <a:t>помощью</a:t>
            </a:r>
            <a:r>
              <a:rPr sz="2700" spc="120" dirty="0"/>
              <a:t> </a:t>
            </a:r>
            <a:r>
              <a:rPr sz="2700" spc="-50" dirty="0"/>
              <a:t>эмбеддингов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372600" y="1864783"/>
            <a:ext cx="306514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Verdana"/>
                <a:cs typeface="Verdana"/>
              </a:rPr>
              <a:t>Output</a:t>
            </a:r>
            <a:r>
              <a:rPr sz="1300" spc="-55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(class,</a:t>
            </a:r>
            <a:r>
              <a:rPr sz="1300" spc="-50" dirty="0">
                <a:latin typeface="Verdana"/>
                <a:cs typeface="Verdana"/>
              </a:rPr>
              <a:t> </a:t>
            </a:r>
            <a:r>
              <a:rPr sz="1300" spc="-95" dirty="0">
                <a:latin typeface="Verdana"/>
                <a:cs typeface="Verdana"/>
              </a:rPr>
              <a:t>e.g.</a:t>
            </a:r>
            <a:r>
              <a:rPr sz="1300" spc="-50" dirty="0">
                <a:latin typeface="Verdana"/>
                <a:cs typeface="Verdana"/>
              </a:rPr>
              <a:t> </a:t>
            </a:r>
            <a:r>
              <a:rPr sz="1300" spc="-30" dirty="0">
                <a:latin typeface="Verdana"/>
                <a:cs typeface="Verdana"/>
              </a:rPr>
              <a:t>genre,</a:t>
            </a:r>
            <a:r>
              <a:rPr sz="1300" spc="-50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or</a:t>
            </a:r>
            <a:r>
              <a:rPr sz="1300" spc="-50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emotion)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60379" y="2326512"/>
            <a:ext cx="41275" cy="389255"/>
            <a:chOff x="1860379" y="2326512"/>
            <a:chExt cx="41275" cy="389255"/>
          </a:xfrm>
        </p:grpSpPr>
        <p:sp>
          <p:nvSpPr>
            <p:cNvPr id="5" name="object 5"/>
            <p:cNvSpPr/>
            <p:nvPr/>
          </p:nvSpPr>
          <p:spPr>
            <a:xfrm>
              <a:off x="1880874" y="2374500"/>
              <a:ext cx="0" cy="340995"/>
            </a:xfrm>
            <a:custGeom>
              <a:avLst/>
              <a:gdLst/>
              <a:ahLst/>
              <a:cxnLst/>
              <a:rect l="l" t="t" r="r" b="b"/>
              <a:pathLst>
                <a:path h="340994">
                  <a:moveTo>
                    <a:pt x="0" y="3406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65142" y="2331275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65142" y="2331275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63475" y="4553358"/>
            <a:ext cx="7556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5" dirty="0">
                <a:latin typeface="Verdana"/>
                <a:cs typeface="Verdana"/>
              </a:rPr>
              <a:t>I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2641" y="4553358"/>
            <a:ext cx="4197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20" dirty="0">
                <a:latin typeface="Verdana"/>
                <a:cs typeface="Verdana"/>
              </a:rPr>
              <a:t>have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99693" y="4553358"/>
            <a:ext cx="145478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5930" algn="l"/>
                <a:tab pos="1059180" algn="l"/>
              </a:tabLst>
            </a:pPr>
            <a:r>
              <a:rPr sz="1300" spc="-50" dirty="0">
                <a:latin typeface="Verdana"/>
                <a:cs typeface="Verdana"/>
              </a:rPr>
              <a:t>a</a:t>
            </a:r>
            <a:r>
              <a:rPr sz="1300" dirty="0">
                <a:latin typeface="Verdana"/>
                <a:cs typeface="Verdana"/>
              </a:rPr>
              <a:t>	</a:t>
            </a:r>
            <a:r>
              <a:rPr sz="1300" spc="-25" dirty="0">
                <a:latin typeface="Verdana"/>
                <a:cs typeface="Verdana"/>
              </a:rPr>
              <a:t>cat</a:t>
            </a:r>
            <a:r>
              <a:rPr sz="1300" dirty="0">
                <a:latin typeface="Verdana"/>
                <a:cs typeface="Verdana"/>
              </a:rPr>
              <a:t>	</a:t>
            </a:r>
            <a:r>
              <a:rPr sz="1300" spc="30" dirty="0">
                <a:latin typeface="Verdana"/>
                <a:cs typeface="Verdana"/>
              </a:rPr>
              <a:t>UNK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79154" y="4301087"/>
            <a:ext cx="41275" cy="191135"/>
            <a:chOff x="579154" y="4301087"/>
            <a:chExt cx="41275" cy="191135"/>
          </a:xfrm>
        </p:grpSpPr>
        <p:sp>
          <p:nvSpPr>
            <p:cNvPr id="12" name="object 12"/>
            <p:cNvSpPr/>
            <p:nvPr/>
          </p:nvSpPr>
          <p:spPr>
            <a:xfrm>
              <a:off x="599650" y="4349075"/>
              <a:ext cx="0" cy="142875"/>
            </a:xfrm>
            <a:custGeom>
              <a:avLst/>
              <a:gdLst/>
              <a:ahLst/>
              <a:cxnLst/>
              <a:rect l="l" t="t" r="r" b="b"/>
              <a:pathLst>
                <a:path h="142875">
                  <a:moveTo>
                    <a:pt x="0" y="1426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3917" y="43058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3917" y="43058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200854" y="4301074"/>
            <a:ext cx="41275" cy="191135"/>
            <a:chOff x="1200854" y="4301074"/>
            <a:chExt cx="41275" cy="191135"/>
          </a:xfrm>
        </p:grpSpPr>
        <p:sp>
          <p:nvSpPr>
            <p:cNvPr id="16" name="object 16"/>
            <p:cNvSpPr/>
            <p:nvPr/>
          </p:nvSpPr>
          <p:spPr>
            <a:xfrm>
              <a:off x="1221349" y="4349062"/>
              <a:ext cx="0" cy="142875"/>
            </a:xfrm>
            <a:custGeom>
              <a:avLst/>
              <a:gdLst/>
              <a:ahLst/>
              <a:cxnLst/>
              <a:rect l="l" t="t" r="r" b="b"/>
              <a:pathLst>
                <a:path h="142875">
                  <a:moveTo>
                    <a:pt x="0" y="1426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05617" y="430583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05617" y="430583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742429" y="4301074"/>
            <a:ext cx="41275" cy="191135"/>
            <a:chOff x="1742429" y="4301074"/>
            <a:chExt cx="41275" cy="191135"/>
          </a:xfrm>
        </p:grpSpPr>
        <p:sp>
          <p:nvSpPr>
            <p:cNvPr id="20" name="object 20"/>
            <p:cNvSpPr/>
            <p:nvPr/>
          </p:nvSpPr>
          <p:spPr>
            <a:xfrm>
              <a:off x="1762924" y="4349062"/>
              <a:ext cx="0" cy="142875"/>
            </a:xfrm>
            <a:custGeom>
              <a:avLst/>
              <a:gdLst/>
              <a:ahLst/>
              <a:cxnLst/>
              <a:rect l="l" t="t" r="r" b="b"/>
              <a:pathLst>
                <a:path h="142875">
                  <a:moveTo>
                    <a:pt x="0" y="1426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747192" y="430583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47192" y="430583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2220904" y="4301074"/>
            <a:ext cx="41275" cy="191135"/>
            <a:chOff x="2220904" y="4301074"/>
            <a:chExt cx="41275" cy="191135"/>
          </a:xfrm>
        </p:grpSpPr>
        <p:sp>
          <p:nvSpPr>
            <p:cNvPr id="24" name="object 24"/>
            <p:cNvSpPr/>
            <p:nvPr/>
          </p:nvSpPr>
          <p:spPr>
            <a:xfrm>
              <a:off x="2241399" y="4349062"/>
              <a:ext cx="0" cy="142875"/>
            </a:xfrm>
            <a:custGeom>
              <a:avLst/>
              <a:gdLst/>
              <a:ahLst/>
              <a:cxnLst/>
              <a:rect l="l" t="t" r="r" b="b"/>
              <a:pathLst>
                <a:path h="142875">
                  <a:moveTo>
                    <a:pt x="0" y="1426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225667" y="430583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225667" y="430583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2857154" y="4301074"/>
            <a:ext cx="41275" cy="191135"/>
            <a:chOff x="2857154" y="4301074"/>
            <a:chExt cx="41275" cy="191135"/>
          </a:xfrm>
        </p:grpSpPr>
        <p:sp>
          <p:nvSpPr>
            <p:cNvPr id="28" name="object 28"/>
            <p:cNvSpPr/>
            <p:nvPr/>
          </p:nvSpPr>
          <p:spPr>
            <a:xfrm>
              <a:off x="2877649" y="4349062"/>
              <a:ext cx="0" cy="142875"/>
            </a:xfrm>
            <a:custGeom>
              <a:avLst/>
              <a:gdLst/>
              <a:ahLst/>
              <a:cxnLst/>
              <a:rect l="l" t="t" r="r" b="b"/>
              <a:pathLst>
                <a:path h="142875">
                  <a:moveTo>
                    <a:pt x="0" y="1426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861917" y="430583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861917" y="430583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71524" y="2754295"/>
            <a:ext cx="3218815" cy="71564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endParaRPr sz="1300">
              <a:latin typeface="Times New Roman"/>
              <a:cs typeface="Times New Roman"/>
            </a:endParaRPr>
          </a:p>
          <a:p>
            <a:pPr marR="187325" algn="ctr">
              <a:lnSpc>
                <a:spcPct val="100000"/>
              </a:lnSpc>
            </a:pPr>
            <a:r>
              <a:rPr sz="1300" spc="50" dirty="0">
                <a:latin typeface="Verdana"/>
                <a:cs typeface="Verdana"/>
              </a:rPr>
              <a:t>NN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859628" y="3478522"/>
            <a:ext cx="41275" cy="342265"/>
            <a:chOff x="1859628" y="3478522"/>
            <a:chExt cx="41275" cy="342265"/>
          </a:xfrm>
        </p:grpSpPr>
        <p:sp>
          <p:nvSpPr>
            <p:cNvPr id="33" name="object 33"/>
            <p:cNvSpPr/>
            <p:nvPr/>
          </p:nvSpPr>
          <p:spPr>
            <a:xfrm>
              <a:off x="1880123" y="3526510"/>
              <a:ext cx="1270" cy="289560"/>
            </a:xfrm>
            <a:custGeom>
              <a:avLst/>
              <a:gdLst/>
              <a:ahLst/>
              <a:cxnLst/>
              <a:rect l="l" t="t" r="r" b="b"/>
              <a:pathLst>
                <a:path w="1269" h="289560">
                  <a:moveTo>
                    <a:pt x="751" y="2893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64390" y="3483285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43266"/>
                  </a:moveTo>
                  <a:lnTo>
                    <a:pt x="15620" y="0"/>
                  </a:lnTo>
                  <a:lnTo>
                    <a:pt x="31465" y="43184"/>
                  </a:lnTo>
                  <a:lnTo>
                    <a:pt x="0" y="4326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64390" y="3483285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184"/>
                  </a:moveTo>
                  <a:lnTo>
                    <a:pt x="15620" y="0"/>
                  </a:lnTo>
                  <a:lnTo>
                    <a:pt x="0" y="43266"/>
                  </a:lnTo>
                  <a:lnTo>
                    <a:pt x="31465" y="4318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71524" y="3815860"/>
            <a:ext cx="3218815" cy="34734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59054" rIns="0" bIns="0" rtlCol="0">
            <a:spAutoFit/>
          </a:bodyPr>
          <a:lstStyle/>
          <a:p>
            <a:pPr marL="904240">
              <a:lnSpc>
                <a:spcPct val="100000"/>
              </a:lnSpc>
              <a:spcBef>
                <a:spcPts val="464"/>
              </a:spcBef>
            </a:pPr>
            <a:r>
              <a:rPr sz="1300" spc="20" dirty="0">
                <a:latin typeface="Verdana"/>
                <a:cs typeface="Verdana"/>
              </a:rPr>
              <a:t>embedding</a:t>
            </a:r>
            <a:r>
              <a:rPr sz="1300" spc="125" dirty="0">
                <a:latin typeface="Verdana"/>
                <a:cs typeface="Verdana"/>
              </a:rPr>
              <a:t> </a:t>
            </a:r>
            <a:r>
              <a:rPr sz="1300" spc="-20" dirty="0">
                <a:latin typeface="Verdana"/>
                <a:cs typeface="Verdana"/>
              </a:rPr>
              <a:t>layer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211700" y="2915196"/>
            <a:ext cx="18180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spc="10" dirty="0">
                <a:solidFill>
                  <a:srgbClr val="434343"/>
                </a:solidFill>
                <a:latin typeface="Verdana"/>
                <a:cs typeface="Verdana"/>
              </a:rPr>
              <a:t>Эмбеддинг слов </a:t>
            </a:r>
            <a:r>
              <a:rPr sz="1300" spc="-25" dirty="0">
                <a:solidFill>
                  <a:srgbClr val="434343"/>
                </a:solidFill>
                <a:latin typeface="Verdana"/>
                <a:cs typeface="Verdana"/>
              </a:rPr>
              <a:t>или </a:t>
            </a:r>
            <a:r>
              <a:rPr sz="1300" spc="-10" dirty="0">
                <a:solidFill>
                  <a:srgbClr val="434343"/>
                </a:solidFill>
                <a:latin typeface="Verdana"/>
                <a:cs typeface="Verdana"/>
              </a:rPr>
              <a:t>предложения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494492" y="3201762"/>
            <a:ext cx="648970" cy="782320"/>
            <a:chOff x="3494492" y="3201762"/>
            <a:chExt cx="648970" cy="782320"/>
          </a:xfrm>
        </p:grpSpPr>
        <p:sp>
          <p:nvSpPr>
            <p:cNvPr id="39" name="object 39"/>
            <p:cNvSpPr/>
            <p:nvPr/>
          </p:nvSpPr>
          <p:spPr>
            <a:xfrm>
              <a:off x="3526821" y="3206525"/>
              <a:ext cx="612140" cy="739140"/>
            </a:xfrm>
            <a:custGeom>
              <a:avLst/>
              <a:gdLst/>
              <a:ahLst/>
              <a:cxnLst/>
              <a:rect l="l" t="t" r="r" b="b"/>
              <a:pathLst>
                <a:path w="612139" h="739139">
                  <a:moveTo>
                    <a:pt x="611852" y="0"/>
                  </a:moveTo>
                  <a:lnTo>
                    <a:pt x="0" y="73897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499255" y="3935471"/>
              <a:ext cx="40005" cy="43815"/>
            </a:xfrm>
            <a:custGeom>
              <a:avLst/>
              <a:gdLst/>
              <a:ahLst/>
              <a:cxnLst/>
              <a:rect l="l" t="t" r="r" b="b"/>
              <a:pathLst>
                <a:path w="40004" h="43814">
                  <a:moveTo>
                    <a:pt x="0" y="43327"/>
                  </a:moveTo>
                  <a:lnTo>
                    <a:pt x="15448" y="0"/>
                  </a:lnTo>
                  <a:lnTo>
                    <a:pt x="39684" y="20066"/>
                  </a:lnTo>
                  <a:lnTo>
                    <a:pt x="0" y="4332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499255" y="3935471"/>
              <a:ext cx="40005" cy="43815"/>
            </a:xfrm>
            <a:custGeom>
              <a:avLst/>
              <a:gdLst/>
              <a:ahLst/>
              <a:cxnLst/>
              <a:rect l="l" t="t" r="r" b="b"/>
              <a:pathLst>
                <a:path w="40004" h="43814">
                  <a:moveTo>
                    <a:pt x="15448" y="0"/>
                  </a:moveTo>
                  <a:lnTo>
                    <a:pt x="0" y="43327"/>
                  </a:lnTo>
                  <a:lnTo>
                    <a:pt x="39684" y="20066"/>
                  </a:lnTo>
                  <a:lnTo>
                    <a:pt x="15448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65" dirty="0"/>
              <a:t>Классификация</a:t>
            </a:r>
            <a:r>
              <a:rPr sz="2700" spc="114" dirty="0"/>
              <a:t> </a:t>
            </a:r>
            <a:r>
              <a:rPr sz="2700" spc="80" dirty="0"/>
              <a:t>текста</a:t>
            </a:r>
            <a:r>
              <a:rPr sz="2700" spc="114" dirty="0"/>
              <a:t> </a:t>
            </a:r>
            <a:r>
              <a:rPr sz="2700" dirty="0"/>
              <a:t>с</a:t>
            </a:r>
            <a:r>
              <a:rPr sz="2700" spc="114" dirty="0"/>
              <a:t> </a:t>
            </a:r>
            <a:r>
              <a:rPr sz="2700" spc="-75" dirty="0"/>
              <a:t>помощью</a:t>
            </a:r>
            <a:r>
              <a:rPr sz="2700" spc="120" dirty="0"/>
              <a:t> </a:t>
            </a:r>
            <a:r>
              <a:rPr sz="2700" spc="-50" dirty="0"/>
              <a:t>эмбеддингов</a:t>
            </a:r>
            <a:endParaRPr sz="2700"/>
          </a:p>
        </p:txBody>
      </p:sp>
      <p:sp>
        <p:nvSpPr>
          <p:cNvPr id="3" name="object 3"/>
          <p:cNvSpPr txBox="1"/>
          <p:nvPr/>
        </p:nvSpPr>
        <p:spPr>
          <a:xfrm>
            <a:off x="372600" y="1864783"/>
            <a:ext cx="306514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latin typeface="Verdana"/>
                <a:cs typeface="Verdana"/>
              </a:rPr>
              <a:t>Output</a:t>
            </a:r>
            <a:r>
              <a:rPr sz="1300" spc="-55" dirty="0">
                <a:latin typeface="Verdana"/>
                <a:cs typeface="Verdana"/>
              </a:rPr>
              <a:t> </a:t>
            </a:r>
            <a:r>
              <a:rPr sz="1300" spc="-70" dirty="0">
                <a:latin typeface="Verdana"/>
                <a:cs typeface="Verdana"/>
              </a:rPr>
              <a:t>(class,</a:t>
            </a:r>
            <a:r>
              <a:rPr sz="1300" spc="-50" dirty="0">
                <a:latin typeface="Verdana"/>
                <a:cs typeface="Verdana"/>
              </a:rPr>
              <a:t> </a:t>
            </a:r>
            <a:r>
              <a:rPr sz="1300" spc="-95" dirty="0">
                <a:latin typeface="Verdana"/>
                <a:cs typeface="Verdana"/>
              </a:rPr>
              <a:t>e.g.</a:t>
            </a:r>
            <a:r>
              <a:rPr sz="1300" spc="-50" dirty="0">
                <a:latin typeface="Verdana"/>
                <a:cs typeface="Verdana"/>
              </a:rPr>
              <a:t> </a:t>
            </a:r>
            <a:r>
              <a:rPr sz="1300" spc="-30" dirty="0">
                <a:latin typeface="Verdana"/>
                <a:cs typeface="Verdana"/>
              </a:rPr>
              <a:t>genre,</a:t>
            </a:r>
            <a:r>
              <a:rPr sz="1300" spc="-50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or</a:t>
            </a:r>
            <a:r>
              <a:rPr sz="1300" spc="-50" dirty="0">
                <a:latin typeface="Verdana"/>
                <a:cs typeface="Verdana"/>
              </a:rPr>
              <a:t> </a:t>
            </a:r>
            <a:r>
              <a:rPr sz="1300" spc="-10" dirty="0">
                <a:latin typeface="Verdana"/>
                <a:cs typeface="Verdana"/>
              </a:rPr>
              <a:t>emotion)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60379" y="2326512"/>
            <a:ext cx="41275" cy="389255"/>
            <a:chOff x="1860379" y="2326512"/>
            <a:chExt cx="41275" cy="389255"/>
          </a:xfrm>
        </p:grpSpPr>
        <p:sp>
          <p:nvSpPr>
            <p:cNvPr id="5" name="object 5"/>
            <p:cNvSpPr/>
            <p:nvPr/>
          </p:nvSpPr>
          <p:spPr>
            <a:xfrm>
              <a:off x="1880874" y="2374500"/>
              <a:ext cx="0" cy="340995"/>
            </a:xfrm>
            <a:custGeom>
              <a:avLst/>
              <a:gdLst/>
              <a:ahLst/>
              <a:cxnLst/>
              <a:rect l="l" t="t" r="r" b="b"/>
              <a:pathLst>
                <a:path h="340994">
                  <a:moveTo>
                    <a:pt x="0" y="3406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65142" y="2331275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865142" y="2331275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563475" y="4553358"/>
            <a:ext cx="7556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5" dirty="0">
                <a:latin typeface="Verdana"/>
                <a:cs typeface="Verdana"/>
              </a:rPr>
              <a:t>I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2641" y="4553358"/>
            <a:ext cx="419734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20" dirty="0">
                <a:latin typeface="Verdana"/>
                <a:cs typeface="Verdana"/>
              </a:rPr>
              <a:t>have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99693" y="4553358"/>
            <a:ext cx="145478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5930" algn="l"/>
                <a:tab pos="1059180" algn="l"/>
              </a:tabLst>
            </a:pPr>
            <a:r>
              <a:rPr sz="1300" spc="-50" dirty="0">
                <a:latin typeface="Verdana"/>
                <a:cs typeface="Verdana"/>
              </a:rPr>
              <a:t>a</a:t>
            </a:r>
            <a:r>
              <a:rPr sz="1300" dirty="0">
                <a:latin typeface="Verdana"/>
                <a:cs typeface="Verdana"/>
              </a:rPr>
              <a:t>	</a:t>
            </a:r>
            <a:r>
              <a:rPr sz="1300" spc="-25" dirty="0">
                <a:latin typeface="Verdana"/>
                <a:cs typeface="Verdana"/>
              </a:rPr>
              <a:t>cat</a:t>
            </a:r>
            <a:r>
              <a:rPr sz="1300" dirty="0">
                <a:latin typeface="Verdana"/>
                <a:cs typeface="Verdana"/>
              </a:rPr>
              <a:t>	</a:t>
            </a:r>
            <a:r>
              <a:rPr sz="1300" spc="30" dirty="0">
                <a:latin typeface="Verdana"/>
                <a:cs typeface="Verdana"/>
              </a:rPr>
              <a:t>UNK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79154" y="4301087"/>
            <a:ext cx="41275" cy="191135"/>
            <a:chOff x="579154" y="4301087"/>
            <a:chExt cx="41275" cy="191135"/>
          </a:xfrm>
        </p:grpSpPr>
        <p:sp>
          <p:nvSpPr>
            <p:cNvPr id="12" name="object 12"/>
            <p:cNvSpPr/>
            <p:nvPr/>
          </p:nvSpPr>
          <p:spPr>
            <a:xfrm>
              <a:off x="599650" y="4349075"/>
              <a:ext cx="0" cy="142875"/>
            </a:xfrm>
            <a:custGeom>
              <a:avLst/>
              <a:gdLst/>
              <a:ahLst/>
              <a:cxnLst/>
              <a:rect l="l" t="t" r="r" b="b"/>
              <a:pathLst>
                <a:path h="142875">
                  <a:moveTo>
                    <a:pt x="0" y="1426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83917" y="43058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583917" y="4305849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1200854" y="4301074"/>
            <a:ext cx="41275" cy="191135"/>
            <a:chOff x="1200854" y="4301074"/>
            <a:chExt cx="41275" cy="191135"/>
          </a:xfrm>
        </p:grpSpPr>
        <p:sp>
          <p:nvSpPr>
            <p:cNvPr id="16" name="object 16"/>
            <p:cNvSpPr/>
            <p:nvPr/>
          </p:nvSpPr>
          <p:spPr>
            <a:xfrm>
              <a:off x="1221349" y="4349062"/>
              <a:ext cx="0" cy="142875"/>
            </a:xfrm>
            <a:custGeom>
              <a:avLst/>
              <a:gdLst/>
              <a:ahLst/>
              <a:cxnLst/>
              <a:rect l="l" t="t" r="r" b="b"/>
              <a:pathLst>
                <a:path h="142875">
                  <a:moveTo>
                    <a:pt x="0" y="1426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205617" y="430583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05617" y="430583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742429" y="4301074"/>
            <a:ext cx="41275" cy="191135"/>
            <a:chOff x="1742429" y="4301074"/>
            <a:chExt cx="41275" cy="191135"/>
          </a:xfrm>
        </p:grpSpPr>
        <p:sp>
          <p:nvSpPr>
            <p:cNvPr id="20" name="object 20"/>
            <p:cNvSpPr/>
            <p:nvPr/>
          </p:nvSpPr>
          <p:spPr>
            <a:xfrm>
              <a:off x="1762924" y="4349062"/>
              <a:ext cx="0" cy="142875"/>
            </a:xfrm>
            <a:custGeom>
              <a:avLst/>
              <a:gdLst/>
              <a:ahLst/>
              <a:cxnLst/>
              <a:rect l="l" t="t" r="r" b="b"/>
              <a:pathLst>
                <a:path h="142875">
                  <a:moveTo>
                    <a:pt x="0" y="1426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747192" y="430583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47192" y="430583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2220904" y="4301074"/>
            <a:ext cx="41275" cy="191135"/>
            <a:chOff x="2220904" y="4301074"/>
            <a:chExt cx="41275" cy="191135"/>
          </a:xfrm>
        </p:grpSpPr>
        <p:sp>
          <p:nvSpPr>
            <p:cNvPr id="24" name="object 24"/>
            <p:cNvSpPr/>
            <p:nvPr/>
          </p:nvSpPr>
          <p:spPr>
            <a:xfrm>
              <a:off x="2241399" y="4349062"/>
              <a:ext cx="0" cy="142875"/>
            </a:xfrm>
            <a:custGeom>
              <a:avLst/>
              <a:gdLst/>
              <a:ahLst/>
              <a:cxnLst/>
              <a:rect l="l" t="t" r="r" b="b"/>
              <a:pathLst>
                <a:path h="142875">
                  <a:moveTo>
                    <a:pt x="0" y="1426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225667" y="430583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225667" y="430583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7" name="object 27"/>
          <p:cNvGrpSpPr/>
          <p:nvPr/>
        </p:nvGrpSpPr>
        <p:grpSpPr>
          <a:xfrm>
            <a:off x="2857154" y="4301074"/>
            <a:ext cx="41275" cy="191135"/>
            <a:chOff x="2857154" y="4301074"/>
            <a:chExt cx="41275" cy="191135"/>
          </a:xfrm>
        </p:grpSpPr>
        <p:sp>
          <p:nvSpPr>
            <p:cNvPr id="28" name="object 28"/>
            <p:cNvSpPr/>
            <p:nvPr/>
          </p:nvSpPr>
          <p:spPr>
            <a:xfrm>
              <a:off x="2877649" y="4349062"/>
              <a:ext cx="0" cy="142875"/>
            </a:xfrm>
            <a:custGeom>
              <a:avLst/>
              <a:gdLst/>
              <a:ahLst/>
              <a:cxnLst/>
              <a:rect l="l" t="t" r="r" b="b"/>
              <a:pathLst>
                <a:path h="142875">
                  <a:moveTo>
                    <a:pt x="0" y="1426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861917" y="430583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0" y="43225"/>
                  </a:lnTo>
                  <a:lnTo>
                    <a:pt x="15732" y="0"/>
                  </a:lnTo>
                  <a:lnTo>
                    <a:pt x="31465" y="43225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861917" y="4305837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225"/>
                  </a:moveTo>
                  <a:lnTo>
                    <a:pt x="15732" y="0"/>
                  </a:lnTo>
                  <a:lnTo>
                    <a:pt x="0" y="43225"/>
                  </a:lnTo>
                  <a:lnTo>
                    <a:pt x="31465" y="43225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71524" y="2754295"/>
            <a:ext cx="3218815" cy="71564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7302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75"/>
              </a:spcBef>
            </a:pPr>
            <a:endParaRPr sz="1300">
              <a:latin typeface="Times New Roman"/>
              <a:cs typeface="Times New Roman"/>
            </a:endParaRPr>
          </a:p>
          <a:p>
            <a:pPr marR="67945" algn="ctr">
              <a:lnSpc>
                <a:spcPct val="100000"/>
              </a:lnSpc>
            </a:pPr>
            <a:r>
              <a:rPr sz="1300" spc="40" dirty="0">
                <a:latin typeface="Verdana"/>
                <a:cs typeface="Verdana"/>
              </a:rPr>
              <a:t>RNN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859628" y="3478522"/>
            <a:ext cx="41275" cy="342265"/>
            <a:chOff x="1859628" y="3478522"/>
            <a:chExt cx="41275" cy="342265"/>
          </a:xfrm>
        </p:grpSpPr>
        <p:sp>
          <p:nvSpPr>
            <p:cNvPr id="33" name="object 33"/>
            <p:cNvSpPr/>
            <p:nvPr/>
          </p:nvSpPr>
          <p:spPr>
            <a:xfrm>
              <a:off x="1880123" y="3526510"/>
              <a:ext cx="1270" cy="289560"/>
            </a:xfrm>
            <a:custGeom>
              <a:avLst/>
              <a:gdLst/>
              <a:ahLst/>
              <a:cxnLst/>
              <a:rect l="l" t="t" r="r" b="b"/>
              <a:pathLst>
                <a:path w="1269" h="289560">
                  <a:moveTo>
                    <a:pt x="751" y="289349"/>
                  </a:moveTo>
                  <a:lnTo>
                    <a:pt x="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864390" y="3483285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0" y="43266"/>
                  </a:moveTo>
                  <a:lnTo>
                    <a:pt x="15620" y="0"/>
                  </a:lnTo>
                  <a:lnTo>
                    <a:pt x="31465" y="43184"/>
                  </a:lnTo>
                  <a:lnTo>
                    <a:pt x="0" y="43266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64390" y="3483285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65" y="43184"/>
                  </a:moveTo>
                  <a:lnTo>
                    <a:pt x="15620" y="0"/>
                  </a:lnTo>
                  <a:lnTo>
                    <a:pt x="0" y="43266"/>
                  </a:lnTo>
                  <a:lnTo>
                    <a:pt x="31465" y="4318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71524" y="3815860"/>
            <a:ext cx="3218815" cy="347345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59054" rIns="0" bIns="0" rtlCol="0">
            <a:spAutoFit/>
          </a:bodyPr>
          <a:lstStyle/>
          <a:p>
            <a:pPr marL="904240">
              <a:lnSpc>
                <a:spcPct val="100000"/>
              </a:lnSpc>
              <a:spcBef>
                <a:spcPts val="464"/>
              </a:spcBef>
            </a:pPr>
            <a:r>
              <a:rPr sz="1300" spc="20" dirty="0">
                <a:latin typeface="Verdana"/>
                <a:cs typeface="Verdana"/>
              </a:rPr>
              <a:t>embedding</a:t>
            </a:r>
            <a:r>
              <a:rPr sz="1300" spc="125" dirty="0">
                <a:latin typeface="Verdana"/>
                <a:cs typeface="Verdana"/>
              </a:rPr>
              <a:t> </a:t>
            </a:r>
            <a:r>
              <a:rPr sz="1300" spc="-20" dirty="0">
                <a:latin typeface="Verdana"/>
                <a:cs typeface="Verdana"/>
              </a:rPr>
              <a:t>layer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211700" y="2915196"/>
            <a:ext cx="181800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300" spc="10" dirty="0">
                <a:solidFill>
                  <a:srgbClr val="434343"/>
                </a:solidFill>
                <a:latin typeface="Verdana"/>
                <a:cs typeface="Verdana"/>
              </a:rPr>
              <a:t>Эмбеддинг слов </a:t>
            </a:r>
            <a:r>
              <a:rPr sz="1300" spc="-25" dirty="0">
                <a:solidFill>
                  <a:srgbClr val="434343"/>
                </a:solidFill>
                <a:latin typeface="Verdana"/>
                <a:cs typeface="Verdana"/>
              </a:rPr>
              <a:t>или </a:t>
            </a:r>
            <a:r>
              <a:rPr sz="1300" spc="-10" dirty="0">
                <a:solidFill>
                  <a:srgbClr val="434343"/>
                </a:solidFill>
                <a:latin typeface="Verdana"/>
                <a:cs typeface="Verdana"/>
              </a:rPr>
              <a:t>предложения</a:t>
            </a:r>
            <a:endParaRPr sz="1300">
              <a:latin typeface="Verdana"/>
              <a:cs typeface="Verdana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3494492" y="3201762"/>
            <a:ext cx="648970" cy="782320"/>
            <a:chOff x="3494492" y="3201762"/>
            <a:chExt cx="648970" cy="782320"/>
          </a:xfrm>
        </p:grpSpPr>
        <p:sp>
          <p:nvSpPr>
            <p:cNvPr id="39" name="object 39"/>
            <p:cNvSpPr/>
            <p:nvPr/>
          </p:nvSpPr>
          <p:spPr>
            <a:xfrm>
              <a:off x="3526821" y="3206525"/>
              <a:ext cx="612140" cy="739140"/>
            </a:xfrm>
            <a:custGeom>
              <a:avLst/>
              <a:gdLst/>
              <a:ahLst/>
              <a:cxnLst/>
              <a:rect l="l" t="t" r="r" b="b"/>
              <a:pathLst>
                <a:path w="612139" h="739139">
                  <a:moveTo>
                    <a:pt x="611852" y="0"/>
                  </a:moveTo>
                  <a:lnTo>
                    <a:pt x="0" y="738979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499255" y="3935471"/>
              <a:ext cx="40005" cy="43815"/>
            </a:xfrm>
            <a:custGeom>
              <a:avLst/>
              <a:gdLst/>
              <a:ahLst/>
              <a:cxnLst/>
              <a:rect l="l" t="t" r="r" b="b"/>
              <a:pathLst>
                <a:path w="40004" h="43814">
                  <a:moveTo>
                    <a:pt x="0" y="43327"/>
                  </a:moveTo>
                  <a:lnTo>
                    <a:pt x="15448" y="0"/>
                  </a:lnTo>
                  <a:lnTo>
                    <a:pt x="39684" y="20066"/>
                  </a:lnTo>
                  <a:lnTo>
                    <a:pt x="0" y="4332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499255" y="3935471"/>
              <a:ext cx="40005" cy="43815"/>
            </a:xfrm>
            <a:custGeom>
              <a:avLst/>
              <a:gdLst/>
              <a:ahLst/>
              <a:cxnLst/>
              <a:rect l="l" t="t" r="r" b="b"/>
              <a:pathLst>
                <a:path w="40004" h="43814">
                  <a:moveTo>
                    <a:pt x="15448" y="0"/>
                  </a:moveTo>
                  <a:lnTo>
                    <a:pt x="0" y="43327"/>
                  </a:lnTo>
                  <a:lnTo>
                    <a:pt x="39684" y="20066"/>
                  </a:lnTo>
                  <a:lnTo>
                    <a:pt x="15448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1218347"/>
            <a:ext cx="4911090" cy="2549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675640">
              <a:lnSpc>
                <a:spcPct val="114999"/>
              </a:lnSpc>
              <a:spcBef>
                <a:spcPts val="100"/>
              </a:spcBef>
            </a:pPr>
            <a:r>
              <a:rPr sz="1600" spc="85" dirty="0">
                <a:latin typeface="Calibri"/>
                <a:cs typeface="Calibri"/>
              </a:rPr>
              <a:t>Пусть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spc="114" dirty="0">
                <a:latin typeface="Calibri"/>
                <a:cs typeface="Calibri"/>
              </a:rPr>
              <a:t>у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нас</a:t>
            </a:r>
            <a:r>
              <a:rPr sz="1600" spc="1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есть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тексты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на</a:t>
            </a:r>
            <a:r>
              <a:rPr sz="1600" spc="1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неизвестном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языке, </a:t>
            </a:r>
            <a:r>
              <a:rPr sz="1600" dirty="0">
                <a:latin typeface="Calibri"/>
                <a:cs typeface="Calibri"/>
              </a:rPr>
              <a:t>которые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мы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хотим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научиться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понимать.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600" spc="125" dirty="0">
                <a:latin typeface="Calibri"/>
                <a:cs typeface="Calibri"/>
              </a:rPr>
              <a:t>Как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это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можно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сделать: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45"/>
              </a:spcBef>
            </a:pPr>
            <a:endParaRPr sz="1600">
              <a:latin typeface="Calibri"/>
              <a:cs typeface="Calibri"/>
            </a:endParaRPr>
          </a:p>
          <a:p>
            <a:pPr marL="469265" indent="-303530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Обучаем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эмбеддинги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для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слов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английского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языка;</a:t>
            </a:r>
            <a:endParaRPr sz="1600">
              <a:latin typeface="Calibri"/>
              <a:cs typeface="Calibri"/>
            </a:endParaRPr>
          </a:p>
          <a:p>
            <a:pPr marL="469265" indent="-303530">
              <a:lnSpc>
                <a:spcPct val="100000"/>
              </a:lnSpc>
              <a:spcBef>
                <a:spcPts val="285"/>
              </a:spcBef>
              <a:buChar char="-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Обучаем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эмбеддинги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для</a:t>
            </a:r>
            <a:r>
              <a:rPr sz="1600" spc="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неизвестного</a:t>
            </a:r>
            <a:r>
              <a:rPr sz="1600" spc="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языка</a:t>
            </a:r>
            <a:endParaRPr sz="1600">
              <a:latin typeface="Calibri"/>
              <a:cs typeface="Calibri"/>
            </a:endParaRPr>
          </a:p>
          <a:p>
            <a:pPr marL="469900" marR="280670" indent="-304165">
              <a:lnSpc>
                <a:spcPct val="114999"/>
              </a:lnSpc>
              <a:buChar char="-"/>
              <a:tabLst>
                <a:tab pos="469900" algn="l"/>
              </a:tabLst>
            </a:pPr>
            <a:r>
              <a:rPr sz="1600" dirty="0">
                <a:latin typeface="Calibri"/>
                <a:cs typeface="Calibri"/>
              </a:rPr>
              <a:t>Находим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преобразование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f,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которое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переводит </a:t>
            </a:r>
            <a:r>
              <a:rPr sz="1600" spc="-25" dirty="0">
                <a:latin typeface="Calibri"/>
                <a:cs typeface="Calibri"/>
              </a:rPr>
              <a:t>эмбеддинги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английского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языка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эмбеддинги </a:t>
            </a:r>
            <a:r>
              <a:rPr sz="1600" dirty="0">
                <a:latin typeface="Calibri"/>
                <a:cs typeface="Calibri"/>
              </a:rPr>
              <a:t>неизвестного</a:t>
            </a:r>
            <a:r>
              <a:rPr sz="1600" spc="10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языка.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0" dirty="0"/>
              <a:t>Карта</a:t>
            </a:r>
            <a:r>
              <a:rPr spc="175" dirty="0"/>
              <a:t> </a:t>
            </a:r>
            <a:r>
              <a:rPr spc="-20" dirty="0"/>
              <a:t>языка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0" dirty="0"/>
              <a:t>Карта</a:t>
            </a:r>
            <a:r>
              <a:rPr spc="175" dirty="0"/>
              <a:t> </a:t>
            </a:r>
            <a:r>
              <a:rPr spc="-20" dirty="0"/>
              <a:t>языка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9487" y="1489701"/>
            <a:ext cx="4852670" cy="3295650"/>
            <a:chOff x="249487" y="1489701"/>
            <a:chExt cx="4852670" cy="32956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9487" y="1489701"/>
              <a:ext cx="4852634" cy="329506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868699" y="2282300"/>
              <a:ext cx="526415" cy="431165"/>
            </a:xfrm>
            <a:custGeom>
              <a:avLst/>
              <a:gdLst/>
              <a:ahLst/>
              <a:cxnLst/>
              <a:rect l="l" t="t" r="r" b="b"/>
              <a:pathLst>
                <a:path w="526414" h="431164">
                  <a:moveTo>
                    <a:pt x="0" y="0"/>
                  </a:moveTo>
                  <a:lnTo>
                    <a:pt x="525899" y="0"/>
                  </a:lnTo>
                  <a:lnTo>
                    <a:pt x="525899" y="431099"/>
                  </a:lnTo>
                  <a:lnTo>
                    <a:pt x="0" y="4310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126250" y="2539886"/>
              <a:ext cx="522605" cy="3810"/>
            </a:xfrm>
            <a:custGeom>
              <a:avLst/>
              <a:gdLst/>
              <a:ahLst/>
              <a:cxnLst/>
              <a:rect l="l" t="t" r="r" b="b"/>
              <a:pathLst>
                <a:path w="522605" h="3810">
                  <a:moveTo>
                    <a:pt x="0" y="3613"/>
                  </a:moveTo>
                  <a:lnTo>
                    <a:pt x="522454" y="0"/>
                  </a:lnTo>
                </a:path>
              </a:pathLst>
            </a:custGeom>
            <a:ln w="2857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34089" y="2478401"/>
              <a:ext cx="158574" cy="122969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2156549" y="2248996"/>
            <a:ext cx="410209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30" dirty="0">
                <a:latin typeface="Verdana"/>
                <a:cs typeface="Verdana"/>
              </a:rPr>
              <a:t>map</a:t>
            </a:r>
            <a:endParaRPr sz="13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58700" y="3899737"/>
            <a:ext cx="37338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Verdana"/>
                <a:cs typeface="Verdana"/>
              </a:rPr>
              <a:t>get!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221937" y="4103076"/>
            <a:ext cx="680720" cy="123189"/>
            <a:chOff x="2221937" y="4103076"/>
            <a:chExt cx="680720" cy="123189"/>
          </a:xfrm>
        </p:grpSpPr>
        <p:sp>
          <p:nvSpPr>
            <p:cNvPr id="11" name="object 11"/>
            <p:cNvSpPr/>
            <p:nvPr/>
          </p:nvSpPr>
          <p:spPr>
            <a:xfrm>
              <a:off x="2236224" y="4164561"/>
              <a:ext cx="522605" cy="3810"/>
            </a:xfrm>
            <a:custGeom>
              <a:avLst/>
              <a:gdLst/>
              <a:ahLst/>
              <a:cxnLst/>
              <a:rect l="l" t="t" r="r" b="b"/>
              <a:pathLst>
                <a:path w="522605" h="3810">
                  <a:moveTo>
                    <a:pt x="0" y="3613"/>
                  </a:moveTo>
                  <a:lnTo>
                    <a:pt x="522454" y="0"/>
                  </a:lnTo>
                </a:path>
              </a:pathLst>
            </a:custGeom>
            <a:ln w="2857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44064" y="4103076"/>
              <a:ext cx="158574" cy="12296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90525" y="1270148"/>
            <a:ext cx="4377690" cy="1427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600" spc="-10" dirty="0">
                <a:latin typeface="Calibri"/>
                <a:cs typeface="Calibri"/>
              </a:rPr>
              <a:t>Эмбеддинг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spc="145" dirty="0">
                <a:latin typeface="Calibri"/>
                <a:cs typeface="Calibri"/>
              </a:rPr>
              <a:t>—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векторное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представление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объекта, </a:t>
            </a:r>
            <a:r>
              <a:rPr sz="1600" dirty="0">
                <a:latin typeface="Calibri"/>
                <a:cs typeface="Calibri"/>
              </a:rPr>
              <a:t>которое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отражает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информацию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об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объекте.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600">
              <a:latin typeface="Calibri"/>
              <a:cs typeface="Calibri"/>
            </a:endParaRPr>
          </a:p>
          <a:p>
            <a:pPr marL="12700" marR="18415">
              <a:lnSpc>
                <a:spcPct val="114999"/>
              </a:lnSpc>
              <a:spcBef>
                <a:spcPts val="5"/>
              </a:spcBef>
            </a:pPr>
            <a:r>
              <a:rPr sz="1600" dirty="0">
                <a:latin typeface="Calibri"/>
                <a:cs typeface="Calibri"/>
              </a:rPr>
              <a:t>Выходы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слоев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моделей,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обученных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под</a:t>
            </a:r>
            <a:r>
              <a:rPr sz="1600" spc="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какую- </a:t>
            </a:r>
            <a:r>
              <a:rPr sz="1600" dirty="0">
                <a:latin typeface="Calibri"/>
                <a:cs typeface="Calibri"/>
              </a:rPr>
              <a:t>либо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задачу,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тоже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можно</a:t>
            </a:r>
            <a:r>
              <a:rPr sz="1600" spc="75" dirty="0">
                <a:latin typeface="Calibri"/>
                <a:cs typeface="Calibri"/>
              </a:rPr>
              <a:t> </a:t>
            </a:r>
            <a:r>
              <a:rPr sz="1600" spc="50" dirty="0">
                <a:latin typeface="Calibri"/>
                <a:cs typeface="Calibri"/>
              </a:rPr>
              <a:t>считать</a:t>
            </a:r>
            <a:r>
              <a:rPr sz="1600" spc="70" dirty="0">
                <a:latin typeface="Calibri"/>
                <a:cs typeface="Calibri"/>
              </a:rPr>
              <a:t> </a:t>
            </a:r>
            <a:r>
              <a:rPr sz="1600" spc="-35" dirty="0">
                <a:latin typeface="Calibri"/>
                <a:cs typeface="Calibri"/>
              </a:rPr>
              <a:t>эмбеддингами.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7500" y="3867066"/>
            <a:ext cx="993021" cy="921893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942608" y="3238125"/>
            <a:ext cx="78105" cy="1511935"/>
          </a:xfrm>
          <a:custGeom>
            <a:avLst/>
            <a:gdLst/>
            <a:ahLst/>
            <a:cxnLst/>
            <a:rect l="l" t="t" r="r" b="b"/>
            <a:pathLst>
              <a:path w="78104" h="1511935">
                <a:moveTo>
                  <a:pt x="77999" y="1511399"/>
                </a:moveTo>
                <a:lnTo>
                  <a:pt x="47638" y="1510889"/>
                </a:lnTo>
                <a:lnTo>
                  <a:pt x="22845" y="1509496"/>
                </a:lnTo>
                <a:lnTo>
                  <a:pt x="6129" y="1507430"/>
                </a:lnTo>
                <a:lnTo>
                  <a:pt x="0" y="1504900"/>
                </a:lnTo>
                <a:lnTo>
                  <a:pt x="0" y="6499"/>
                </a:lnTo>
                <a:lnTo>
                  <a:pt x="0" y="4775"/>
                </a:lnTo>
                <a:lnTo>
                  <a:pt x="8217" y="3122"/>
                </a:lnTo>
                <a:lnTo>
                  <a:pt x="22845" y="1903"/>
                </a:lnTo>
                <a:lnTo>
                  <a:pt x="34725" y="1092"/>
                </a:lnTo>
                <a:lnTo>
                  <a:pt x="48150" y="494"/>
                </a:lnTo>
                <a:lnTo>
                  <a:pt x="62711" y="126"/>
                </a:lnTo>
                <a:lnTo>
                  <a:pt x="77999" y="0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10645" y="3238125"/>
            <a:ext cx="78105" cy="1551305"/>
          </a:xfrm>
          <a:custGeom>
            <a:avLst/>
            <a:gdLst/>
            <a:ahLst/>
            <a:cxnLst/>
            <a:rect l="l" t="t" r="r" b="b"/>
            <a:pathLst>
              <a:path w="78104" h="1551304">
                <a:moveTo>
                  <a:pt x="0" y="0"/>
                </a:moveTo>
                <a:lnTo>
                  <a:pt x="30361" y="510"/>
                </a:lnTo>
                <a:lnTo>
                  <a:pt x="55154" y="1903"/>
                </a:lnTo>
                <a:lnTo>
                  <a:pt x="71870" y="3969"/>
                </a:lnTo>
                <a:lnTo>
                  <a:pt x="77999" y="6499"/>
                </a:lnTo>
                <a:lnTo>
                  <a:pt x="77999" y="1544500"/>
                </a:lnTo>
                <a:lnTo>
                  <a:pt x="71870" y="1547030"/>
                </a:lnTo>
                <a:lnTo>
                  <a:pt x="55154" y="1549096"/>
                </a:lnTo>
                <a:lnTo>
                  <a:pt x="30361" y="1550489"/>
                </a:lnTo>
                <a:lnTo>
                  <a:pt x="0" y="1550999"/>
                </a:lnTo>
              </a:path>
            </a:pathLst>
          </a:custGeom>
          <a:ln w="952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79148" y="3398331"/>
            <a:ext cx="568896" cy="95035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4277405" y="4414599"/>
            <a:ext cx="17335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0" dirty="0">
                <a:latin typeface="Tahoma"/>
                <a:cs typeface="Tahoma"/>
              </a:rPr>
              <a:t>...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84725" y="389509"/>
            <a:ext cx="42748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5" dirty="0"/>
              <a:t>Эмбеддинги</a:t>
            </a:r>
            <a:r>
              <a:rPr sz="2700" spc="20" dirty="0"/>
              <a:t> </a:t>
            </a:r>
            <a:r>
              <a:rPr sz="2700" dirty="0"/>
              <a:t>в</a:t>
            </a:r>
            <a:r>
              <a:rPr sz="2700" spc="20" dirty="0"/>
              <a:t> </a:t>
            </a:r>
            <a:r>
              <a:rPr sz="2700" spc="-75" dirty="0"/>
              <a:t>общем</a:t>
            </a:r>
            <a:r>
              <a:rPr sz="2700" spc="20" dirty="0"/>
              <a:t> </a:t>
            </a:r>
            <a:r>
              <a:rPr sz="2700" spc="-25" dirty="0"/>
              <a:t>смысле</a:t>
            </a:r>
            <a:endParaRPr sz="2700"/>
          </a:p>
        </p:txBody>
      </p:sp>
      <p:grpSp>
        <p:nvGrpSpPr>
          <p:cNvPr id="9" name="object 9"/>
          <p:cNvGrpSpPr/>
          <p:nvPr/>
        </p:nvGrpSpPr>
        <p:grpSpPr>
          <a:xfrm>
            <a:off x="1475508" y="4306450"/>
            <a:ext cx="518159" cy="41275"/>
            <a:chOff x="1475508" y="4306450"/>
            <a:chExt cx="518159" cy="41275"/>
          </a:xfrm>
        </p:grpSpPr>
        <p:sp>
          <p:nvSpPr>
            <p:cNvPr id="10" name="object 10"/>
            <p:cNvSpPr/>
            <p:nvPr/>
          </p:nvSpPr>
          <p:spPr>
            <a:xfrm>
              <a:off x="1480270" y="4326945"/>
              <a:ext cx="465455" cy="2540"/>
            </a:xfrm>
            <a:custGeom>
              <a:avLst/>
              <a:gdLst/>
              <a:ahLst/>
              <a:cxnLst/>
              <a:rect l="l" t="t" r="r" b="b"/>
              <a:pathLst>
                <a:path w="465455" h="2539">
                  <a:moveTo>
                    <a:pt x="0" y="2404"/>
                  </a:moveTo>
                  <a:lnTo>
                    <a:pt x="46515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45340" y="431121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162" y="31464"/>
                  </a:moveTo>
                  <a:lnTo>
                    <a:pt x="0" y="0"/>
                  </a:lnTo>
                  <a:lnTo>
                    <a:pt x="43306" y="15508"/>
                  </a:lnTo>
                  <a:lnTo>
                    <a:pt x="162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945340" y="431121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162" y="31464"/>
                  </a:moveTo>
                  <a:lnTo>
                    <a:pt x="43306" y="15508"/>
                  </a:lnTo>
                  <a:lnTo>
                    <a:pt x="0" y="0"/>
                  </a:lnTo>
                  <a:lnTo>
                    <a:pt x="162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3205408" y="4306463"/>
            <a:ext cx="518159" cy="41275"/>
            <a:chOff x="3205408" y="4306463"/>
            <a:chExt cx="518159" cy="41275"/>
          </a:xfrm>
        </p:grpSpPr>
        <p:sp>
          <p:nvSpPr>
            <p:cNvPr id="14" name="object 14"/>
            <p:cNvSpPr/>
            <p:nvPr/>
          </p:nvSpPr>
          <p:spPr>
            <a:xfrm>
              <a:off x="3210170" y="4326957"/>
              <a:ext cx="465455" cy="2540"/>
            </a:xfrm>
            <a:custGeom>
              <a:avLst/>
              <a:gdLst/>
              <a:ahLst/>
              <a:cxnLst/>
              <a:rect l="l" t="t" r="r" b="b"/>
              <a:pathLst>
                <a:path w="465454" h="2539">
                  <a:moveTo>
                    <a:pt x="0" y="2404"/>
                  </a:moveTo>
                  <a:lnTo>
                    <a:pt x="46515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675240" y="431122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162" y="31464"/>
                  </a:moveTo>
                  <a:lnTo>
                    <a:pt x="0" y="0"/>
                  </a:lnTo>
                  <a:lnTo>
                    <a:pt x="43305" y="15508"/>
                  </a:lnTo>
                  <a:lnTo>
                    <a:pt x="162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675240" y="4311225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162" y="31464"/>
                  </a:moveTo>
                  <a:lnTo>
                    <a:pt x="43305" y="15508"/>
                  </a:lnTo>
                  <a:lnTo>
                    <a:pt x="0" y="0"/>
                  </a:lnTo>
                  <a:lnTo>
                    <a:pt x="162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100625" y="3827624"/>
            <a:ext cx="993140" cy="922019"/>
          </a:xfrm>
          <a:prstGeom prst="rect">
            <a:avLst/>
          </a:prstGeom>
          <a:ln w="9524">
            <a:solidFill>
              <a:srgbClr val="595959"/>
            </a:solidFill>
          </a:ln>
        </p:spPr>
        <p:txBody>
          <a:bodyPr vert="horz" wrap="square" lIns="0" tIns="1346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60"/>
              </a:spcBef>
            </a:pPr>
            <a:endParaRPr sz="1400">
              <a:latin typeface="Times New Roman"/>
              <a:cs typeface="Times New Roman"/>
            </a:endParaRPr>
          </a:p>
          <a:p>
            <a:pPr marL="247650">
              <a:lnSpc>
                <a:spcPct val="100000"/>
              </a:lnSpc>
            </a:pPr>
            <a:r>
              <a:rPr sz="1400" spc="35" dirty="0">
                <a:latin typeface="Verdana"/>
                <a:cs typeface="Verdana"/>
              </a:rPr>
              <a:t>CNN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E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0474" y="1181946"/>
            <a:ext cx="5285105" cy="2512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00" dirty="0">
                <a:latin typeface="Calibri"/>
                <a:cs typeface="Calibri"/>
              </a:rPr>
              <a:t>Пример:</a:t>
            </a:r>
            <a:r>
              <a:rPr sz="1600" spc="1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поиск</a:t>
            </a:r>
            <a:r>
              <a:rPr sz="1600" spc="1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похожих</a:t>
            </a:r>
            <a:r>
              <a:rPr sz="1600" spc="1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изображений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1600">
              <a:latin typeface="Calibri"/>
              <a:cs typeface="Calibri"/>
            </a:endParaRPr>
          </a:p>
          <a:p>
            <a:pPr marL="469265" indent="-303530">
              <a:lnSpc>
                <a:spcPct val="100000"/>
              </a:lnSpc>
              <a:buChar char="-"/>
              <a:tabLst>
                <a:tab pos="469265" algn="l"/>
              </a:tabLst>
            </a:pPr>
            <a:r>
              <a:rPr sz="1600" dirty="0">
                <a:latin typeface="Calibri"/>
                <a:cs typeface="Calibri"/>
              </a:rPr>
              <a:t>Берем</a:t>
            </a:r>
            <a:r>
              <a:rPr sz="1600" spc="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предобученную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spc="160" dirty="0">
                <a:latin typeface="Calibri"/>
                <a:cs typeface="Calibri"/>
              </a:rPr>
              <a:t>VGG16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на</a:t>
            </a:r>
            <a:r>
              <a:rPr sz="1600" spc="65" dirty="0">
                <a:latin typeface="Calibri"/>
                <a:cs typeface="Calibri"/>
              </a:rPr>
              <a:t> </a:t>
            </a:r>
            <a:r>
              <a:rPr sz="1600" spc="40" dirty="0">
                <a:latin typeface="Calibri"/>
                <a:cs typeface="Calibri"/>
              </a:rPr>
              <a:t>ImageNet;</a:t>
            </a:r>
            <a:endParaRPr sz="1600">
              <a:latin typeface="Calibri"/>
              <a:cs typeface="Calibri"/>
            </a:endParaRPr>
          </a:p>
          <a:p>
            <a:pPr marL="469900" marR="126364" indent="-304165">
              <a:lnSpc>
                <a:spcPct val="114999"/>
              </a:lnSpc>
              <a:buChar char="-"/>
              <a:tabLst>
                <a:tab pos="469900" algn="l"/>
                <a:tab pos="526415" algn="l"/>
              </a:tabLst>
            </a:pPr>
            <a:r>
              <a:rPr sz="1600" dirty="0">
                <a:latin typeface="Calibri"/>
                <a:cs typeface="Calibri"/>
              </a:rPr>
              <a:t>	Прогоняем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все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картинки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датасета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через</a:t>
            </a:r>
            <a:r>
              <a:rPr sz="1600" spc="1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модель, </a:t>
            </a:r>
            <a:r>
              <a:rPr sz="1600" dirty="0">
                <a:latin typeface="Calibri"/>
                <a:cs typeface="Calibri"/>
              </a:rPr>
              <a:t>получаем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выходы </a:t>
            </a:r>
            <a:r>
              <a:rPr sz="1600" spc="-10" dirty="0">
                <a:latin typeface="Calibri"/>
                <a:cs typeface="Calibri"/>
              </a:rPr>
              <a:t>(эмбеддинги)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предпоследнего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слоя </a:t>
            </a:r>
            <a:r>
              <a:rPr sz="1600" spc="-10" dirty="0">
                <a:latin typeface="Calibri"/>
                <a:cs typeface="Calibri"/>
              </a:rPr>
              <a:t>модели;</a:t>
            </a:r>
            <a:endParaRPr sz="1600">
              <a:latin typeface="Calibri"/>
              <a:cs typeface="Calibri"/>
            </a:endParaRPr>
          </a:p>
          <a:p>
            <a:pPr marL="469900" marR="5080" indent="-304165">
              <a:lnSpc>
                <a:spcPct val="114999"/>
              </a:lnSpc>
              <a:buChar char="-"/>
              <a:tabLst>
                <a:tab pos="469900" algn="l"/>
              </a:tabLst>
            </a:pPr>
            <a:r>
              <a:rPr sz="1600" spc="65" dirty="0">
                <a:latin typeface="Calibri"/>
                <a:cs typeface="Calibri"/>
              </a:rPr>
              <a:t>Для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конкретной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картинки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spc="-30" dirty="0">
                <a:latin typeface="Calibri"/>
                <a:cs typeface="Calibri"/>
              </a:rPr>
              <a:t>ищем</a:t>
            </a:r>
            <a:r>
              <a:rPr sz="1600" spc="1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похожие,</a:t>
            </a:r>
            <a:r>
              <a:rPr sz="1600" spc="1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сравнивая </a:t>
            </a:r>
            <a:r>
              <a:rPr sz="1600" spc="-30" dirty="0">
                <a:latin typeface="Calibri"/>
                <a:cs typeface="Calibri"/>
              </a:rPr>
              <a:t>эмбеддинг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этой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картинки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с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spc="-45" dirty="0">
                <a:latin typeface="Calibri"/>
                <a:cs typeface="Calibri"/>
              </a:rPr>
              <a:t>эмбеддингами</a:t>
            </a:r>
            <a:r>
              <a:rPr sz="1600" spc="1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других </a:t>
            </a:r>
            <a:r>
              <a:rPr sz="1600" spc="20" dirty="0">
                <a:latin typeface="Calibri"/>
                <a:cs typeface="Calibri"/>
              </a:rPr>
              <a:t>картинок</a:t>
            </a:r>
            <a:r>
              <a:rPr sz="1600" spc="165" dirty="0">
                <a:latin typeface="Calibri"/>
                <a:cs typeface="Calibri"/>
              </a:rPr>
              <a:t> </a:t>
            </a:r>
            <a:r>
              <a:rPr sz="1600" spc="20" dirty="0">
                <a:latin typeface="Calibri"/>
                <a:cs typeface="Calibri"/>
              </a:rPr>
              <a:t>датасета</a:t>
            </a:r>
            <a:r>
              <a:rPr sz="1600" spc="165" dirty="0">
                <a:latin typeface="Calibri"/>
                <a:cs typeface="Calibri"/>
              </a:rPr>
              <a:t> </a:t>
            </a:r>
            <a:r>
              <a:rPr sz="1600" spc="20" dirty="0">
                <a:latin typeface="Calibri"/>
                <a:cs typeface="Calibri"/>
              </a:rPr>
              <a:t>по</a:t>
            </a:r>
            <a:r>
              <a:rPr sz="1600" spc="170" dirty="0">
                <a:latin typeface="Calibri"/>
                <a:cs typeface="Calibri"/>
              </a:rPr>
              <a:t> </a:t>
            </a:r>
            <a:r>
              <a:rPr sz="1600" spc="20" dirty="0">
                <a:latin typeface="Calibri"/>
                <a:cs typeface="Calibri"/>
              </a:rPr>
              <a:t>MSE/косинусному</a:t>
            </a:r>
            <a:r>
              <a:rPr sz="1600" spc="1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расстоянию.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4725" y="389509"/>
            <a:ext cx="4274820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spc="-25" dirty="0"/>
              <a:t>Эмбеддинги</a:t>
            </a:r>
            <a:r>
              <a:rPr sz="2700" spc="20" dirty="0"/>
              <a:t> </a:t>
            </a:r>
            <a:r>
              <a:rPr sz="2700" dirty="0"/>
              <a:t>в</a:t>
            </a:r>
            <a:r>
              <a:rPr sz="2700" spc="20" dirty="0"/>
              <a:t> </a:t>
            </a:r>
            <a:r>
              <a:rPr sz="2700" spc="-75" dirty="0"/>
              <a:t>общем</a:t>
            </a:r>
            <a:r>
              <a:rPr sz="2700" spc="20" dirty="0"/>
              <a:t> </a:t>
            </a:r>
            <a:r>
              <a:rPr sz="2700" spc="-25" dirty="0"/>
              <a:t>смысле</a:t>
            </a:r>
            <a:endParaRPr sz="27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500" y="3910425"/>
            <a:ext cx="2448450" cy="1084099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128"/>
          <p:cNvSpPr txBox="1">
            <a:spLocks noGrp="1"/>
          </p:cNvSpPr>
          <p:nvPr>
            <p:ph type="title"/>
          </p:nvPr>
        </p:nvSpPr>
        <p:spPr>
          <a:xfrm>
            <a:off x="209450" y="175725"/>
            <a:ext cx="6180000" cy="19317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/>
          </a:bodyPr>
          <a:lstStyle/>
          <a:p>
            <a:r>
              <a:rPr lang="ru"/>
              <a:t>Спасибо </a:t>
            </a:r>
            <a:endParaRPr/>
          </a:p>
          <a:p>
            <a:r>
              <a:rPr lang="ru"/>
              <a:t>за внимание!</a:t>
            </a:r>
            <a:endParaRPr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C550ACE-0CEE-44E2-9107-E3C511DB23D2}"/>
              </a:ext>
            </a:extLst>
          </p:cNvPr>
          <p:cNvSpPr/>
          <p:nvPr/>
        </p:nvSpPr>
        <p:spPr>
          <a:xfrm>
            <a:off x="6129338" y="246460"/>
            <a:ext cx="1210866" cy="503634"/>
          </a:xfrm>
          <a:prstGeom prst="rect">
            <a:avLst/>
          </a:prstGeom>
          <a:solidFill>
            <a:srgbClr val="B4E915"/>
          </a:solidFill>
          <a:ln>
            <a:solidFill>
              <a:srgbClr val="B4E9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4167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</TotalTime>
  <Words>3121</Words>
  <Application>Microsoft Office PowerPoint</Application>
  <PresentationFormat>Экран (16:9)</PresentationFormat>
  <Paragraphs>971</Paragraphs>
  <Slides>84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84</vt:i4>
      </vt:variant>
    </vt:vector>
  </HeadingPairs>
  <TitlesOfParts>
    <vt:vector size="91" baseType="lpstr">
      <vt:lpstr>MS PGothic</vt:lpstr>
      <vt:lpstr>Calibri</vt:lpstr>
      <vt:lpstr>Montserrat</vt:lpstr>
      <vt:lpstr>Tahoma</vt:lpstr>
      <vt:lpstr>Times New Roman</vt:lpstr>
      <vt:lpstr>Verdana</vt:lpstr>
      <vt:lpstr>Office Theme</vt:lpstr>
      <vt:lpstr>Продвинутое DL</vt:lpstr>
      <vt:lpstr>План лекции</vt:lpstr>
      <vt:lpstr>1. Задачи обработки естественного языка </vt:lpstr>
      <vt:lpstr>Обработка естественного языка</vt:lpstr>
      <vt:lpstr>Задачи NLP</vt:lpstr>
      <vt:lpstr>Задачи NLP</vt:lpstr>
      <vt:lpstr>Задачи NLP</vt:lpstr>
      <vt:lpstr>Задачи NLP</vt:lpstr>
      <vt:lpstr>Задачи NLP</vt:lpstr>
      <vt:lpstr>Задачи NLP</vt:lpstr>
      <vt:lpstr>2. Векторные представления слов </vt:lpstr>
      <vt:lpstr>Векторные представления слов</vt:lpstr>
      <vt:lpstr>One-hot encoding</vt:lpstr>
      <vt:lpstr>One-hot encoding</vt:lpstr>
      <vt:lpstr>One-hot encoding</vt:lpstr>
      <vt:lpstr>Мешок слов (Bag of Words, BoG)</vt:lpstr>
      <vt:lpstr>Мешок слов (Bag of Words, BoG)</vt:lpstr>
      <vt:lpstr>Bag of Words</vt:lpstr>
      <vt:lpstr>Bag of Words</vt:lpstr>
      <vt:lpstr>Tf-IDF</vt:lpstr>
      <vt:lpstr>Tf-IDF</vt:lpstr>
      <vt:lpstr>Tf-IDF</vt:lpstr>
      <vt:lpstr>Tf-IDF</vt:lpstr>
      <vt:lpstr>Tf-IDF</vt:lpstr>
      <vt:lpstr>Tf-IDF</vt:lpstr>
      <vt:lpstr>Tf-idf</vt:lpstr>
      <vt:lpstr>Tf-iDF</vt:lpstr>
      <vt:lpstr>Tf-iDF</vt:lpstr>
      <vt:lpstr>Tf-iDF</vt:lpstr>
      <vt:lpstr>Латентный семантический анализ</vt:lpstr>
      <vt:lpstr>Латентный семантический анализ</vt:lpstr>
      <vt:lpstr>Латентный семантический анализ</vt:lpstr>
      <vt:lpstr>Латентный семантический анализ</vt:lpstr>
      <vt:lpstr>Латентный семантический анализ</vt:lpstr>
      <vt:lpstr>Презентация PowerPoint</vt:lpstr>
      <vt:lpstr>Латентный семантический анализ</vt:lpstr>
      <vt:lpstr>Латентный семантический анализ</vt:lpstr>
      <vt:lpstr>Презентация PowerPoint</vt:lpstr>
      <vt:lpstr>Контекстные векторы слов</vt:lpstr>
      <vt:lpstr>Контекстные векторы слов</vt:lpstr>
      <vt:lpstr>Контекстные векторы слов</vt:lpstr>
      <vt:lpstr>Контекстные векторы слов</vt:lpstr>
      <vt:lpstr>Контекстные векторы слов</vt:lpstr>
      <vt:lpstr>Сингулярное разложение</vt:lpstr>
      <vt:lpstr>Латентный семантический анализ</vt:lpstr>
      <vt:lpstr>Эмбеддинги слов</vt:lpstr>
      <vt:lpstr>Эмбеддинги слов</vt:lpstr>
      <vt:lpstr>Word2Vec</vt:lpstr>
      <vt:lpstr>Word2Vec</vt:lpstr>
      <vt:lpstr>Word2Vec</vt:lpstr>
      <vt:lpstr>Word2Vec</vt:lpstr>
      <vt:lpstr>Word2Vec</vt:lpstr>
      <vt:lpstr>Word2Vec</vt:lpstr>
      <vt:lpstr>Word2Vec</vt:lpstr>
      <vt:lpstr>Word2Vec</vt:lpstr>
      <vt:lpstr>Word2Vec</vt:lpstr>
      <vt:lpstr>Word2Vec</vt:lpstr>
      <vt:lpstr>Word2Vec</vt:lpstr>
      <vt:lpstr>Word2Vec</vt:lpstr>
      <vt:lpstr>Word2Vec</vt:lpstr>
      <vt:lpstr>Word2Vec</vt:lpstr>
      <vt:lpstr>Word2Vec</vt:lpstr>
      <vt:lpstr>Word2Vec</vt:lpstr>
      <vt:lpstr>Word2Vec</vt:lpstr>
      <vt:lpstr>Word2Vec</vt:lpstr>
      <vt:lpstr>Word2Vec</vt:lpstr>
      <vt:lpstr>Word2Vec</vt:lpstr>
      <vt:lpstr>Word2Vec</vt:lpstr>
      <vt:lpstr>4. Эмбеддинги фраз и предложений </vt:lpstr>
      <vt:lpstr>SoftMax</vt:lpstr>
      <vt:lpstr>Word2Vec</vt:lpstr>
      <vt:lpstr>Word2Veс vs SVD</vt:lpstr>
      <vt:lpstr>FastText</vt:lpstr>
      <vt:lpstr>FastText</vt:lpstr>
      <vt:lpstr>GloVe (Global Vectors)</vt:lpstr>
      <vt:lpstr>Эмбеддинги предложений</vt:lpstr>
      <vt:lpstr>Эмбеддинги предложений</vt:lpstr>
      <vt:lpstr>Классификация текста с помощью эмбеддингов</vt:lpstr>
      <vt:lpstr>Классификация текста с помощью эмбеддингов</vt:lpstr>
      <vt:lpstr>Карта языка</vt:lpstr>
      <vt:lpstr>Карта языка</vt:lpstr>
      <vt:lpstr>Эмбеддинги в общем смысле</vt:lpstr>
      <vt:lpstr>Эмбеддинги в общем смысле</vt:lpstr>
      <vt:lpstr>Спасибо 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Embeddings.pptx</dc:title>
  <cp:lastModifiedBy>Константин Некрасов</cp:lastModifiedBy>
  <cp:revision>15</cp:revision>
  <dcterms:created xsi:type="dcterms:W3CDTF">2025-05-19T10:49:30Z</dcterms:created>
  <dcterms:modified xsi:type="dcterms:W3CDTF">2026-04-27T15:05:31Z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2025-05-19T00:00:00Z</vt:filetime>
  </property>
  <property fmtid="{D5CDD505-2E9C-101B-9397-08002B2CF9AE}" pid="3" name="Creator">
    <vt:lpwstr>Google</vt:lpwstr>
  </property>
  <property fmtid="{D5CDD505-2E9C-101B-9397-08002B2CF9AE}" pid="4" name="LastSaved">
    <vt:filetime>2025-05-19T00:00:00Z</vt:filetime>
  </property>
</Properties>
</file>