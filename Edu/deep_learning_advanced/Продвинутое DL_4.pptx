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70"/>
  </p:notesMasterIdLst>
  <p:sldIdLst>
    <p:sldId id="256" r:id="rId2"/>
    <p:sldId id="257" r:id="rId3"/>
    <p:sldId id="350" r:id="rId4"/>
    <p:sldId id="349" r:id="rId5"/>
    <p:sldId id="259" r:id="rId6"/>
    <p:sldId id="351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48" r:id="rId69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71"/>
      <p:bold r:id="rId72"/>
      <p:italic r:id="rId73"/>
      <p:boldItalic r:id="rId74"/>
    </p:embeddedFont>
    <p:embeddedFont>
      <p:font typeface="Montserrat" panose="00000500000000000000" pitchFamily="2" charset="-52"/>
      <p:regular r:id="rId75"/>
      <p:bold r:id="rId76"/>
      <p:italic r:id="rId77"/>
      <p:boldItalic r:id="rId78"/>
    </p:embeddedFont>
    <p:embeddedFont>
      <p:font typeface="Old Standard TT" panose="020B0604020202020204" charset="-52"/>
      <p:regular r:id="rId79"/>
      <p:bold r:id="rId80"/>
      <p:italic r:id="rId81"/>
    </p:embeddedFont>
    <p:embeddedFont>
      <p:font typeface="Verdana" panose="020B0604030504040204" pitchFamily="34" charset="0"/>
      <p:regular r:id="rId82"/>
      <p:bold r:id="rId83"/>
      <p:italic r:id="rId84"/>
      <p:boldItalic r:id="rId8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7" d="100"/>
          <a:sy n="197" d="100"/>
        </p:scale>
        <p:origin x="666" y="15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14.fntdata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4.fntdata"/><Relationship Id="rId79" Type="http://schemas.openxmlformats.org/officeDocument/2006/relationships/font" Target="fonts/font9.fntdata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2.fntdata"/><Relationship Id="rId80" Type="http://schemas.openxmlformats.org/officeDocument/2006/relationships/font" Target="fonts/font10.fntdata"/><Relationship Id="rId85" Type="http://schemas.openxmlformats.org/officeDocument/2006/relationships/font" Target="fonts/font1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font" Target="fonts/font5.fntdata"/><Relationship Id="rId83" Type="http://schemas.openxmlformats.org/officeDocument/2006/relationships/font" Target="fonts/font13.fntdata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3.fntdata"/><Relationship Id="rId78" Type="http://schemas.openxmlformats.org/officeDocument/2006/relationships/font" Target="fonts/font8.fntdata"/><Relationship Id="rId81" Type="http://schemas.openxmlformats.org/officeDocument/2006/relationships/font" Target="fonts/font11.fntdata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6.fntdata"/><Relationship Id="rId7" Type="http://schemas.openxmlformats.org/officeDocument/2006/relationships/slide" Target="slides/slide6.xml"/><Relationship Id="rId71" Type="http://schemas.openxmlformats.org/officeDocument/2006/relationships/font" Target="fonts/font1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font" Target="fonts/font12.fntdata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5317fca73c_0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5317fca73c_0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2954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9f22a8a85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9f22a8a85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9f22a8a85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9f22a8a85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2501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9f22a8a85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9f22a8a85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2741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9f22a8a85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9f22a8a85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9efbcb7db4_0_2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9efbcb7db4_0_2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9f22a8a85f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9f22a8a85f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9f22a8a85f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9f22a8a85f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9f22a8a85f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9f22a8a85f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9f22a8a85f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9f22a8a85f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9f22a8a85f_0_8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9f22a8a85f_0_8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68b0a6265c_1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68b0a6265c_1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68b0a6265c_1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68b0a6265c_1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68b0a6265c_1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68b0a6265c_1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68b0a6265c_1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68b0a6265c_1_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68b0a6265c_1_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68b0a6265c_1_4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9f22a8a85f_0_1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29f22a8a85f_0_1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29f22a8a85f_0_1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29f22a8a85f_0_1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29f22a8a85f_0_7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29f22a8a85f_0_7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29f22a8a85f_0_4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29f22a8a85f_0_4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29f22a8a85f_0_44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29f22a8a85f_0_44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29f22a8a85f_0_7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29f22a8a85f_0_7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268b0a6265c_1_6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268b0a6265c_1_6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29f22a8a85f_0_8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29f22a8a85f_0_8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29f22a8a85f_0_44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29f22a8a85f_0_44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268b0a6265c_1_6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268b0a6265c_1_6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9f22a8a85f_0_15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9f22a8a85f_0_15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9f22a8a85f_0_19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29f22a8a85f_0_19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29f22a8a85f_0_16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29f22a8a85f_0_16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29f22a8a85f_0_45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29f22a8a85f_0_45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268b0a6265c_1_7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268b0a6265c_1_7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29f22a8a85f_0_18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29f22a8a85f_0_18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29f22a8a85f_0_19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29f22a8a85f_0_19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268b0a6265c_1_8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268b0a6265c_1_8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268b0a6265c_1_8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9" name="Google Shape;1139;g268b0a6265c_1_8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268b0a6265c_1_9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6" name="Google Shape;1146;g268b0a6265c_1_9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g29f22a8a85f_0_2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2" name="Google Shape;1232;g29f22a8a85f_0_2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29f22a8a85f_0_2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29f22a8a85f_0_2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g29f22a8a85f_0_2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6" name="Google Shape;1296;g29f22a8a85f_0_23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29f22a8a85f_0_48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g29f22a8a85f_0_48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g268b0a6265c_1_10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0" name="Google Shape;1310;g268b0a6265c_1_10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268b0a6265c_1_1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g268b0a6265c_1_1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g268b0a6265c_1_10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5" name="Google Shape;1365;g268b0a6265c_1_10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g29f22a8a85f_0_25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5" name="Google Shape;1375;g29f22a8a85f_0_25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g268b0a6265c_1_10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3" name="Google Shape;1403;g268b0a6265c_1_10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g268b0a6265c_1_1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4" name="Google Shape;1454;g268b0a6265c_1_1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g29f22a8a85f_0_26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5" name="Google Shape;1505;g29f22a8a85f_0_26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g268b0a6265c_1_1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3" name="Google Shape;1543;g268b0a6265c_1_1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g268b0a6265c_1_1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8" name="Google Shape;1588;g268b0a6265c_1_12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g268b0a6265c_1_1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9" name="Google Shape;1639;g268b0a6265c_1_13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g29f22a8a85f_0_4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9" name="Google Shape;1649;g29f22a8a85f_0_4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g268b0a6265c_1_1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5" name="Google Shape;1695;g268b0a6265c_1_1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Google Shape;1776;g268b0a6265c_1_14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7" name="Google Shape;1777;g268b0a6265c_1_14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g268b0a6265c_1_15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5" name="Google Shape;1855;g268b0a6265c_1_15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g29f22a8a85f_0_3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5" name="Google Shape;1865;g29f22a8a85f_0_3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g268b0a6265c_1_15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2" name="Google Shape;1892;g268b0a6265c_1_15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Google Shape;1944;g268b0a6265c_1_16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5" name="Google Shape;1945;g268b0a6265c_1_16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Google Shape;2000;g268b0a6265c_1_17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1" name="Google Shape;2001;g268b0a6265c_1_17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Google Shape;2059;g268b0a6265c_1_17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0" name="Google Shape;2060;g268b0a6265c_1_17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" name="Google Shape;2109;g268b0a6265c_1_18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0" name="Google Shape;2110;g268b0a6265c_1_18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5" name="Google Shape;2225;g268b0a6265c_1_19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6" name="Google Shape;2226;g268b0a6265c_1_19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5" name="Google Shape;2275;g29f22a8a85f_0_39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6" name="Google Shape;2276;g29f22a8a85f_0_39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" name="Google Shape;2283;g1ec50cc1201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4" name="Google Shape;2284;g1ec50cc1201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1" name="Google Shape;2301;g1ec50cc1201_1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2" name="Google Shape;2302;g1ec50cc1201_1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8" name="Google Shape;2348;g268b0a6265c_1_20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9" name="Google Shape;2349;g268b0a6265c_1_20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8" name="Google Shape;2398;g1ec50cc1201_1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9" name="Google Shape;2399;g1ec50cc1201_1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9" name="Google Shape;2429;g1ec50cc1201_1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0" name="Google Shape;2430;g1ec50cc1201_1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528d50a88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528d50a88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2789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кции с названием и описанием">
  <p:cSld name="SECTION_TITLE_AND_DESCRIPTION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Montserrat"/>
              <a:buChar char="●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○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■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●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○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■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●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○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Montserrat"/>
              <a:buChar char="■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новой секции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для формул/иллюстраций">
  <p:cSld name="CUSTOM_1">
    <p:bg>
      <p:bgPr>
        <a:noFill/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 b="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900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ld Standard TT"/>
              <a:buChar char="●"/>
              <a:defRPr sz="180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○"/>
              <a:defRPr sz="140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■"/>
              <a:defRPr sz="140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●"/>
              <a:defRPr sz="140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○"/>
              <a:defRPr sz="140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■"/>
              <a:defRPr sz="140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●"/>
              <a:defRPr sz="140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○"/>
              <a:defRPr sz="140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Old Standard TT"/>
              <a:buChar char="■"/>
              <a:defRPr sz="140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сновная идея, вывод">
  <p:cSld name="MAIN_POIN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Новый заголовок">
  <p:cSld name="TITLE_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Название и содержание" type="tx">
  <p:cSld name="TITLE_AND_BOD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Название и 2 колонки" type="twoColTx">
  <p:cSld name="TITLE_AND_TWO_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1 колонка текста">
  <p:cSld name="ONE_COLUM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одпись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B00"/>
              </a:buClr>
              <a:buSzPts val="1800"/>
              <a:buNone/>
              <a:defRPr>
                <a:solidFill>
                  <a:srgbClr val="FFEB00"/>
                </a:solidFill>
              </a:defRPr>
            </a:lvl1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ьшое число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 5">
  <p:cSld name="Титульный слайд 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ctrTitle"/>
          </p:nvPr>
        </p:nvSpPr>
        <p:spPr>
          <a:xfrm>
            <a:off x="209425" y="180000"/>
            <a:ext cx="5614200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4000"/>
              <a:buFont typeface="Montserrat"/>
              <a:buNone/>
              <a:defRPr sz="40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1" name="Google Shape;21;p4" descr="Название курса" title="Название курса"/>
          <p:cNvSpPr txBox="1">
            <a:spLocks noGrp="1"/>
          </p:cNvSpPr>
          <p:nvPr>
            <p:ph type="subTitle" idx="1"/>
          </p:nvPr>
        </p:nvSpPr>
        <p:spPr>
          <a:xfrm>
            <a:off x="229875" y="1811550"/>
            <a:ext cx="4911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400"/>
              <a:buFont typeface="Montserrat"/>
              <a:buNone/>
              <a:defRPr sz="24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2" name="Google Shape;22;p4" descr="Название курса" title="Название курса"/>
          <p:cNvSpPr txBox="1">
            <a:spLocks noGrp="1"/>
          </p:cNvSpPr>
          <p:nvPr>
            <p:ph type="subTitle" idx="2"/>
          </p:nvPr>
        </p:nvSpPr>
        <p:spPr>
          <a:xfrm>
            <a:off x="250325" y="4132675"/>
            <a:ext cx="4911300" cy="8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1800"/>
              <a:buFont typeface="Montserrat"/>
              <a:buNone/>
              <a:defRPr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23" name="Google Shape;2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4451" y="298801"/>
            <a:ext cx="2709550" cy="397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94672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асибо 2">
  <p:cSld name="Спасибо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3"/>
          <p:cNvSpPr txBox="1">
            <a:spLocks noGrp="1"/>
          </p:cNvSpPr>
          <p:nvPr>
            <p:ph type="title"/>
          </p:nvPr>
        </p:nvSpPr>
        <p:spPr>
          <a:xfrm>
            <a:off x="209450" y="175725"/>
            <a:ext cx="6180000" cy="19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4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9pPr>
          </a:lstStyle>
          <a:p>
            <a:endParaRPr/>
          </a:p>
        </p:txBody>
      </p:sp>
      <p:pic>
        <p:nvPicPr>
          <p:cNvPr id="194" name="Google Shape;19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1451" y="302401"/>
            <a:ext cx="2683775" cy="393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6722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B00"/>
              </a:buClr>
              <a:buSzPts val="2800"/>
              <a:buFont typeface="Montserrat"/>
              <a:buNone/>
              <a:defRPr sz="2800" b="1" i="0" u="none" strike="noStrike" cap="none">
                <a:solidFill>
                  <a:srgbClr val="FFEB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3" r:id="rId13"/>
    <p:sldLayoutId id="2147483664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+TGTG6GhUh5M0NTE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arxiv.org/pdf/1409.0473v7.pdf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4.png"/><Relationship Id="rId4" Type="http://schemas.openxmlformats.org/officeDocument/2006/relationships/image" Target="../media/image1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4.png"/><Relationship Id="rId4" Type="http://schemas.openxmlformats.org/officeDocument/2006/relationships/image" Target="../media/image1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4.png"/><Relationship Id="rId4" Type="http://schemas.openxmlformats.org/officeDocument/2006/relationships/image" Target="../media/image1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4.png"/><Relationship Id="rId4" Type="http://schemas.openxmlformats.org/officeDocument/2006/relationships/image" Target="../media/image1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4.png"/><Relationship Id="rId4" Type="http://schemas.openxmlformats.org/officeDocument/2006/relationships/image" Target="../media/image1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0.png"/><Relationship Id="rId5" Type="http://schemas.openxmlformats.org/officeDocument/2006/relationships/image" Target="../media/image48.png"/><Relationship Id="rId4" Type="http://schemas.openxmlformats.org/officeDocument/2006/relationships/image" Target="../media/image4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4.png"/><Relationship Id="rId4" Type="http://schemas.openxmlformats.org/officeDocument/2006/relationships/image" Target="../media/image1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45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9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8"/>
          <p:cNvSpPr txBox="1">
            <a:spLocks noGrp="1"/>
          </p:cNvSpPr>
          <p:nvPr>
            <p:ph type="ctrTitle"/>
          </p:nvPr>
        </p:nvSpPr>
        <p:spPr>
          <a:xfrm>
            <a:off x="209424" y="180000"/>
            <a:ext cx="5967538" cy="2052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ru-RU" dirty="0">
                <a:solidFill>
                  <a:srgbClr val="FEFAE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Введение в глубокое обучение</a:t>
            </a:r>
            <a:endParaRPr dirty="0">
              <a:solidFill>
                <a:srgbClr val="FEFAE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Google Shape;326;p68">
            <a:extLst>
              <a:ext uri="{FF2B5EF4-FFF2-40B4-BE49-F238E27FC236}">
                <a16:creationId xmlns:a16="http://schemas.microsoft.com/office/drawing/2014/main" id="{EB927237-F683-4A70-9044-2467C97BE202}"/>
              </a:ext>
            </a:extLst>
          </p:cNvPr>
          <p:cNvSpPr txBox="1">
            <a:spLocks/>
          </p:cNvSpPr>
          <p:nvPr/>
        </p:nvSpPr>
        <p:spPr>
          <a:xfrm>
            <a:off x="152400" y="3782982"/>
            <a:ext cx="4911300" cy="123290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228600" lvl="0" indent="-2286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400"/>
              <a:buFont typeface="Montserrat"/>
              <a:buNone/>
              <a:defRPr sz="3200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685800" lvl="1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143000" lvl="2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600200" lvl="3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057400" lvl="4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514600" lvl="5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2971800" lvl="6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429000" lvl="7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3886200" lvl="8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ru-RU" sz="1500" b="1" dirty="0">
                <a:latin typeface="Verdana" panose="020B0604030504040204" pitchFamily="34" charset="0"/>
                <a:ea typeface="Verdana" panose="020B0604030504040204" pitchFamily="34" charset="0"/>
              </a:rPr>
              <a:t>Некрасов Константин Олегович</a:t>
            </a:r>
          </a:p>
          <a:p>
            <a:pPr marL="0" indent="0"/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Директор по разработке </a:t>
            </a:r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  <a:t>ML-</a:t>
            </a:r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моделей  </a:t>
            </a:r>
          </a:p>
          <a:p>
            <a:pPr marL="0" indent="0"/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АО «Газпромбанк»</a:t>
            </a:r>
          </a:p>
          <a:p>
            <a:pPr marL="0" indent="0"/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t.me/</a:t>
            </a:r>
            <a:r>
              <a:rPr lang="en-US" sz="1500" dirty="0" err="1">
                <a:latin typeface="Verdana" panose="020B0604030504040204" pitchFamily="34" charset="0"/>
                <a:ea typeface="Verdan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algolab</a:t>
            </a:r>
            <a:endParaRPr lang="ru-RU" sz="15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8DDAEA7-D3EE-480A-BC7F-A3AC7A236D4D}"/>
              </a:ext>
            </a:extLst>
          </p:cNvPr>
          <p:cNvSpPr/>
          <p:nvPr/>
        </p:nvSpPr>
        <p:spPr>
          <a:xfrm>
            <a:off x="6027539" y="131780"/>
            <a:ext cx="1296590" cy="682608"/>
          </a:xfrm>
          <a:prstGeom prst="rect">
            <a:avLst/>
          </a:prstGeom>
          <a:solidFill>
            <a:srgbClr val="143091"/>
          </a:solidFill>
          <a:ln>
            <a:solidFill>
              <a:srgbClr val="1430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1692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План занятия</a:t>
            </a:r>
            <a:endParaRPr/>
          </a:p>
        </p:txBody>
      </p:sp>
      <p:sp>
        <p:nvSpPr>
          <p:cNvPr id="72" name="Google Shape;72;p17"/>
          <p:cNvSpPr txBox="1"/>
          <p:nvPr/>
        </p:nvSpPr>
        <p:spPr>
          <a:xfrm>
            <a:off x="352875" y="1108350"/>
            <a:ext cx="6639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Идея архитектуры Transformer для машинного перевода</a:t>
            </a:r>
            <a:endParaRPr sz="1600"/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-"/>
            </a:pPr>
            <a:r>
              <a:rPr lang="en" sz="1600"/>
              <a:t>Устройство Transformer Encoder</a:t>
            </a:r>
            <a:endParaRPr sz="1600"/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Устройство Transformer Decoder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QKV Attention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Encoder </a:t>
            </a:r>
            <a:r>
              <a:rPr lang="ru-RU" dirty="0"/>
              <a:t>и </a:t>
            </a:r>
            <a:r>
              <a:rPr lang="en-US" dirty="0"/>
              <a:t>Decoder</a:t>
            </a:r>
            <a:endParaRPr dirty="0"/>
          </a:p>
        </p:txBody>
      </p:sp>
      <p:sp>
        <p:nvSpPr>
          <p:cNvPr id="4" name="Google Shape;90;p20">
            <a:extLst>
              <a:ext uri="{FF2B5EF4-FFF2-40B4-BE49-F238E27FC236}">
                <a16:creationId xmlns:a16="http://schemas.microsoft.com/office/drawing/2014/main" id="{CA1BFD72-45AB-4012-B790-82BCF5DA14CE}"/>
              </a:ext>
            </a:extLst>
          </p:cNvPr>
          <p:cNvSpPr txBox="1"/>
          <p:nvPr/>
        </p:nvSpPr>
        <p:spPr>
          <a:xfrm>
            <a:off x="311700" y="1152600"/>
            <a:ext cx="3670052" cy="39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 err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Энкодер</a:t>
            </a:r>
            <a:r>
              <a:rPr lang="ru-RU" sz="1600" dirty="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— это часть нейронной сети, которая преобразует входные данные (например, предложение на английском языке) в внутреннее представление или контекст , который содержит информацию о входных данных в виде числового вектора или набора векторов.</a:t>
            </a:r>
          </a:p>
        </p:txBody>
      </p:sp>
      <p:sp>
        <p:nvSpPr>
          <p:cNvPr id="5" name="Google Shape;90;p20">
            <a:extLst>
              <a:ext uri="{FF2B5EF4-FFF2-40B4-BE49-F238E27FC236}">
                <a16:creationId xmlns:a16="http://schemas.microsoft.com/office/drawing/2014/main" id="{31206EA8-1D53-4CAE-BB6A-C2F2A1E5ECE0}"/>
              </a:ext>
            </a:extLst>
          </p:cNvPr>
          <p:cNvSpPr txBox="1"/>
          <p:nvPr/>
        </p:nvSpPr>
        <p:spPr>
          <a:xfrm>
            <a:off x="4245014" y="1152600"/>
            <a:ext cx="4703400" cy="39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Декодер</a:t>
            </a:r>
            <a:r>
              <a:rPr lang="ru-RU" sz="1600" dirty="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— это часть модели, которая генерирует выходную последовательность (например, перевод на другой язык) на основе контекста, полученного от </a:t>
            </a:r>
            <a:r>
              <a:rPr lang="ru-RU" sz="1600" dirty="0" err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энкодера</a:t>
            </a:r>
            <a:r>
              <a:rPr lang="ru-RU" sz="1600" dirty="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2007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Encoder </a:t>
            </a:r>
            <a:r>
              <a:rPr lang="ru-RU" dirty="0"/>
              <a:t>и </a:t>
            </a:r>
            <a:r>
              <a:rPr lang="en-US" dirty="0"/>
              <a:t>Decoder</a:t>
            </a:r>
            <a:endParaRPr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77ED83F-46E7-4D9A-A914-902D2DC71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39813"/>
            <a:ext cx="9144000" cy="3062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2668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Недостатки RNN </a:t>
            </a:r>
            <a:endParaRPr/>
          </a:p>
        </p:txBody>
      </p:sp>
      <p:sp>
        <p:nvSpPr>
          <p:cNvPr id="84" name="Google Shape;84;p19"/>
          <p:cNvSpPr txBox="1"/>
          <p:nvPr/>
        </p:nvSpPr>
        <p:spPr>
          <a:xfrm>
            <a:off x="352900" y="1064250"/>
            <a:ext cx="5108100" cy="39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Encoder на основе RNN очень медленный:</a:t>
            </a:r>
            <a:endParaRPr sz="1600" b="1" dirty="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457200" lvl="0" indent="-330200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ld Standard TT"/>
              <a:buChar char="-"/>
            </a:pPr>
            <a:r>
              <a:rPr lang="en" sz="1600" dirty="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Forward pass работает медленно, так как обрабатывает входящие токены последовательно;</a:t>
            </a:r>
            <a:endParaRPr sz="1600" dirty="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457200" lvl="0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ld Standard TT"/>
              <a:buChar char="-"/>
            </a:pPr>
            <a:r>
              <a:rPr lang="en" sz="1600" dirty="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Backward pass работает медленно, так как происходит распространение градиентов сквозь время;</a:t>
            </a:r>
            <a:endParaRPr sz="1600" dirty="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У RNN возникают проблемы во время обучения:</a:t>
            </a:r>
            <a:endParaRPr sz="1600" b="1" dirty="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457200" lvl="0" indent="-330200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ld Standard TT"/>
              <a:buChar char="-"/>
            </a:pPr>
            <a:r>
              <a:rPr lang="en" sz="1600" dirty="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Затухание/взрыв градиентов;</a:t>
            </a:r>
            <a:endParaRPr sz="1600" dirty="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457200" lvl="0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ld Standard TT"/>
              <a:buChar char="-"/>
            </a:pPr>
            <a:r>
              <a:rPr lang="en" sz="1600" dirty="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Плохая утилизация GPU</a:t>
            </a:r>
            <a:endParaRPr sz="1600" dirty="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223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Attention</a:t>
            </a:r>
            <a:endParaRPr/>
          </a:p>
        </p:txBody>
      </p:sp>
      <p:pic>
        <p:nvPicPr>
          <p:cNvPr id="205" name="Google Shape;20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325" y="1217500"/>
            <a:ext cx="4543200" cy="3806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4"/>
          <p:cNvSpPr txBox="1"/>
          <p:nvPr/>
        </p:nvSpPr>
        <p:spPr>
          <a:xfrm>
            <a:off x="3063850" y="330200"/>
            <a:ext cx="4235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Идея Attention была впервые предложена в 2014-2015 году в </a:t>
            </a:r>
            <a:r>
              <a:rPr lang="en" sz="1600" u="sng">
                <a:solidFill>
                  <a:schemeClr val="hlink"/>
                </a:solidFill>
                <a:latin typeface="Old Standard TT"/>
                <a:ea typeface="Old Standard TT"/>
                <a:cs typeface="Old Standard TT"/>
                <a:sym typeface="Old Standard TT"/>
                <a:hlinkClick r:id="rId4"/>
              </a:rPr>
              <a:t>этой</a:t>
            </a: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статье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Идея Transformer</a:t>
            </a:r>
            <a:endParaRPr/>
          </a:p>
        </p:txBody>
      </p:sp>
      <p:sp>
        <p:nvSpPr>
          <p:cNvPr id="96" name="Google Shape;96;p21"/>
          <p:cNvSpPr txBox="1"/>
          <p:nvPr/>
        </p:nvSpPr>
        <p:spPr>
          <a:xfrm>
            <a:off x="388175" y="1108350"/>
            <a:ext cx="4703400" cy="39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Transformer</a:t>
            </a:r>
            <a:r>
              <a:rPr lang="en" sz="1600" b="1" i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</a:t>
            </a: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— архитектура, основа которой — механизм Attention. 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У Transformer нет RNN-слоев.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Идея Transformer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2"/>
          <p:cNvSpPr txBox="1"/>
          <p:nvPr/>
        </p:nvSpPr>
        <p:spPr>
          <a:xfrm>
            <a:off x="405825" y="1082000"/>
            <a:ext cx="49056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Transformer впервые предложили в 2017 году в статье от Google “</a:t>
            </a:r>
            <a:r>
              <a:rPr lang="en" sz="1600" b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Attention is all you need</a:t>
            </a: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”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03" name="Google Shape;10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954" y="1923210"/>
            <a:ext cx="4703401" cy="30701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Идея Transformer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3"/>
          <p:cNvSpPr txBox="1"/>
          <p:nvPr/>
        </p:nvSpPr>
        <p:spPr>
          <a:xfrm>
            <a:off x="404650" y="1094000"/>
            <a:ext cx="37065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У Transformer архитектура тоже имеет тип Encoder-Decoder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10" name="Google Shape;11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463" y="1962200"/>
            <a:ext cx="2560926" cy="2865357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3"/>
          <p:cNvSpPr/>
          <p:nvPr/>
        </p:nvSpPr>
        <p:spPr>
          <a:xfrm>
            <a:off x="794025" y="4007225"/>
            <a:ext cx="785100" cy="7674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3"/>
          <p:cNvSpPr/>
          <p:nvPr/>
        </p:nvSpPr>
        <p:spPr>
          <a:xfrm>
            <a:off x="2322725" y="2033400"/>
            <a:ext cx="785100" cy="7674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3" name="Google Shape;113;p23"/>
          <p:cNvCxnSpPr/>
          <p:nvPr/>
        </p:nvCxnSpPr>
        <p:spPr>
          <a:xfrm rot="10800000" flipH="1">
            <a:off x="1378725" y="4051400"/>
            <a:ext cx="4500" cy="414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" name="Google Shape;114;p23"/>
          <p:cNvCxnSpPr/>
          <p:nvPr/>
        </p:nvCxnSpPr>
        <p:spPr>
          <a:xfrm rot="10800000" flipH="1">
            <a:off x="2528050" y="2386200"/>
            <a:ext cx="4500" cy="414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5" name="Google Shape;115;p23"/>
          <p:cNvCxnSpPr/>
          <p:nvPr/>
        </p:nvCxnSpPr>
        <p:spPr>
          <a:xfrm rot="10800000" flipH="1">
            <a:off x="2901025" y="2386200"/>
            <a:ext cx="4500" cy="414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6" name="Google Shape;116;p23"/>
          <p:cNvSpPr txBox="1"/>
          <p:nvPr/>
        </p:nvSpPr>
        <p:spPr>
          <a:xfrm>
            <a:off x="599925" y="4466000"/>
            <a:ext cx="1244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доброе утро</a:t>
            </a:r>
            <a:endParaRPr sz="12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23"/>
          <p:cNvSpPr txBox="1"/>
          <p:nvPr/>
        </p:nvSpPr>
        <p:spPr>
          <a:xfrm>
            <a:off x="2190275" y="1962200"/>
            <a:ext cx="1244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good night</a:t>
            </a:r>
            <a:endParaRPr sz="12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 Encoder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4"/>
          <p:cNvSpPr/>
          <p:nvPr/>
        </p:nvSpPr>
        <p:spPr>
          <a:xfrm>
            <a:off x="6078675" y="445025"/>
            <a:ext cx="2322900" cy="4416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4"/>
          <p:cNvSpPr/>
          <p:nvPr/>
        </p:nvSpPr>
        <p:spPr>
          <a:xfrm>
            <a:off x="5364050" y="1552750"/>
            <a:ext cx="900000" cy="2913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4"/>
          <p:cNvSpPr txBox="1"/>
          <p:nvPr/>
        </p:nvSpPr>
        <p:spPr>
          <a:xfrm>
            <a:off x="405825" y="1166950"/>
            <a:ext cx="3361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Encoder обрабатывает токены входящей последовательности </a:t>
            </a:r>
            <a:r>
              <a:rPr lang="en" sz="1600" b="1" i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параллельно</a:t>
            </a:r>
            <a:endParaRPr sz="1600" b="1" i="1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26" name="Google Shape;12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725" y="2090350"/>
            <a:ext cx="2287650" cy="293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4"/>
          <p:cNvSpPr/>
          <p:nvPr/>
        </p:nvSpPr>
        <p:spPr>
          <a:xfrm>
            <a:off x="2708500" y="2354400"/>
            <a:ext cx="141300" cy="1376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24"/>
          <p:cNvSpPr txBox="1"/>
          <p:nvPr/>
        </p:nvSpPr>
        <p:spPr>
          <a:xfrm>
            <a:off x="3034925" y="28988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Encoder Block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/>
        </p:nvSpPr>
        <p:spPr>
          <a:xfrm>
            <a:off x="109400" y="3667790"/>
            <a:ext cx="118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</a:t>
            </a:r>
            <a:endParaRPr>
              <a:solidFill>
                <a:srgbClr val="B7B7B7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1191031" y="4522932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&lt;BOS&gt;   Guten   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Morgen   &lt;EOS&gt;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1025" y="3438263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5"/>
          <p:cNvSpPr/>
          <p:nvPr/>
        </p:nvSpPr>
        <p:spPr>
          <a:xfrm>
            <a:off x="1347549" y="342141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5"/>
          <p:cNvSpPr/>
          <p:nvPr/>
        </p:nvSpPr>
        <p:spPr>
          <a:xfrm>
            <a:off x="1342975" y="3846287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5"/>
          <p:cNvSpPr/>
          <p:nvPr/>
        </p:nvSpPr>
        <p:spPr>
          <a:xfrm>
            <a:off x="1916452" y="38462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5"/>
          <p:cNvSpPr/>
          <p:nvPr/>
        </p:nvSpPr>
        <p:spPr>
          <a:xfrm>
            <a:off x="2545252" y="38462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5"/>
          <p:cNvSpPr/>
          <p:nvPr/>
        </p:nvSpPr>
        <p:spPr>
          <a:xfrm>
            <a:off x="3174052" y="38462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25"/>
          <p:cNvSpPr txBox="1"/>
          <p:nvPr/>
        </p:nvSpPr>
        <p:spPr>
          <a:xfrm>
            <a:off x="1343263" y="37467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42" name="Google Shape;142;p25"/>
          <p:cNvSpPr txBox="1"/>
          <p:nvPr/>
        </p:nvSpPr>
        <p:spPr>
          <a:xfrm>
            <a:off x="1944413" y="37467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43" name="Google Shape;143;p25"/>
          <p:cNvSpPr txBox="1"/>
          <p:nvPr/>
        </p:nvSpPr>
        <p:spPr>
          <a:xfrm>
            <a:off x="2559225" y="37467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44" name="Google Shape;144;p25"/>
          <p:cNvSpPr txBox="1"/>
          <p:nvPr/>
        </p:nvSpPr>
        <p:spPr>
          <a:xfrm>
            <a:off x="3174013" y="37467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45" name="Google Shape;145;p25"/>
          <p:cNvSpPr txBox="1"/>
          <p:nvPr/>
        </p:nvSpPr>
        <p:spPr>
          <a:xfrm>
            <a:off x="138175" y="4364288"/>
            <a:ext cx="75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input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/>
        </p:nvSpPr>
        <p:spPr>
          <a:xfrm>
            <a:off x="109400" y="3667790"/>
            <a:ext cx="118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</a:t>
            </a:r>
            <a:endParaRPr>
              <a:solidFill>
                <a:srgbClr val="B7B7B7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6"/>
          <p:cNvSpPr txBox="1"/>
          <p:nvPr/>
        </p:nvSpPr>
        <p:spPr>
          <a:xfrm>
            <a:off x="1191031" y="4522932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&lt;BOS&gt;   Guten   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Morgen   &lt;EOS&gt;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1025" y="3438263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6"/>
          <p:cNvSpPr/>
          <p:nvPr/>
        </p:nvSpPr>
        <p:spPr>
          <a:xfrm>
            <a:off x="1347549" y="342141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6"/>
          <p:cNvSpPr/>
          <p:nvPr/>
        </p:nvSpPr>
        <p:spPr>
          <a:xfrm>
            <a:off x="1342975" y="3846287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6"/>
          <p:cNvSpPr/>
          <p:nvPr/>
        </p:nvSpPr>
        <p:spPr>
          <a:xfrm>
            <a:off x="1916452" y="38462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26"/>
          <p:cNvSpPr/>
          <p:nvPr/>
        </p:nvSpPr>
        <p:spPr>
          <a:xfrm>
            <a:off x="2545252" y="38462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6"/>
          <p:cNvSpPr/>
          <p:nvPr/>
        </p:nvSpPr>
        <p:spPr>
          <a:xfrm>
            <a:off x="3174052" y="38462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6"/>
          <p:cNvSpPr txBox="1"/>
          <p:nvPr/>
        </p:nvSpPr>
        <p:spPr>
          <a:xfrm>
            <a:off x="1343263" y="37467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59" name="Google Shape;159;p26"/>
          <p:cNvSpPr txBox="1"/>
          <p:nvPr/>
        </p:nvSpPr>
        <p:spPr>
          <a:xfrm>
            <a:off x="1944413" y="37467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60" name="Google Shape;160;p26"/>
          <p:cNvSpPr txBox="1"/>
          <p:nvPr/>
        </p:nvSpPr>
        <p:spPr>
          <a:xfrm>
            <a:off x="2559225" y="37467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61" name="Google Shape;161;p26"/>
          <p:cNvSpPr txBox="1"/>
          <p:nvPr/>
        </p:nvSpPr>
        <p:spPr>
          <a:xfrm>
            <a:off x="3174013" y="37467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cxnSp>
        <p:nvCxnSpPr>
          <p:cNvPr id="162" name="Google Shape;162;p26"/>
          <p:cNvCxnSpPr/>
          <p:nvPr/>
        </p:nvCxnSpPr>
        <p:spPr>
          <a:xfrm rot="10800000">
            <a:off x="2174133" y="3408195"/>
            <a:ext cx="600" cy="327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3" name="Google Shape;163;p26"/>
          <p:cNvCxnSpPr/>
          <p:nvPr/>
        </p:nvCxnSpPr>
        <p:spPr>
          <a:xfrm rot="10800000">
            <a:off x="2775606" y="3408388"/>
            <a:ext cx="5700" cy="33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4" name="Google Shape;164;p26"/>
          <p:cNvCxnSpPr/>
          <p:nvPr/>
        </p:nvCxnSpPr>
        <p:spPr>
          <a:xfrm rot="10800000">
            <a:off x="3376879" y="3408110"/>
            <a:ext cx="0" cy="305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5" name="Google Shape;165;p26"/>
          <p:cNvCxnSpPr/>
          <p:nvPr/>
        </p:nvCxnSpPr>
        <p:spPr>
          <a:xfrm rot="10800000">
            <a:off x="1572434" y="3397047"/>
            <a:ext cx="600" cy="327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6" name="Google Shape;166;p26"/>
          <p:cNvSpPr/>
          <p:nvPr/>
        </p:nvSpPr>
        <p:spPr>
          <a:xfrm>
            <a:off x="1347550" y="2812663"/>
            <a:ext cx="2194800" cy="613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6"/>
          <p:cNvSpPr txBox="1"/>
          <p:nvPr/>
        </p:nvSpPr>
        <p:spPr>
          <a:xfrm>
            <a:off x="1468871" y="2927758"/>
            <a:ext cx="2298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Self-attention layer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6"/>
          <p:cNvSpPr txBox="1"/>
          <p:nvPr/>
        </p:nvSpPr>
        <p:spPr>
          <a:xfrm>
            <a:off x="311700" y="493075"/>
            <a:ext cx="52554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Слой self-attention вычисляет дополнительную информацию для эмбеддинга каждого токена на основе его контекста (т.е. эмбеддингов всех других токенов) 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“Sport is good, it helps a lot”</a:t>
            </a:r>
            <a:endParaRPr sz="1600" i="1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69" name="Google Shape;169;p26"/>
          <p:cNvSpPr txBox="1"/>
          <p:nvPr/>
        </p:nvSpPr>
        <p:spPr>
          <a:xfrm>
            <a:off x="138175" y="4364288"/>
            <a:ext cx="75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input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/>
        </p:nvSpPr>
        <p:spPr>
          <a:xfrm>
            <a:off x="138175" y="4364288"/>
            <a:ext cx="75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input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7"/>
          <p:cNvSpPr txBox="1"/>
          <p:nvPr/>
        </p:nvSpPr>
        <p:spPr>
          <a:xfrm>
            <a:off x="109400" y="3667790"/>
            <a:ext cx="118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</a:t>
            </a:r>
            <a:endParaRPr>
              <a:solidFill>
                <a:srgbClr val="B7B7B7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7"/>
          <p:cNvSpPr txBox="1"/>
          <p:nvPr/>
        </p:nvSpPr>
        <p:spPr>
          <a:xfrm>
            <a:off x="1191031" y="4522932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&lt;BOS&gt;   Guten   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Morgen   &lt;EOS&gt;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1025" y="3482388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7"/>
          <p:cNvSpPr/>
          <p:nvPr/>
        </p:nvSpPr>
        <p:spPr>
          <a:xfrm>
            <a:off x="1347549" y="3465536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7"/>
          <p:cNvSpPr/>
          <p:nvPr/>
        </p:nvSpPr>
        <p:spPr>
          <a:xfrm>
            <a:off x="1342975" y="3846287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7"/>
          <p:cNvSpPr/>
          <p:nvPr/>
        </p:nvSpPr>
        <p:spPr>
          <a:xfrm>
            <a:off x="1916452" y="38462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7"/>
          <p:cNvSpPr/>
          <p:nvPr/>
        </p:nvSpPr>
        <p:spPr>
          <a:xfrm>
            <a:off x="2545252" y="38462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7"/>
          <p:cNvSpPr/>
          <p:nvPr/>
        </p:nvSpPr>
        <p:spPr>
          <a:xfrm>
            <a:off x="3174052" y="38462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7"/>
          <p:cNvSpPr txBox="1"/>
          <p:nvPr/>
        </p:nvSpPr>
        <p:spPr>
          <a:xfrm>
            <a:off x="1343263" y="37467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1944413" y="37467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5" name="Google Shape;185;p27"/>
          <p:cNvSpPr txBox="1"/>
          <p:nvPr/>
        </p:nvSpPr>
        <p:spPr>
          <a:xfrm>
            <a:off x="2559225" y="37467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6" name="Google Shape;186;p27"/>
          <p:cNvSpPr txBox="1"/>
          <p:nvPr/>
        </p:nvSpPr>
        <p:spPr>
          <a:xfrm>
            <a:off x="3174013" y="37467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cxnSp>
        <p:nvCxnSpPr>
          <p:cNvPr id="187" name="Google Shape;187;p27"/>
          <p:cNvCxnSpPr/>
          <p:nvPr/>
        </p:nvCxnSpPr>
        <p:spPr>
          <a:xfrm rot="10800000">
            <a:off x="1583508" y="3403673"/>
            <a:ext cx="7500" cy="39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8" name="Google Shape;188;p27"/>
          <p:cNvSpPr/>
          <p:nvPr/>
        </p:nvSpPr>
        <p:spPr>
          <a:xfrm>
            <a:off x="2048944" y="30843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7"/>
          <p:cNvSpPr/>
          <p:nvPr/>
        </p:nvSpPr>
        <p:spPr>
          <a:xfrm>
            <a:off x="2619250" y="30843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7"/>
          <p:cNvSpPr/>
          <p:nvPr/>
        </p:nvSpPr>
        <p:spPr>
          <a:xfrm>
            <a:off x="3189558" y="30843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1" name="Google Shape;191;p27"/>
          <p:cNvCxnSpPr/>
          <p:nvPr/>
        </p:nvCxnSpPr>
        <p:spPr>
          <a:xfrm rot="10800000">
            <a:off x="2186083" y="3465216"/>
            <a:ext cx="600" cy="35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2" name="Google Shape;192;p27"/>
          <p:cNvCxnSpPr/>
          <p:nvPr/>
        </p:nvCxnSpPr>
        <p:spPr>
          <a:xfrm rot="10800000">
            <a:off x="2784075" y="3465100"/>
            <a:ext cx="5400" cy="36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3" name="Google Shape;193;p27"/>
          <p:cNvCxnSpPr/>
          <p:nvPr/>
        </p:nvCxnSpPr>
        <p:spPr>
          <a:xfrm rot="10800000">
            <a:off x="3381335" y="3465148"/>
            <a:ext cx="0" cy="330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4" name="Google Shape;194;p27"/>
          <p:cNvCxnSpPr/>
          <p:nvPr/>
        </p:nvCxnSpPr>
        <p:spPr>
          <a:xfrm rot="10800000" flipH="1">
            <a:off x="1594813" y="3394878"/>
            <a:ext cx="1064700" cy="39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5" name="Google Shape;195;p27"/>
          <p:cNvCxnSpPr/>
          <p:nvPr/>
        </p:nvCxnSpPr>
        <p:spPr>
          <a:xfrm rot="10800000" flipH="1">
            <a:off x="1594823" y="3397832"/>
            <a:ext cx="1635600" cy="40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6" name="Google Shape;196;p27"/>
          <p:cNvSpPr txBox="1"/>
          <p:nvPr/>
        </p:nvSpPr>
        <p:spPr>
          <a:xfrm>
            <a:off x="1979158" y="3017559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 w</a:t>
            </a:r>
            <a:r>
              <a:rPr lang="en" sz="1200" i="1" baseline="-25000">
                <a:solidFill>
                  <a:srgbClr val="595959"/>
                </a:solidFill>
              </a:rPr>
              <a:t>12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197" name="Google Shape;197;p27"/>
          <p:cNvSpPr txBox="1"/>
          <p:nvPr/>
        </p:nvSpPr>
        <p:spPr>
          <a:xfrm>
            <a:off x="2582166" y="3017560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13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198" name="Google Shape;198;p27"/>
          <p:cNvSpPr txBox="1"/>
          <p:nvPr/>
        </p:nvSpPr>
        <p:spPr>
          <a:xfrm>
            <a:off x="3156846" y="3017552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14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199" name="Google Shape;199;p27"/>
          <p:cNvSpPr txBox="1"/>
          <p:nvPr/>
        </p:nvSpPr>
        <p:spPr>
          <a:xfrm>
            <a:off x="1415791" y="1630500"/>
            <a:ext cx="221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0.4     0.55     0.1    0.05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0" name="Google Shape;200;p27"/>
          <p:cNvSpPr/>
          <p:nvPr/>
        </p:nvSpPr>
        <p:spPr>
          <a:xfrm>
            <a:off x="2151868" y="2133786"/>
            <a:ext cx="209400" cy="6636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7"/>
          <p:cNvSpPr/>
          <p:nvPr/>
        </p:nvSpPr>
        <p:spPr>
          <a:xfrm>
            <a:off x="2648568" y="2556812"/>
            <a:ext cx="209400" cy="2304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7"/>
          <p:cNvSpPr/>
          <p:nvPr/>
        </p:nvSpPr>
        <p:spPr>
          <a:xfrm>
            <a:off x="3192634" y="2657914"/>
            <a:ext cx="209400" cy="124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3" name="Google Shape;203;p27"/>
          <p:cNvCxnSpPr/>
          <p:nvPr/>
        </p:nvCxnSpPr>
        <p:spPr>
          <a:xfrm>
            <a:off x="1255056" y="2880656"/>
            <a:ext cx="2230800" cy="1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4" name="Google Shape;204;p27"/>
          <p:cNvSpPr/>
          <p:nvPr/>
        </p:nvSpPr>
        <p:spPr>
          <a:xfrm>
            <a:off x="1415778" y="3086521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7"/>
          <p:cNvSpPr txBox="1"/>
          <p:nvPr/>
        </p:nvSpPr>
        <p:spPr>
          <a:xfrm>
            <a:off x="1339091" y="3017565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 w</a:t>
            </a:r>
            <a:r>
              <a:rPr lang="en" sz="1200" i="1" baseline="-25000">
                <a:solidFill>
                  <a:srgbClr val="595959"/>
                </a:solidFill>
              </a:rPr>
              <a:t>11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06" name="Google Shape;206;p27"/>
          <p:cNvSpPr/>
          <p:nvPr/>
        </p:nvSpPr>
        <p:spPr>
          <a:xfrm>
            <a:off x="1482924" y="2305953"/>
            <a:ext cx="209400" cy="4971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7" name="Google Shape;207;p27"/>
          <p:cNvCxnSpPr>
            <a:endCxn id="188" idx="3"/>
          </p:cNvCxnSpPr>
          <p:nvPr/>
        </p:nvCxnSpPr>
        <p:spPr>
          <a:xfrm rot="10800000" flipH="1">
            <a:off x="1574992" y="3386524"/>
            <a:ext cx="521400" cy="404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8" name="Google Shape;208;p27"/>
          <p:cNvSpPr txBox="1"/>
          <p:nvPr/>
        </p:nvSpPr>
        <p:spPr>
          <a:xfrm>
            <a:off x="109400" y="2980388"/>
            <a:ext cx="14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Self-attention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7"/>
          <p:cNvSpPr txBox="1"/>
          <p:nvPr/>
        </p:nvSpPr>
        <p:spPr>
          <a:xfrm>
            <a:off x="138163" y="2265483"/>
            <a:ext cx="85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SoftMax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210" name="Google Shape;210;p27"/>
          <p:cNvSpPr/>
          <p:nvPr/>
        </p:nvSpPr>
        <p:spPr>
          <a:xfrm rot="5400000">
            <a:off x="2390800" y="455550"/>
            <a:ext cx="161100" cy="2122200"/>
          </a:xfrm>
          <a:prstGeom prst="leftBrace">
            <a:avLst>
              <a:gd name="adj1" fmla="val 50000"/>
              <a:gd name="adj2" fmla="val 82313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7"/>
          <p:cNvSpPr/>
          <p:nvPr/>
        </p:nvSpPr>
        <p:spPr>
          <a:xfrm>
            <a:off x="1454075" y="105917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7"/>
          <p:cNvSpPr txBox="1"/>
          <p:nvPr/>
        </p:nvSpPr>
        <p:spPr>
          <a:xfrm>
            <a:off x="1530563" y="9596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13" name="Google Shape;213;p27"/>
          <p:cNvSpPr txBox="1"/>
          <p:nvPr/>
        </p:nvSpPr>
        <p:spPr>
          <a:xfrm>
            <a:off x="107607" y="1615500"/>
            <a:ext cx="1316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Агрегация</a:t>
            </a:r>
            <a:endParaRPr>
              <a:solidFill>
                <a:srgbClr val="B7B7B7"/>
              </a:solidFill>
            </a:endParaRPr>
          </a:p>
        </p:txBody>
      </p:sp>
      <p:pic>
        <p:nvPicPr>
          <p:cNvPr id="214" name="Google Shape;21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650" y="3288191"/>
            <a:ext cx="1245100" cy="369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57000" y="163550"/>
            <a:ext cx="1404900" cy="695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 txBox="1"/>
          <p:nvPr/>
        </p:nvSpPr>
        <p:spPr>
          <a:xfrm>
            <a:off x="138175" y="4364288"/>
            <a:ext cx="75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input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8"/>
          <p:cNvSpPr txBox="1"/>
          <p:nvPr/>
        </p:nvSpPr>
        <p:spPr>
          <a:xfrm>
            <a:off x="109400" y="3667790"/>
            <a:ext cx="118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</a:t>
            </a:r>
            <a:endParaRPr>
              <a:solidFill>
                <a:srgbClr val="B7B7B7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8"/>
          <p:cNvSpPr txBox="1"/>
          <p:nvPr/>
        </p:nvSpPr>
        <p:spPr>
          <a:xfrm>
            <a:off x="1191031" y="4522932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&lt;BOS&gt;   Guten   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Morgen   &lt;EOS&gt;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1025" y="3482388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8"/>
          <p:cNvSpPr/>
          <p:nvPr/>
        </p:nvSpPr>
        <p:spPr>
          <a:xfrm>
            <a:off x="1347549" y="3465536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8"/>
          <p:cNvSpPr/>
          <p:nvPr/>
        </p:nvSpPr>
        <p:spPr>
          <a:xfrm>
            <a:off x="1342975" y="3846287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8"/>
          <p:cNvSpPr/>
          <p:nvPr/>
        </p:nvSpPr>
        <p:spPr>
          <a:xfrm>
            <a:off x="1916452" y="38462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28"/>
          <p:cNvSpPr/>
          <p:nvPr/>
        </p:nvSpPr>
        <p:spPr>
          <a:xfrm>
            <a:off x="2545252" y="38462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8"/>
          <p:cNvSpPr/>
          <p:nvPr/>
        </p:nvSpPr>
        <p:spPr>
          <a:xfrm>
            <a:off x="3174052" y="38462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8"/>
          <p:cNvSpPr txBox="1"/>
          <p:nvPr/>
        </p:nvSpPr>
        <p:spPr>
          <a:xfrm>
            <a:off x="1343263" y="37467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30" name="Google Shape;230;p28"/>
          <p:cNvSpPr txBox="1"/>
          <p:nvPr/>
        </p:nvSpPr>
        <p:spPr>
          <a:xfrm>
            <a:off x="1944413" y="37467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31" name="Google Shape;231;p28"/>
          <p:cNvSpPr txBox="1"/>
          <p:nvPr/>
        </p:nvSpPr>
        <p:spPr>
          <a:xfrm>
            <a:off x="2559225" y="37467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32" name="Google Shape;232;p28"/>
          <p:cNvSpPr txBox="1"/>
          <p:nvPr/>
        </p:nvSpPr>
        <p:spPr>
          <a:xfrm>
            <a:off x="3174013" y="37467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33" name="Google Shape;233;p28"/>
          <p:cNvSpPr/>
          <p:nvPr/>
        </p:nvSpPr>
        <p:spPr>
          <a:xfrm>
            <a:off x="2048944" y="30843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8"/>
          <p:cNvSpPr/>
          <p:nvPr/>
        </p:nvSpPr>
        <p:spPr>
          <a:xfrm>
            <a:off x="2619250" y="30843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8"/>
          <p:cNvSpPr/>
          <p:nvPr/>
        </p:nvSpPr>
        <p:spPr>
          <a:xfrm>
            <a:off x="3189558" y="30843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28"/>
          <p:cNvSpPr txBox="1"/>
          <p:nvPr/>
        </p:nvSpPr>
        <p:spPr>
          <a:xfrm>
            <a:off x="1979158" y="3017559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 w</a:t>
            </a:r>
            <a:r>
              <a:rPr lang="en" sz="1200" i="1" baseline="-25000">
                <a:solidFill>
                  <a:srgbClr val="595959"/>
                </a:solidFill>
              </a:rPr>
              <a:t>12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37" name="Google Shape;237;p28"/>
          <p:cNvSpPr txBox="1"/>
          <p:nvPr/>
        </p:nvSpPr>
        <p:spPr>
          <a:xfrm>
            <a:off x="2582166" y="3017560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13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38" name="Google Shape;238;p28"/>
          <p:cNvSpPr txBox="1"/>
          <p:nvPr/>
        </p:nvSpPr>
        <p:spPr>
          <a:xfrm>
            <a:off x="3156846" y="3017552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14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39" name="Google Shape;239;p28"/>
          <p:cNvSpPr txBox="1"/>
          <p:nvPr/>
        </p:nvSpPr>
        <p:spPr>
          <a:xfrm>
            <a:off x="1415791" y="1630500"/>
            <a:ext cx="2213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0.25    0.45   0.25    0.05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8"/>
          <p:cNvSpPr/>
          <p:nvPr/>
        </p:nvSpPr>
        <p:spPr>
          <a:xfrm>
            <a:off x="2151868" y="2133786"/>
            <a:ext cx="209400" cy="6636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8"/>
          <p:cNvSpPr/>
          <p:nvPr/>
        </p:nvSpPr>
        <p:spPr>
          <a:xfrm>
            <a:off x="2648568" y="2556812"/>
            <a:ext cx="209400" cy="2304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28"/>
          <p:cNvSpPr/>
          <p:nvPr/>
        </p:nvSpPr>
        <p:spPr>
          <a:xfrm>
            <a:off x="3192634" y="2657914"/>
            <a:ext cx="209400" cy="124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3" name="Google Shape;243;p28"/>
          <p:cNvCxnSpPr/>
          <p:nvPr/>
        </p:nvCxnSpPr>
        <p:spPr>
          <a:xfrm>
            <a:off x="1255056" y="2880656"/>
            <a:ext cx="2230800" cy="1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4" name="Google Shape;244;p28"/>
          <p:cNvSpPr/>
          <p:nvPr/>
        </p:nvSpPr>
        <p:spPr>
          <a:xfrm>
            <a:off x="1415778" y="3086521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28"/>
          <p:cNvSpPr txBox="1"/>
          <p:nvPr/>
        </p:nvSpPr>
        <p:spPr>
          <a:xfrm>
            <a:off x="1339100" y="3017575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 w</a:t>
            </a:r>
            <a:r>
              <a:rPr lang="en" sz="1200" i="1" baseline="-25000">
                <a:solidFill>
                  <a:srgbClr val="595959"/>
                </a:solidFill>
              </a:rPr>
              <a:t>11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46" name="Google Shape;246;p28"/>
          <p:cNvSpPr/>
          <p:nvPr/>
        </p:nvSpPr>
        <p:spPr>
          <a:xfrm>
            <a:off x="1482924" y="2305953"/>
            <a:ext cx="209400" cy="4971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28"/>
          <p:cNvSpPr txBox="1"/>
          <p:nvPr/>
        </p:nvSpPr>
        <p:spPr>
          <a:xfrm>
            <a:off x="109400" y="2980388"/>
            <a:ext cx="14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Self-attention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8"/>
          <p:cNvSpPr txBox="1"/>
          <p:nvPr/>
        </p:nvSpPr>
        <p:spPr>
          <a:xfrm>
            <a:off x="138163" y="2265483"/>
            <a:ext cx="85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SoftMax</a:t>
            </a:r>
            <a:endParaRPr>
              <a:solidFill>
                <a:srgbClr val="B7B7B7"/>
              </a:solidFill>
            </a:endParaRPr>
          </a:p>
        </p:txBody>
      </p:sp>
      <p:pic>
        <p:nvPicPr>
          <p:cNvPr id="249" name="Google Shape;24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598" y="3288200"/>
            <a:ext cx="1124644" cy="30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8"/>
          <p:cNvSpPr/>
          <p:nvPr/>
        </p:nvSpPr>
        <p:spPr>
          <a:xfrm rot="5400000">
            <a:off x="2390800" y="455550"/>
            <a:ext cx="161100" cy="2122200"/>
          </a:xfrm>
          <a:prstGeom prst="leftBrace">
            <a:avLst>
              <a:gd name="adj1" fmla="val 50000"/>
              <a:gd name="adj2" fmla="val 61275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28"/>
          <p:cNvSpPr/>
          <p:nvPr/>
        </p:nvSpPr>
        <p:spPr>
          <a:xfrm>
            <a:off x="1454075" y="105917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28"/>
          <p:cNvSpPr txBox="1"/>
          <p:nvPr/>
        </p:nvSpPr>
        <p:spPr>
          <a:xfrm>
            <a:off x="1530563" y="9596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53" name="Google Shape;253;p28"/>
          <p:cNvSpPr txBox="1"/>
          <p:nvPr/>
        </p:nvSpPr>
        <p:spPr>
          <a:xfrm>
            <a:off x="107607" y="1615500"/>
            <a:ext cx="1316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Агрегация</a:t>
            </a:r>
            <a:endParaRPr>
              <a:solidFill>
                <a:srgbClr val="B7B7B7"/>
              </a:solidFill>
            </a:endParaRPr>
          </a:p>
        </p:txBody>
      </p:sp>
      <p:pic>
        <p:nvPicPr>
          <p:cNvPr id="254" name="Google Shape;254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57000" y="168650"/>
            <a:ext cx="1316400" cy="732833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8"/>
          <p:cNvSpPr/>
          <p:nvPr/>
        </p:nvSpPr>
        <p:spPr>
          <a:xfrm>
            <a:off x="1999700" y="10605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8"/>
          <p:cNvSpPr txBox="1"/>
          <p:nvPr/>
        </p:nvSpPr>
        <p:spPr>
          <a:xfrm>
            <a:off x="2076188" y="9610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cxnSp>
        <p:nvCxnSpPr>
          <p:cNvPr id="257" name="Google Shape;257;p28"/>
          <p:cNvCxnSpPr/>
          <p:nvPr/>
        </p:nvCxnSpPr>
        <p:spPr>
          <a:xfrm rot="10800000">
            <a:off x="1572433" y="3403710"/>
            <a:ext cx="7500" cy="39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8" name="Google Shape;258;p28"/>
          <p:cNvCxnSpPr/>
          <p:nvPr/>
        </p:nvCxnSpPr>
        <p:spPr>
          <a:xfrm rot="10800000">
            <a:off x="2175008" y="3465254"/>
            <a:ext cx="600" cy="35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9" name="Google Shape;259;p28"/>
          <p:cNvCxnSpPr/>
          <p:nvPr/>
        </p:nvCxnSpPr>
        <p:spPr>
          <a:xfrm rot="10800000">
            <a:off x="2773000" y="3465138"/>
            <a:ext cx="5400" cy="36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0" name="Google Shape;260;p28"/>
          <p:cNvCxnSpPr/>
          <p:nvPr/>
        </p:nvCxnSpPr>
        <p:spPr>
          <a:xfrm rot="10800000">
            <a:off x="3370260" y="3465186"/>
            <a:ext cx="0" cy="330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1" name="Google Shape;261;p28"/>
          <p:cNvCxnSpPr/>
          <p:nvPr/>
        </p:nvCxnSpPr>
        <p:spPr>
          <a:xfrm rot="10800000" flipH="1">
            <a:off x="2158850" y="3394938"/>
            <a:ext cx="489600" cy="43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2" name="Google Shape;262;p28"/>
          <p:cNvCxnSpPr/>
          <p:nvPr/>
        </p:nvCxnSpPr>
        <p:spPr>
          <a:xfrm rot="10800000" flipH="1">
            <a:off x="2158850" y="3397938"/>
            <a:ext cx="1060500" cy="433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3" name="Google Shape;263;p28"/>
          <p:cNvCxnSpPr>
            <a:endCxn id="245" idx="2"/>
          </p:cNvCxnSpPr>
          <p:nvPr/>
        </p:nvCxnSpPr>
        <p:spPr>
          <a:xfrm rot="10800000">
            <a:off x="1640600" y="3386875"/>
            <a:ext cx="518400" cy="44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64" name="Google Shape;264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61600" y="47726"/>
            <a:ext cx="1595700" cy="851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0650" y="3297650"/>
            <a:ext cx="1245100" cy="369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9"/>
          <p:cNvSpPr txBox="1"/>
          <p:nvPr/>
        </p:nvSpPr>
        <p:spPr>
          <a:xfrm>
            <a:off x="138175" y="4364288"/>
            <a:ext cx="75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input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9"/>
          <p:cNvSpPr txBox="1"/>
          <p:nvPr/>
        </p:nvSpPr>
        <p:spPr>
          <a:xfrm>
            <a:off x="109400" y="3667790"/>
            <a:ext cx="118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</a:t>
            </a:r>
            <a:endParaRPr>
              <a:solidFill>
                <a:srgbClr val="B7B7B7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9"/>
          <p:cNvSpPr txBox="1"/>
          <p:nvPr/>
        </p:nvSpPr>
        <p:spPr>
          <a:xfrm>
            <a:off x="1191031" y="4522932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&lt;BOS&gt;   Guten   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Morgen   &lt;EOS&gt;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1025" y="3482388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9"/>
          <p:cNvSpPr/>
          <p:nvPr/>
        </p:nvSpPr>
        <p:spPr>
          <a:xfrm>
            <a:off x="1347549" y="3465536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29"/>
          <p:cNvSpPr/>
          <p:nvPr/>
        </p:nvSpPr>
        <p:spPr>
          <a:xfrm>
            <a:off x="1342975" y="3846287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9"/>
          <p:cNvSpPr/>
          <p:nvPr/>
        </p:nvSpPr>
        <p:spPr>
          <a:xfrm>
            <a:off x="1916452" y="38462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9"/>
          <p:cNvSpPr/>
          <p:nvPr/>
        </p:nvSpPr>
        <p:spPr>
          <a:xfrm>
            <a:off x="2545252" y="38462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9"/>
          <p:cNvSpPr/>
          <p:nvPr/>
        </p:nvSpPr>
        <p:spPr>
          <a:xfrm>
            <a:off x="3174052" y="38462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29"/>
          <p:cNvSpPr txBox="1"/>
          <p:nvPr/>
        </p:nvSpPr>
        <p:spPr>
          <a:xfrm>
            <a:off x="1343263" y="37467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80" name="Google Shape;280;p29"/>
          <p:cNvSpPr txBox="1"/>
          <p:nvPr/>
        </p:nvSpPr>
        <p:spPr>
          <a:xfrm>
            <a:off x="1944413" y="37467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81" name="Google Shape;281;p29"/>
          <p:cNvSpPr txBox="1"/>
          <p:nvPr/>
        </p:nvSpPr>
        <p:spPr>
          <a:xfrm>
            <a:off x="2559225" y="37467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82" name="Google Shape;282;p29"/>
          <p:cNvSpPr txBox="1"/>
          <p:nvPr/>
        </p:nvSpPr>
        <p:spPr>
          <a:xfrm>
            <a:off x="3174013" y="37467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83" name="Google Shape;283;p29"/>
          <p:cNvSpPr/>
          <p:nvPr/>
        </p:nvSpPr>
        <p:spPr>
          <a:xfrm>
            <a:off x="2048944" y="30843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29"/>
          <p:cNvSpPr/>
          <p:nvPr/>
        </p:nvSpPr>
        <p:spPr>
          <a:xfrm>
            <a:off x="2619250" y="30843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29"/>
          <p:cNvSpPr/>
          <p:nvPr/>
        </p:nvSpPr>
        <p:spPr>
          <a:xfrm>
            <a:off x="3189558" y="30843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29"/>
          <p:cNvSpPr txBox="1"/>
          <p:nvPr/>
        </p:nvSpPr>
        <p:spPr>
          <a:xfrm>
            <a:off x="1979158" y="3017559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 w</a:t>
            </a:r>
            <a:r>
              <a:rPr lang="en" sz="1200" i="1" baseline="-25000">
                <a:solidFill>
                  <a:srgbClr val="595959"/>
                </a:solidFill>
              </a:rPr>
              <a:t>12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87" name="Google Shape;287;p29"/>
          <p:cNvSpPr txBox="1"/>
          <p:nvPr/>
        </p:nvSpPr>
        <p:spPr>
          <a:xfrm>
            <a:off x="2582166" y="3017560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13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88" name="Google Shape;288;p29"/>
          <p:cNvSpPr txBox="1"/>
          <p:nvPr/>
        </p:nvSpPr>
        <p:spPr>
          <a:xfrm>
            <a:off x="3156846" y="3017552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14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89" name="Google Shape;289;p29"/>
          <p:cNvSpPr txBox="1"/>
          <p:nvPr/>
        </p:nvSpPr>
        <p:spPr>
          <a:xfrm>
            <a:off x="1415791" y="1630500"/>
            <a:ext cx="2213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0.4        0.5    0.05    0.05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90" name="Google Shape;290;p29"/>
          <p:cNvSpPr/>
          <p:nvPr/>
        </p:nvSpPr>
        <p:spPr>
          <a:xfrm>
            <a:off x="2151868" y="2133786"/>
            <a:ext cx="209400" cy="6636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29"/>
          <p:cNvSpPr/>
          <p:nvPr/>
        </p:nvSpPr>
        <p:spPr>
          <a:xfrm>
            <a:off x="2648568" y="2556812"/>
            <a:ext cx="209400" cy="2304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29"/>
          <p:cNvSpPr/>
          <p:nvPr/>
        </p:nvSpPr>
        <p:spPr>
          <a:xfrm>
            <a:off x="3192634" y="2657914"/>
            <a:ext cx="209400" cy="124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93" name="Google Shape;293;p29"/>
          <p:cNvCxnSpPr/>
          <p:nvPr/>
        </p:nvCxnSpPr>
        <p:spPr>
          <a:xfrm>
            <a:off x="1255056" y="2880656"/>
            <a:ext cx="2230800" cy="1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4" name="Google Shape;294;p29"/>
          <p:cNvSpPr/>
          <p:nvPr/>
        </p:nvSpPr>
        <p:spPr>
          <a:xfrm>
            <a:off x="1415778" y="3086521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29"/>
          <p:cNvSpPr txBox="1"/>
          <p:nvPr/>
        </p:nvSpPr>
        <p:spPr>
          <a:xfrm>
            <a:off x="1339100" y="3017575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 w</a:t>
            </a:r>
            <a:r>
              <a:rPr lang="en" sz="1200" i="1" baseline="-25000">
                <a:solidFill>
                  <a:srgbClr val="595959"/>
                </a:solidFill>
              </a:rPr>
              <a:t>11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96" name="Google Shape;296;p29"/>
          <p:cNvSpPr/>
          <p:nvPr/>
        </p:nvSpPr>
        <p:spPr>
          <a:xfrm>
            <a:off x="1482924" y="2305953"/>
            <a:ext cx="209400" cy="4971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29"/>
          <p:cNvSpPr txBox="1"/>
          <p:nvPr/>
        </p:nvSpPr>
        <p:spPr>
          <a:xfrm>
            <a:off x="109400" y="2980388"/>
            <a:ext cx="14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Self-attention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9"/>
          <p:cNvSpPr txBox="1"/>
          <p:nvPr/>
        </p:nvSpPr>
        <p:spPr>
          <a:xfrm>
            <a:off x="138163" y="2265483"/>
            <a:ext cx="85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SoftMax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299" name="Google Shape;299;p29"/>
          <p:cNvSpPr/>
          <p:nvPr/>
        </p:nvSpPr>
        <p:spPr>
          <a:xfrm rot="5400000">
            <a:off x="2390800" y="455550"/>
            <a:ext cx="161100" cy="2122200"/>
          </a:xfrm>
          <a:prstGeom prst="leftBrace">
            <a:avLst>
              <a:gd name="adj1" fmla="val 50000"/>
              <a:gd name="adj2" fmla="val 34252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9"/>
          <p:cNvSpPr/>
          <p:nvPr/>
        </p:nvSpPr>
        <p:spPr>
          <a:xfrm>
            <a:off x="1454075" y="105917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29"/>
          <p:cNvSpPr txBox="1"/>
          <p:nvPr/>
        </p:nvSpPr>
        <p:spPr>
          <a:xfrm>
            <a:off x="1530563" y="9596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302" name="Google Shape;302;p29"/>
          <p:cNvSpPr txBox="1"/>
          <p:nvPr/>
        </p:nvSpPr>
        <p:spPr>
          <a:xfrm>
            <a:off x="107607" y="1615500"/>
            <a:ext cx="1316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Агрегация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303" name="Google Shape;303;p29"/>
          <p:cNvSpPr/>
          <p:nvPr/>
        </p:nvSpPr>
        <p:spPr>
          <a:xfrm>
            <a:off x="1999700" y="10605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29"/>
          <p:cNvSpPr txBox="1"/>
          <p:nvPr/>
        </p:nvSpPr>
        <p:spPr>
          <a:xfrm>
            <a:off x="2076188" y="9610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305" name="Google Shape;30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7000" y="106088"/>
            <a:ext cx="1486250" cy="79266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06" name="Google Shape;30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6650" y="3288200"/>
            <a:ext cx="1245093" cy="3693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307" name="Google Shape;307;p29"/>
          <p:cNvCxnSpPr/>
          <p:nvPr/>
        </p:nvCxnSpPr>
        <p:spPr>
          <a:xfrm rot="10800000">
            <a:off x="1623733" y="3403723"/>
            <a:ext cx="7500" cy="39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8" name="Google Shape;308;p29"/>
          <p:cNvCxnSpPr/>
          <p:nvPr/>
        </p:nvCxnSpPr>
        <p:spPr>
          <a:xfrm rot="10800000">
            <a:off x="2226308" y="3465266"/>
            <a:ext cx="600" cy="35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9" name="Google Shape;309;p29"/>
          <p:cNvCxnSpPr/>
          <p:nvPr/>
        </p:nvCxnSpPr>
        <p:spPr>
          <a:xfrm rot="10800000">
            <a:off x="2824300" y="3465150"/>
            <a:ext cx="5400" cy="36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0" name="Google Shape;310;p29"/>
          <p:cNvCxnSpPr/>
          <p:nvPr/>
        </p:nvCxnSpPr>
        <p:spPr>
          <a:xfrm rot="10800000">
            <a:off x="3421560" y="3465198"/>
            <a:ext cx="0" cy="330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1" name="Google Shape;311;p29"/>
          <p:cNvCxnSpPr/>
          <p:nvPr/>
        </p:nvCxnSpPr>
        <p:spPr>
          <a:xfrm rot="10800000">
            <a:off x="2320963" y="3386850"/>
            <a:ext cx="504000" cy="44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2" name="Google Shape;312;p29"/>
          <p:cNvCxnSpPr/>
          <p:nvPr/>
        </p:nvCxnSpPr>
        <p:spPr>
          <a:xfrm rot="10800000" flipH="1">
            <a:off x="2824963" y="3397950"/>
            <a:ext cx="445800" cy="433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3" name="Google Shape;313;p29"/>
          <p:cNvCxnSpPr/>
          <p:nvPr/>
        </p:nvCxnSpPr>
        <p:spPr>
          <a:xfrm rot="10800000">
            <a:off x="1680763" y="3386850"/>
            <a:ext cx="1144200" cy="44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4" name="Google Shape;314;p29"/>
          <p:cNvSpPr/>
          <p:nvPr/>
        </p:nvSpPr>
        <p:spPr>
          <a:xfrm>
            <a:off x="2545325" y="105917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29"/>
          <p:cNvSpPr txBox="1"/>
          <p:nvPr/>
        </p:nvSpPr>
        <p:spPr>
          <a:xfrm>
            <a:off x="2621813" y="9596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0"/>
          <p:cNvSpPr txBox="1"/>
          <p:nvPr/>
        </p:nvSpPr>
        <p:spPr>
          <a:xfrm>
            <a:off x="138175" y="4364288"/>
            <a:ext cx="75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input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0"/>
          <p:cNvSpPr txBox="1"/>
          <p:nvPr/>
        </p:nvSpPr>
        <p:spPr>
          <a:xfrm>
            <a:off x="109400" y="3667790"/>
            <a:ext cx="118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</a:t>
            </a:r>
            <a:endParaRPr>
              <a:solidFill>
                <a:srgbClr val="B7B7B7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0"/>
          <p:cNvSpPr txBox="1"/>
          <p:nvPr/>
        </p:nvSpPr>
        <p:spPr>
          <a:xfrm>
            <a:off x="1191031" y="4522932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&lt;BOS&gt;   Guten   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Morgen   &lt;EOS&gt;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3" name="Google Shape;32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1025" y="3482388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0"/>
          <p:cNvSpPr/>
          <p:nvPr/>
        </p:nvSpPr>
        <p:spPr>
          <a:xfrm>
            <a:off x="1347549" y="3465536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30"/>
          <p:cNvSpPr/>
          <p:nvPr/>
        </p:nvSpPr>
        <p:spPr>
          <a:xfrm>
            <a:off x="1342975" y="3846287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30"/>
          <p:cNvSpPr/>
          <p:nvPr/>
        </p:nvSpPr>
        <p:spPr>
          <a:xfrm>
            <a:off x="1916452" y="38462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30"/>
          <p:cNvSpPr/>
          <p:nvPr/>
        </p:nvSpPr>
        <p:spPr>
          <a:xfrm>
            <a:off x="2545252" y="38462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30"/>
          <p:cNvSpPr/>
          <p:nvPr/>
        </p:nvSpPr>
        <p:spPr>
          <a:xfrm>
            <a:off x="3174052" y="38462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30"/>
          <p:cNvSpPr txBox="1"/>
          <p:nvPr/>
        </p:nvSpPr>
        <p:spPr>
          <a:xfrm>
            <a:off x="1343263" y="37467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330" name="Google Shape;330;p30"/>
          <p:cNvSpPr txBox="1"/>
          <p:nvPr/>
        </p:nvSpPr>
        <p:spPr>
          <a:xfrm>
            <a:off x="1944413" y="37467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331" name="Google Shape;331;p30"/>
          <p:cNvSpPr txBox="1"/>
          <p:nvPr/>
        </p:nvSpPr>
        <p:spPr>
          <a:xfrm>
            <a:off x="2559225" y="37467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332" name="Google Shape;332;p30"/>
          <p:cNvSpPr txBox="1"/>
          <p:nvPr/>
        </p:nvSpPr>
        <p:spPr>
          <a:xfrm>
            <a:off x="3174013" y="37467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333" name="Google Shape;333;p30"/>
          <p:cNvSpPr/>
          <p:nvPr/>
        </p:nvSpPr>
        <p:spPr>
          <a:xfrm>
            <a:off x="2048944" y="30843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30"/>
          <p:cNvSpPr/>
          <p:nvPr/>
        </p:nvSpPr>
        <p:spPr>
          <a:xfrm>
            <a:off x="2619250" y="30843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30"/>
          <p:cNvSpPr/>
          <p:nvPr/>
        </p:nvSpPr>
        <p:spPr>
          <a:xfrm>
            <a:off x="3189558" y="30843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30"/>
          <p:cNvSpPr txBox="1"/>
          <p:nvPr/>
        </p:nvSpPr>
        <p:spPr>
          <a:xfrm>
            <a:off x="1979158" y="3017559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 w</a:t>
            </a:r>
            <a:r>
              <a:rPr lang="en" sz="1200" i="1" baseline="-25000">
                <a:solidFill>
                  <a:srgbClr val="595959"/>
                </a:solidFill>
              </a:rPr>
              <a:t>12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337" name="Google Shape;337;p30"/>
          <p:cNvSpPr txBox="1"/>
          <p:nvPr/>
        </p:nvSpPr>
        <p:spPr>
          <a:xfrm>
            <a:off x="2582166" y="3017560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13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338" name="Google Shape;338;p30"/>
          <p:cNvSpPr txBox="1"/>
          <p:nvPr/>
        </p:nvSpPr>
        <p:spPr>
          <a:xfrm>
            <a:off x="3156846" y="3017552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14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339" name="Google Shape;339;p30"/>
          <p:cNvSpPr txBox="1"/>
          <p:nvPr/>
        </p:nvSpPr>
        <p:spPr>
          <a:xfrm>
            <a:off x="1415791" y="1630500"/>
            <a:ext cx="2213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0.2      0.1     0.65    0.05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340" name="Google Shape;340;p30"/>
          <p:cNvSpPr/>
          <p:nvPr/>
        </p:nvSpPr>
        <p:spPr>
          <a:xfrm>
            <a:off x="2151868" y="2133786"/>
            <a:ext cx="209400" cy="6636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30"/>
          <p:cNvSpPr/>
          <p:nvPr/>
        </p:nvSpPr>
        <p:spPr>
          <a:xfrm>
            <a:off x="2648568" y="2556812"/>
            <a:ext cx="209400" cy="2304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30"/>
          <p:cNvSpPr/>
          <p:nvPr/>
        </p:nvSpPr>
        <p:spPr>
          <a:xfrm>
            <a:off x="3192634" y="2657914"/>
            <a:ext cx="209400" cy="124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43" name="Google Shape;343;p30"/>
          <p:cNvCxnSpPr/>
          <p:nvPr/>
        </p:nvCxnSpPr>
        <p:spPr>
          <a:xfrm>
            <a:off x="1255056" y="2880656"/>
            <a:ext cx="2230800" cy="1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4" name="Google Shape;344;p30"/>
          <p:cNvSpPr/>
          <p:nvPr/>
        </p:nvSpPr>
        <p:spPr>
          <a:xfrm>
            <a:off x="1415778" y="3086521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30"/>
          <p:cNvSpPr txBox="1"/>
          <p:nvPr/>
        </p:nvSpPr>
        <p:spPr>
          <a:xfrm>
            <a:off x="1339100" y="3017575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 w</a:t>
            </a:r>
            <a:r>
              <a:rPr lang="en" sz="1200" i="1" baseline="-25000">
                <a:solidFill>
                  <a:srgbClr val="595959"/>
                </a:solidFill>
              </a:rPr>
              <a:t>11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346" name="Google Shape;346;p30"/>
          <p:cNvSpPr/>
          <p:nvPr/>
        </p:nvSpPr>
        <p:spPr>
          <a:xfrm>
            <a:off x="1482924" y="2305953"/>
            <a:ext cx="209400" cy="4971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30"/>
          <p:cNvSpPr txBox="1"/>
          <p:nvPr/>
        </p:nvSpPr>
        <p:spPr>
          <a:xfrm>
            <a:off x="109400" y="2980388"/>
            <a:ext cx="14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Self-attention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0"/>
          <p:cNvSpPr txBox="1"/>
          <p:nvPr/>
        </p:nvSpPr>
        <p:spPr>
          <a:xfrm>
            <a:off x="138163" y="2265483"/>
            <a:ext cx="85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SoftMax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349" name="Google Shape;349;p30"/>
          <p:cNvSpPr/>
          <p:nvPr/>
        </p:nvSpPr>
        <p:spPr>
          <a:xfrm rot="5400000">
            <a:off x="2390800" y="455550"/>
            <a:ext cx="161100" cy="2122200"/>
          </a:xfrm>
          <a:prstGeom prst="leftBrace">
            <a:avLst>
              <a:gd name="adj1" fmla="val 50000"/>
              <a:gd name="adj2" fmla="val 10556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30"/>
          <p:cNvSpPr/>
          <p:nvPr/>
        </p:nvSpPr>
        <p:spPr>
          <a:xfrm>
            <a:off x="1454075" y="105917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30"/>
          <p:cNvSpPr txBox="1"/>
          <p:nvPr/>
        </p:nvSpPr>
        <p:spPr>
          <a:xfrm>
            <a:off x="1530563" y="9596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107607" y="1615500"/>
            <a:ext cx="1316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Агрегация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353" name="Google Shape;353;p30"/>
          <p:cNvSpPr/>
          <p:nvPr/>
        </p:nvSpPr>
        <p:spPr>
          <a:xfrm>
            <a:off x="1999700" y="10605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30"/>
          <p:cNvSpPr txBox="1"/>
          <p:nvPr/>
        </p:nvSpPr>
        <p:spPr>
          <a:xfrm>
            <a:off x="2076188" y="9610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355" name="Google Shape;35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7000" y="106088"/>
            <a:ext cx="1486250" cy="79266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56" name="Google Shape;356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6650" y="3288200"/>
            <a:ext cx="1245093" cy="3693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57" name="Google Shape;357;p30"/>
          <p:cNvSpPr/>
          <p:nvPr/>
        </p:nvSpPr>
        <p:spPr>
          <a:xfrm>
            <a:off x="2545325" y="105917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30"/>
          <p:cNvSpPr txBox="1"/>
          <p:nvPr/>
        </p:nvSpPr>
        <p:spPr>
          <a:xfrm>
            <a:off x="2621813" y="9596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359" name="Google Shape;359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3799" y="3288188"/>
            <a:ext cx="1245100" cy="369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36900" y="179916"/>
            <a:ext cx="1245100" cy="67913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1" name="Google Shape;361;p30"/>
          <p:cNvCxnSpPr/>
          <p:nvPr/>
        </p:nvCxnSpPr>
        <p:spPr>
          <a:xfrm rot="10800000">
            <a:off x="1614645" y="3403723"/>
            <a:ext cx="7500" cy="39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2" name="Google Shape;362;p30"/>
          <p:cNvCxnSpPr/>
          <p:nvPr/>
        </p:nvCxnSpPr>
        <p:spPr>
          <a:xfrm rot="10800000">
            <a:off x="2217220" y="3465266"/>
            <a:ext cx="600" cy="35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3" name="Google Shape;363;p30"/>
          <p:cNvCxnSpPr/>
          <p:nvPr/>
        </p:nvCxnSpPr>
        <p:spPr>
          <a:xfrm rot="10800000">
            <a:off x="2815212" y="3465150"/>
            <a:ext cx="5400" cy="36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4" name="Google Shape;364;p30"/>
          <p:cNvCxnSpPr/>
          <p:nvPr/>
        </p:nvCxnSpPr>
        <p:spPr>
          <a:xfrm rot="10800000">
            <a:off x="3412472" y="3465198"/>
            <a:ext cx="0" cy="330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5" name="Google Shape;365;p30"/>
          <p:cNvCxnSpPr/>
          <p:nvPr/>
        </p:nvCxnSpPr>
        <p:spPr>
          <a:xfrm rot="10800000">
            <a:off x="2311663" y="3386838"/>
            <a:ext cx="1119000" cy="44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6" name="Google Shape;366;p30"/>
          <p:cNvCxnSpPr/>
          <p:nvPr/>
        </p:nvCxnSpPr>
        <p:spPr>
          <a:xfrm rot="10800000">
            <a:off x="2914663" y="3386838"/>
            <a:ext cx="516000" cy="44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7" name="Google Shape;367;p30"/>
          <p:cNvCxnSpPr/>
          <p:nvPr/>
        </p:nvCxnSpPr>
        <p:spPr>
          <a:xfrm rot="10800000">
            <a:off x="1671763" y="3386838"/>
            <a:ext cx="1758900" cy="44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8" name="Google Shape;368;p30"/>
          <p:cNvSpPr/>
          <p:nvPr/>
        </p:nvSpPr>
        <p:spPr>
          <a:xfrm>
            <a:off x="3090950" y="105917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30"/>
          <p:cNvSpPr txBox="1"/>
          <p:nvPr/>
        </p:nvSpPr>
        <p:spPr>
          <a:xfrm>
            <a:off x="3167438" y="9596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1"/>
          <p:cNvSpPr txBox="1"/>
          <p:nvPr/>
        </p:nvSpPr>
        <p:spPr>
          <a:xfrm>
            <a:off x="1164581" y="4577595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&lt;BOS&gt;   Guten   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Morgen   &lt;EOS&gt;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5" name="Google Shape;37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4575" y="3492926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1"/>
          <p:cNvSpPr/>
          <p:nvPr/>
        </p:nvSpPr>
        <p:spPr>
          <a:xfrm>
            <a:off x="1321099" y="347607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31"/>
          <p:cNvSpPr/>
          <p:nvPr/>
        </p:nvSpPr>
        <p:spPr>
          <a:xfrm>
            <a:off x="1316525" y="39009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31"/>
          <p:cNvSpPr/>
          <p:nvPr/>
        </p:nvSpPr>
        <p:spPr>
          <a:xfrm>
            <a:off x="1890002" y="39009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31"/>
          <p:cNvSpPr/>
          <p:nvPr/>
        </p:nvSpPr>
        <p:spPr>
          <a:xfrm>
            <a:off x="2518802" y="39009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31"/>
          <p:cNvSpPr/>
          <p:nvPr/>
        </p:nvSpPr>
        <p:spPr>
          <a:xfrm>
            <a:off x="3147602" y="39009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31"/>
          <p:cNvSpPr txBox="1"/>
          <p:nvPr/>
        </p:nvSpPr>
        <p:spPr>
          <a:xfrm>
            <a:off x="1316813" y="38014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382" name="Google Shape;382;p31"/>
          <p:cNvSpPr txBox="1"/>
          <p:nvPr/>
        </p:nvSpPr>
        <p:spPr>
          <a:xfrm>
            <a:off x="1917963" y="38014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383" name="Google Shape;383;p31"/>
          <p:cNvSpPr txBox="1"/>
          <p:nvPr/>
        </p:nvSpPr>
        <p:spPr>
          <a:xfrm>
            <a:off x="2532775" y="38014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384" name="Google Shape;384;p31"/>
          <p:cNvSpPr txBox="1"/>
          <p:nvPr/>
        </p:nvSpPr>
        <p:spPr>
          <a:xfrm>
            <a:off x="3147563" y="38014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385" name="Google Shape;385;p31"/>
          <p:cNvSpPr/>
          <p:nvPr/>
        </p:nvSpPr>
        <p:spPr>
          <a:xfrm>
            <a:off x="1321099" y="2752849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1"/>
          <p:cNvSpPr/>
          <p:nvPr/>
        </p:nvSpPr>
        <p:spPr>
          <a:xfrm>
            <a:off x="1316525" y="31777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31"/>
          <p:cNvSpPr/>
          <p:nvPr/>
        </p:nvSpPr>
        <p:spPr>
          <a:xfrm>
            <a:off x="1890002" y="31777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31"/>
          <p:cNvSpPr/>
          <p:nvPr/>
        </p:nvSpPr>
        <p:spPr>
          <a:xfrm>
            <a:off x="2518802" y="31777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1"/>
          <p:cNvSpPr/>
          <p:nvPr/>
        </p:nvSpPr>
        <p:spPr>
          <a:xfrm>
            <a:off x="3147602" y="31777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31"/>
          <p:cNvSpPr txBox="1"/>
          <p:nvPr/>
        </p:nvSpPr>
        <p:spPr>
          <a:xfrm>
            <a:off x="1317138" y="307730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391" name="Google Shape;391;p31"/>
          <p:cNvSpPr txBox="1"/>
          <p:nvPr/>
        </p:nvSpPr>
        <p:spPr>
          <a:xfrm>
            <a:off x="1917963" y="30782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392" name="Google Shape;392;p31"/>
          <p:cNvSpPr txBox="1"/>
          <p:nvPr/>
        </p:nvSpPr>
        <p:spPr>
          <a:xfrm>
            <a:off x="2532775" y="30782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393" name="Google Shape;393;p31"/>
          <p:cNvSpPr txBox="1"/>
          <p:nvPr/>
        </p:nvSpPr>
        <p:spPr>
          <a:xfrm>
            <a:off x="3147563" y="30782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394" name="Google Shape;394;p31"/>
          <p:cNvSpPr txBox="1"/>
          <p:nvPr/>
        </p:nvSpPr>
        <p:spPr>
          <a:xfrm>
            <a:off x="337650" y="1315400"/>
            <a:ext cx="3590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Self-Attention применяется ко всем эмбеддингам параллельно </a:t>
            </a:r>
            <a:endParaRPr sz="16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395" name="Google Shape;395;p31"/>
          <p:cNvCxnSpPr>
            <a:stCxn id="390" idx="2"/>
            <a:endCxn id="381" idx="0"/>
          </p:cNvCxnSpPr>
          <p:nvPr/>
        </p:nvCxnSpPr>
        <p:spPr>
          <a:xfrm flipH="1">
            <a:off x="1559538" y="3492800"/>
            <a:ext cx="3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6" name="Google Shape;396;p31"/>
          <p:cNvCxnSpPr>
            <a:stCxn id="390" idx="2"/>
            <a:endCxn id="382" idx="0"/>
          </p:cNvCxnSpPr>
          <p:nvPr/>
        </p:nvCxnSpPr>
        <p:spPr>
          <a:xfrm>
            <a:off x="1559838" y="3492800"/>
            <a:ext cx="6009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7" name="Google Shape;397;p31"/>
          <p:cNvCxnSpPr>
            <a:stCxn id="390" idx="2"/>
            <a:endCxn id="383" idx="0"/>
          </p:cNvCxnSpPr>
          <p:nvPr/>
        </p:nvCxnSpPr>
        <p:spPr>
          <a:xfrm>
            <a:off x="1559838" y="3492800"/>
            <a:ext cx="12156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8" name="Google Shape;398;p31"/>
          <p:cNvCxnSpPr>
            <a:stCxn id="390" idx="2"/>
            <a:endCxn id="384" idx="0"/>
          </p:cNvCxnSpPr>
          <p:nvPr/>
        </p:nvCxnSpPr>
        <p:spPr>
          <a:xfrm>
            <a:off x="1559838" y="3492800"/>
            <a:ext cx="18303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9" name="Google Shape;399;p31"/>
          <p:cNvCxnSpPr>
            <a:stCxn id="381" idx="0"/>
            <a:endCxn id="391" idx="2"/>
          </p:cNvCxnSpPr>
          <p:nvPr/>
        </p:nvCxnSpPr>
        <p:spPr>
          <a:xfrm rot="10800000" flipH="1">
            <a:off x="1559513" y="3493650"/>
            <a:ext cx="6012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0" name="Google Shape;400;p31"/>
          <p:cNvCxnSpPr>
            <a:stCxn id="381" idx="0"/>
            <a:endCxn id="392" idx="2"/>
          </p:cNvCxnSpPr>
          <p:nvPr/>
        </p:nvCxnSpPr>
        <p:spPr>
          <a:xfrm rot="10800000" flipH="1">
            <a:off x="1559513" y="3493650"/>
            <a:ext cx="12159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1" name="Google Shape;401;p31"/>
          <p:cNvCxnSpPr>
            <a:stCxn id="381" idx="0"/>
            <a:endCxn id="393" idx="2"/>
          </p:cNvCxnSpPr>
          <p:nvPr/>
        </p:nvCxnSpPr>
        <p:spPr>
          <a:xfrm rot="10800000" flipH="1">
            <a:off x="1559513" y="3493650"/>
            <a:ext cx="18309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2" name="Google Shape;402;p31"/>
          <p:cNvCxnSpPr>
            <a:stCxn id="391" idx="2"/>
            <a:endCxn id="382" idx="0"/>
          </p:cNvCxnSpPr>
          <p:nvPr/>
        </p:nvCxnSpPr>
        <p:spPr>
          <a:xfrm>
            <a:off x="2160663" y="3493725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3" name="Google Shape;403;p31"/>
          <p:cNvCxnSpPr>
            <a:stCxn id="382" idx="0"/>
            <a:endCxn id="392" idx="2"/>
          </p:cNvCxnSpPr>
          <p:nvPr/>
        </p:nvCxnSpPr>
        <p:spPr>
          <a:xfrm rot="10800000" flipH="1">
            <a:off x="2160663" y="3493650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4" name="Google Shape;404;p31"/>
          <p:cNvCxnSpPr>
            <a:stCxn id="391" idx="2"/>
            <a:endCxn id="383" idx="0"/>
          </p:cNvCxnSpPr>
          <p:nvPr/>
        </p:nvCxnSpPr>
        <p:spPr>
          <a:xfrm>
            <a:off x="2160663" y="3493725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5" name="Google Shape;405;p31"/>
          <p:cNvCxnSpPr>
            <a:stCxn id="383" idx="0"/>
            <a:endCxn id="393" idx="2"/>
          </p:cNvCxnSpPr>
          <p:nvPr/>
        </p:nvCxnSpPr>
        <p:spPr>
          <a:xfrm rot="10800000" flipH="1">
            <a:off x="2775475" y="3493650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6" name="Google Shape;406;p31"/>
          <p:cNvCxnSpPr>
            <a:stCxn id="392" idx="2"/>
            <a:endCxn id="383" idx="0"/>
          </p:cNvCxnSpPr>
          <p:nvPr/>
        </p:nvCxnSpPr>
        <p:spPr>
          <a:xfrm>
            <a:off x="2775475" y="3493725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7" name="Google Shape;407;p31"/>
          <p:cNvCxnSpPr>
            <a:stCxn id="392" idx="2"/>
            <a:endCxn id="384" idx="0"/>
          </p:cNvCxnSpPr>
          <p:nvPr/>
        </p:nvCxnSpPr>
        <p:spPr>
          <a:xfrm>
            <a:off x="2775475" y="3493725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8" name="Google Shape;408;p31"/>
          <p:cNvCxnSpPr>
            <a:stCxn id="384" idx="0"/>
            <a:endCxn id="393" idx="2"/>
          </p:cNvCxnSpPr>
          <p:nvPr/>
        </p:nvCxnSpPr>
        <p:spPr>
          <a:xfrm rot="10800000">
            <a:off x="3390263" y="3493638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9" name="Google Shape;409;p31"/>
          <p:cNvCxnSpPr>
            <a:stCxn id="384" idx="0"/>
            <a:endCxn id="391" idx="2"/>
          </p:cNvCxnSpPr>
          <p:nvPr/>
        </p:nvCxnSpPr>
        <p:spPr>
          <a:xfrm rot="10800000">
            <a:off x="2160563" y="3493638"/>
            <a:ext cx="1229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0" name="Google Shape;410;p31"/>
          <p:cNvCxnSpPr>
            <a:stCxn id="382" idx="0"/>
            <a:endCxn id="393" idx="2"/>
          </p:cNvCxnSpPr>
          <p:nvPr/>
        </p:nvCxnSpPr>
        <p:spPr>
          <a:xfrm rot="10800000" flipH="1">
            <a:off x="2160663" y="3493650"/>
            <a:ext cx="1229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1" name="Google Shape;411;p31"/>
          <p:cNvSpPr txBox="1"/>
          <p:nvPr/>
        </p:nvSpPr>
        <p:spPr>
          <a:xfrm>
            <a:off x="138175" y="4364288"/>
            <a:ext cx="75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input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1"/>
          <p:cNvSpPr txBox="1"/>
          <p:nvPr/>
        </p:nvSpPr>
        <p:spPr>
          <a:xfrm>
            <a:off x="109400" y="3667790"/>
            <a:ext cx="118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</a:t>
            </a:r>
            <a:endParaRPr>
              <a:solidFill>
                <a:srgbClr val="B7B7B7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1"/>
          <p:cNvSpPr txBox="1"/>
          <p:nvPr/>
        </p:nvSpPr>
        <p:spPr>
          <a:xfrm>
            <a:off x="109400" y="3132988"/>
            <a:ext cx="14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Self-attention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2"/>
          <p:cNvSpPr txBox="1"/>
          <p:nvPr/>
        </p:nvSpPr>
        <p:spPr>
          <a:xfrm>
            <a:off x="1177806" y="4565620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&lt;BOS&gt;   Guten   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Morgen   &lt;EOS&gt;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9" name="Google Shape;41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7800" y="3480951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2"/>
          <p:cNvSpPr/>
          <p:nvPr/>
        </p:nvSpPr>
        <p:spPr>
          <a:xfrm>
            <a:off x="1334324" y="3464099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32"/>
          <p:cNvSpPr/>
          <p:nvPr/>
        </p:nvSpPr>
        <p:spPr>
          <a:xfrm>
            <a:off x="1329750" y="3888975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32"/>
          <p:cNvSpPr/>
          <p:nvPr/>
        </p:nvSpPr>
        <p:spPr>
          <a:xfrm>
            <a:off x="1903227" y="3888975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32"/>
          <p:cNvSpPr/>
          <p:nvPr/>
        </p:nvSpPr>
        <p:spPr>
          <a:xfrm>
            <a:off x="2532027" y="3888975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32"/>
          <p:cNvSpPr/>
          <p:nvPr/>
        </p:nvSpPr>
        <p:spPr>
          <a:xfrm>
            <a:off x="3160827" y="3888975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32"/>
          <p:cNvSpPr txBox="1"/>
          <p:nvPr/>
        </p:nvSpPr>
        <p:spPr>
          <a:xfrm>
            <a:off x="1330038" y="37894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426" name="Google Shape;426;p32"/>
          <p:cNvSpPr txBox="1"/>
          <p:nvPr/>
        </p:nvSpPr>
        <p:spPr>
          <a:xfrm>
            <a:off x="1931188" y="37894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427" name="Google Shape;427;p32"/>
          <p:cNvSpPr txBox="1"/>
          <p:nvPr/>
        </p:nvSpPr>
        <p:spPr>
          <a:xfrm>
            <a:off x="2546000" y="37894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428" name="Google Shape;428;p32"/>
          <p:cNvSpPr txBox="1"/>
          <p:nvPr/>
        </p:nvSpPr>
        <p:spPr>
          <a:xfrm>
            <a:off x="3160788" y="37894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429" name="Google Shape;429;p32"/>
          <p:cNvSpPr/>
          <p:nvPr/>
        </p:nvSpPr>
        <p:spPr>
          <a:xfrm>
            <a:off x="1334324" y="274087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2"/>
          <p:cNvSpPr/>
          <p:nvPr/>
        </p:nvSpPr>
        <p:spPr>
          <a:xfrm>
            <a:off x="1329750" y="3165750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32"/>
          <p:cNvSpPr/>
          <p:nvPr/>
        </p:nvSpPr>
        <p:spPr>
          <a:xfrm>
            <a:off x="1903227" y="3165750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32"/>
          <p:cNvSpPr/>
          <p:nvPr/>
        </p:nvSpPr>
        <p:spPr>
          <a:xfrm>
            <a:off x="2532027" y="3165750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32"/>
          <p:cNvSpPr/>
          <p:nvPr/>
        </p:nvSpPr>
        <p:spPr>
          <a:xfrm>
            <a:off x="3160827" y="3165750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32"/>
          <p:cNvSpPr txBox="1"/>
          <p:nvPr/>
        </p:nvSpPr>
        <p:spPr>
          <a:xfrm>
            <a:off x="1330363" y="30653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435" name="Google Shape;435;p32"/>
          <p:cNvSpPr txBox="1"/>
          <p:nvPr/>
        </p:nvSpPr>
        <p:spPr>
          <a:xfrm>
            <a:off x="1931188" y="30662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436" name="Google Shape;436;p32"/>
          <p:cNvSpPr txBox="1"/>
          <p:nvPr/>
        </p:nvSpPr>
        <p:spPr>
          <a:xfrm>
            <a:off x="2546000" y="30662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437" name="Google Shape;437;p32"/>
          <p:cNvSpPr txBox="1"/>
          <p:nvPr/>
        </p:nvSpPr>
        <p:spPr>
          <a:xfrm>
            <a:off x="3160788" y="30662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438" name="Google Shape;43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7800" y="2051238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2"/>
          <p:cNvSpPr/>
          <p:nvPr/>
        </p:nvSpPr>
        <p:spPr>
          <a:xfrm>
            <a:off x="1334324" y="2034386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32"/>
          <p:cNvSpPr/>
          <p:nvPr/>
        </p:nvSpPr>
        <p:spPr>
          <a:xfrm>
            <a:off x="1329750" y="2459262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32"/>
          <p:cNvSpPr/>
          <p:nvPr/>
        </p:nvSpPr>
        <p:spPr>
          <a:xfrm>
            <a:off x="1903227" y="2459263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32"/>
          <p:cNvSpPr/>
          <p:nvPr/>
        </p:nvSpPr>
        <p:spPr>
          <a:xfrm>
            <a:off x="2532027" y="2459263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32"/>
          <p:cNvSpPr/>
          <p:nvPr/>
        </p:nvSpPr>
        <p:spPr>
          <a:xfrm>
            <a:off x="3160827" y="2459263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32"/>
          <p:cNvSpPr txBox="1"/>
          <p:nvPr/>
        </p:nvSpPr>
        <p:spPr>
          <a:xfrm>
            <a:off x="1330038" y="2359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445" name="Google Shape;445;p32"/>
          <p:cNvSpPr txBox="1"/>
          <p:nvPr/>
        </p:nvSpPr>
        <p:spPr>
          <a:xfrm>
            <a:off x="1931188" y="2359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446" name="Google Shape;446;p32"/>
          <p:cNvSpPr txBox="1"/>
          <p:nvPr/>
        </p:nvSpPr>
        <p:spPr>
          <a:xfrm>
            <a:off x="2546000" y="2359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447" name="Google Shape;447;p32"/>
          <p:cNvSpPr txBox="1"/>
          <p:nvPr/>
        </p:nvSpPr>
        <p:spPr>
          <a:xfrm>
            <a:off x="3160788" y="23597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448" name="Google Shape;448;p32"/>
          <p:cNvSpPr/>
          <p:nvPr/>
        </p:nvSpPr>
        <p:spPr>
          <a:xfrm>
            <a:off x="1115519" y="2607500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49" name="Google Shape;449;p32"/>
          <p:cNvSpPr/>
          <p:nvPr/>
        </p:nvSpPr>
        <p:spPr>
          <a:xfrm>
            <a:off x="1688994" y="2607500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50" name="Google Shape;450;p32"/>
          <p:cNvSpPr/>
          <p:nvPr/>
        </p:nvSpPr>
        <p:spPr>
          <a:xfrm>
            <a:off x="2307706" y="2607500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51" name="Google Shape;451;p32"/>
          <p:cNvSpPr/>
          <p:nvPr/>
        </p:nvSpPr>
        <p:spPr>
          <a:xfrm>
            <a:off x="2926394" y="2607438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52" name="Google Shape;452;p32"/>
          <p:cNvSpPr txBox="1"/>
          <p:nvPr/>
        </p:nvSpPr>
        <p:spPr>
          <a:xfrm>
            <a:off x="232225" y="2151450"/>
            <a:ext cx="571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Add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3" name="Google Shape;453;p32"/>
          <p:cNvCxnSpPr/>
          <p:nvPr/>
        </p:nvCxnSpPr>
        <p:spPr>
          <a:xfrm flipH="1">
            <a:off x="1483471" y="3453838"/>
            <a:ext cx="3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32"/>
          <p:cNvCxnSpPr/>
          <p:nvPr/>
        </p:nvCxnSpPr>
        <p:spPr>
          <a:xfrm>
            <a:off x="1483771" y="3453838"/>
            <a:ext cx="6399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5" name="Google Shape;455;p32"/>
          <p:cNvCxnSpPr/>
          <p:nvPr/>
        </p:nvCxnSpPr>
        <p:spPr>
          <a:xfrm>
            <a:off x="1483771" y="3453838"/>
            <a:ext cx="12945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6" name="Google Shape;456;p32"/>
          <p:cNvCxnSpPr/>
          <p:nvPr/>
        </p:nvCxnSpPr>
        <p:spPr>
          <a:xfrm>
            <a:off x="1483771" y="3453838"/>
            <a:ext cx="19488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7" name="Google Shape;457;p32"/>
          <p:cNvCxnSpPr/>
          <p:nvPr/>
        </p:nvCxnSpPr>
        <p:spPr>
          <a:xfrm rot="10800000" flipH="1">
            <a:off x="1483425" y="3454772"/>
            <a:ext cx="6402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8" name="Google Shape;458;p32"/>
          <p:cNvCxnSpPr/>
          <p:nvPr/>
        </p:nvCxnSpPr>
        <p:spPr>
          <a:xfrm rot="10800000" flipH="1">
            <a:off x="1483425" y="3454772"/>
            <a:ext cx="12948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9" name="Google Shape;459;p32"/>
          <p:cNvCxnSpPr/>
          <p:nvPr/>
        </p:nvCxnSpPr>
        <p:spPr>
          <a:xfrm rot="10800000" flipH="1">
            <a:off x="1483425" y="3454772"/>
            <a:ext cx="19494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32"/>
          <p:cNvCxnSpPr/>
          <p:nvPr/>
        </p:nvCxnSpPr>
        <p:spPr>
          <a:xfrm>
            <a:off x="2123516" y="3455082"/>
            <a:ext cx="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1" name="Google Shape;461;p32"/>
          <p:cNvCxnSpPr/>
          <p:nvPr/>
        </p:nvCxnSpPr>
        <p:spPr>
          <a:xfrm rot="10800000" flipH="1">
            <a:off x="2123516" y="3454772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" name="Google Shape;462;p32"/>
          <p:cNvCxnSpPr/>
          <p:nvPr/>
        </p:nvCxnSpPr>
        <p:spPr>
          <a:xfrm>
            <a:off x="2123516" y="3455082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3" name="Google Shape;463;p32"/>
          <p:cNvCxnSpPr/>
          <p:nvPr/>
        </p:nvCxnSpPr>
        <p:spPr>
          <a:xfrm rot="10800000" flipH="1">
            <a:off x="2778155" y="3454772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4" name="Google Shape;464;p32"/>
          <p:cNvCxnSpPr/>
          <p:nvPr/>
        </p:nvCxnSpPr>
        <p:spPr>
          <a:xfrm>
            <a:off x="2778155" y="3455082"/>
            <a:ext cx="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32"/>
          <p:cNvCxnSpPr/>
          <p:nvPr/>
        </p:nvCxnSpPr>
        <p:spPr>
          <a:xfrm>
            <a:off x="2778155" y="3455082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32"/>
          <p:cNvCxnSpPr/>
          <p:nvPr/>
        </p:nvCxnSpPr>
        <p:spPr>
          <a:xfrm rot="10800000">
            <a:off x="3432768" y="3454755"/>
            <a:ext cx="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7" name="Google Shape;467;p32"/>
          <p:cNvCxnSpPr/>
          <p:nvPr/>
        </p:nvCxnSpPr>
        <p:spPr>
          <a:xfrm rot="10800000">
            <a:off x="2123568" y="3454755"/>
            <a:ext cx="13092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8" name="Google Shape;468;p32"/>
          <p:cNvCxnSpPr/>
          <p:nvPr/>
        </p:nvCxnSpPr>
        <p:spPr>
          <a:xfrm rot="10800000" flipH="1">
            <a:off x="2123516" y="3454772"/>
            <a:ext cx="13092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9" name="Google Shape;469;p32"/>
          <p:cNvSpPr txBox="1"/>
          <p:nvPr/>
        </p:nvSpPr>
        <p:spPr>
          <a:xfrm>
            <a:off x="232225" y="251700"/>
            <a:ext cx="47655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Слой self-attention вычисляет дополнительную информацию для эмбеддинга каждого токена на основе его контекста  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“Sport is good, it helps a lot”</a:t>
            </a:r>
            <a:endParaRPr sz="1600" i="1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70" name="Google Shape;470;p32"/>
          <p:cNvSpPr txBox="1"/>
          <p:nvPr/>
        </p:nvSpPr>
        <p:spPr>
          <a:xfrm>
            <a:off x="138175" y="4364288"/>
            <a:ext cx="75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input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2"/>
          <p:cNvSpPr txBox="1"/>
          <p:nvPr/>
        </p:nvSpPr>
        <p:spPr>
          <a:xfrm>
            <a:off x="109400" y="3667790"/>
            <a:ext cx="118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</a:t>
            </a:r>
            <a:endParaRPr>
              <a:solidFill>
                <a:srgbClr val="B7B7B7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2"/>
          <p:cNvSpPr txBox="1"/>
          <p:nvPr/>
        </p:nvSpPr>
        <p:spPr>
          <a:xfrm>
            <a:off x="109400" y="3132988"/>
            <a:ext cx="14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Self-attention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3" name="Google Shape;47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839" y="2459275"/>
            <a:ext cx="945386" cy="30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3"/>
          <p:cNvSpPr txBox="1"/>
          <p:nvPr/>
        </p:nvSpPr>
        <p:spPr>
          <a:xfrm>
            <a:off x="350533" y="322250"/>
            <a:ext cx="4934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Визуализация весов слоя self-attention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479" name="Google Shape;47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33375" y="1408200"/>
            <a:ext cx="3218275" cy="278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33375" y="1408200"/>
            <a:ext cx="3218275" cy="278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3416962" y="1306286"/>
            <a:ext cx="3306499" cy="2828978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34"/>
          <p:cNvSpPr/>
          <p:nvPr/>
        </p:nvSpPr>
        <p:spPr>
          <a:xfrm>
            <a:off x="387691" y="3760876"/>
            <a:ext cx="2608200" cy="252600"/>
          </a:xfrm>
          <a:prstGeom prst="rect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34"/>
          <p:cNvSpPr/>
          <p:nvPr/>
        </p:nvSpPr>
        <p:spPr>
          <a:xfrm>
            <a:off x="3573100" y="3765557"/>
            <a:ext cx="2634300" cy="256200"/>
          </a:xfrm>
          <a:prstGeom prst="rect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34"/>
          <p:cNvSpPr txBox="1"/>
          <p:nvPr/>
        </p:nvSpPr>
        <p:spPr>
          <a:xfrm>
            <a:off x="350533" y="322250"/>
            <a:ext cx="4934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Визуализация весов слоя self-attention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5"/>
          <p:cNvSpPr txBox="1"/>
          <p:nvPr/>
        </p:nvSpPr>
        <p:spPr>
          <a:xfrm>
            <a:off x="1177806" y="4565620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&lt;BOS&gt;   Guten   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Morgen   &lt;EOS&gt;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4" name="Google Shape;49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7800" y="3480951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35"/>
          <p:cNvSpPr/>
          <p:nvPr/>
        </p:nvSpPr>
        <p:spPr>
          <a:xfrm>
            <a:off x="1334324" y="3464099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35"/>
          <p:cNvSpPr/>
          <p:nvPr/>
        </p:nvSpPr>
        <p:spPr>
          <a:xfrm>
            <a:off x="1329750" y="3888975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35"/>
          <p:cNvSpPr/>
          <p:nvPr/>
        </p:nvSpPr>
        <p:spPr>
          <a:xfrm>
            <a:off x="1903227" y="3888975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35"/>
          <p:cNvSpPr/>
          <p:nvPr/>
        </p:nvSpPr>
        <p:spPr>
          <a:xfrm>
            <a:off x="2532027" y="3888975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35"/>
          <p:cNvSpPr/>
          <p:nvPr/>
        </p:nvSpPr>
        <p:spPr>
          <a:xfrm>
            <a:off x="3160827" y="3888975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35"/>
          <p:cNvSpPr txBox="1"/>
          <p:nvPr/>
        </p:nvSpPr>
        <p:spPr>
          <a:xfrm>
            <a:off x="1330038" y="37894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01" name="Google Shape;501;p35"/>
          <p:cNvSpPr txBox="1"/>
          <p:nvPr/>
        </p:nvSpPr>
        <p:spPr>
          <a:xfrm>
            <a:off x="1931188" y="37894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02" name="Google Shape;502;p35"/>
          <p:cNvSpPr txBox="1"/>
          <p:nvPr/>
        </p:nvSpPr>
        <p:spPr>
          <a:xfrm>
            <a:off x="2546000" y="37894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03" name="Google Shape;503;p35"/>
          <p:cNvSpPr txBox="1"/>
          <p:nvPr/>
        </p:nvSpPr>
        <p:spPr>
          <a:xfrm>
            <a:off x="3160788" y="37894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04" name="Google Shape;504;p35"/>
          <p:cNvSpPr/>
          <p:nvPr/>
        </p:nvSpPr>
        <p:spPr>
          <a:xfrm>
            <a:off x="1334324" y="274087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35"/>
          <p:cNvSpPr/>
          <p:nvPr/>
        </p:nvSpPr>
        <p:spPr>
          <a:xfrm>
            <a:off x="1329750" y="3165750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35"/>
          <p:cNvSpPr/>
          <p:nvPr/>
        </p:nvSpPr>
        <p:spPr>
          <a:xfrm>
            <a:off x="1903227" y="3165750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35"/>
          <p:cNvSpPr/>
          <p:nvPr/>
        </p:nvSpPr>
        <p:spPr>
          <a:xfrm>
            <a:off x="2532027" y="3165750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35"/>
          <p:cNvSpPr/>
          <p:nvPr/>
        </p:nvSpPr>
        <p:spPr>
          <a:xfrm>
            <a:off x="3160827" y="3165750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35"/>
          <p:cNvSpPr txBox="1"/>
          <p:nvPr/>
        </p:nvSpPr>
        <p:spPr>
          <a:xfrm>
            <a:off x="1330363" y="30653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10" name="Google Shape;510;p35"/>
          <p:cNvSpPr txBox="1"/>
          <p:nvPr/>
        </p:nvSpPr>
        <p:spPr>
          <a:xfrm>
            <a:off x="1931188" y="30662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11" name="Google Shape;511;p35"/>
          <p:cNvSpPr txBox="1"/>
          <p:nvPr/>
        </p:nvSpPr>
        <p:spPr>
          <a:xfrm>
            <a:off x="2546000" y="30662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12" name="Google Shape;512;p35"/>
          <p:cNvSpPr txBox="1"/>
          <p:nvPr/>
        </p:nvSpPr>
        <p:spPr>
          <a:xfrm>
            <a:off x="3160788" y="30662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513" name="Google Shape;51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7800" y="2051238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35"/>
          <p:cNvSpPr/>
          <p:nvPr/>
        </p:nvSpPr>
        <p:spPr>
          <a:xfrm>
            <a:off x="1334324" y="2034386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35"/>
          <p:cNvSpPr/>
          <p:nvPr/>
        </p:nvSpPr>
        <p:spPr>
          <a:xfrm>
            <a:off x="1329750" y="2459262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35"/>
          <p:cNvSpPr/>
          <p:nvPr/>
        </p:nvSpPr>
        <p:spPr>
          <a:xfrm>
            <a:off x="1903227" y="2459263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35"/>
          <p:cNvSpPr/>
          <p:nvPr/>
        </p:nvSpPr>
        <p:spPr>
          <a:xfrm>
            <a:off x="2532027" y="2459263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35"/>
          <p:cNvSpPr/>
          <p:nvPr/>
        </p:nvSpPr>
        <p:spPr>
          <a:xfrm>
            <a:off x="3160827" y="2459263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35"/>
          <p:cNvSpPr txBox="1"/>
          <p:nvPr/>
        </p:nvSpPr>
        <p:spPr>
          <a:xfrm>
            <a:off x="1330038" y="2359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20" name="Google Shape;520;p35"/>
          <p:cNvSpPr txBox="1"/>
          <p:nvPr/>
        </p:nvSpPr>
        <p:spPr>
          <a:xfrm>
            <a:off x="1931188" y="2359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21" name="Google Shape;521;p35"/>
          <p:cNvSpPr txBox="1"/>
          <p:nvPr/>
        </p:nvSpPr>
        <p:spPr>
          <a:xfrm>
            <a:off x="2546000" y="2359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22" name="Google Shape;522;p35"/>
          <p:cNvSpPr txBox="1"/>
          <p:nvPr/>
        </p:nvSpPr>
        <p:spPr>
          <a:xfrm>
            <a:off x="3160788" y="23597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23" name="Google Shape;523;p35"/>
          <p:cNvSpPr/>
          <p:nvPr/>
        </p:nvSpPr>
        <p:spPr>
          <a:xfrm>
            <a:off x="1115519" y="2607500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524" name="Google Shape;524;p35"/>
          <p:cNvSpPr/>
          <p:nvPr/>
        </p:nvSpPr>
        <p:spPr>
          <a:xfrm>
            <a:off x="1688994" y="2607500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525" name="Google Shape;525;p35"/>
          <p:cNvSpPr/>
          <p:nvPr/>
        </p:nvSpPr>
        <p:spPr>
          <a:xfrm>
            <a:off x="2307706" y="2607500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526" name="Google Shape;526;p35"/>
          <p:cNvSpPr/>
          <p:nvPr/>
        </p:nvSpPr>
        <p:spPr>
          <a:xfrm>
            <a:off x="2926394" y="2607438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527" name="Google Shape;527;p35"/>
          <p:cNvSpPr txBox="1"/>
          <p:nvPr/>
        </p:nvSpPr>
        <p:spPr>
          <a:xfrm>
            <a:off x="184775" y="2447463"/>
            <a:ext cx="571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Add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8" name="Google Shape;528;p35"/>
          <p:cNvCxnSpPr/>
          <p:nvPr/>
        </p:nvCxnSpPr>
        <p:spPr>
          <a:xfrm flipH="1">
            <a:off x="1483471" y="3453838"/>
            <a:ext cx="3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9" name="Google Shape;529;p35"/>
          <p:cNvCxnSpPr/>
          <p:nvPr/>
        </p:nvCxnSpPr>
        <p:spPr>
          <a:xfrm>
            <a:off x="1483771" y="3453838"/>
            <a:ext cx="6399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0" name="Google Shape;530;p35"/>
          <p:cNvCxnSpPr/>
          <p:nvPr/>
        </p:nvCxnSpPr>
        <p:spPr>
          <a:xfrm>
            <a:off x="1483771" y="3453838"/>
            <a:ext cx="12945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1" name="Google Shape;531;p35"/>
          <p:cNvCxnSpPr/>
          <p:nvPr/>
        </p:nvCxnSpPr>
        <p:spPr>
          <a:xfrm>
            <a:off x="1483771" y="3453838"/>
            <a:ext cx="19488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2" name="Google Shape;532;p35"/>
          <p:cNvCxnSpPr/>
          <p:nvPr/>
        </p:nvCxnSpPr>
        <p:spPr>
          <a:xfrm rot="10800000" flipH="1">
            <a:off x="1483425" y="3454772"/>
            <a:ext cx="6402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3" name="Google Shape;533;p35"/>
          <p:cNvCxnSpPr/>
          <p:nvPr/>
        </p:nvCxnSpPr>
        <p:spPr>
          <a:xfrm rot="10800000" flipH="1">
            <a:off x="1483425" y="3454772"/>
            <a:ext cx="12948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4" name="Google Shape;534;p35"/>
          <p:cNvCxnSpPr/>
          <p:nvPr/>
        </p:nvCxnSpPr>
        <p:spPr>
          <a:xfrm rot="10800000" flipH="1">
            <a:off x="1483425" y="3454772"/>
            <a:ext cx="19494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5" name="Google Shape;535;p35"/>
          <p:cNvCxnSpPr/>
          <p:nvPr/>
        </p:nvCxnSpPr>
        <p:spPr>
          <a:xfrm>
            <a:off x="2123516" y="3455082"/>
            <a:ext cx="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6" name="Google Shape;536;p35"/>
          <p:cNvCxnSpPr/>
          <p:nvPr/>
        </p:nvCxnSpPr>
        <p:spPr>
          <a:xfrm rot="10800000" flipH="1">
            <a:off x="2123516" y="3454772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7" name="Google Shape;537;p35"/>
          <p:cNvCxnSpPr/>
          <p:nvPr/>
        </p:nvCxnSpPr>
        <p:spPr>
          <a:xfrm>
            <a:off x="2123516" y="3455082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8" name="Google Shape;538;p35"/>
          <p:cNvCxnSpPr/>
          <p:nvPr/>
        </p:nvCxnSpPr>
        <p:spPr>
          <a:xfrm rot="10800000" flipH="1">
            <a:off x="2778155" y="3454772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9" name="Google Shape;539;p35"/>
          <p:cNvCxnSpPr/>
          <p:nvPr/>
        </p:nvCxnSpPr>
        <p:spPr>
          <a:xfrm>
            <a:off x="2778155" y="3455082"/>
            <a:ext cx="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0" name="Google Shape;540;p35"/>
          <p:cNvCxnSpPr/>
          <p:nvPr/>
        </p:nvCxnSpPr>
        <p:spPr>
          <a:xfrm>
            <a:off x="2778155" y="3455082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1" name="Google Shape;541;p35"/>
          <p:cNvCxnSpPr/>
          <p:nvPr/>
        </p:nvCxnSpPr>
        <p:spPr>
          <a:xfrm rot="10800000">
            <a:off x="3432768" y="3454755"/>
            <a:ext cx="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2" name="Google Shape;542;p35"/>
          <p:cNvCxnSpPr/>
          <p:nvPr/>
        </p:nvCxnSpPr>
        <p:spPr>
          <a:xfrm rot="10800000">
            <a:off x="2123568" y="3454755"/>
            <a:ext cx="13092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3" name="Google Shape;543;p35"/>
          <p:cNvCxnSpPr/>
          <p:nvPr/>
        </p:nvCxnSpPr>
        <p:spPr>
          <a:xfrm rot="10800000" flipH="1">
            <a:off x="2123516" y="3454772"/>
            <a:ext cx="13092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4" name="Google Shape;544;p35"/>
          <p:cNvSpPr txBox="1"/>
          <p:nvPr/>
        </p:nvSpPr>
        <p:spPr>
          <a:xfrm>
            <a:off x="138175" y="4364288"/>
            <a:ext cx="75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input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5"/>
          <p:cNvSpPr txBox="1"/>
          <p:nvPr/>
        </p:nvSpPr>
        <p:spPr>
          <a:xfrm>
            <a:off x="109400" y="3667790"/>
            <a:ext cx="118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</a:t>
            </a:r>
            <a:endParaRPr>
              <a:solidFill>
                <a:srgbClr val="B7B7B7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5"/>
          <p:cNvSpPr txBox="1"/>
          <p:nvPr/>
        </p:nvSpPr>
        <p:spPr>
          <a:xfrm>
            <a:off x="109400" y="3132988"/>
            <a:ext cx="14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Self-attention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7" name="Google Shape;54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7800" y="1361463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35"/>
          <p:cNvSpPr/>
          <p:nvPr/>
        </p:nvSpPr>
        <p:spPr>
          <a:xfrm>
            <a:off x="1334324" y="134461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35"/>
          <p:cNvSpPr/>
          <p:nvPr/>
        </p:nvSpPr>
        <p:spPr>
          <a:xfrm>
            <a:off x="1329750" y="1769487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35"/>
          <p:cNvSpPr/>
          <p:nvPr/>
        </p:nvSpPr>
        <p:spPr>
          <a:xfrm>
            <a:off x="1903227" y="1769488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35"/>
          <p:cNvSpPr/>
          <p:nvPr/>
        </p:nvSpPr>
        <p:spPr>
          <a:xfrm>
            <a:off x="2532027" y="1769488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35"/>
          <p:cNvSpPr/>
          <p:nvPr/>
        </p:nvSpPr>
        <p:spPr>
          <a:xfrm>
            <a:off x="3160827" y="1769488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35"/>
          <p:cNvSpPr txBox="1"/>
          <p:nvPr/>
        </p:nvSpPr>
        <p:spPr>
          <a:xfrm>
            <a:off x="1330038" y="16699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54" name="Google Shape;554;p35"/>
          <p:cNvSpPr txBox="1"/>
          <p:nvPr/>
        </p:nvSpPr>
        <p:spPr>
          <a:xfrm>
            <a:off x="1931188" y="16699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55" name="Google Shape;555;p35"/>
          <p:cNvSpPr txBox="1"/>
          <p:nvPr/>
        </p:nvSpPr>
        <p:spPr>
          <a:xfrm>
            <a:off x="2546000" y="16699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56" name="Google Shape;556;p35"/>
          <p:cNvSpPr txBox="1"/>
          <p:nvPr/>
        </p:nvSpPr>
        <p:spPr>
          <a:xfrm>
            <a:off x="3160788" y="16699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57" name="Google Shape;557;p35"/>
          <p:cNvSpPr txBox="1"/>
          <p:nvPr/>
        </p:nvSpPr>
        <p:spPr>
          <a:xfrm>
            <a:off x="109400" y="1761925"/>
            <a:ext cx="14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Layer Norm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5"/>
          <p:cNvSpPr txBox="1"/>
          <p:nvPr/>
        </p:nvSpPr>
        <p:spPr>
          <a:xfrm>
            <a:off x="184775" y="204975"/>
            <a:ext cx="5023500" cy="24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LayerNorm</a:t>
            </a: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делает так, что выходы слоя всегда будут иметь одинаковые mean и variance. 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Это делает обучение сети более стабильным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6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244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Norm</a:t>
            </a:r>
            <a:endParaRPr/>
          </a:p>
        </p:txBody>
      </p:sp>
      <p:sp>
        <p:nvSpPr>
          <p:cNvPr id="564" name="Google Shape;564;p36"/>
          <p:cNvSpPr txBox="1"/>
          <p:nvPr/>
        </p:nvSpPr>
        <p:spPr>
          <a:xfrm>
            <a:off x="197000" y="2313250"/>
            <a:ext cx="5081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Считаем среднее и стандартное отклонение по всем координатам каждого эмбеддинга </a:t>
            </a:r>
            <a:r>
              <a:rPr lang="en" sz="1600" i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x</a:t>
            </a:r>
            <a:r>
              <a:rPr lang="en" sz="1600" i="1" baseline="30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</a:t>
            </a:r>
            <a:r>
              <a:rPr lang="en" sz="1600" i="1" baseline="-25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</a:t>
            </a:r>
            <a:r>
              <a:rPr lang="en" sz="1600" i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: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65" name="Google Shape;565;p36"/>
          <p:cNvSpPr txBox="1"/>
          <p:nvPr/>
        </p:nvSpPr>
        <p:spPr>
          <a:xfrm>
            <a:off x="197000" y="1466350"/>
            <a:ext cx="21894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Выход слоя размера </a:t>
            </a:r>
            <a:r>
              <a:rPr lang="en" sz="1300" i="1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(seq_len, emb_size)</a:t>
            </a:r>
            <a:endParaRPr sz="1300" i="1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66" name="Google Shape;566;p36"/>
          <p:cNvSpPr/>
          <p:nvPr/>
        </p:nvSpPr>
        <p:spPr>
          <a:xfrm>
            <a:off x="2078199" y="1225736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36"/>
          <p:cNvSpPr/>
          <p:nvPr/>
        </p:nvSpPr>
        <p:spPr>
          <a:xfrm>
            <a:off x="2073625" y="1650612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36"/>
          <p:cNvSpPr/>
          <p:nvPr/>
        </p:nvSpPr>
        <p:spPr>
          <a:xfrm>
            <a:off x="2647102" y="1650613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36"/>
          <p:cNvSpPr/>
          <p:nvPr/>
        </p:nvSpPr>
        <p:spPr>
          <a:xfrm>
            <a:off x="3275902" y="1650613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36"/>
          <p:cNvSpPr/>
          <p:nvPr/>
        </p:nvSpPr>
        <p:spPr>
          <a:xfrm>
            <a:off x="3904702" y="1650613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36"/>
          <p:cNvSpPr txBox="1"/>
          <p:nvPr/>
        </p:nvSpPr>
        <p:spPr>
          <a:xfrm>
            <a:off x="2073913" y="15511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72" name="Google Shape;572;p36"/>
          <p:cNvSpPr txBox="1"/>
          <p:nvPr/>
        </p:nvSpPr>
        <p:spPr>
          <a:xfrm>
            <a:off x="2675063" y="15511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73" name="Google Shape;573;p36"/>
          <p:cNvSpPr txBox="1"/>
          <p:nvPr/>
        </p:nvSpPr>
        <p:spPr>
          <a:xfrm>
            <a:off x="3289875" y="15511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74" name="Google Shape;574;p36"/>
          <p:cNvSpPr txBox="1"/>
          <p:nvPr/>
        </p:nvSpPr>
        <p:spPr>
          <a:xfrm>
            <a:off x="3904663" y="155110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75" name="Google Shape;575;p36"/>
          <p:cNvSpPr/>
          <p:nvPr/>
        </p:nvSpPr>
        <p:spPr>
          <a:xfrm rot="5400000">
            <a:off x="3183175" y="231200"/>
            <a:ext cx="141300" cy="23469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36"/>
          <p:cNvSpPr/>
          <p:nvPr/>
        </p:nvSpPr>
        <p:spPr>
          <a:xfrm>
            <a:off x="4520125" y="1577125"/>
            <a:ext cx="141300" cy="4155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36"/>
          <p:cNvSpPr txBox="1"/>
          <p:nvPr/>
        </p:nvSpPr>
        <p:spPr>
          <a:xfrm>
            <a:off x="2771775" y="902900"/>
            <a:ext cx="100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seq_len</a:t>
            </a:r>
            <a:endParaRPr sz="12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78" name="Google Shape;578;p36"/>
          <p:cNvSpPr txBox="1"/>
          <p:nvPr/>
        </p:nvSpPr>
        <p:spPr>
          <a:xfrm>
            <a:off x="4600450" y="1543300"/>
            <a:ext cx="1175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emb_size</a:t>
            </a:r>
            <a:endParaRPr sz="12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579" name="Google Shape;57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384493"/>
            <a:ext cx="2189399" cy="703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8412" y="3275237"/>
            <a:ext cx="3144725" cy="92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711" y="4400700"/>
            <a:ext cx="1463890" cy="4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7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244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Norm</a:t>
            </a:r>
            <a:endParaRPr/>
          </a:p>
        </p:txBody>
      </p:sp>
      <p:sp>
        <p:nvSpPr>
          <p:cNvPr id="587" name="Google Shape;587;p37"/>
          <p:cNvSpPr txBox="1"/>
          <p:nvPr/>
        </p:nvSpPr>
        <p:spPr>
          <a:xfrm>
            <a:off x="197000" y="2313250"/>
            <a:ext cx="5081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После этого обновляем элементы каждого эмбеддинга </a:t>
            </a:r>
            <a:r>
              <a:rPr lang="en" sz="1600" i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x</a:t>
            </a:r>
            <a:r>
              <a:rPr lang="en" sz="1600" i="1" baseline="30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</a:t>
            </a:r>
            <a:r>
              <a:rPr lang="en" sz="1600" i="1" baseline="-25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</a:t>
            </a:r>
            <a:r>
              <a:rPr lang="en" sz="1600" i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</a:t>
            </a: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следующим образом: 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88" name="Google Shape;588;p37"/>
          <p:cNvSpPr txBox="1"/>
          <p:nvPr/>
        </p:nvSpPr>
        <p:spPr>
          <a:xfrm>
            <a:off x="197000" y="1466350"/>
            <a:ext cx="21894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Выход слоя размера </a:t>
            </a:r>
            <a:r>
              <a:rPr lang="en" sz="1300" i="1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(seq_len, emb_size)</a:t>
            </a:r>
            <a:endParaRPr sz="1300" i="1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89" name="Google Shape;589;p37"/>
          <p:cNvSpPr/>
          <p:nvPr/>
        </p:nvSpPr>
        <p:spPr>
          <a:xfrm>
            <a:off x="2078199" y="1225736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37"/>
          <p:cNvSpPr/>
          <p:nvPr/>
        </p:nvSpPr>
        <p:spPr>
          <a:xfrm>
            <a:off x="2073625" y="1650612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37"/>
          <p:cNvSpPr/>
          <p:nvPr/>
        </p:nvSpPr>
        <p:spPr>
          <a:xfrm>
            <a:off x="2647102" y="1650613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37"/>
          <p:cNvSpPr/>
          <p:nvPr/>
        </p:nvSpPr>
        <p:spPr>
          <a:xfrm>
            <a:off x="3275902" y="1650613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37"/>
          <p:cNvSpPr/>
          <p:nvPr/>
        </p:nvSpPr>
        <p:spPr>
          <a:xfrm>
            <a:off x="3904702" y="1650613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37"/>
          <p:cNvSpPr txBox="1"/>
          <p:nvPr/>
        </p:nvSpPr>
        <p:spPr>
          <a:xfrm>
            <a:off x="2073913" y="15511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95" name="Google Shape;595;p37"/>
          <p:cNvSpPr txBox="1"/>
          <p:nvPr/>
        </p:nvSpPr>
        <p:spPr>
          <a:xfrm>
            <a:off x="2675063" y="15511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96" name="Google Shape;596;p37"/>
          <p:cNvSpPr txBox="1"/>
          <p:nvPr/>
        </p:nvSpPr>
        <p:spPr>
          <a:xfrm>
            <a:off x="3289875" y="15511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97" name="Google Shape;597;p37"/>
          <p:cNvSpPr txBox="1"/>
          <p:nvPr/>
        </p:nvSpPr>
        <p:spPr>
          <a:xfrm>
            <a:off x="3904663" y="155110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598" name="Google Shape;598;p37"/>
          <p:cNvSpPr/>
          <p:nvPr/>
        </p:nvSpPr>
        <p:spPr>
          <a:xfrm rot="5400000">
            <a:off x="3183175" y="231200"/>
            <a:ext cx="141300" cy="23469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37"/>
          <p:cNvSpPr/>
          <p:nvPr/>
        </p:nvSpPr>
        <p:spPr>
          <a:xfrm>
            <a:off x="4520125" y="1577125"/>
            <a:ext cx="141300" cy="4155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37"/>
          <p:cNvSpPr txBox="1"/>
          <p:nvPr/>
        </p:nvSpPr>
        <p:spPr>
          <a:xfrm>
            <a:off x="2771775" y="902900"/>
            <a:ext cx="100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seq_len</a:t>
            </a:r>
            <a:endParaRPr sz="12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601" name="Google Shape;601;p37"/>
          <p:cNvSpPr txBox="1"/>
          <p:nvPr/>
        </p:nvSpPr>
        <p:spPr>
          <a:xfrm>
            <a:off x="4600450" y="1543300"/>
            <a:ext cx="1175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emb_size</a:t>
            </a:r>
            <a:endParaRPr sz="12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602" name="Google Shape;60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5450" y="3076575"/>
            <a:ext cx="2146500" cy="72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6036" y="3828300"/>
            <a:ext cx="1463890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37"/>
          <p:cNvSpPr txBox="1"/>
          <p:nvPr/>
        </p:nvSpPr>
        <p:spPr>
          <a:xfrm>
            <a:off x="305725" y="4448600"/>
            <a:ext cx="4021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Здесь 𝛄 и β — обучаемые параметры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8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Norm</a:t>
            </a:r>
            <a:endParaRPr/>
          </a:p>
        </p:txBody>
      </p:sp>
      <p:pic>
        <p:nvPicPr>
          <p:cNvPr id="610" name="Google Shape;61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163" y="1904499"/>
            <a:ext cx="4155376" cy="3180877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38"/>
          <p:cNvSpPr txBox="1"/>
          <p:nvPr/>
        </p:nvSpPr>
        <p:spPr>
          <a:xfrm>
            <a:off x="326450" y="1191025"/>
            <a:ext cx="40848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LayerNorm можно лучше понять, если сравнить его с BatchNorm: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39"/>
          <p:cNvSpPr txBox="1"/>
          <p:nvPr/>
        </p:nvSpPr>
        <p:spPr>
          <a:xfrm>
            <a:off x="1252781" y="4620295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&lt;BOS&gt;   Guten   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Morgen   &lt;EOS&gt;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7" name="Google Shape;61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2775" y="3535626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39"/>
          <p:cNvSpPr/>
          <p:nvPr/>
        </p:nvSpPr>
        <p:spPr>
          <a:xfrm>
            <a:off x="1409299" y="351877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39"/>
          <p:cNvSpPr/>
          <p:nvPr/>
        </p:nvSpPr>
        <p:spPr>
          <a:xfrm>
            <a:off x="1404725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39"/>
          <p:cNvSpPr/>
          <p:nvPr/>
        </p:nvSpPr>
        <p:spPr>
          <a:xfrm>
            <a:off x="1978202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39"/>
          <p:cNvSpPr/>
          <p:nvPr/>
        </p:nvSpPr>
        <p:spPr>
          <a:xfrm>
            <a:off x="2607002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39"/>
          <p:cNvSpPr/>
          <p:nvPr/>
        </p:nvSpPr>
        <p:spPr>
          <a:xfrm>
            <a:off x="3235802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39"/>
          <p:cNvSpPr txBox="1"/>
          <p:nvPr/>
        </p:nvSpPr>
        <p:spPr>
          <a:xfrm>
            <a:off x="1405013" y="38441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624" name="Google Shape;624;p39"/>
          <p:cNvSpPr txBox="1"/>
          <p:nvPr/>
        </p:nvSpPr>
        <p:spPr>
          <a:xfrm>
            <a:off x="2006163" y="38441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625" name="Google Shape;625;p39"/>
          <p:cNvSpPr txBox="1"/>
          <p:nvPr/>
        </p:nvSpPr>
        <p:spPr>
          <a:xfrm>
            <a:off x="2620975" y="38441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626" name="Google Shape;626;p39"/>
          <p:cNvSpPr txBox="1"/>
          <p:nvPr/>
        </p:nvSpPr>
        <p:spPr>
          <a:xfrm>
            <a:off x="3235763" y="38441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627" name="Google Shape;627;p39"/>
          <p:cNvSpPr/>
          <p:nvPr/>
        </p:nvSpPr>
        <p:spPr>
          <a:xfrm>
            <a:off x="1409299" y="2795549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39"/>
          <p:cNvSpPr/>
          <p:nvPr/>
        </p:nvSpPr>
        <p:spPr>
          <a:xfrm>
            <a:off x="1404725" y="32204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39"/>
          <p:cNvSpPr/>
          <p:nvPr/>
        </p:nvSpPr>
        <p:spPr>
          <a:xfrm>
            <a:off x="1978202" y="32204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39"/>
          <p:cNvSpPr/>
          <p:nvPr/>
        </p:nvSpPr>
        <p:spPr>
          <a:xfrm>
            <a:off x="2607002" y="32204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39"/>
          <p:cNvSpPr/>
          <p:nvPr/>
        </p:nvSpPr>
        <p:spPr>
          <a:xfrm>
            <a:off x="3235802" y="32204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39"/>
          <p:cNvSpPr txBox="1"/>
          <p:nvPr/>
        </p:nvSpPr>
        <p:spPr>
          <a:xfrm>
            <a:off x="1405338" y="312000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633" name="Google Shape;633;p39"/>
          <p:cNvSpPr txBox="1"/>
          <p:nvPr/>
        </p:nvSpPr>
        <p:spPr>
          <a:xfrm>
            <a:off x="2006163" y="31209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634" name="Google Shape;634;p39"/>
          <p:cNvSpPr txBox="1"/>
          <p:nvPr/>
        </p:nvSpPr>
        <p:spPr>
          <a:xfrm>
            <a:off x="2620975" y="31209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635" name="Google Shape;635;p39"/>
          <p:cNvSpPr txBox="1"/>
          <p:nvPr/>
        </p:nvSpPr>
        <p:spPr>
          <a:xfrm>
            <a:off x="3235763" y="31209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636" name="Google Shape;63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2775" y="2105913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39"/>
          <p:cNvSpPr/>
          <p:nvPr/>
        </p:nvSpPr>
        <p:spPr>
          <a:xfrm>
            <a:off x="1409299" y="208906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39"/>
          <p:cNvSpPr/>
          <p:nvPr/>
        </p:nvSpPr>
        <p:spPr>
          <a:xfrm>
            <a:off x="1404725" y="2513937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39"/>
          <p:cNvSpPr/>
          <p:nvPr/>
        </p:nvSpPr>
        <p:spPr>
          <a:xfrm>
            <a:off x="1978202" y="2513938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39"/>
          <p:cNvSpPr/>
          <p:nvPr/>
        </p:nvSpPr>
        <p:spPr>
          <a:xfrm>
            <a:off x="2607002" y="2513938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39"/>
          <p:cNvSpPr/>
          <p:nvPr/>
        </p:nvSpPr>
        <p:spPr>
          <a:xfrm>
            <a:off x="3235802" y="2513938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39"/>
          <p:cNvSpPr txBox="1"/>
          <p:nvPr/>
        </p:nvSpPr>
        <p:spPr>
          <a:xfrm>
            <a:off x="1405013" y="24144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643" name="Google Shape;643;p39"/>
          <p:cNvSpPr txBox="1"/>
          <p:nvPr/>
        </p:nvSpPr>
        <p:spPr>
          <a:xfrm>
            <a:off x="2006163" y="24144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644" name="Google Shape;644;p39"/>
          <p:cNvSpPr txBox="1"/>
          <p:nvPr/>
        </p:nvSpPr>
        <p:spPr>
          <a:xfrm>
            <a:off x="2620975" y="24144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645" name="Google Shape;645;p39"/>
          <p:cNvSpPr txBox="1"/>
          <p:nvPr/>
        </p:nvSpPr>
        <p:spPr>
          <a:xfrm>
            <a:off x="3235763" y="24144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646" name="Google Shape;646;p39"/>
          <p:cNvSpPr/>
          <p:nvPr/>
        </p:nvSpPr>
        <p:spPr>
          <a:xfrm>
            <a:off x="1190494" y="2662175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47" name="Google Shape;647;p39"/>
          <p:cNvSpPr/>
          <p:nvPr/>
        </p:nvSpPr>
        <p:spPr>
          <a:xfrm>
            <a:off x="1763969" y="2662175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48" name="Google Shape;648;p39"/>
          <p:cNvSpPr/>
          <p:nvPr/>
        </p:nvSpPr>
        <p:spPr>
          <a:xfrm>
            <a:off x="2382681" y="2662175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49" name="Google Shape;649;p39"/>
          <p:cNvSpPr/>
          <p:nvPr/>
        </p:nvSpPr>
        <p:spPr>
          <a:xfrm>
            <a:off x="3001369" y="2662113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50" name="Google Shape;650;p39"/>
          <p:cNvSpPr txBox="1"/>
          <p:nvPr/>
        </p:nvSpPr>
        <p:spPr>
          <a:xfrm>
            <a:off x="169625" y="2494275"/>
            <a:ext cx="127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Add &amp; Norm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39"/>
          <p:cNvSpPr/>
          <p:nvPr/>
        </p:nvSpPr>
        <p:spPr>
          <a:xfrm>
            <a:off x="1250499" y="136361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2" name="Google Shape;652;p39"/>
          <p:cNvCxnSpPr/>
          <p:nvPr/>
        </p:nvCxnSpPr>
        <p:spPr>
          <a:xfrm flipH="1">
            <a:off x="1558446" y="3508513"/>
            <a:ext cx="3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3" name="Google Shape;653;p39"/>
          <p:cNvCxnSpPr/>
          <p:nvPr/>
        </p:nvCxnSpPr>
        <p:spPr>
          <a:xfrm>
            <a:off x="1558746" y="3508513"/>
            <a:ext cx="6399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4" name="Google Shape;654;p39"/>
          <p:cNvCxnSpPr/>
          <p:nvPr/>
        </p:nvCxnSpPr>
        <p:spPr>
          <a:xfrm>
            <a:off x="1558746" y="3508513"/>
            <a:ext cx="12945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5" name="Google Shape;655;p39"/>
          <p:cNvCxnSpPr/>
          <p:nvPr/>
        </p:nvCxnSpPr>
        <p:spPr>
          <a:xfrm>
            <a:off x="1558746" y="3508513"/>
            <a:ext cx="19488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6" name="Google Shape;656;p39"/>
          <p:cNvCxnSpPr/>
          <p:nvPr/>
        </p:nvCxnSpPr>
        <p:spPr>
          <a:xfrm rot="10800000" flipH="1">
            <a:off x="1558400" y="3509447"/>
            <a:ext cx="6402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7" name="Google Shape;657;p39"/>
          <p:cNvCxnSpPr/>
          <p:nvPr/>
        </p:nvCxnSpPr>
        <p:spPr>
          <a:xfrm rot="10800000" flipH="1">
            <a:off x="1558400" y="3509447"/>
            <a:ext cx="12948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8" name="Google Shape;658;p39"/>
          <p:cNvCxnSpPr/>
          <p:nvPr/>
        </p:nvCxnSpPr>
        <p:spPr>
          <a:xfrm rot="10800000" flipH="1">
            <a:off x="1558400" y="3509447"/>
            <a:ext cx="19494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9" name="Google Shape;659;p39"/>
          <p:cNvCxnSpPr/>
          <p:nvPr/>
        </p:nvCxnSpPr>
        <p:spPr>
          <a:xfrm>
            <a:off x="2198491" y="3509757"/>
            <a:ext cx="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0" name="Google Shape;660;p39"/>
          <p:cNvCxnSpPr/>
          <p:nvPr/>
        </p:nvCxnSpPr>
        <p:spPr>
          <a:xfrm rot="10800000" flipH="1">
            <a:off x="2198491" y="3509447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1" name="Google Shape;661;p39"/>
          <p:cNvCxnSpPr/>
          <p:nvPr/>
        </p:nvCxnSpPr>
        <p:spPr>
          <a:xfrm>
            <a:off x="2198491" y="3509757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2" name="Google Shape;662;p39"/>
          <p:cNvCxnSpPr/>
          <p:nvPr/>
        </p:nvCxnSpPr>
        <p:spPr>
          <a:xfrm rot="10800000" flipH="1">
            <a:off x="2853130" y="3509447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3" name="Google Shape;663;p39"/>
          <p:cNvCxnSpPr/>
          <p:nvPr/>
        </p:nvCxnSpPr>
        <p:spPr>
          <a:xfrm>
            <a:off x="2853130" y="3509757"/>
            <a:ext cx="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4" name="Google Shape;664;p39"/>
          <p:cNvCxnSpPr/>
          <p:nvPr/>
        </p:nvCxnSpPr>
        <p:spPr>
          <a:xfrm>
            <a:off x="2853130" y="3509757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5" name="Google Shape;665;p39"/>
          <p:cNvCxnSpPr/>
          <p:nvPr/>
        </p:nvCxnSpPr>
        <p:spPr>
          <a:xfrm rot="10800000">
            <a:off x="3507743" y="3509430"/>
            <a:ext cx="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6" name="Google Shape;666;p39"/>
          <p:cNvCxnSpPr/>
          <p:nvPr/>
        </p:nvCxnSpPr>
        <p:spPr>
          <a:xfrm rot="10800000">
            <a:off x="2198543" y="3509430"/>
            <a:ext cx="13092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7" name="Google Shape;667;p39"/>
          <p:cNvCxnSpPr/>
          <p:nvPr/>
        </p:nvCxnSpPr>
        <p:spPr>
          <a:xfrm rot="10800000" flipH="1">
            <a:off x="2198491" y="3509447"/>
            <a:ext cx="13092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8" name="Google Shape;668;p39"/>
          <p:cNvSpPr txBox="1"/>
          <p:nvPr/>
        </p:nvSpPr>
        <p:spPr>
          <a:xfrm>
            <a:off x="182625" y="4399338"/>
            <a:ext cx="75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input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9"/>
          <p:cNvSpPr txBox="1"/>
          <p:nvPr/>
        </p:nvSpPr>
        <p:spPr>
          <a:xfrm>
            <a:off x="153850" y="3702840"/>
            <a:ext cx="118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</a:t>
            </a:r>
            <a:endParaRPr>
              <a:solidFill>
                <a:srgbClr val="B7B7B7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9"/>
          <p:cNvSpPr txBox="1"/>
          <p:nvPr/>
        </p:nvSpPr>
        <p:spPr>
          <a:xfrm>
            <a:off x="153850" y="3168038"/>
            <a:ext cx="14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Self-attention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1" name="Google Shape;67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2775" y="1416126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39"/>
          <p:cNvSpPr/>
          <p:nvPr/>
        </p:nvSpPr>
        <p:spPr>
          <a:xfrm>
            <a:off x="1409299" y="139927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39"/>
          <p:cNvSpPr/>
          <p:nvPr/>
        </p:nvSpPr>
        <p:spPr>
          <a:xfrm>
            <a:off x="1404725" y="18241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39"/>
          <p:cNvSpPr/>
          <p:nvPr/>
        </p:nvSpPr>
        <p:spPr>
          <a:xfrm>
            <a:off x="1978202" y="18241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39"/>
          <p:cNvSpPr/>
          <p:nvPr/>
        </p:nvSpPr>
        <p:spPr>
          <a:xfrm>
            <a:off x="2607002" y="18241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39"/>
          <p:cNvSpPr/>
          <p:nvPr/>
        </p:nvSpPr>
        <p:spPr>
          <a:xfrm>
            <a:off x="3235802" y="18241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39"/>
          <p:cNvSpPr txBox="1"/>
          <p:nvPr/>
        </p:nvSpPr>
        <p:spPr>
          <a:xfrm>
            <a:off x="1405013" y="17246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678" name="Google Shape;678;p39"/>
          <p:cNvSpPr txBox="1"/>
          <p:nvPr/>
        </p:nvSpPr>
        <p:spPr>
          <a:xfrm>
            <a:off x="2006163" y="17246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679" name="Google Shape;679;p39"/>
          <p:cNvSpPr txBox="1"/>
          <p:nvPr/>
        </p:nvSpPr>
        <p:spPr>
          <a:xfrm>
            <a:off x="2620975" y="17246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680" name="Google Shape;680;p39"/>
          <p:cNvSpPr txBox="1"/>
          <p:nvPr/>
        </p:nvSpPr>
        <p:spPr>
          <a:xfrm>
            <a:off x="3235763" y="17246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681" name="Google Shape;681;p39"/>
          <p:cNvSpPr txBox="1"/>
          <p:nvPr/>
        </p:nvSpPr>
        <p:spPr>
          <a:xfrm>
            <a:off x="182625" y="1768275"/>
            <a:ext cx="14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FC layer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2" name="Google Shape;682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324" y="2076075"/>
            <a:ext cx="1127926" cy="38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40"/>
          <p:cNvSpPr txBox="1"/>
          <p:nvPr/>
        </p:nvSpPr>
        <p:spPr>
          <a:xfrm>
            <a:off x="1252781" y="4620295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&lt;BOS&gt;   Guten   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Morgen   &lt;EOS&gt;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8" name="Google Shape;68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2775" y="3535626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40"/>
          <p:cNvSpPr/>
          <p:nvPr/>
        </p:nvSpPr>
        <p:spPr>
          <a:xfrm>
            <a:off x="1409299" y="351877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40"/>
          <p:cNvSpPr/>
          <p:nvPr/>
        </p:nvSpPr>
        <p:spPr>
          <a:xfrm>
            <a:off x="1404725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40"/>
          <p:cNvSpPr/>
          <p:nvPr/>
        </p:nvSpPr>
        <p:spPr>
          <a:xfrm>
            <a:off x="1978202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40"/>
          <p:cNvSpPr/>
          <p:nvPr/>
        </p:nvSpPr>
        <p:spPr>
          <a:xfrm>
            <a:off x="2607002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40"/>
          <p:cNvSpPr/>
          <p:nvPr/>
        </p:nvSpPr>
        <p:spPr>
          <a:xfrm>
            <a:off x="3235802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40"/>
          <p:cNvSpPr txBox="1"/>
          <p:nvPr/>
        </p:nvSpPr>
        <p:spPr>
          <a:xfrm>
            <a:off x="1405013" y="38441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695" name="Google Shape;695;p40"/>
          <p:cNvSpPr txBox="1"/>
          <p:nvPr/>
        </p:nvSpPr>
        <p:spPr>
          <a:xfrm>
            <a:off x="2006163" y="38441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696" name="Google Shape;696;p40"/>
          <p:cNvSpPr txBox="1"/>
          <p:nvPr/>
        </p:nvSpPr>
        <p:spPr>
          <a:xfrm>
            <a:off x="2620975" y="38441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697" name="Google Shape;697;p40"/>
          <p:cNvSpPr txBox="1"/>
          <p:nvPr/>
        </p:nvSpPr>
        <p:spPr>
          <a:xfrm>
            <a:off x="3235763" y="38441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698" name="Google Shape;698;p40"/>
          <p:cNvSpPr/>
          <p:nvPr/>
        </p:nvSpPr>
        <p:spPr>
          <a:xfrm>
            <a:off x="1409299" y="2795549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40"/>
          <p:cNvSpPr/>
          <p:nvPr/>
        </p:nvSpPr>
        <p:spPr>
          <a:xfrm>
            <a:off x="1404725" y="32204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40"/>
          <p:cNvSpPr/>
          <p:nvPr/>
        </p:nvSpPr>
        <p:spPr>
          <a:xfrm>
            <a:off x="1978202" y="32204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40"/>
          <p:cNvSpPr/>
          <p:nvPr/>
        </p:nvSpPr>
        <p:spPr>
          <a:xfrm>
            <a:off x="2607002" y="32204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40"/>
          <p:cNvSpPr/>
          <p:nvPr/>
        </p:nvSpPr>
        <p:spPr>
          <a:xfrm>
            <a:off x="3235802" y="32204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40"/>
          <p:cNvSpPr txBox="1"/>
          <p:nvPr/>
        </p:nvSpPr>
        <p:spPr>
          <a:xfrm>
            <a:off x="1405338" y="312000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704" name="Google Shape;704;p40"/>
          <p:cNvSpPr txBox="1"/>
          <p:nvPr/>
        </p:nvSpPr>
        <p:spPr>
          <a:xfrm>
            <a:off x="2006163" y="31209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705" name="Google Shape;705;p40"/>
          <p:cNvSpPr txBox="1"/>
          <p:nvPr/>
        </p:nvSpPr>
        <p:spPr>
          <a:xfrm>
            <a:off x="2620975" y="31209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706" name="Google Shape;706;p40"/>
          <p:cNvSpPr txBox="1"/>
          <p:nvPr/>
        </p:nvSpPr>
        <p:spPr>
          <a:xfrm>
            <a:off x="3235763" y="31209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707" name="Google Shape;70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2775" y="2105913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40"/>
          <p:cNvSpPr/>
          <p:nvPr/>
        </p:nvSpPr>
        <p:spPr>
          <a:xfrm>
            <a:off x="1409299" y="208906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40"/>
          <p:cNvSpPr/>
          <p:nvPr/>
        </p:nvSpPr>
        <p:spPr>
          <a:xfrm>
            <a:off x="1404725" y="2513937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40"/>
          <p:cNvSpPr/>
          <p:nvPr/>
        </p:nvSpPr>
        <p:spPr>
          <a:xfrm>
            <a:off x="1978202" y="2513938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40"/>
          <p:cNvSpPr/>
          <p:nvPr/>
        </p:nvSpPr>
        <p:spPr>
          <a:xfrm>
            <a:off x="2607002" y="2513938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40"/>
          <p:cNvSpPr/>
          <p:nvPr/>
        </p:nvSpPr>
        <p:spPr>
          <a:xfrm>
            <a:off x="3235802" y="2513938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40"/>
          <p:cNvSpPr txBox="1"/>
          <p:nvPr/>
        </p:nvSpPr>
        <p:spPr>
          <a:xfrm>
            <a:off x="1405013" y="24144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714" name="Google Shape;714;p40"/>
          <p:cNvSpPr txBox="1"/>
          <p:nvPr/>
        </p:nvSpPr>
        <p:spPr>
          <a:xfrm>
            <a:off x="2006163" y="24144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715" name="Google Shape;715;p40"/>
          <p:cNvSpPr txBox="1"/>
          <p:nvPr/>
        </p:nvSpPr>
        <p:spPr>
          <a:xfrm>
            <a:off x="2620975" y="24144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716" name="Google Shape;716;p40"/>
          <p:cNvSpPr txBox="1"/>
          <p:nvPr/>
        </p:nvSpPr>
        <p:spPr>
          <a:xfrm>
            <a:off x="3235763" y="24144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717" name="Google Shape;717;p40"/>
          <p:cNvSpPr/>
          <p:nvPr/>
        </p:nvSpPr>
        <p:spPr>
          <a:xfrm>
            <a:off x="1190494" y="2662175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718" name="Google Shape;718;p40"/>
          <p:cNvSpPr/>
          <p:nvPr/>
        </p:nvSpPr>
        <p:spPr>
          <a:xfrm>
            <a:off x="1763969" y="2662175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719" name="Google Shape;719;p40"/>
          <p:cNvSpPr/>
          <p:nvPr/>
        </p:nvSpPr>
        <p:spPr>
          <a:xfrm>
            <a:off x="2382681" y="2662175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720" name="Google Shape;720;p40"/>
          <p:cNvSpPr/>
          <p:nvPr/>
        </p:nvSpPr>
        <p:spPr>
          <a:xfrm>
            <a:off x="3001369" y="2662113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721" name="Google Shape;721;p40"/>
          <p:cNvSpPr txBox="1"/>
          <p:nvPr/>
        </p:nvSpPr>
        <p:spPr>
          <a:xfrm>
            <a:off x="169625" y="2494275"/>
            <a:ext cx="127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Add &amp; Norm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40"/>
          <p:cNvSpPr/>
          <p:nvPr/>
        </p:nvSpPr>
        <p:spPr>
          <a:xfrm>
            <a:off x="1250499" y="136361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23" name="Google Shape;723;p40"/>
          <p:cNvCxnSpPr/>
          <p:nvPr/>
        </p:nvCxnSpPr>
        <p:spPr>
          <a:xfrm flipH="1">
            <a:off x="1558446" y="3508513"/>
            <a:ext cx="3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4" name="Google Shape;724;p40"/>
          <p:cNvCxnSpPr/>
          <p:nvPr/>
        </p:nvCxnSpPr>
        <p:spPr>
          <a:xfrm>
            <a:off x="1558746" y="3508513"/>
            <a:ext cx="6399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5" name="Google Shape;725;p40"/>
          <p:cNvCxnSpPr/>
          <p:nvPr/>
        </p:nvCxnSpPr>
        <p:spPr>
          <a:xfrm>
            <a:off x="1558746" y="3508513"/>
            <a:ext cx="12945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6" name="Google Shape;726;p40"/>
          <p:cNvCxnSpPr/>
          <p:nvPr/>
        </p:nvCxnSpPr>
        <p:spPr>
          <a:xfrm>
            <a:off x="1558746" y="3508513"/>
            <a:ext cx="19488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7" name="Google Shape;727;p40"/>
          <p:cNvCxnSpPr/>
          <p:nvPr/>
        </p:nvCxnSpPr>
        <p:spPr>
          <a:xfrm rot="10800000" flipH="1">
            <a:off x="1558400" y="3509447"/>
            <a:ext cx="6402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8" name="Google Shape;728;p40"/>
          <p:cNvCxnSpPr/>
          <p:nvPr/>
        </p:nvCxnSpPr>
        <p:spPr>
          <a:xfrm rot="10800000" flipH="1">
            <a:off x="1558400" y="3509447"/>
            <a:ext cx="12948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9" name="Google Shape;729;p40"/>
          <p:cNvCxnSpPr/>
          <p:nvPr/>
        </p:nvCxnSpPr>
        <p:spPr>
          <a:xfrm rot="10800000" flipH="1">
            <a:off x="1558400" y="3509447"/>
            <a:ext cx="19494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0" name="Google Shape;730;p40"/>
          <p:cNvCxnSpPr/>
          <p:nvPr/>
        </p:nvCxnSpPr>
        <p:spPr>
          <a:xfrm>
            <a:off x="2198491" y="3509757"/>
            <a:ext cx="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1" name="Google Shape;731;p40"/>
          <p:cNvCxnSpPr/>
          <p:nvPr/>
        </p:nvCxnSpPr>
        <p:spPr>
          <a:xfrm rot="10800000" flipH="1">
            <a:off x="2198491" y="3509447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2" name="Google Shape;732;p40"/>
          <p:cNvCxnSpPr/>
          <p:nvPr/>
        </p:nvCxnSpPr>
        <p:spPr>
          <a:xfrm>
            <a:off x="2198491" y="3509757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3" name="Google Shape;733;p40"/>
          <p:cNvCxnSpPr/>
          <p:nvPr/>
        </p:nvCxnSpPr>
        <p:spPr>
          <a:xfrm rot="10800000" flipH="1">
            <a:off x="2853130" y="3509447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4" name="Google Shape;734;p40"/>
          <p:cNvCxnSpPr/>
          <p:nvPr/>
        </p:nvCxnSpPr>
        <p:spPr>
          <a:xfrm>
            <a:off x="2853130" y="3509757"/>
            <a:ext cx="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5" name="Google Shape;735;p40"/>
          <p:cNvCxnSpPr/>
          <p:nvPr/>
        </p:nvCxnSpPr>
        <p:spPr>
          <a:xfrm>
            <a:off x="2853130" y="3509757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6" name="Google Shape;736;p40"/>
          <p:cNvCxnSpPr/>
          <p:nvPr/>
        </p:nvCxnSpPr>
        <p:spPr>
          <a:xfrm rot="10800000">
            <a:off x="3507743" y="3509430"/>
            <a:ext cx="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7" name="Google Shape;737;p40"/>
          <p:cNvCxnSpPr/>
          <p:nvPr/>
        </p:nvCxnSpPr>
        <p:spPr>
          <a:xfrm rot="10800000">
            <a:off x="2198543" y="3509430"/>
            <a:ext cx="13092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8" name="Google Shape;738;p40"/>
          <p:cNvCxnSpPr/>
          <p:nvPr/>
        </p:nvCxnSpPr>
        <p:spPr>
          <a:xfrm rot="10800000" flipH="1">
            <a:off x="2198491" y="3509447"/>
            <a:ext cx="13092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39" name="Google Shape;739;p40"/>
          <p:cNvSpPr txBox="1"/>
          <p:nvPr/>
        </p:nvSpPr>
        <p:spPr>
          <a:xfrm>
            <a:off x="182625" y="4399338"/>
            <a:ext cx="75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input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40"/>
          <p:cNvSpPr txBox="1"/>
          <p:nvPr/>
        </p:nvSpPr>
        <p:spPr>
          <a:xfrm>
            <a:off x="153850" y="3702840"/>
            <a:ext cx="118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</a:t>
            </a:r>
            <a:endParaRPr>
              <a:solidFill>
                <a:srgbClr val="B7B7B7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40"/>
          <p:cNvSpPr txBox="1"/>
          <p:nvPr/>
        </p:nvSpPr>
        <p:spPr>
          <a:xfrm>
            <a:off x="153850" y="3168038"/>
            <a:ext cx="14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Self-attention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2" name="Google Shape;74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2775" y="1416126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40"/>
          <p:cNvSpPr/>
          <p:nvPr/>
        </p:nvSpPr>
        <p:spPr>
          <a:xfrm>
            <a:off x="1409299" y="139927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40"/>
          <p:cNvSpPr/>
          <p:nvPr/>
        </p:nvSpPr>
        <p:spPr>
          <a:xfrm>
            <a:off x="1404725" y="18241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40"/>
          <p:cNvSpPr/>
          <p:nvPr/>
        </p:nvSpPr>
        <p:spPr>
          <a:xfrm>
            <a:off x="1978202" y="18241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40"/>
          <p:cNvSpPr/>
          <p:nvPr/>
        </p:nvSpPr>
        <p:spPr>
          <a:xfrm>
            <a:off x="2607002" y="18241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40"/>
          <p:cNvSpPr/>
          <p:nvPr/>
        </p:nvSpPr>
        <p:spPr>
          <a:xfrm>
            <a:off x="3235802" y="18241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40"/>
          <p:cNvSpPr txBox="1"/>
          <p:nvPr/>
        </p:nvSpPr>
        <p:spPr>
          <a:xfrm>
            <a:off x="1405013" y="17246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749" name="Google Shape;749;p40"/>
          <p:cNvSpPr txBox="1"/>
          <p:nvPr/>
        </p:nvSpPr>
        <p:spPr>
          <a:xfrm>
            <a:off x="2006163" y="17246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750" name="Google Shape;750;p40"/>
          <p:cNvSpPr txBox="1"/>
          <p:nvPr/>
        </p:nvSpPr>
        <p:spPr>
          <a:xfrm>
            <a:off x="2620975" y="17246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751" name="Google Shape;751;p40"/>
          <p:cNvSpPr txBox="1"/>
          <p:nvPr/>
        </p:nvSpPr>
        <p:spPr>
          <a:xfrm>
            <a:off x="3235763" y="17246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752" name="Google Shape;752;p40"/>
          <p:cNvSpPr txBox="1"/>
          <p:nvPr/>
        </p:nvSpPr>
        <p:spPr>
          <a:xfrm>
            <a:off x="182625" y="1768275"/>
            <a:ext cx="14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FC layer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3" name="Google Shape;75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7137" y="698551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40"/>
          <p:cNvSpPr/>
          <p:nvPr/>
        </p:nvSpPr>
        <p:spPr>
          <a:xfrm>
            <a:off x="1403662" y="681699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40"/>
          <p:cNvSpPr/>
          <p:nvPr/>
        </p:nvSpPr>
        <p:spPr>
          <a:xfrm>
            <a:off x="1399088" y="1106575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40"/>
          <p:cNvSpPr/>
          <p:nvPr/>
        </p:nvSpPr>
        <p:spPr>
          <a:xfrm>
            <a:off x="1972565" y="1106575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40"/>
          <p:cNvSpPr/>
          <p:nvPr/>
        </p:nvSpPr>
        <p:spPr>
          <a:xfrm>
            <a:off x="2601365" y="1106575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40"/>
          <p:cNvSpPr/>
          <p:nvPr/>
        </p:nvSpPr>
        <p:spPr>
          <a:xfrm>
            <a:off x="3230165" y="1106575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40"/>
          <p:cNvSpPr txBox="1"/>
          <p:nvPr/>
        </p:nvSpPr>
        <p:spPr>
          <a:xfrm>
            <a:off x="1399375" y="10070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760" name="Google Shape;760;p40"/>
          <p:cNvSpPr txBox="1"/>
          <p:nvPr/>
        </p:nvSpPr>
        <p:spPr>
          <a:xfrm>
            <a:off x="2000525" y="10070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761" name="Google Shape;761;p40"/>
          <p:cNvSpPr txBox="1"/>
          <p:nvPr/>
        </p:nvSpPr>
        <p:spPr>
          <a:xfrm>
            <a:off x="2615338" y="10070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762" name="Google Shape;762;p40"/>
          <p:cNvSpPr txBox="1"/>
          <p:nvPr/>
        </p:nvSpPr>
        <p:spPr>
          <a:xfrm>
            <a:off x="3230125" y="10070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763" name="Google Shape;763;p40"/>
          <p:cNvSpPr/>
          <p:nvPr/>
        </p:nvSpPr>
        <p:spPr>
          <a:xfrm>
            <a:off x="1160806" y="1315125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764" name="Google Shape;764;p40"/>
          <p:cNvSpPr/>
          <p:nvPr/>
        </p:nvSpPr>
        <p:spPr>
          <a:xfrm>
            <a:off x="1758331" y="1315125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765" name="Google Shape;765;p40"/>
          <p:cNvSpPr/>
          <p:nvPr/>
        </p:nvSpPr>
        <p:spPr>
          <a:xfrm>
            <a:off x="2355856" y="1315125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766" name="Google Shape;766;p40"/>
          <p:cNvSpPr/>
          <p:nvPr/>
        </p:nvSpPr>
        <p:spPr>
          <a:xfrm>
            <a:off x="2995731" y="1315125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767" name="Google Shape;767;p40"/>
          <p:cNvSpPr txBox="1"/>
          <p:nvPr/>
        </p:nvSpPr>
        <p:spPr>
          <a:xfrm>
            <a:off x="164025" y="1095200"/>
            <a:ext cx="127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Add &amp; Norm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0"/>
          <p:cNvSpPr txBox="1"/>
          <p:nvPr/>
        </p:nvSpPr>
        <p:spPr>
          <a:xfrm>
            <a:off x="4403425" y="992250"/>
            <a:ext cx="4074900" cy="38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Результат работы блока Encoder — обновленные эмбеддинги токенов. 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Каждый слой обрабатывает эмбеддинги параллельно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Каждый слой, кроме слоя self-attention, обрабатывает эмбеддинги независимо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Transformer Encoder может обрабатывать последовательности разной длины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Слои в энкодере можно менять местами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69" name="Google Shape;769;p40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 Encoder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40"/>
          <p:cNvSpPr/>
          <p:nvPr/>
        </p:nvSpPr>
        <p:spPr>
          <a:xfrm>
            <a:off x="4173025" y="1182200"/>
            <a:ext cx="70500" cy="70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1" name="Google Shape;771;p40"/>
          <p:cNvSpPr/>
          <p:nvPr/>
        </p:nvSpPr>
        <p:spPr>
          <a:xfrm>
            <a:off x="4173025" y="1931325"/>
            <a:ext cx="70500" cy="70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2" name="Google Shape;772;p40"/>
          <p:cNvSpPr/>
          <p:nvPr/>
        </p:nvSpPr>
        <p:spPr>
          <a:xfrm>
            <a:off x="4173025" y="2680450"/>
            <a:ext cx="70500" cy="70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3" name="Google Shape;773;p40"/>
          <p:cNvSpPr/>
          <p:nvPr/>
        </p:nvSpPr>
        <p:spPr>
          <a:xfrm>
            <a:off x="4168600" y="3429575"/>
            <a:ext cx="70500" cy="70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4" name="Google Shape;774;p40"/>
          <p:cNvSpPr/>
          <p:nvPr/>
        </p:nvSpPr>
        <p:spPr>
          <a:xfrm>
            <a:off x="4173025" y="4141650"/>
            <a:ext cx="70500" cy="70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41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Transformer Encoder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80" name="Google Shape;78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00" y="2421775"/>
            <a:ext cx="2072597" cy="2659976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41"/>
          <p:cNvSpPr txBox="1"/>
          <p:nvPr/>
        </p:nvSpPr>
        <p:spPr>
          <a:xfrm>
            <a:off x="426400" y="1005775"/>
            <a:ext cx="39966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Мы почти собрали Encoder. 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Чего не хватает: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ld Standard TT"/>
              <a:buChar char="-"/>
            </a:pPr>
            <a:r>
              <a:rPr lang="en" sz="1600" i="1" u="sng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Multi-head</a:t>
            </a: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attention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ld Standard TT"/>
              <a:buChar char="-"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Positional Encoding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42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Multi-Head Self-Attention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87" name="Google Shape;78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350" y="2147401"/>
            <a:ext cx="6681742" cy="2230900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42"/>
          <p:cNvSpPr txBox="1"/>
          <p:nvPr/>
        </p:nvSpPr>
        <p:spPr>
          <a:xfrm>
            <a:off x="379350" y="1252775"/>
            <a:ext cx="5081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Между словами в предложении могут быть зависимости разного типа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43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Multi-Head Self-Attention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p43"/>
          <p:cNvSpPr txBox="1"/>
          <p:nvPr/>
        </p:nvSpPr>
        <p:spPr>
          <a:xfrm>
            <a:off x="1270431" y="4615220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&lt;BOS&gt;   Guten   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Morgen   &lt;EOS&gt;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5" name="Google Shape;79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425" y="3530551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43"/>
          <p:cNvSpPr/>
          <p:nvPr/>
        </p:nvSpPr>
        <p:spPr>
          <a:xfrm>
            <a:off x="1426949" y="3513699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43"/>
          <p:cNvSpPr/>
          <p:nvPr/>
        </p:nvSpPr>
        <p:spPr>
          <a:xfrm>
            <a:off x="1422375" y="3938575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43"/>
          <p:cNvSpPr/>
          <p:nvPr/>
        </p:nvSpPr>
        <p:spPr>
          <a:xfrm>
            <a:off x="1995852" y="3938575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43"/>
          <p:cNvSpPr/>
          <p:nvPr/>
        </p:nvSpPr>
        <p:spPr>
          <a:xfrm>
            <a:off x="2624652" y="3938575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43"/>
          <p:cNvSpPr/>
          <p:nvPr/>
        </p:nvSpPr>
        <p:spPr>
          <a:xfrm>
            <a:off x="3253452" y="3938575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43"/>
          <p:cNvSpPr txBox="1"/>
          <p:nvPr/>
        </p:nvSpPr>
        <p:spPr>
          <a:xfrm>
            <a:off x="1422663" y="38390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802" name="Google Shape;802;p43"/>
          <p:cNvSpPr txBox="1"/>
          <p:nvPr/>
        </p:nvSpPr>
        <p:spPr>
          <a:xfrm>
            <a:off x="2023813" y="38390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803" name="Google Shape;803;p43"/>
          <p:cNvSpPr txBox="1"/>
          <p:nvPr/>
        </p:nvSpPr>
        <p:spPr>
          <a:xfrm>
            <a:off x="2638625" y="38390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804" name="Google Shape;804;p43"/>
          <p:cNvSpPr txBox="1"/>
          <p:nvPr/>
        </p:nvSpPr>
        <p:spPr>
          <a:xfrm>
            <a:off x="3253413" y="38390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805" name="Google Shape;805;p43"/>
          <p:cNvSpPr/>
          <p:nvPr/>
        </p:nvSpPr>
        <p:spPr>
          <a:xfrm>
            <a:off x="1426949" y="279047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43"/>
          <p:cNvSpPr/>
          <p:nvPr/>
        </p:nvSpPr>
        <p:spPr>
          <a:xfrm>
            <a:off x="1422375" y="3215350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7" name="Google Shape;807;p43"/>
          <p:cNvSpPr/>
          <p:nvPr/>
        </p:nvSpPr>
        <p:spPr>
          <a:xfrm>
            <a:off x="1995852" y="3215350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43"/>
          <p:cNvSpPr/>
          <p:nvPr/>
        </p:nvSpPr>
        <p:spPr>
          <a:xfrm>
            <a:off x="2624652" y="3215350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43"/>
          <p:cNvSpPr/>
          <p:nvPr/>
        </p:nvSpPr>
        <p:spPr>
          <a:xfrm>
            <a:off x="3253452" y="3215350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43"/>
          <p:cNvSpPr txBox="1"/>
          <p:nvPr/>
        </p:nvSpPr>
        <p:spPr>
          <a:xfrm>
            <a:off x="1422988" y="31149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811" name="Google Shape;811;p43"/>
          <p:cNvSpPr txBox="1"/>
          <p:nvPr/>
        </p:nvSpPr>
        <p:spPr>
          <a:xfrm>
            <a:off x="2023813" y="31158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812" name="Google Shape;812;p43"/>
          <p:cNvSpPr txBox="1"/>
          <p:nvPr/>
        </p:nvSpPr>
        <p:spPr>
          <a:xfrm>
            <a:off x="2638625" y="31158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813" name="Google Shape;813;p43"/>
          <p:cNvSpPr txBox="1"/>
          <p:nvPr/>
        </p:nvSpPr>
        <p:spPr>
          <a:xfrm>
            <a:off x="3253413" y="31158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cxnSp>
        <p:nvCxnSpPr>
          <p:cNvPr id="814" name="Google Shape;814;p43"/>
          <p:cNvCxnSpPr>
            <a:stCxn id="810" idx="2"/>
            <a:endCxn id="801" idx="0"/>
          </p:cNvCxnSpPr>
          <p:nvPr/>
        </p:nvCxnSpPr>
        <p:spPr>
          <a:xfrm flipH="1">
            <a:off x="1665388" y="3530425"/>
            <a:ext cx="3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5" name="Google Shape;815;p43"/>
          <p:cNvCxnSpPr>
            <a:stCxn id="810" idx="2"/>
            <a:endCxn id="802" idx="0"/>
          </p:cNvCxnSpPr>
          <p:nvPr/>
        </p:nvCxnSpPr>
        <p:spPr>
          <a:xfrm>
            <a:off x="1665688" y="3530425"/>
            <a:ext cx="6009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6" name="Google Shape;816;p43"/>
          <p:cNvCxnSpPr>
            <a:stCxn id="810" idx="2"/>
            <a:endCxn id="803" idx="0"/>
          </p:cNvCxnSpPr>
          <p:nvPr/>
        </p:nvCxnSpPr>
        <p:spPr>
          <a:xfrm>
            <a:off x="1665688" y="3530425"/>
            <a:ext cx="12156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7" name="Google Shape;817;p43"/>
          <p:cNvCxnSpPr>
            <a:stCxn id="810" idx="2"/>
            <a:endCxn id="804" idx="0"/>
          </p:cNvCxnSpPr>
          <p:nvPr/>
        </p:nvCxnSpPr>
        <p:spPr>
          <a:xfrm>
            <a:off x="1665688" y="3530425"/>
            <a:ext cx="18303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8" name="Google Shape;818;p43"/>
          <p:cNvCxnSpPr>
            <a:stCxn id="801" idx="0"/>
            <a:endCxn id="811" idx="2"/>
          </p:cNvCxnSpPr>
          <p:nvPr/>
        </p:nvCxnSpPr>
        <p:spPr>
          <a:xfrm rot="10800000" flipH="1">
            <a:off x="1665363" y="3531275"/>
            <a:ext cx="6012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9" name="Google Shape;819;p43"/>
          <p:cNvCxnSpPr>
            <a:stCxn id="801" idx="0"/>
            <a:endCxn id="812" idx="2"/>
          </p:cNvCxnSpPr>
          <p:nvPr/>
        </p:nvCxnSpPr>
        <p:spPr>
          <a:xfrm rot="10800000" flipH="1">
            <a:off x="1665363" y="3531275"/>
            <a:ext cx="12159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0" name="Google Shape;820;p43"/>
          <p:cNvCxnSpPr>
            <a:stCxn id="801" idx="0"/>
            <a:endCxn id="813" idx="2"/>
          </p:cNvCxnSpPr>
          <p:nvPr/>
        </p:nvCxnSpPr>
        <p:spPr>
          <a:xfrm rot="10800000" flipH="1">
            <a:off x="1665363" y="3531275"/>
            <a:ext cx="18309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1" name="Google Shape;821;p43"/>
          <p:cNvCxnSpPr>
            <a:stCxn id="811" idx="2"/>
            <a:endCxn id="802" idx="0"/>
          </p:cNvCxnSpPr>
          <p:nvPr/>
        </p:nvCxnSpPr>
        <p:spPr>
          <a:xfrm>
            <a:off x="2266513" y="3531350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2" name="Google Shape;822;p43"/>
          <p:cNvCxnSpPr>
            <a:stCxn id="802" idx="0"/>
            <a:endCxn id="812" idx="2"/>
          </p:cNvCxnSpPr>
          <p:nvPr/>
        </p:nvCxnSpPr>
        <p:spPr>
          <a:xfrm rot="10800000" flipH="1">
            <a:off x="2266513" y="3531275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3" name="Google Shape;823;p43"/>
          <p:cNvCxnSpPr>
            <a:stCxn id="811" idx="2"/>
            <a:endCxn id="803" idx="0"/>
          </p:cNvCxnSpPr>
          <p:nvPr/>
        </p:nvCxnSpPr>
        <p:spPr>
          <a:xfrm>
            <a:off x="2266513" y="3531350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4" name="Google Shape;824;p43"/>
          <p:cNvCxnSpPr>
            <a:stCxn id="803" idx="0"/>
            <a:endCxn id="813" idx="2"/>
          </p:cNvCxnSpPr>
          <p:nvPr/>
        </p:nvCxnSpPr>
        <p:spPr>
          <a:xfrm rot="10800000" flipH="1">
            <a:off x="2881325" y="3531275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5" name="Google Shape;825;p43"/>
          <p:cNvCxnSpPr>
            <a:stCxn id="812" idx="2"/>
            <a:endCxn id="803" idx="0"/>
          </p:cNvCxnSpPr>
          <p:nvPr/>
        </p:nvCxnSpPr>
        <p:spPr>
          <a:xfrm>
            <a:off x="2881325" y="3531350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6" name="Google Shape;826;p43"/>
          <p:cNvCxnSpPr>
            <a:stCxn id="812" idx="2"/>
            <a:endCxn id="804" idx="0"/>
          </p:cNvCxnSpPr>
          <p:nvPr/>
        </p:nvCxnSpPr>
        <p:spPr>
          <a:xfrm>
            <a:off x="2881325" y="3531350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7" name="Google Shape;827;p43"/>
          <p:cNvCxnSpPr>
            <a:stCxn id="804" idx="0"/>
            <a:endCxn id="813" idx="2"/>
          </p:cNvCxnSpPr>
          <p:nvPr/>
        </p:nvCxnSpPr>
        <p:spPr>
          <a:xfrm rot="10800000">
            <a:off x="3496113" y="3531263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8" name="Google Shape;828;p43"/>
          <p:cNvCxnSpPr>
            <a:stCxn id="804" idx="0"/>
            <a:endCxn id="811" idx="2"/>
          </p:cNvCxnSpPr>
          <p:nvPr/>
        </p:nvCxnSpPr>
        <p:spPr>
          <a:xfrm rot="10800000">
            <a:off x="2266413" y="3531263"/>
            <a:ext cx="1229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9" name="Google Shape;829;p43"/>
          <p:cNvCxnSpPr>
            <a:stCxn id="802" idx="0"/>
            <a:endCxn id="813" idx="2"/>
          </p:cNvCxnSpPr>
          <p:nvPr/>
        </p:nvCxnSpPr>
        <p:spPr>
          <a:xfrm rot="10800000" flipH="1">
            <a:off x="2266513" y="3531275"/>
            <a:ext cx="1229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30" name="Google Shape;830;p43"/>
          <p:cNvSpPr txBox="1"/>
          <p:nvPr/>
        </p:nvSpPr>
        <p:spPr>
          <a:xfrm>
            <a:off x="182625" y="4399338"/>
            <a:ext cx="75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input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43"/>
          <p:cNvSpPr txBox="1"/>
          <p:nvPr/>
        </p:nvSpPr>
        <p:spPr>
          <a:xfrm>
            <a:off x="153850" y="3702840"/>
            <a:ext cx="118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</a:t>
            </a:r>
            <a:endParaRPr>
              <a:solidFill>
                <a:srgbClr val="B7B7B7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43"/>
          <p:cNvSpPr txBox="1"/>
          <p:nvPr/>
        </p:nvSpPr>
        <p:spPr>
          <a:xfrm>
            <a:off x="153850" y="3168038"/>
            <a:ext cx="14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Self-attention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44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Multi-Head Self-Attention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44"/>
          <p:cNvSpPr txBox="1"/>
          <p:nvPr/>
        </p:nvSpPr>
        <p:spPr>
          <a:xfrm>
            <a:off x="745477" y="4480525"/>
            <a:ext cx="7926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&lt;BOS&gt;                                    доброе                                  утро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&lt;EOS&gt;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44"/>
          <p:cNvSpPr txBox="1"/>
          <p:nvPr/>
        </p:nvSpPr>
        <p:spPr>
          <a:xfrm>
            <a:off x="8072700" y="4337813"/>
            <a:ext cx="75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input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44"/>
          <p:cNvSpPr txBox="1"/>
          <p:nvPr/>
        </p:nvSpPr>
        <p:spPr>
          <a:xfrm>
            <a:off x="8039225" y="3781390"/>
            <a:ext cx="118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</a:t>
            </a:r>
            <a:endParaRPr>
              <a:solidFill>
                <a:srgbClr val="B7B7B7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44"/>
          <p:cNvSpPr/>
          <p:nvPr/>
        </p:nvSpPr>
        <p:spPr>
          <a:xfrm>
            <a:off x="919475" y="4004187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44"/>
          <p:cNvSpPr/>
          <p:nvPr/>
        </p:nvSpPr>
        <p:spPr>
          <a:xfrm>
            <a:off x="2825177" y="3988975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p44"/>
          <p:cNvSpPr txBox="1"/>
          <p:nvPr/>
        </p:nvSpPr>
        <p:spPr>
          <a:xfrm>
            <a:off x="919763" y="39046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844" name="Google Shape;844;p44"/>
          <p:cNvSpPr txBox="1"/>
          <p:nvPr/>
        </p:nvSpPr>
        <p:spPr>
          <a:xfrm>
            <a:off x="2853138" y="38894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845" name="Google Shape;845;p44"/>
          <p:cNvSpPr/>
          <p:nvPr/>
        </p:nvSpPr>
        <p:spPr>
          <a:xfrm>
            <a:off x="388100" y="2596537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44"/>
          <p:cNvSpPr txBox="1"/>
          <p:nvPr/>
        </p:nvSpPr>
        <p:spPr>
          <a:xfrm>
            <a:off x="388713" y="24961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847" name="Google Shape;847;p44"/>
          <p:cNvSpPr txBox="1"/>
          <p:nvPr/>
        </p:nvSpPr>
        <p:spPr>
          <a:xfrm>
            <a:off x="8030425" y="2487525"/>
            <a:ext cx="1404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Multi-head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Self-attention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44"/>
          <p:cNvSpPr/>
          <p:nvPr/>
        </p:nvSpPr>
        <p:spPr>
          <a:xfrm>
            <a:off x="918675" y="2595600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9" name="Google Shape;849;p44"/>
          <p:cNvSpPr txBox="1"/>
          <p:nvPr/>
        </p:nvSpPr>
        <p:spPr>
          <a:xfrm>
            <a:off x="995163" y="249610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850" name="Google Shape;850;p44"/>
          <p:cNvSpPr/>
          <p:nvPr/>
        </p:nvSpPr>
        <p:spPr>
          <a:xfrm>
            <a:off x="1449225" y="2595600"/>
            <a:ext cx="486000" cy="268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44"/>
          <p:cNvSpPr txBox="1"/>
          <p:nvPr/>
        </p:nvSpPr>
        <p:spPr>
          <a:xfrm>
            <a:off x="1449213" y="24842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852" name="Google Shape;852;p44"/>
          <p:cNvSpPr/>
          <p:nvPr/>
        </p:nvSpPr>
        <p:spPr>
          <a:xfrm>
            <a:off x="2285813" y="2596537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44"/>
          <p:cNvSpPr txBox="1"/>
          <p:nvPr/>
        </p:nvSpPr>
        <p:spPr>
          <a:xfrm>
            <a:off x="2286425" y="24961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854" name="Google Shape;854;p44"/>
          <p:cNvSpPr/>
          <p:nvPr/>
        </p:nvSpPr>
        <p:spPr>
          <a:xfrm>
            <a:off x="2816388" y="2595600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5" name="Google Shape;855;p44"/>
          <p:cNvSpPr txBox="1"/>
          <p:nvPr/>
        </p:nvSpPr>
        <p:spPr>
          <a:xfrm>
            <a:off x="2892875" y="249610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856" name="Google Shape;856;p44"/>
          <p:cNvSpPr/>
          <p:nvPr/>
        </p:nvSpPr>
        <p:spPr>
          <a:xfrm>
            <a:off x="3346938" y="2595600"/>
            <a:ext cx="486000" cy="268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7" name="Google Shape;857;p44"/>
          <p:cNvSpPr txBox="1"/>
          <p:nvPr/>
        </p:nvSpPr>
        <p:spPr>
          <a:xfrm>
            <a:off x="3346925" y="24842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858" name="Google Shape;858;p44"/>
          <p:cNvSpPr/>
          <p:nvPr/>
        </p:nvSpPr>
        <p:spPr>
          <a:xfrm>
            <a:off x="4209250" y="2596537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9" name="Google Shape;859;p44"/>
          <p:cNvSpPr txBox="1"/>
          <p:nvPr/>
        </p:nvSpPr>
        <p:spPr>
          <a:xfrm>
            <a:off x="4209863" y="24961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860" name="Google Shape;860;p44"/>
          <p:cNvSpPr/>
          <p:nvPr/>
        </p:nvSpPr>
        <p:spPr>
          <a:xfrm>
            <a:off x="4739825" y="2595600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1" name="Google Shape;861;p44"/>
          <p:cNvSpPr txBox="1"/>
          <p:nvPr/>
        </p:nvSpPr>
        <p:spPr>
          <a:xfrm>
            <a:off x="4816313" y="249610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862" name="Google Shape;862;p44"/>
          <p:cNvSpPr/>
          <p:nvPr/>
        </p:nvSpPr>
        <p:spPr>
          <a:xfrm>
            <a:off x="5270375" y="2595600"/>
            <a:ext cx="486000" cy="268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44"/>
          <p:cNvSpPr txBox="1"/>
          <p:nvPr/>
        </p:nvSpPr>
        <p:spPr>
          <a:xfrm>
            <a:off x="5270363" y="24842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864" name="Google Shape;864;p44"/>
          <p:cNvSpPr/>
          <p:nvPr/>
        </p:nvSpPr>
        <p:spPr>
          <a:xfrm>
            <a:off x="4746215" y="3991863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44"/>
          <p:cNvSpPr txBox="1"/>
          <p:nvPr/>
        </p:nvSpPr>
        <p:spPr>
          <a:xfrm>
            <a:off x="4774175" y="38923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866" name="Google Shape;866;p44"/>
          <p:cNvSpPr/>
          <p:nvPr/>
        </p:nvSpPr>
        <p:spPr>
          <a:xfrm>
            <a:off x="6081213" y="2596537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p44"/>
          <p:cNvSpPr txBox="1"/>
          <p:nvPr/>
        </p:nvSpPr>
        <p:spPr>
          <a:xfrm>
            <a:off x="6081825" y="24961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868" name="Google Shape;868;p44"/>
          <p:cNvSpPr/>
          <p:nvPr/>
        </p:nvSpPr>
        <p:spPr>
          <a:xfrm>
            <a:off x="6611788" y="2595600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44"/>
          <p:cNvSpPr txBox="1"/>
          <p:nvPr/>
        </p:nvSpPr>
        <p:spPr>
          <a:xfrm>
            <a:off x="6688275" y="249610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870" name="Google Shape;870;p44"/>
          <p:cNvSpPr/>
          <p:nvPr/>
        </p:nvSpPr>
        <p:spPr>
          <a:xfrm>
            <a:off x="7142338" y="2595600"/>
            <a:ext cx="486000" cy="268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1" name="Google Shape;871;p44"/>
          <p:cNvSpPr txBox="1"/>
          <p:nvPr/>
        </p:nvSpPr>
        <p:spPr>
          <a:xfrm>
            <a:off x="7142325" y="24842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872" name="Google Shape;872;p44"/>
          <p:cNvSpPr/>
          <p:nvPr/>
        </p:nvSpPr>
        <p:spPr>
          <a:xfrm>
            <a:off x="6618177" y="3991863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3" name="Google Shape;873;p44"/>
          <p:cNvSpPr txBox="1"/>
          <p:nvPr/>
        </p:nvSpPr>
        <p:spPr>
          <a:xfrm>
            <a:off x="6646138" y="38923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cxnSp>
        <p:nvCxnSpPr>
          <p:cNvPr id="874" name="Google Shape;874;p44"/>
          <p:cNvCxnSpPr>
            <a:stCxn id="846" idx="2"/>
            <a:endCxn id="843" idx="0"/>
          </p:cNvCxnSpPr>
          <p:nvPr/>
        </p:nvCxnSpPr>
        <p:spPr>
          <a:xfrm>
            <a:off x="631413" y="2911613"/>
            <a:ext cx="531000" cy="99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5" name="Google Shape;875;p44"/>
          <p:cNvCxnSpPr>
            <a:stCxn id="846" idx="2"/>
            <a:endCxn id="844" idx="0"/>
          </p:cNvCxnSpPr>
          <p:nvPr/>
        </p:nvCxnSpPr>
        <p:spPr>
          <a:xfrm>
            <a:off x="631413" y="2911613"/>
            <a:ext cx="2464500" cy="97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6" name="Google Shape;876;p44"/>
          <p:cNvCxnSpPr>
            <a:stCxn id="846" idx="2"/>
            <a:endCxn id="865" idx="0"/>
          </p:cNvCxnSpPr>
          <p:nvPr/>
        </p:nvCxnSpPr>
        <p:spPr>
          <a:xfrm>
            <a:off x="631413" y="2911613"/>
            <a:ext cx="4385400" cy="98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7" name="Google Shape;877;p44"/>
          <p:cNvCxnSpPr>
            <a:stCxn id="846" idx="2"/>
            <a:endCxn id="873" idx="0"/>
          </p:cNvCxnSpPr>
          <p:nvPr/>
        </p:nvCxnSpPr>
        <p:spPr>
          <a:xfrm>
            <a:off x="631413" y="2911613"/>
            <a:ext cx="6257400" cy="98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8" name="Google Shape;878;p44"/>
          <p:cNvCxnSpPr>
            <a:stCxn id="851" idx="2"/>
            <a:endCxn id="843" idx="0"/>
          </p:cNvCxnSpPr>
          <p:nvPr/>
        </p:nvCxnSpPr>
        <p:spPr>
          <a:xfrm flipH="1">
            <a:off x="1162413" y="2899750"/>
            <a:ext cx="529500" cy="1005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9" name="Google Shape;879;p44"/>
          <p:cNvCxnSpPr>
            <a:stCxn id="849" idx="2"/>
            <a:endCxn id="843" idx="0"/>
          </p:cNvCxnSpPr>
          <p:nvPr/>
        </p:nvCxnSpPr>
        <p:spPr>
          <a:xfrm flipH="1">
            <a:off x="1162563" y="2911600"/>
            <a:ext cx="75300" cy="99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0" name="Google Shape;880;p44"/>
          <p:cNvCxnSpPr>
            <a:stCxn id="849" idx="2"/>
            <a:endCxn id="844" idx="0"/>
          </p:cNvCxnSpPr>
          <p:nvPr/>
        </p:nvCxnSpPr>
        <p:spPr>
          <a:xfrm>
            <a:off x="1237863" y="2911600"/>
            <a:ext cx="1857900" cy="97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1" name="Google Shape;881;p44"/>
          <p:cNvCxnSpPr>
            <a:stCxn id="849" idx="2"/>
            <a:endCxn id="865" idx="0"/>
          </p:cNvCxnSpPr>
          <p:nvPr/>
        </p:nvCxnSpPr>
        <p:spPr>
          <a:xfrm>
            <a:off x="1237863" y="2911600"/>
            <a:ext cx="3779100" cy="98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2" name="Google Shape;882;p44"/>
          <p:cNvCxnSpPr>
            <a:stCxn id="849" idx="2"/>
            <a:endCxn id="873" idx="0"/>
          </p:cNvCxnSpPr>
          <p:nvPr/>
        </p:nvCxnSpPr>
        <p:spPr>
          <a:xfrm>
            <a:off x="1237863" y="2911600"/>
            <a:ext cx="5651100" cy="98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3" name="Google Shape;883;p44"/>
          <p:cNvCxnSpPr>
            <a:stCxn id="851" idx="2"/>
            <a:endCxn id="844" idx="0"/>
          </p:cNvCxnSpPr>
          <p:nvPr/>
        </p:nvCxnSpPr>
        <p:spPr>
          <a:xfrm>
            <a:off x="1691913" y="2899750"/>
            <a:ext cx="1404000" cy="98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4" name="Google Shape;884;p44"/>
          <p:cNvCxnSpPr>
            <a:stCxn id="843" idx="0"/>
            <a:endCxn id="853" idx="2"/>
          </p:cNvCxnSpPr>
          <p:nvPr/>
        </p:nvCxnSpPr>
        <p:spPr>
          <a:xfrm rot="10800000" flipH="1">
            <a:off x="1162463" y="2911688"/>
            <a:ext cx="1366800" cy="99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5" name="Google Shape;885;p44"/>
          <p:cNvCxnSpPr>
            <a:stCxn id="851" idx="2"/>
            <a:endCxn id="865" idx="0"/>
          </p:cNvCxnSpPr>
          <p:nvPr/>
        </p:nvCxnSpPr>
        <p:spPr>
          <a:xfrm>
            <a:off x="1691913" y="2899750"/>
            <a:ext cx="3324900" cy="99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6" name="Google Shape;886;p44"/>
          <p:cNvCxnSpPr>
            <a:stCxn id="851" idx="2"/>
            <a:endCxn id="873" idx="0"/>
          </p:cNvCxnSpPr>
          <p:nvPr/>
        </p:nvCxnSpPr>
        <p:spPr>
          <a:xfrm>
            <a:off x="1691913" y="2899750"/>
            <a:ext cx="5196900" cy="99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7" name="Google Shape;887;p44"/>
          <p:cNvCxnSpPr>
            <a:stCxn id="853" idx="2"/>
            <a:endCxn id="844" idx="0"/>
          </p:cNvCxnSpPr>
          <p:nvPr/>
        </p:nvCxnSpPr>
        <p:spPr>
          <a:xfrm>
            <a:off x="2529125" y="2911613"/>
            <a:ext cx="566700" cy="97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8" name="Google Shape;888;p44"/>
          <p:cNvCxnSpPr>
            <a:stCxn id="853" idx="2"/>
            <a:endCxn id="865" idx="0"/>
          </p:cNvCxnSpPr>
          <p:nvPr/>
        </p:nvCxnSpPr>
        <p:spPr>
          <a:xfrm>
            <a:off x="2529125" y="2911613"/>
            <a:ext cx="2487900" cy="98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9" name="Google Shape;889;p44"/>
          <p:cNvCxnSpPr>
            <a:stCxn id="853" idx="2"/>
            <a:endCxn id="873" idx="0"/>
          </p:cNvCxnSpPr>
          <p:nvPr/>
        </p:nvCxnSpPr>
        <p:spPr>
          <a:xfrm>
            <a:off x="2529125" y="2911613"/>
            <a:ext cx="4359600" cy="98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0" name="Google Shape;890;p44"/>
          <p:cNvCxnSpPr>
            <a:stCxn id="855" idx="2"/>
            <a:endCxn id="844" idx="0"/>
          </p:cNvCxnSpPr>
          <p:nvPr/>
        </p:nvCxnSpPr>
        <p:spPr>
          <a:xfrm flipH="1">
            <a:off x="3095975" y="2911600"/>
            <a:ext cx="39600" cy="97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1" name="Google Shape;891;p44"/>
          <p:cNvCxnSpPr>
            <a:stCxn id="857" idx="2"/>
            <a:endCxn id="844" idx="0"/>
          </p:cNvCxnSpPr>
          <p:nvPr/>
        </p:nvCxnSpPr>
        <p:spPr>
          <a:xfrm flipH="1">
            <a:off x="3095825" y="2899750"/>
            <a:ext cx="493800" cy="98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2" name="Google Shape;892;p44"/>
          <p:cNvCxnSpPr>
            <a:stCxn id="859" idx="2"/>
            <a:endCxn id="844" idx="0"/>
          </p:cNvCxnSpPr>
          <p:nvPr/>
        </p:nvCxnSpPr>
        <p:spPr>
          <a:xfrm flipH="1">
            <a:off x="3095963" y="2911613"/>
            <a:ext cx="1356600" cy="97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3" name="Google Shape;893;p44"/>
          <p:cNvCxnSpPr>
            <a:stCxn id="859" idx="2"/>
            <a:endCxn id="865" idx="0"/>
          </p:cNvCxnSpPr>
          <p:nvPr/>
        </p:nvCxnSpPr>
        <p:spPr>
          <a:xfrm>
            <a:off x="4452563" y="2911613"/>
            <a:ext cx="564300" cy="98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4" name="Google Shape;894;p44"/>
          <p:cNvSpPr txBox="1"/>
          <p:nvPr/>
        </p:nvSpPr>
        <p:spPr>
          <a:xfrm>
            <a:off x="426225" y="1233625"/>
            <a:ext cx="253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У всех голов attention различные веса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895" name="Google Shape;895;p44"/>
          <p:cNvCxnSpPr>
            <a:stCxn id="855" idx="2"/>
            <a:endCxn id="843" idx="0"/>
          </p:cNvCxnSpPr>
          <p:nvPr/>
        </p:nvCxnSpPr>
        <p:spPr>
          <a:xfrm flipH="1">
            <a:off x="1162475" y="2911600"/>
            <a:ext cx="1973100" cy="99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6" name="Google Shape;896;p44"/>
          <p:cNvCxnSpPr>
            <a:stCxn id="855" idx="2"/>
            <a:endCxn id="865" idx="0"/>
          </p:cNvCxnSpPr>
          <p:nvPr/>
        </p:nvCxnSpPr>
        <p:spPr>
          <a:xfrm>
            <a:off x="3135575" y="2911600"/>
            <a:ext cx="1881300" cy="98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7" name="Google Shape;897;p44"/>
          <p:cNvCxnSpPr>
            <a:stCxn id="855" idx="2"/>
            <a:endCxn id="873" idx="0"/>
          </p:cNvCxnSpPr>
          <p:nvPr/>
        </p:nvCxnSpPr>
        <p:spPr>
          <a:xfrm>
            <a:off x="3135575" y="2911600"/>
            <a:ext cx="3753300" cy="98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8" name="Google Shape;898;p44"/>
          <p:cNvCxnSpPr>
            <a:stCxn id="859" idx="2"/>
            <a:endCxn id="843" idx="0"/>
          </p:cNvCxnSpPr>
          <p:nvPr/>
        </p:nvCxnSpPr>
        <p:spPr>
          <a:xfrm flipH="1">
            <a:off x="1162463" y="2911613"/>
            <a:ext cx="3290100" cy="99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9" name="Google Shape;899;p44"/>
          <p:cNvCxnSpPr>
            <a:stCxn id="857" idx="2"/>
            <a:endCxn id="843" idx="0"/>
          </p:cNvCxnSpPr>
          <p:nvPr/>
        </p:nvCxnSpPr>
        <p:spPr>
          <a:xfrm flipH="1">
            <a:off x="1162325" y="2899750"/>
            <a:ext cx="2427300" cy="1005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0" name="Google Shape;900;p44"/>
          <p:cNvCxnSpPr>
            <a:stCxn id="857" idx="2"/>
            <a:endCxn id="865" idx="0"/>
          </p:cNvCxnSpPr>
          <p:nvPr/>
        </p:nvCxnSpPr>
        <p:spPr>
          <a:xfrm>
            <a:off x="3589625" y="2899750"/>
            <a:ext cx="1427400" cy="99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1" name="Google Shape;901;p44"/>
          <p:cNvCxnSpPr>
            <a:stCxn id="857" idx="2"/>
            <a:endCxn id="873" idx="0"/>
          </p:cNvCxnSpPr>
          <p:nvPr/>
        </p:nvCxnSpPr>
        <p:spPr>
          <a:xfrm>
            <a:off x="3589625" y="2899750"/>
            <a:ext cx="3299100" cy="99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2" name="Google Shape;902;p44"/>
          <p:cNvCxnSpPr>
            <a:stCxn id="861" idx="2"/>
            <a:endCxn id="865" idx="0"/>
          </p:cNvCxnSpPr>
          <p:nvPr/>
        </p:nvCxnSpPr>
        <p:spPr>
          <a:xfrm flipH="1">
            <a:off x="5017013" y="2911600"/>
            <a:ext cx="42000" cy="98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3" name="Google Shape;903;p44"/>
          <p:cNvCxnSpPr>
            <a:stCxn id="859" idx="2"/>
            <a:endCxn id="873" idx="0"/>
          </p:cNvCxnSpPr>
          <p:nvPr/>
        </p:nvCxnSpPr>
        <p:spPr>
          <a:xfrm>
            <a:off x="4452563" y="2911613"/>
            <a:ext cx="2436300" cy="98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4" name="Google Shape;904;p44"/>
          <p:cNvCxnSpPr>
            <a:stCxn id="861" idx="2"/>
            <a:endCxn id="843" idx="0"/>
          </p:cNvCxnSpPr>
          <p:nvPr/>
        </p:nvCxnSpPr>
        <p:spPr>
          <a:xfrm flipH="1">
            <a:off x="1162613" y="2911600"/>
            <a:ext cx="3896400" cy="99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5" name="Google Shape;905;p44"/>
          <p:cNvCxnSpPr>
            <a:stCxn id="861" idx="2"/>
            <a:endCxn id="844" idx="0"/>
          </p:cNvCxnSpPr>
          <p:nvPr/>
        </p:nvCxnSpPr>
        <p:spPr>
          <a:xfrm flipH="1">
            <a:off x="3095813" y="2911600"/>
            <a:ext cx="1963200" cy="97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6" name="Google Shape;906;p44"/>
          <p:cNvCxnSpPr>
            <a:stCxn id="861" idx="2"/>
            <a:endCxn id="873" idx="0"/>
          </p:cNvCxnSpPr>
          <p:nvPr/>
        </p:nvCxnSpPr>
        <p:spPr>
          <a:xfrm>
            <a:off x="5059013" y="2911600"/>
            <a:ext cx="1829700" cy="98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7" name="Google Shape;907;p44"/>
          <p:cNvCxnSpPr>
            <a:stCxn id="863" idx="2"/>
            <a:endCxn id="843" idx="0"/>
          </p:cNvCxnSpPr>
          <p:nvPr/>
        </p:nvCxnSpPr>
        <p:spPr>
          <a:xfrm flipH="1">
            <a:off x="1162463" y="2899750"/>
            <a:ext cx="4350600" cy="1005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8" name="Google Shape;908;p44"/>
          <p:cNvCxnSpPr>
            <a:stCxn id="863" idx="2"/>
            <a:endCxn id="844" idx="0"/>
          </p:cNvCxnSpPr>
          <p:nvPr/>
        </p:nvCxnSpPr>
        <p:spPr>
          <a:xfrm flipH="1">
            <a:off x="3095963" y="2899750"/>
            <a:ext cx="2417100" cy="98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9" name="Google Shape;909;p44"/>
          <p:cNvCxnSpPr>
            <a:stCxn id="863" idx="2"/>
            <a:endCxn id="865" idx="0"/>
          </p:cNvCxnSpPr>
          <p:nvPr/>
        </p:nvCxnSpPr>
        <p:spPr>
          <a:xfrm flipH="1">
            <a:off x="5016863" y="2899750"/>
            <a:ext cx="496200" cy="99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0" name="Google Shape;910;p44"/>
          <p:cNvCxnSpPr>
            <a:stCxn id="863" idx="2"/>
            <a:endCxn id="873" idx="0"/>
          </p:cNvCxnSpPr>
          <p:nvPr/>
        </p:nvCxnSpPr>
        <p:spPr>
          <a:xfrm>
            <a:off x="5513063" y="2899750"/>
            <a:ext cx="1375800" cy="99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1" name="Google Shape;911;p44"/>
          <p:cNvCxnSpPr>
            <a:stCxn id="867" idx="2"/>
            <a:endCxn id="843" idx="0"/>
          </p:cNvCxnSpPr>
          <p:nvPr/>
        </p:nvCxnSpPr>
        <p:spPr>
          <a:xfrm flipH="1">
            <a:off x="1162425" y="2911613"/>
            <a:ext cx="5162100" cy="99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2" name="Google Shape;912;p44"/>
          <p:cNvCxnSpPr>
            <a:stCxn id="867" idx="2"/>
            <a:endCxn id="844" idx="0"/>
          </p:cNvCxnSpPr>
          <p:nvPr/>
        </p:nvCxnSpPr>
        <p:spPr>
          <a:xfrm flipH="1">
            <a:off x="3095925" y="2911613"/>
            <a:ext cx="3228600" cy="97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3" name="Google Shape;913;p44"/>
          <p:cNvCxnSpPr>
            <a:stCxn id="867" idx="2"/>
            <a:endCxn id="865" idx="0"/>
          </p:cNvCxnSpPr>
          <p:nvPr/>
        </p:nvCxnSpPr>
        <p:spPr>
          <a:xfrm flipH="1">
            <a:off x="5016825" y="2911613"/>
            <a:ext cx="1307700" cy="98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4" name="Google Shape;914;p44"/>
          <p:cNvCxnSpPr>
            <a:stCxn id="867" idx="2"/>
            <a:endCxn id="873" idx="0"/>
          </p:cNvCxnSpPr>
          <p:nvPr/>
        </p:nvCxnSpPr>
        <p:spPr>
          <a:xfrm>
            <a:off x="6324525" y="2911613"/>
            <a:ext cx="564300" cy="98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5" name="Google Shape;915;p44"/>
          <p:cNvCxnSpPr>
            <a:stCxn id="869" idx="2"/>
            <a:endCxn id="843" idx="0"/>
          </p:cNvCxnSpPr>
          <p:nvPr/>
        </p:nvCxnSpPr>
        <p:spPr>
          <a:xfrm flipH="1">
            <a:off x="1162575" y="2911600"/>
            <a:ext cx="5768400" cy="99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6" name="Google Shape;916;p44"/>
          <p:cNvCxnSpPr>
            <a:stCxn id="869" idx="2"/>
            <a:endCxn id="844" idx="0"/>
          </p:cNvCxnSpPr>
          <p:nvPr/>
        </p:nvCxnSpPr>
        <p:spPr>
          <a:xfrm flipH="1">
            <a:off x="3095775" y="2911600"/>
            <a:ext cx="3835200" cy="97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7" name="Google Shape;917;p44"/>
          <p:cNvCxnSpPr>
            <a:stCxn id="869" idx="2"/>
            <a:endCxn id="865" idx="0"/>
          </p:cNvCxnSpPr>
          <p:nvPr/>
        </p:nvCxnSpPr>
        <p:spPr>
          <a:xfrm flipH="1">
            <a:off x="5016975" y="2911600"/>
            <a:ext cx="1914000" cy="98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8" name="Google Shape;918;p44"/>
          <p:cNvCxnSpPr>
            <a:stCxn id="869" idx="2"/>
            <a:endCxn id="873" idx="0"/>
          </p:cNvCxnSpPr>
          <p:nvPr/>
        </p:nvCxnSpPr>
        <p:spPr>
          <a:xfrm flipH="1">
            <a:off x="6888975" y="2911600"/>
            <a:ext cx="42000" cy="98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9" name="Google Shape;919;p44"/>
          <p:cNvCxnSpPr>
            <a:stCxn id="871" idx="2"/>
            <a:endCxn id="843" idx="0"/>
          </p:cNvCxnSpPr>
          <p:nvPr/>
        </p:nvCxnSpPr>
        <p:spPr>
          <a:xfrm flipH="1">
            <a:off x="1162425" y="2899750"/>
            <a:ext cx="6222600" cy="1005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0" name="Google Shape;920;p44"/>
          <p:cNvCxnSpPr>
            <a:stCxn id="871" idx="2"/>
            <a:endCxn id="844" idx="0"/>
          </p:cNvCxnSpPr>
          <p:nvPr/>
        </p:nvCxnSpPr>
        <p:spPr>
          <a:xfrm flipH="1">
            <a:off x="3095925" y="2899750"/>
            <a:ext cx="4289100" cy="98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1" name="Google Shape;921;p44"/>
          <p:cNvCxnSpPr>
            <a:stCxn id="871" idx="2"/>
            <a:endCxn id="865" idx="0"/>
          </p:cNvCxnSpPr>
          <p:nvPr/>
        </p:nvCxnSpPr>
        <p:spPr>
          <a:xfrm flipH="1">
            <a:off x="5016825" y="2899750"/>
            <a:ext cx="2368200" cy="99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2" name="Google Shape;922;p44"/>
          <p:cNvCxnSpPr>
            <a:stCxn id="871" idx="2"/>
            <a:endCxn id="873" idx="0"/>
          </p:cNvCxnSpPr>
          <p:nvPr/>
        </p:nvCxnSpPr>
        <p:spPr>
          <a:xfrm flipH="1">
            <a:off x="6888825" y="2899750"/>
            <a:ext cx="496200" cy="99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3" name="Google Shape;923;p44"/>
          <p:cNvSpPr txBox="1"/>
          <p:nvPr/>
        </p:nvSpPr>
        <p:spPr>
          <a:xfrm>
            <a:off x="2958225" y="1356775"/>
            <a:ext cx="3129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k — количество голов Attention: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924" name="Google Shape;92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9225" y="1148450"/>
            <a:ext cx="1375800" cy="366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1223" y="1599864"/>
            <a:ext cx="1181400" cy="6148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45"/>
          <p:cNvSpPr txBox="1"/>
          <p:nvPr/>
        </p:nvSpPr>
        <p:spPr>
          <a:xfrm>
            <a:off x="745477" y="4480525"/>
            <a:ext cx="7926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&lt;BOS&gt;                                    доброе                                  утро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&lt;EOS&gt;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45"/>
          <p:cNvSpPr txBox="1"/>
          <p:nvPr/>
        </p:nvSpPr>
        <p:spPr>
          <a:xfrm>
            <a:off x="8072700" y="4337813"/>
            <a:ext cx="75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input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45"/>
          <p:cNvSpPr txBox="1"/>
          <p:nvPr/>
        </p:nvSpPr>
        <p:spPr>
          <a:xfrm>
            <a:off x="8039225" y="3781390"/>
            <a:ext cx="118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</a:t>
            </a:r>
            <a:endParaRPr>
              <a:solidFill>
                <a:srgbClr val="B7B7B7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45"/>
          <p:cNvSpPr/>
          <p:nvPr/>
        </p:nvSpPr>
        <p:spPr>
          <a:xfrm>
            <a:off x="919475" y="4004187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4" name="Google Shape;934;p45"/>
          <p:cNvSpPr/>
          <p:nvPr/>
        </p:nvSpPr>
        <p:spPr>
          <a:xfrm>
            <a:off x="2825177" y="3988975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5" name="Google Shape;935;p45"/>
          <p:cNvSpPr txBox="1"/>
          <p:nvPr/>
        </p:nvSpPr>
        <p:spPr>
          <a:xfrm>
            <a:off x="919763" y="39046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936" name="Google Shape;936;p45"/>
          <p:cNvSpPr txBox="1"/>
          <p:nvPr/>
        </p:nvSpPr>
        <p:spPr>
          <a:xfrm>
            <a:off x="2853138" y="38894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937" name="Google Shape;937;p45"/>
          <p:cNvSpPr/>
          <p:nvPr/>
        </p:nvSpPr>
        <p:spPr>
          <a:xfrm>
            <a:off x="388100" y="2596537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8" name="Google Shape;938;p45"/>
          <p:cNvSpPr txBox="1"/>
          <p:nvPr/>
        </p:nvSpPr>
        <p:spPr>
          <a:xfrm>
            <a:off x="388713" y="24961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939" name="Google Shape;939;p45"/>
          <p:cNvSpPr txBox="1"/>
          <p:nvPr/>
        </p:nvSpPr>
        <p:spPr>
          <a:xfrm>
            <a:off x="8030425" y="2487525"/>
            <a:ext cx="1404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Multi-head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Self-attention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45"/>
          <p:cNvSpPr/>
          <p:nvPr/>
        </p:nvSpPr>
        <p:spPr>
          <a:xfrm>
            <a:off x="918675" y="2595600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1" name="Google Shape;941;p45"/>
          <p:cNvSpPr txBox="1"/>
          <p:nvPr/>
        </p:nvSpPr>
        <p:spPr>
          <a:xfrm>
            <a:off x="995163" y="249610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942" name="Google Shape;942;p45"/>
          <p:cNvSpPr/>
          <p:nvPr/>
        </p:nvSpPr>
        <p:spPr>
          <a:xfrm>
            <a:off x="1449225" y="2595600"/>
            <a:ext cx="486000" cy="268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45"/>
          <p:cNvSpPr txBox="1"/>
          <p:nvPr/>
        </p:nvSpPr>
        <p:spPr>
          <a:xfrm>
            <a:off x="1449213" y="24842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944" name="Google Shape;944;p45"/>
          <p:cNvSpPr/>
          <p:nvPr/>
        </p:nvSpPr>
        <p:spPr>
          <a:xfrm>
            <a:off x="2285813" y="2596537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5" name="Google Shape;945;p45"/>
          <p:cNvSpPr txBox="1"/>
          <p:nvPr/>
        </p:nvSpPr>
        <p:spPr>
          <a:xfrm>
            <a:off x="2286425" y="24961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946" name="Google Shape;946;p45"/>
          <p:cNvSpPr/>
          <p:nvPr/>
        </p:nvSpPr>
        <p:spPr>
          <a:xfrm>
            <a:off x="2816388" y="2595600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45"/>
          <p:cNvSpPr txBox="1"/>
          <p:nvPr/>
        </p:nvSpPr>
        <p:spPr>
          <a:xfrm>
            <a:off x="2892875" y="249610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948" name="Google Shape;948;p45"/>
          <p:cNvSpPr/>
          <p:nvPr/>
        </p:nvSpPr>
        <p:spPr>
          <a:xfrm>
            <a:off x="3346938" y="2595600"/>
            <a:ext cx="486000" cy="268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9" name="Google Shape;949;p45"/>
          <p:cNvSpPr txBox="1"/>
          <p:nvPr/>
        </p:nvSpPr>
        <p:spPr>
          <a:xfrm>
            <a:off x="3346925" y="24842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950" name="Google Shape;950;p45"/>
          <p:cNvSpPr/>
          <p:nvPr/>
        </p:nvSpPr>
        <p:spPr>
          <a:xfrm>
            <a:off x="4209250" y="2596537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1" name="Google Shape;951;p45"/>
          <p:cNvSpPr txBox="1"/>
          <p:nvPr/>
        </p:nvSpPr>
        <p:spPr>
          <a:xfrm>
            <a:off x="4209863" y="24961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952" name="Google Shape;952;p45"/>
          <p:cNvSpPr/>
          <p:nvPr/>
        </p:nvSpPr>
        <p:spPr>
          <a:xfrm>
            <a:off x="4739825" y="2595600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3" name="Google Shape;953;p45"/>
          <p:cNvSpPr txBox="1"/>
          <p:nvPr/>
        </p:nvSpPr>
        <p:spPr>
          <a:xfrm>
            <a:off x="4816313" y="249610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954" name="Google Shape;954;p45"/>
          <p:cNvSpPr/>
          <p:nvPr/>
        </p:nvSpPr>
        <p:spPr>
          <a:xfrm>
            <a:off x="5270375" y="2595600"/>
            <a:ext cx="486000" cy="268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5" name="Google Shape;955;p45"/>
          <p:cNvSpPr txBox="1"/>
          <p:nvPr/>
        </p:nvSpPr>
        <p:spPr>
          <a:xfrm>
            <a:off x="5270363" y="24842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956" name="Google Shape;956;p45"/>
          <p:cNvSpPr/>
          <p:nvPr/>
        </p:nvSpPr>
        <p:spPr>
          <a:xfrm>
            <a:off x="4746215" y="3991863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7" name="Google Shape;957;p45"/>
          <p:cNvSpPr txBox="1"/>
          <p:nvPr/>
        </p:nvSpPr>
        <p:spPr>
          <a:xfrm>
            <a:off x="4774175" y="38923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958" name="Google Shape;958;p45"/>
          <p:cNvSpPr/>
          <p:nvPr/>
        </p:nvSpPr>
        <p:spPr>
          <a:xfrm>
            <a:off x="6081213" y="2596537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9" name="Google Shape;959;p45"/>
          <p:cNvSpPr txBox="1"/>
          <p:nvPr/>
        </p:nvSpPr>
        <p:spPr>
          <a:xfrm>
            <a:off x="6081825" y="24961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960" name="Google Shape;960;p45"/>
          <p:cNvSpPr/>
          <p:nvPr/>
        </p:nvSpPr>
        <p:spPr>
          <a:xfrm>
            <a:off x="6611788" y="2595600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1" name="Google Shape;961;p45"/>
          <p:cNvSpPr txBox="1"/>
          <p:nvPr/>
        </p:nvSpPr>
        <p:spPr>
          <a:xfrm>
            <a:off x="6688275" y="249610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962" name="Google Shape;962;p45"/>
          <p:cNvSpPr/>
          <p:nvPr/>
        </p:nvSpPr>
        <p:spPr>
          <a:xfrm>
            <a:off x="7142338" y="2595600"/>
            <a:ext cx="486000" cy="268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3" name="Google Shape;963;p45"/>
          <p:cNvSpPr txBox="1"/>
          <p:nvPr/>
        </p:nvSpPr>
        <p:spPr>
          <a:xfrm>
            <a:off x="7142325" y="24842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964" name="Google Shape;964;p45"/>
          <p:cNvSpPr/>
          <p:nvPr/>
        </p:nvSpPr>
        <p:spPr>
          <a:xfrm>
            <a:off x="6618177" y="3991863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5" name="Google Shape;965;p45"/>
          <p:cNvSpPr txBox="1"/>
          <p:nvPr/>
        </p:nvSpPr>
        <p:spPr>
          <a:xfrm>
            <a:off x="6646138" y="38923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cxnSp>
        <p:nvCxnSpPr>
          <p:cNvPr id="966" name="Google Shape;966;p45"/>
          <p:cNvCxnSpPr>
            <a:stCxn id="938" idx="2"/>
            <a:endCxn id="935" idx="0"/>
          </p:cNvCxnSpPr>
          <p:nvPr/>
        </p:nvCxnSpPr>
        <p:spPr>
          <a:xfrm>
            <a:off x="631413" y="2911613"/>
            <a:ext cx="531000" cy="99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7" name="Google Shape;967;p45"/>
          <p:cNvCxnSpPr>
            <a:stCxn id="938" idx="2"/>
            <a:endCxn id="936" idx="0"/>
          </p:cNvCxnSpPr>
          <p:nvPr/>
        </p:nvCxnSpPr>
        <p:spPr>
          <a:xfrm>
            <a:off x="631413" y="2911613"/>
            <a:ext cx="2464500" cy="97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8" name="Google Shape;968;p45"/>
          <p:cNvCxnSpPr>
            <a:stCxn id="938" idx="2"/>
            <a:endCxn id="957" idx="0"/>
          </p:cNvCxnSpPr>
          <p:nvPr/>
        </p:nvCxnSpPr>
        <p:spPr>
          <a:xfrm>
            <a:off x="631413" y="2911613"/>
            <a:ext cx="4385400" cy="98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9" name="Google Shape;969;p45"/>
          <p:cNvCxnSpPr>
            <a:stCxn id="938" idx="2"/>
            <a:endCxn id="965" idx="0"/>
          </p:cNvCxnSpPr>
          <p:nvPr/>
        </p:nvCxnSpPr>
        <p:spPr>
          <a:xfrm>
            <a:off x="631413" y="2911613"/>
            <a:ext cx="6257400" cy="98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0" name="Google Shape;970;p45"/>
          <p:cNvCxnSpPr>
            <a:stCxn id="943" idx="2"/>
            <a:endCxn id="935" idx="0"/>
          </p:cNvCxnSpPr>
          <p:nvPr/>
        </p:nvCxnSpPr>
        <p:spPr>
          <a:xfrm flipH="1">
            <a:off x="1162413" y="2899750"/>
            <a:ext cx="529500" cy="1005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1" name="Google Shape;971;p45"/>
          <p:cNvCxnSpPr>
            <a:stCxn id="941" idx="2"/>
            <a:endCxn id="935" idx="0"/>
          </p:cNvCxnSpPr>
          <p:nvPr/>
        </p:nvCxnSpPr>
        <p:spPr>
          <a:xfrm flipH="1">
            <a:off x="1162563" y="2911600"/>
            <a:ext cx="75300" cy="99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2" name="Google Shape;972;p45"/>
          <p:cNvCxnSpPr>
            <a:stCxn id="941" idx="2"/>
            <a:endCxn id="936" idx="0"/>
          </p:cNvCxnSpPr>
          <p:nvPr/>
        </p:nvCxnSpPr>
        <p:spPr>
          <a:xfrm>
            <a:off x="1237863" y="2911600"/>
            <a:ext cx="1857900" cy="97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3" name="Google Shape;973;p45"/>
          <p:cNvCxnSpPr>
            <a:stCxn id="941" idx="2"/>
            <a:endCxn id="957" idx="0"/>
          </p:cNvCxnSpPr>
          <p:nvPr/>
        </p:nvCxnSpPr>
        <p:spPr>
          <a:xfrm>
            <a:off x="1237863" y="2911600"/>
            <a:ext cx="3779100" cy="98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4" name="Google Shape;974;p45"/>
          <p:cNvCxnSpPr>
            <a:stCxn id="941" idx="2"/>
            <a:endCxn id="965" idx="0"/>
          </p:cNvCxnSpPr>
          <p:nvPr/>
        </p:nvCxnSpPr>
        <p:spPr>
          <a:xfrm>
            <a:off x="1237863" y="2911600"/>
            <a:ext cx="5651100" cy="98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5" name="Google Shape;975;p45"/>
          <p:cNvCxnSpPr>
            <a:stCxn id="943" idx="2"/>
            <a:endCxn id="936" idx="0"/>
          </p:cNvCxnSpPr>
          <p:nvPr/>
        </p:nvCxnSpPr>
        <p:spPr>
          <a:xfrm>
            <a:off x="1691913" y="2899750"/>
            <a:ext cx="1404000" cy="98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6" name="Google Shape;976;p45"/>
          <p:cNvCxnSpPr>
            <a:stCxn id="935" idx="0"/>
            <a:endCxn id="945" idx="2"/>
          </p:cNvCxnSpPr>
          <p:nvPr/>
        </p:nvCxnSpPr>
        <p:spPr>
          <a:xfrm rot="10800000" flipH="1">
            <a:off x="1162463" y="2911688"/>
            <a:ext cx="1366800" cy="99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7" name="Google Shape;977;p45"/>
          <p:cNvCxnSpPr>
            <a:stCxn id="943" idx="2"/>
            <a:endCxn id="957" idx="0"/>
          </p:cNvCxnSpPr>
          <p:nvPr/>
        </p:nvCxnSpPr>
        <p:spPr>
          <a:xfrm>
            <a:off x="1691913" y="2899750"/>
            <a:ext cx="3324900" cy="99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8" name="Google Shape;978;p45"/>
          <p:cNvCxnSpPr>
            <a:stCxn id="943" idx="2"/>
            <a:endCxn id="965" idx="0"/>
          </p:cNvCxnSpPr>
          <p:nvPr/>
        </p:nvCxnSpPr>
        <p:spPr>
          <a:xfrm>
            <a:off x="1691913" y="2899750"/>
            <a:ext cx="5196900" cy="99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9" name="Google Shape;979;p45"/>
          <p:cNvCxnSpPr>
            <a:stCxn id="945" idx="2"/>
            <a:endCxn id="936" idx="0"/>
          </p:cNvCxnSpPr>
          <p:nvPr/>
        </p:nvCxnSpPr>
        <p:spPr>
          <a:xfrm>
            <a:off x="2529125" y="2911613"/>
            <a:ext cx="566700" cy="97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0" name="Google Shape;980;p45"/>
          <p:cNvCxnSpPr>
            <a:stCxn id="945" idx="2"/>
            <a:endCxn id="957" idx="0"/>
          </p:cNvCxnSpPr>
          <p:nvPr/>
        </p:nvCxnSpPr>
        <p:spPr>
          <a:xfrm>
            <a:off x="2529125" y="2911613"/>
            <a:ext cx="2487900" cy="98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1" name="Google Shape;981;p45"/>
          <p:cNvCxnSpPr>
            <a:stCxn id="945" idx="2"/>
            <a:endCxn id="965" idx="0"/>
          </p:cNvCxnSpPr>
          <p:nvPr/>
        </p:nvCxnSpPr>
        <p:spPr>
          <a:xfrm>
            <a:off x="2529125" y="2911613"/>
            <a:ext cx="4359600" cy="98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2" name="Google Shape;982;p45"/>
          <p:cNvCxnSpPr>
            <a:stCxn id="947" idx="2"/>
            <a:endCxn id="936" idx="0"/>
          </p:cNvCxnSpPr>
          <p:nvPr/>
        </p:nvCxnSpPr>
        <p:spPr>
          <a:xfrm flipH="1">
            <a:off x="3095975" y="2911600"/>
            <a:ext cx="39600" cy="97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3" name="Google Shape;983;p45"/>
          <p:cNvCxnSpPr>
            <a:stCxn id="949" idx="2"/>
            <a:endCxn id="936" idx="0"/>
          </p:cNvCxnSpPr>
          <p:nvPr/>
        </p:nvCxnSpPr>
        <p:spPr>
          <a:xfrm flipH="1">
            <a:off x="3095825" y="2899750"/>
            <a:ext cx="493800" cy="98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4" name="Google Shape;984;p45"/>
          <p:cNvCxnSpPr>
            <a:stCxn id="951" idx="2"/>
            <a:endCxn id="936" idx="0"/>
          </p:cNvCxnSpPr>
          <p:nvPr/>
        </p:nvCxnSpPr>
        <p:spPr>
          <a:xfrm flipH="1">
            <a:off x="3095963" y="2911613"/>
            <a:ext cx="1356600" cy="97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5" name="Google Shape;985;p45"/>
          <p:cNvCxnSpPr>
            <a:stCxn id="951" idx="2"/>
            <a:endCxn id="957" idx="0"/>
          </p:cNvCxnSpPr>
          <p:nvPr/>
        </p:nvCxnSpPr>
        <p:spPr>
          <a:xfrm>
            <a:off x="4452563" y="2911613"/>
            <a:ext cx="564300" cy="98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6" name="Google Shape;986;p45"/>
          <p:cNvCxnSpPr>
            <a:stCxn id="947" idx="2"/>
            <a:endCxn id="935" idx="0"/>
          </p:cNvCxnSpPr>
          <p:nvPr/>
        </p:nvCxnSpPr>
        <p:spPr>
          <a:xfrm flipH="1">
            <a:off x="1162475" y="2911600"/>
            <a:ext cx="1973100" cy="99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7" name="Google Shape;987;p45"/>
          <p:cNvCxnSpPr>
            <a:stCxn id="947" idx="2"/>
            <a:endCxn id="957" idx="0"/>
          </p:cNvCxnSpPr>
          <p:nvPr/>
        </p:nvCxnSpPr>
        <p:spPr>
          <a:xfrm>
            <a:off x="3135575" y="2911600"/>
            <a:ext cx="1881300" cy="98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8" name="Google Shape;988;p45"/>
          <p:cNvCxnSpPr>
            <a:stCxn id="947" idx="2"/>
            <a:endCxn id="965" idx="0"/>
          </p:cNvCxnSpPr>
          <p:nvPr/>
        </p:nvCxnSpPr>
        <p:spPr>
          <a:xfrm>
            <a:off x="3135575" y="2911600"/>
            <a:ext cx="3753300" cy="98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9" name="Google Shape;989;p45"/>
          <p:cNvCxnSpPr>
            <a:stCxn id="951" idx="2"/>
            <a:endCxn id="935" idx="0"/>
          </p:cNvCxnSpPr>
          <p:nvPr/>
        </p:nvCxnSpPr>
        <p:spPr>
          <a:xfrm flipH="1">
            <a:off x="1162463" y="2911613"/>
            <a:ext cx="3290100" cy="99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0" name="Google Shape;990;p45"/>
          <p:cNvCxnSpPr>
            <a:stCxn id="949" idx="2"/>
            <a:endCxn id="935" idx="0"/>
          </p:cNvCxnSpPr>
          <p:nvPr/>
        </p:nvCxnSpPr>
        <p:spPr>
          <a:xfrm flipH="1">
            <a:off x="1162325" y="2899750"/>
            <a:ext cx="2427300" cy="1005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1" name="Google Shape;991;p45"/>
          <p:cNvCxnSpPr>
            <a:stCxn id="949" idx="2"/>
            <a:endCxn id="957" idx="0"/>
          </p:cNvCxnSpPr>
          <p:nvPr/>
        </p:nvCxnSpPr>
        <p:spPr>
          <a:xfrm>
            <a:off x="3589625" y="2899750"/>
            <a:ext cx="1427400" cy="99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2" name="Google Shape;992;p45"/>
          <p:cNvCxnSpPr>
            <a:stCxn id="949" idx="2"/>
            <a:endCxn id="965" idx="0"/>
          </p:cNvCxnSpPr>
          <p:nvPr/>
        </p:nvCxnSpPr>
        <p:spPr>
          <a:xfrm>
            <a:off x="3589625" y="2899750"/>
            <a:ext cx="3299100" cy="99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3" name="Google Shape;993;p45"/>
          <p:cNvCxnSpPr>
            <a:stCxn id="953" idx="2"/>
            <a:endCxn id="957" idx="0"/>
          </p:cNvCxnSpPr>
          <p:nvPr/>
        </p:nvCxnSpPr>
        <p:spPr>
          <a:xfrm flipH="1">
            <a:off x="5017013" y="2911600"/>
            <a:ext cx="42000" cy="98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4" name="Google Shape;994;p45"/>
          <p:cNvCxnSpPr>
            <a:stCxn id="951" idx="2"/>
            <a:endCxn id="965" idx="0"/>
          </p:cNvCxnSpPr>
          <p:nvPr/>
        </p:nvCxnSpPr>
        <p:spPr>
          <a:xfrm>
            <a:off x="4452563" y="2911613"/>
            <a:ext cx="2436300" cy="98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5" name="Google Shape;995;p45"/>
          <p:cNvCxnSpPr>
            <a:stCxn id="953" idx="2"/>
            <a:endCxn id="935" idx="0"/>
          </p:cNvCxnSpPr>
          <p:nvPr/>
        </p:nvCxnSpPr>
        <p:spPr>
          <a:xfrm flipH="1">
            <a:off x="1162613" y="2911600"/>
            <a:ext cx="3896400" cy="99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6" name="Google Shape;996;p45"/>
          <p:cNvCxnSpPr>
            <a:stCxn id="953" idx="2"/>
            <a:endCxn id="936" idx="0"/>
          </p:cNvCxnSpPr>
          <p:nvPr/>
        </p:nvCxnSpPr>
        <p:spPr>
          <a:xfrm flipH="1">
            <a:off x="3095813" y="2911600"/>
            <a:ext cx="1963200" cy="97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7" name="Google Shape;997;p45"/>
          <p:cNvCxnSpPr>
            <a:stCxn id="953" idx="2"/>
            <a:endCxn id="965" idx="0"/>
          </p:cNvCxnSpPr>
          <p:nvPr/>
        </p:nvCxnSpPr>
        <p:spPr>
          <a:xfrm>
            <a:off x="5059013" y="2911600"/>
            <a:ext cx="1829700" cy="98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8" name="Google Shape;998;p45"/>
          <p:cNvCxnSpPr>
            <a:stCxn id="955" idx="2"/>
            <a:endCxn id="935" idx="0"/>
          </p:cNvCxnSpPr>
          <p:nvPr/>
        </p:nvCxnSpPr>
        <p:spPr>
          <a:xfrm flipH="1">
            <a:off x="1162463" y="2899750"/>
            <a:ext cx="4350600" cy="1005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9" name="Google Shape;999;p45"/>
          <p:cNvCxnSpPr>
            <a:stCxn id="955" idx="2"/>
            <a:endCxn id="936" idx="0"/>
          </p:cNvCxnSpPr>
          <p:nvPr/>
        </p:nvCxnSpPr>
        <p:spPr>
          <a:xfrm flipH="1">
            <a:off x="3095963" y="2899750"/>
            <a:ext cx="2417100" cy="98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0" name="Google Shape;1000;p45"/>
          <p:cNvCxnSpPr>
            <a:stCxn id="955" idx="2"/>
            <a:endCxn id="957" idx="0"/>
          </p:cNvCxnSpPr>
          <p:nvPr/>
        </p:nvCxnSpPr>
        <p:spPr>
          <a:xfrm flipH="1">
            <a:off x="5016863" y="2899750"/>
            <a:ext cx="496200" cy="99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1" name="Google Shape;1001;p45"/>
          <p:cNvCxnSpPr>
            <a:stCxn id="955" idx="2"/>
            <a:endCxn id="965" idx="0"/>
          </p:cNvCxnSpPr>
          <p:nvPr/>
        </p:nvCxnSpPr>
        <p:spPr>
          <a:xfrm>
            <a:off x="5513063" y="2899750"/>
            <a:ext cx="1375800" cy="99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2" name="Google Shape;1002;p45"/>
          <p:cNvCxnSpPr>
            <a:stCxn id="959" idx="2"/>
            <a:endCxn id="935" idx="0"/>
          </p:cNvCxnSpPr>
          <p:nvPr/>
        </p:nvCxnSpPr>
        <p:spPr>
          <a:xfrm flipH="1">
            <a:off x="1162425" y="2911613"/>
            <a:ext cx="5162100" cy="99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3" name="Google Shape;1003;p45"/>
          <p:cNvCxnSpPr>
            <a:stCxn id="959" idx="2"/>
            <a:endCxn id="936" idx="0"/>
          </p:cNvCxnSpPr>
          <p:nvPr/>
        </p:nvCxnSpPr>
        <p:spPr>
          <a:xfrm flipH="1">
            <a:off x="3095925" y="2911613"/>
            <a:ext cx="3228600" cy="97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4" name="Google Shape;1004;p45"/>
          <p:cNvCxnSpPr>
            <a:stCxn id="959" idx="2"/>
            <a:endCxn id="957" idx="0"/>
          </p:cNvCxnSpPr>
          <p:nvPr/>
        </p:nvCxnSpPr>
        <p:spPr>
          <a:xfrm flipH="1">
            <a:off x="5016825" y="2911613"/>
            <a:ext cx="1307700" cy="98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5" name="Google Shape;1005;p45"/>
          <p:cNvCxnSpPr>
            <a:stCxn id="959" idx="2"/>
            <a:endCxn id="965" idx="0"/>
          </p:cNvCxnSpPr>
          <p:nvPr/>
        </p:nvCxnSpPr>
        <p:spPr>
          <a:xfrm>
            <a:off x="6324525" y="2911613"/>
            <a:ext cx="564300" cy="98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6" name="Google Shape;1006;p45"/>
          <p:cNvCxnSpPr>
            <a:stCxn id="961" idx="2"/>
            <a:endCxn id="935" idx="0"/>
          </p:cNvCxnSpPr>
          <p:nvPr/>
        </p:nvCxnSpPr>
        <p:spPr>
          <a:xfrm flipH="1">
            <a:off x="1162575" y="2911600"/>
            <a:ext cx="5768400" cy="99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7" name="Google Shape;1007;p45"/>
          <p:cNvCxnSpPr>
            <a:stCxn id="961" idx="2"/>
            <a:endCxn id="936" idx="0"/>
          </p:cNvCxnSpPr>
          <p:nvPr/>
        </p:nvCxnSpPr>
        <p:spPr>
          <a:xfrm flipH="1">
            <a:off x="3095775" y="2911600"/>
            <a:ext cx="3835200" cy="97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8" name="Google Shape;1008;p45"/>
          <p:cNvCxnSpPr>
            <a:stCxn id="961" idx="2"/>
            <a:endCxn id="957" idx="0"/>
          </p:cNvCxnSpPr>
          <p:nvPr/>
        </p:nvCxnSpPr>
        <p:spPr>
          <a:xfrm flipH="1">
            <a:off x="5016975" y="2911600"/>
            <a:ext cx="1914000" cy="98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9" name="Google Shape;1009;p45"/>
          <p:cNvCxnSpPr>
            <a:stCxn id="961" idx="2"/>
            <a:endCxn id="965" idx="0"/>
          </p:cNvCxnSpPr>
          <p:nvPr/>
        </p:nvCxnSpPr>
        <p:spPr>
          <a:xfrm flipH="1">
            <a:off x="6888975" y="2911600"/>
            <a:ext cx="42000" cy="98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0" name="Google Shape;1010;p45"/>
          <p:cNvCxnSpPr>
            <a:stCxn id="963" idx="2"/>
            <a:endCxn id="935" idx="0"/>
          </p:cNvCxnSpPr>
          <p:nvPr/>
        </p:nvCxnSpPr>
        <p:spPr>
          <a:xfrm flipH="1">
            <a:off x="1162425" y="2899750"/>
            <a:ext cx="6222600" cy="1005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1" name="Google Shape;1011;p45"/>
          <p:cNvCxnSpPr>
            <a:stCxn id="963" idx="2"/>
            <a:endCxn id="936" idx="0"/>
          </p:cNvCxnSpPr>
          <p:nvPr/>
        </p:nvCxnSpPr>
        <p:spPr>
          <a:xfrm flipH="1">
            <a:off x="3095925" y="2899750"/>
            <a:ext cx="4289100" cy="98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2" name="Google Shape;1012;p45"/>
          <p:cNvCxnSpPr>
            <a:stCxn id="963" idx="2"/>
            <a:endCxn id="957" idx="0"/>
          </p:cNvCxnSpPr>
          <p:nvPr/>
        </p:nvCxnSpPr>
        <p:spPr>
          <a:xfrm flipH="1">
            <a:off x="5016825" y="2899750"/>
            <a:ext cx="2368200" cy="99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3" name="Google Shape;1013;p45"/>
          <p:cNvCxnSpPr>
            <a:stCxn id="963" idx="2"/>
            <a:endCxn id="965" idx="0"/>
          </p:cNvCxnSpPr>
          <p:nvPr/>
        </p:nvCxnSpPr>
        <p:spPr>
          <a:xfrm flipH="1">
            <a:off x="6888825" y="2899750"/>
            <a:ext cx="496200" cy="99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14" name="Google Shape;1014;p45"/>
          <p:cNvSpPr/>
          <p:nvPr/>
        </p:nvSpPr>
        <p:spPr>
          <a:xfrm rot="5400000">
            <a:off x="1083450" y="1584275"/>
            <a:ext cx="141300" cy="16848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5" name="Google Shape;1015;p45"/>
          <p:cNvSpPr txBox="1"/>
          <p:nvPr/>
        </p:nvSpPr>
        <p:spPr>
          <a:xfrm>
            <a:off x="811088" y="1928900"/>
            <a:ext cx="829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concat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16" name="Google Shape;1016;p45"/>
          <p:cNvSpPr txBox="1"/>
          <p:nvPr/>
        </p:nvSpPr>
        <p:spPr>
          <a:xfrm>
            <a:off x="2759638" y="1928900"/>
            <a:ext cx="829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concat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17" name="Google Shape;1017;p45"/>
          <p:cNvSpPr/>
          <p:nvPr/>
        </p:nvSpPr>
        <p:spPr>
          <a:xfrm rot="5400000">
            <a:off x="3006650" y="1584275"/>
            <a:ext cx="141300" cy="16848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8" name="Google Shape;1018;p45"/>
          <p:cNvSpPr/>
          <p:nvPr/>
        </p:nvSpPr>
        <p:spPr>
          <a:xfrm rot="5400000">
            <a:off x="4929850" y="1584275"/>
            <a:ext cx="141300" cy="16848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45"/>
          <p:cNvSpPr/>
          <p:nvPr/>
        </p:nvSpPr>
        <p:spPr>
          <a:xfrm rot="5400000">
            <a:off x="6774150" y="1584275"/>
            <a:ext cx="141300" cy="16848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0" name="Google Shape;1020;p45"/>
          <p:cNvSpPr txBox="1"/>
          <p:nvPr/>
        </p:nvSpPr>
        <p:spPr>
          <a:xfrm>
            <a:off x="4581288" y="1928900"/>
            <a:ext cx="829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concat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21" name="Google Shape;1021;p45"/>
          <p:cNvSpPr txBox="1"/>
          <p:nvPr/>
        </p:nvSpPr>
        <p:spPr>
          <a:xfrm>
            <a:off x="6453263" y="1928900"/>
            <a:ext cx="829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concat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022" name="Google Shape;1022;p45"/>
          <p:cNvCxnSpPr/>
          <p:nvPr/>
        </p:nvCxnSpPr>
        <p:spPr>
          <a:xfrm rot="10800000">
            <a:off x="1237875" y="1635975"/>
            <a:ext cx="2700" cy="34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3" name="Google Shape;1023;p45"/>
          <p:cNvCxnSpPr/>
          <p:nvPr/>
        </p:nvCxnSpPr>
        <p:spPr>
          <a:xfrm rot="10800000">
            <a:off x="3124325" y="1635975"/>
            <a:ext cx="2700" cy="34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4" name="Google Shape;1024;p45"/>
          <p:cNvCxnSpPr/>
          <p:nvPr/>
        </p:nvCxnSpPr>
        <p:spPr>
          <a:xfrm rot="10800000">
            <a:off x="4981775" y="1635975"/>
            <a:ext cx="2700" cy="34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5" name="Google Shape;1025;p45"/>
          <p:cNvCxnSpPr/>
          <p:nvPr/>
        </p:nvCxnSpPr>
        <p:spPr>
          <a:xfrm rot="10800000">
            <a:off x="6803275" y="1635975"/>
            <a:ext cx="2700" cy="34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26" name="Google Shape;1026;p45"/>
          <p:cNvSpPr/>
          <p:nvPr/>
        </p:nvSpPr>
        <p:spPr>
          <a:xfrm>
            <a:off x="992913" y="1192612"/>
            <a:ext cx="486000" cy="268500"/>
          </a:xfrm>
          <a:prstGeom prst="rect">
            <a:avLst/>
          </a:prstGeom>
          <a:solidFill>
            <a:srgbClr val="E6B8A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7" name="Google Shape;1027;p45"/>
          <p:cNvSpPr txBox="1"/>
          <p:nvPr/>
        </p:nvSpPr>
        <p:spPr>
          <a:xfrm>
            <a:off x="1005200" y="10874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028" name="Google Shape;1028;p45"/>
          <p:cNvSpPr/>
          <p:nvPr/>
        </p:nvSpPr>
        <p:spPr>
          <a:xfrm>
            <a:off x="2886100" y="1192612"/>
            <a:ext cx="486000" cy="268500"/>
          </a:xfrm>
          <a:prstGeom prst="rect">
            <a:avLst/>
          </a:prstGeom>
          <a:solidFill>
            <a:srgbClr val="E6B8A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9" name="Google Shape;1029;p45"/>
          <p:cNvSpPr txBox="1"/>
          <p:nvPr/>
        </p:nvSpPr>
        <p:spPr>
          <a:xfrm>
            <a:off x="2892538" y="10616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030" name="Google Shape;1030;p45"/>
          <p:cNvSpPr/>
          <p:nvPr/>
        </p:nvSpPr>
        <p:spPr>
          <a:xfrm>
            <a:off x="4767588" y="1192612"/>
            <a:ext cx="486000" cy="268500"/>
          </a:xfrm>
          <a:prstGeom prst="rect">
            <a:avLst/>
          </a:prstGeom>
          <a:solidFill>
            <a:srgbClr val="E6B8A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1" name="Google Shape;1031;p45"/>
          <p:cNvSpPr txBox="1"/>
          <p:nvPr/>
        </p:nvSpPr>
        <p:spPr>
          <a:xfrm>
            <a:off x="4753888" y="10616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032" name="Google Shape;1032;p45"/>
          <p:cNvSpPr/>
          <p:nvPr/>
        </p:nvSpPr>
        <p:spPr>
          <a:xfrm>
            <a:off x="6602900" y="1192612"/>
            <a:ext cx="486000" cy="268500"/>
          </a:xfrm>
          <a:prstGeom prst="rect">
            <a:avLst/>
          </a:prstGeom>
          <a:solidFill>
            <a:srgbClr val="E6B8A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3" name="Google Shape;1033;p45"/>
          <p:cNvSpPr txBox="1"/>
          <p:nvPr/>
        </p:nvSpPr>
        <p:spPr>
          <a:xfrm>
            <a:off x="6615238" y="10616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034" name="Google Shape;1034;p45"/>
          <p:cNvSpPr txBox="1"/>
          <p:nvPr/>
        </p:nvSpPr>
        <p:spPr>
          <a:xfrm>
            <a:off x="7385025" y="1518850"/>
            <a:ext cx="1973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FC layer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размера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(3emb_size, emb_size) 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5" name="Google Shape;103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200" y="359000"/>
            <a:ext cx="2435689" cy="41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46"/>
          <p:cNvSpPr txBox="1"/>
          <p:nvPr/>
        </p:nvSpPr>
        <p:spPr>
          <a:xfrm>
            <a:off x="1226331" y="4620295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&lt;BOS&gt;   Guten   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Morgen   &lt;EOS&gt;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46"/>
          <p:cNvSpPr txBox="1"/>
          <p:nvPr/>
        </p:nvSpPr>
        <p:spPr>
          <a:xfrm>
            <a:off x="65025" y="4451463"/>
            <a:ext cx="75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input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2" name="Google Shape;104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325" y="3535626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043" name="Google Shape;1043;p46"/>
          <p:cNvSpPr txBox="1"/>
          <p:nvPr/>
        </p:nvSpPr>
        <p:spPr>
          <a:xfrm>
            <a:off x="65025" y="3782103"/>
            <a:ext cx="118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</a:t>
            </a:r>
            <a:endParaRPr>
              <a:solidFill>
                <a:srgbClr val="B7B7B7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46"/>
          <p:cNvSpPr/>
          <p:nvPr/>
        </p:nvSpPr>
        <p:spPr>
          <a:xfrm>
            <a:off x="1382849" y="351877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46"/>
          <p:cNvSpPr/>
          <p:nvPr/>
        </p:nvSpPr>
        <p:spPr>
          <a:xfrm>
            <a:off x="1378275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6" name="Google Shape;1046;p46"/>
          <p:cNvSpPr/>
          <p:nvPr/>
        </p:nvSpPr>
        <p:spPr>
          <a:xfrm>
            <a:off x="1951752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p46"/>
          <p:cNvSpPr/>
          <p:nvPr/>
        </p:nvSpPr>
        <p:spPr>
          <a:xfrm>
            <a:off x="2580552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p46"/>
          <p:cNvSpPr/>
          <p:nvPr/>
        </p:nvSpPr>
        <p:spPr>
          <a:xfrm>
            <a:off x="3209352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9" name="Google Shape;1049;p46"/>
          <p:cNvSpPr txBox="1"/>
          <p:nvPr/>
        </p:nvSpPr>
        <p:spPr>
          <a:xfrm>
            <a:off x="1378563" y="38441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050" name="Google Shape;1050;p46"/>
          <p:cNvSpPr txBox="1"/>
          <p:nvPr/>
        </p:nvSpPr>
        <p:spPr>
          <a:xfrm>
            <a:off x="1979713" y="38441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051" name="Google Shape;1051;p46"/>
          <p:cNvSpPr txBox="1"/>
          <p:nvPr/>
        </p:nvSpPr>
        <p:spPr>
          <a:xfrm>
            <a:off x="2594525" y="38441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052" name="Google Shape;1052;p46"/>
          <p:cNvSpPr txBox="1"/>
          <p:nvPr/>
        </p:nvSpPr>
        <p:spPr>
          <a:xfrm>
            <a:off x="3209313" y="38441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053" name="Google Shape;1053;p46"/>
          <p:cNvSpPr/>
          <p:nvPr/>
        </p:nvSpPr>
        <p:spPr>
          <a:xfrm>
            <a:off x="1382849" y="2795549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4" name="Google Shape;1054;p46"/>
          <p:cNvSpPr/>
          <p:nvPr/>
        </p:nvSpPr>
        <p:spPr>
          <a:xfrm>
            <a:off x="1378275" y="32204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5" name="Google Shape;1055;p46"/>
          <p:cNvSpPr/>
          <p:nvPr/>
        </p:nvSpPr>
        <p:spPr>
          <a:xfrm>
            <a:off x="1951752" y="32204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6" name="Google Shape;1056;p46"/>
          <p:cNvSpPr/>
          <p:nvPr/>
        </p:nvSpPr>
        <p:spPr>
          <a:xfrm>
            <a:off x="2580552" y="32204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7" name="Google Shape;1057;p46"/>
          <p:cNvSpPr/>
          <p:nvPr/>
        </p:nvSpPr>
        <p:spPr>
          <a:xfrm>
            <a:off x="3209352" y="32204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8" name="Google Shape;1058;p46"/>
          <p:cNvSpPr txBox="1"/>
          <p:nvPr/>
        </p:nvSpPr>
        <p:spPr>
          <a:xfrm>
            <a:off x="1378888" y="312000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059" name="Google Shape;1059;p46"/>
          <p:cNvSpPr txBox="1"/>
          <p:nvPr/>
        </p:nvSpPr>
        <p:spPr>
          <a:xfrm>
            <a:off x="1979713" y="31209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060" name="Google Shape;1060;p46"/>
          <p:cNvSpPr txBox="1"/>
          <p:nvPr/>
        </p:nvSpPr>
        <p:spPr>
          <a:xfrm>
            <a:off x="2594525" y="31209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061" name="Google Shape;1061;p46"/>
          <p:cNvSpPr txBox="1"/>
          <p:nvPr/>
        </p:nvSpPr>
        <p:spPr>
          <a:xfrm>
            <a:off x="3209313" y="31209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062" name="Google Shape;1062;p46"/>
          <p:cNvSpPr txBox="1"/>
          <p:nvPr/>
        </p:nvSpPr>
        <p:spPr>
          <a:xfrm>
            <a:off x="32150" y="3112725"/>
            <a:ext cx="1404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Multi-Head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Self-attention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3" name="Google Shape;106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325" y="2105913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064" name="Google Shape;1064;p46"/>
          <p:cNvSpPr/>
          <p:nvPr/>
        </p:nvSpPr>
        <p:spPr>
          <a:xfrm>
            <a:off x="1382849" y="208906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5" name="Google Shape;1065;p46"/>
          <p:cNvSpPr/>
          <p:nvPr/>
        </p:nvSpPr>
        <p:spPr>
          <a:xfrm>
            <a:off x="1378275" y="2513937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6" name="Google Shape;1066;p46"/>
          <p:cNvSpPr/>
          <p:nvPr/>
        </p:nvSpPr>
        <p:spPr>
          <a:xfrm>
            <a:off x="1951752" y="2513938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7" name="Google Shape;1067;p46"/>
          <p:cNvSpPr/>
          <p:nvPr/>
        </p:nvSpPr>
        <p:spPr>
          <a:xfrm>
            <a:off x="2580552" y="2513938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8" name="Google Shape;1068;p46"/>
          <p:cNvSpPr/>
          <p:nvPr/>
        </p:nvSpPr>
        <p:spPr>
          <a:xfrm>
            <a:off x="3209352" y="2513938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9" name="Google Shape;1069;p46"/>
          <p:cNvSpPr txBox="1"/>
          <p:nvPr/>
        </p:nvSpPr>
        <p:spPr>
          <a:xfrm>
            <a:off x="1378563" y="24144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070" name="Google Shape;1070;p46"/>
          <p:cNvSpPr txBox="1"/>
          <p:nvPr/>
        </p:nvSpPr>
        <p:spPr>
          <a:xfrm>
            <a:off x="1979713" y="24144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071" name="Google Shape;1071;p46"/>
          <p:cNvSpPr txBox="1"/>
          <p:nvPr/>
        </p:nvSpPr>
        <p:spPr>
          <a:xfrm>
            <a:off x="2594525" y="24144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072" name="Google Shape;1072;p46"/>
          <p:cNvSpPr txBox="1"/>
          <p:nvPr/>
        </p:nvSpPr>
        <p:spPr>
          <a:xfrm>
            <a:off x="3209313" y="24144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073" name="Google Shape;1073;p46"/>
          <p:cNvSpPr/>
          <p:nvPr/>
        </p:nvSpPr>
        <p:spPr>
          <a:xfrm>
            <a:off x="1164044" y="2662175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074" name="Google Shape;1074;p46"/>
          <p:cNvSpPr/>
          <p:nvPr/>
        </p:nvSpPr>
        <p:spPr>
          <a:xfrm>
            <a:off x="1737519" y="2662175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075" name="Google Shape;1075;p46"/>
          <p:cNvSpPr/>
          <p:nvPr/>
        </p:nvSpPr>
        <p:spPr>
          <a:xfrm>
            <a:off x="2356231" y="2662175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076" name="Google Shape;1076;p46"/>
          <p:cNvSpPr/>
          <p:nvPr/>
        </p:nvSpPr>
        <p:spPr>
          <a:xfrm>
            <a:off x="2974919" y="2662113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077" name="Google Shape;1077;p46"/>
          <p:cNvSpPr txBox="1"/>
          <p:nvPr/>
        </p:nvSpPr>
        <p:spPr>
          <a:xfrm>
            <a:off x="65025" y="2568125"/>
            <a:ext cx="127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Add &amp; Norm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8" name="Google Shape;107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325" y="1380463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079" name="Google Shape;1079;p46"/>
          <p:cNvSpPr/>
          <p:nvPr/>
        </p:nvSpPr>
        <p:spPr>
          <a:xfrm>
            <a:off x="1382849" y="136361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0" name="Google Shape;1080;p46"/>
          <p:cNvSpPr/>
          <p:nvPr/>
        </p:nvSpPr>
        <p:spPr>
          <a:xfrm>
            <a:off x="1378275" y="1788487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1" name="Google Shape;1081;p46"/>
          <p:cNvSpPr/>
          <p:nvPr/>
        </p:nvSpPr>
        <p:spPr>
          <a:xfrm>
            <a:off x="1951752" y="1788488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2" name="Google Shape;1082;p46"/>
          <p:cNvSpPr/>
          <p:nvPr/>
        </p:nvSpPr>
        <p:spPr>
          <a:xfrm>
            <a:off x="2580552" y="1788488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3" name="Google Shape;1083;p46"/>
          <p:cNvSpPr/>
          <p:nvPr/>
        </p:nvSpPr>
        <p:spPr>
          <a:xfrm>
            <a:off x="3209352" y="1788488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4" name="Google Shape;1084;p46"/>
          <p:cNvSpPr txBox="1"/>
          <p:nvPr/>
        </p:nvSpPr>
        <p:spPr>
          <a:xfrm>
            <a:off x="1378563" y="16889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085" name="Google Shape;1085;p46"/>
          <p:cNvSpPr txBox="1"/>
          <p:nvPr/>
        </p:nvSpPr>
        <p:spPr>
          <a:xfrm>
            <a:off x="1979713" y="16889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086" name="Google Shape;1086;p46"/>
          <p:cNvSpPr txBox="1"/>
          <p:nvPr/>
        </p:nvSpPr>
        <p:spPr>
          <a:xfrm>
            <a:off x="2594525" y="16889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087" name="Google Shape;1087;p46"/>
          <p:cNvSpPr txBox="1"/>
          <p:nvPr/>
        </p:nvSpPr>
        <p:spPr>
          <a:xfrm>
            <a:off x="3209313" y="16889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088" name="Google Shape;1088;p46"/>
          <p:cNvSpPr txBox="1"/>
          <p:nvPr/>
        </p:nvSpPr>
        <p:spPr>
          <a:xfrm>
            <a:off x="65025" y="1788500"/>
            <a:ext cx="14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FC layer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9" name="Google Shape;108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325" y="671726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p46"/>
          <p:cNvSpPr/>
          <p:nvPr/>
        </p:nvSpPr>
        <p:spPr>
          <a:xfrm>
            <a:off x="1382849" y="65487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1" name="Google Shape;1091;p46"/>
          <p:cNvSpPr/>
          <p:nvPr/>
        </p:nvSpPr>
        <p:spPr>
          <a:xfrm>
            <a:off x="1378275" y="1079750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2" name="Google Shape;1092;p46"/>
          <p:cNvSpPr/>
          <p:nvPr/>
        </p:nvSpPr>
        <p:spPr>
          <a:xfrm>
            <a:off x="1951752" y="1079750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3" name="Google Shape;1093;p46"/>
          <p:cNvSpPr/>
          <p:nvPr/>
        </p:nvSpPr>
        <p:spPr>
          <a:xfrm>
            <a:off x="2580552" y="1079750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4" name="Google Shape;1094;p46"/>
          <p:cNvSpPr/>
          <p:nvPr/>
        </p:nvSpPr>
        <p:spPr>
          <a:xfrm>
            <a:off x="3209352" y="1079750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5" name="Google Shape;1095;p46"/>
          <p:cNvSpPr txBox="1"/>
          <p:nvPr/>
        </p:nvSpPr>
        <p:spPr>
          <a:xfrm>
            <a:off x="1378563" y="9802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096" name="Google Shape;1096;p46"/>
          <p:cNvSpPr txBox="1"/>
          <p:nvPr/>
        </p:nvSpPr>
        <p:spPr>
          <a:xfrm>
            <a:off x="1979713" y="9802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097" name="Google Shape;1097;p46"/>
          <p:cNvSpPr txBox="1"/>
          <p:nvPr/>
        </p:nvSpPr>
        <p:spPr>
          <a:xfrm>
            <a:off x="2594525" y="9802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098" name="Google Shape;1098;p46"/>
          <p:cNvSpPr txBox="1"/>
          <p:nvPr/>
        </p:nvSpPr>
        <p:spPr>
          <a:xfrm>
            <a:off x="3209313" y="9802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099" name="Google Shape;1099;p46"/>
          <p:cNvSpPr txBox="1"/>
          <p:nvPr/>
        </p:nvSpPr>
        <p:spPr>
          <a:xfrm>
            <a:off x="20025" y="1079750"/>
            <a:ext cx="127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Add &amp; Norm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46"/>
          <p:cNvSpPr/>
          <p:nvPr/>
        </p:nvSpPr>
        <p:spPr>
          <a:xfrm>
            <a:off x="1139994" y="1288300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101" name="Google Shape;1101;p46"/>
          <p:cNvSpPr/>
          <p:nvPr/>
        </p:nvSpPr>
        <p:spPr>
          <a:xfrm>
            <a:off x="1737519" y="1288300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102" name="Google Shape;1102;p46"/>
          <p:cNvSpPr/>
          <p:nvPr/>
        </p:nvSpPr>
        <p:spPr>
          <a:xfrm>
            <a:off x="2335044" y="1288300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103" name="Google Shape;1103;p46"/>
          <p:cNvSpPr/>
          <p:nvPr/>
        </p:nvSpPr>
        <p:spPr>
          <a:xfrm>
            <a:off x="2974919" y="1288300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cxnSp>
        <p:nvCxnSpPr>
          <p:cNvPr id="1104" name="Google Shape;1104;p46"/>
          <p:cNvCxnSpPr/>
          <p:nvPr/>
        </p:nvCxnSpPr>
        <p:spPr>
          <a:xfrm flipH="1">
            <a:off x="1531996" y="3508513"/>
            <a:ext cx="3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5" name="Google Shape;1105;p46"/>
          <p:cNvCxnSpPr/>
          <p:nvPr/>
        </p:nvCxnSpPr>
        <p:spPr>
          <a:xfrm>
            <a:off x="1532296" y="3508513"/>
            <a:ext cx="6399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6" name="Google Shape;1106;p46"/>
          <p:cNvCxnSpPr/>
          <p:nvPr/>
        </p:nvCxnSpPr>
        <p:spPr>
          <a:xfrm>
            <a:off x="1532296" y="3508513"/>
            <a:ext cx="12945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7" name="Google Shape;1107;p46"/>
          <p:cNvCxnSpPr/>
          <p:nvPr/>
        </p:nvCxnSpPr>
        <p:spPr>
          <a:xfrm>
            <a:off x="1532296" y="3508513"/>
            <a:ext cx="19488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8" name="Google Shape;1108;p46"/>
          <p:cNvCxnSpPr/>
          <p:nvPr/>
        </p:nvCxnSpPr>
        <p:spPr>
          <a:xfrm rot="10800000" flipH="1">
            <a:off x="1531950" y="3509447"/>
            <a:ext cx="6402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9" name="Google Shape;1109;p46"/>
          <p:cNvCxnSpPr/>
          <p:nvPr/>
        </p:nvCxnSpPr>
        <p:spPr>
          <a:xfrm rot="10800000" flipH="1">
            <a:off x="1531950" y="3509447"/>
            <a:ext cx="12948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0" name="Google Shape;1110;p46"/>
          <p:cNvCxnSpPr/>
          <p:nvPr/>
        </p:nvCxnSpPr>
        <p:spPr>
          <a:xfrm rot="10800000" flipH="1">
            <a:off x="1531950" y="3509447"/>
            <a:ext cx="19494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1" name="Google Shape;1111;p46"/>
          <p:cNvCxnSpPr/>
          <p:nvPr/>
        </p:nvCxnSpPr>
        <p:spPr>
          <a:xfrm>
            <a:off x="2172041" y="3509757"/>
            <a:ext cx="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2" name="Google Shape;1112;p46"/>
          <p:cNvCxnSpPr/>
          <p:nvPr/>
        </p:nvCxnSpPr>
        <p:spPr>
          <a:xfrm rot="10800000" flipH="1">
            <a:off x="2172041" y="3509447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3" name="Google Shape;1113;p46"/>
          <p:cNvCxnSpPr/>
          <p:nvPr/>
        </p:nvCxnSpPr>
        <p:spPr>
          <a:xfrm>
            <a:off x="2172041" y="3509757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4" name="Google Shape;1114;p46"/>
          <p:cNvCxnSpPr/>
          <p:nvPr/>
        </p:nvCxnSpPr>
        <p:spPr>
          <a:xfrm rot="10800000" flipH="1">
            <a:off x="2826680" y="3509447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5" name="Google Shape;1115;p46"/>
          <p:cNvCxnSpPr/>
          <p:nvPr/>
        </p:nvCxnSpPr>
        <p:spPr>
          <a:xfrm>
            <a:off x="2826680" y="3509757"/>
            <a:ext cx="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6" name="Google Shape;1116;p46"/>
          <p:cNvCxnSpPr/>
          <p:nvPr/>
        </p:nvCxnSpPr>
        <p:spPr>
          <a:xfrm>
            <a:off x="2826680" y="3509757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7" name="Google Shape;1117;p46"/>
          <p:cNvCxnSpPr/>
          <p:nvPr/>
        </p:nvCxnSpPr>
        <p:spPr>
          <a:xfrm rot="10800000">
            <a:off x="3481293" y="3509430"/>
            <a:ext cx="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8" name="Google Shape;1118;p46"/>
          <p:cNvCxnSpPr/>
          <p:nvPr/>
        </p:nvCxnSpPr>
        <p:spPr>
          <a:xfrm rot="10800000">
            <a:off x="2172093" y="3509430"/>
            <a:ext cx="13092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9" name="Google Shape;1119;p46"/>
          <p:cNvCxnSpPr/>
          <p:nvPr/>
        </p:nvCxnSpPr>
        <p:spPr>
          <a:xfrm rot="10800000" flipH="1">
            <a:off x="2172041" y="3509447"/>
            <a:ext cx="13092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20" name="Google Shape;1120;p46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 Encoder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47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Multi-Head Self-Attention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26" name="Google Shape;112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550" y="1951250"/>
            <a:ext cx="3605825" cy="30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47"/>
          <p:cNvSpPr txBox="1"/>
          <p:nvPr/>
        </p:nvSpPr>
        <p:spPr>
          <a:xfrm>
            <a:off x="370550" y="1088525"/>
            <a:ext cx="5037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Разные головы self-attention “обращают внимание” на разные токены и разную информацию в них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128" name="Google Shape;1128;p47"/>
          <p:cNvSpPr/>
          <p:nvPr/>
        </p:nvSpPr>
        <p:spPr>
          <a:xfrm>
            <a:off x="397000" y="1826250"/>
            <a:ext cx="1773300" cy="1251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48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Multi-Head Self-Attention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4" name="Google Shape;1134;p48"/>
          <p:cNvSpPr txBox="1"/>
          <p:nvPr/>
        </p:nvSpPr>
        <p:spPr>
          <a:xfrm>
            <a:off x="370550" y="1088525"/>
            <a:ext cx="5037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Разные головы self-attention “обращают внимание” на разные токены и разную информацию в них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135" name="Google Shape;1135;p48"/>
          <p:cNvSpPr/>
          <p:nvPr/>
        </p:nvSpPr>
        <p:spPr>
          <a:xfrm>
            <a:off x="397000" y="1826250"/>
            <a:ext cx="1773300" cy="1251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36" name="Google Shape;113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927" y="1951250"/>
            <a:ext cx="3760400" cy="298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49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Transformer Encoder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42" name="Google Shape;114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00" y="2421775"/>
            <a:ext cx="2072597" cy="2659976"/>
          </a:xfrm>
          <a:prstGeom prst="rect">
            <a:avLst/>
          </a:prstGeom>
          <a:noFill/>
          <a:ln>
            <a:noFill/>
          </a:ln>
        </p:spPr>
      </p:pic>
      <p:sp>
        <p:nvSpPr>
          <p:cNvPr id="1143" name="Google Shape;1143;p49"/>
          <p:cNvSpPr txBox="1"/>
          <p:nvPr/>
        </p:nvSpPr>
        <p:spPr>
          <a:xfrm>
            <a:off x="426400" y="1005775"/>
            <a:ext cx="39966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Мы почти собрали Encoder. 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Чего не хватает: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ld Standard TT"/>
              <a:buChar char="-"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Positional Encoding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50"/>
          <p:cNvSpPr txBox="1"/>
          <p:nvPr/>
        </p:nvSpPr>
        <p:spPr>
          <a:xfrm>
            <a:off x="1226331" y="4620295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&lt;BOS&gt;   Guten   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Morgen   &lt;EOS&gt;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50"/>
          <p:cNvSpPr txBox="1"/>
          <p:nvPr/>
        </p:nvSpPr>
        <p:spPr>
          <a:xfrm>
            <a:off x="65025" y="4451463"/>
            <a:ext cx="75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input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0" name="Google Shape;115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325" y="3535626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151" name="Google Shape;1151;p50"/>
          <p:cNvSpPr txBox="1"/>
          <p:nvPr/>
        </p:nvSpPr>
        <p:spPr>
          <a:xfrm>
            <a:off x="65025" y="3782103"/>
            <a:ext cx="118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</a:t>
            </a:r>
            <a:endParaRPr>
              <a:solidFill>
                <a:srgbClr val="B7B7B7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50"/>
          <p:cNvSpPr/>
          <p:nvPr/>
        </p:nvSpPr>
        <p:spPr>
          <a:xfrm>
            <a:off x="1382849" y="351877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3" name="Google Shape;1153;p50"/>
          <p:cNvSpPr/>
          <p:nvPr/>
        </p:nvSpPr>
        <p:spPr>
          <a:xfrm>
            <a:off x="1378275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4" name="Google Shape;1154;p50"/>
          <p:cNvSpPr/>
          <p:nvPr/>
        </p:nvSpPr>
        <p:spPr>
          <a:xfrm>
            <a:off x="1951752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5" name="Google Shape;1155;p50"/>
          <p:cNvSpPr/>
          <p:nvPr/>
        </p:nvSpPr>
        <p:spPr>
          <a:xfrm>
            <a:off x="2580552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6" name="Google Shape;1156;p50"/>
          <p:cNvSpPr/>
          <p:nvPr/>
        </p:nvSpPr>
        <p:spPr>
          <a:xfrm>
            <a:off x="3209352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7" name="Google Shape;1157;p50"/>
          <p:cNvSpPr txBox="1"/>
          <p:nvPr/>
        </p:nvSpPr>
        <p:spPr>
          <a:xfrm>
            <a:off x="1378563" y="38441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58" name="Google Shape;1158;p50"/>
          <p:cNvSpPr txBox="1"/>
          <p:nvPr/>
        </p:nvSpPr>
        <p:spPr>
          <a:xfrm>
            <a:off x="1979713" y="38441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59" name="Google Shape;1159;p50"/>
          <p:cNvSpPr txBox="1"/>
          <p:nvPr/>
        </p:nvSpPr>
        <p:spPr>
          <a:xfrm>
            <a:off x="2594525" y="38441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60" name="Google Shape;1160;p50"/>
          <p:cNvSpPr txBox="1"/>
          <p:nvPr/>
        </p:nvSpPr>
        <p:spPr>
          <a:xfrm>
            <a:off x="3209313" y="38441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61" name="Google Shape;1161;p50"/>
          <p:cNvSpPr/>
          <p:nvPr/>
        </p:nvSpPr>
        <p:spPr>
          <a:xfrm>
            <a:off x="1382849" y="2795549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2" name="Google Shape;1162;p50"/>
          <p:cNvSpPr/>
          <p:nvPr/>
        </p:nvSpPr>
        <p:spPr>
          <a:xfrm>
            <a:off x="1378275" y="32204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3" name="Google Shape;1163;p50"/>
          <p:cNvSpPr/>
          <p:nvPr/>
        </p:nvSpPr>
        <p:spPr>
          <a:xfrm>
            <a:off x="1951752" y="32204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4" name="Google Shape;1164;p50"/>
          <p:cNvSpPr/>
          <p:nvPr/>
        </p:nvSpPr>
        <p:spPr>
          <a:xfrm>
            <a:off x="2580552" y="32204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5" name="Google Shape;1165;p50"/>
          <p:cNvSpPr/>
          <p:nvPr/>
        </p:nvSpPr>
        <p:spPr>
          <a:xfrm>
            <a:off x="3209352" y="32204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6" name="Google Shape;1166;p50"/>
          <p:cNvSpPr txBox="1"/>
          <p:nvPr/>
        </p:nvSpPr>
        <p:spPr>
          <a:xfrm>
            <a:off x="1378888" y="312000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67" name="Google Shape;1167;p50"/>
          <p:cNvSpPr txBox="1"/>
          <p:nvPr/>
        </p:nvSpPr>
        <p:spPr>
          <a:xfrm>
            <a:off x="1979713" y="31209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68" name="Google Shape;1168;p50"/>
          <p:cNvSpPr txBox="1"/>
          <p:nvPr/>
        </p:nvSpPr>
        <p:spPr>
          <a:xfrm>
            <a:off x="2594525" y="31209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69" name="Google Shape;1169;p50"/>
          <p:cNvSpPr txBox="1"/>
          <p:nvPr/>
        </p:nvSpPr>
        <p:spPr>
          <a:xfrm>
            <a:off x="3209313" y="31209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70" name="Google Shape;1170;p50"/>
          <p:cNvSpPr txBox="1"/>
          <p:nvPr/>
        </p:nvSpPr>
        <p:spPr>
          <a:xfrm>
            <a:off x="32150" y="3112725"/>
            <a:ext cx="1404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Multi-Head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Self-attention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1" name="Google Shape;117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325" y="2105913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172" name="Google Shape;1172;p50"/>
          <p:cNvSpPr/>
          <p:nvPr/>
        </p:nvSpPr>
        <p:spPr>
          <a:xfrm>
            <a:off x="1382849" y="208906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3" name="Google Shape;1173;p50"/>
          <p:cNvSpPr/>
          <p:nvPr/>
        </p:nvSpPr>
        <p:spPr>
          <a:xfrm>
            <a:off x="1378275" y="2513937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4" name="Google Shape;1174;p50"/>
          <p:cNvSpPr/>
          <p:nvPr/>
        </p:nvSpPr>
        <p:spPr>
          <a:xfrm>
            <a:off x="1951752" y="2513938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5" name="Google Shape;1175;p50"/>
          <p:cNvSpPr/>
          <p:nvPr/>
        </p:nvSpPr>
        <p:spPr>
          <a:xfrm>
            <a:off x="2580552" y="2513938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6" name="Google Shape;1176;p50"/>
          <p:cNvSpPr/>
          <p:nvPr/>
        </p:nvSpPr>
        <p:spPr>
          <a:xfrm>
            <a:off x="3209352" y="2513938"/>
            <a:ext cx="486000" cy="268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7" name="Google Shape;1177;p50"/>
          <p:cNvSpPr txBox="1"/>
          <p:nvPr/>
        </p:nvSpPr>
        <p:spPr>
          <a:xfrm>
            <a:off x="1378563" y="24144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78" name="Google Shape;1178;p50"/>
          <p:cNvSpPr txBox="1"/>
          <p:nvPr/>
        </p:nvSpPr>
        <p:spPr>
          <a:xfrm>
            <a:off x="1979713" y="24144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79" name="Google Shape;1179;p50"/>
          <p:cNvSpPr txBox="1"/>
          <p:nvPr/>
        </p:nvSpPr>
        <p:spPr>
          <a:xfrm>
            <a:off x="2594525" y="24144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80" name="Google Shape;1180;p50"/>
          <p:cNvSpPr txBox="1"/>
          <p:nvPr/>
        </p:nvSpPr>
        <p:spPr>
          <a:xfrm>
            <a:off x="3209313" y="24144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81" name="Google Shape;1181;p50"/>
          <p:cNvSpPr/>
          <p:nvPr/>
        </p:nvSpPr>
        <p:spPr>
          <a:xfrm>
            <a:off x="1164044" y="2662175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182" name="Google Shape;1182;p50"/>
          <p:cNvSpPr/>
          <p:nvPr/>
        </p:nvSpPr>
        <p:spPr>
          <a:xfrm>
            <a:off x="1737519" y="2662175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183" name="Google Shape;1183;p50"/>
          <p:cNvSpPr/>
          <p:nvPr/>
        </p:nvSpPr>
        <p:spPr>
          <a:xfrm>
            <a:off x="2356231" y="2662175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184" name="Google Shape;1184;p50"/>
          <p:cNvSpPr/>
          <p:nvPr/>
        </p:nvSpPr>
        <p:spPr>
          <a:xfrm>
            <a:off x="2974919" y="2662113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185" name="Google Shape;1185;p50"/>
          <p:cNvSpPr txBox="1"/>
          <p:nvPr/>
        </p:nvSpPr>
        <p:spPr>
          <a:xfrm>
            <a:off x="65025" y="2568125"/>
            <a:ext cx="127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Add &amp; Norm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6" name="Google Shape;118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325" y="1380463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187" name="Google Shape;1187;p50"/>
          <p:cNvSpPr/>
          <p:nvPr/>
        </p:nvSpPr>
        <p:spPr>
          <a:xfrm>
            <a:off x="1382849" y="136361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8" name="Google Shape;1188;p50"/>
          <p:cNvSpPr/>
          <p:nvPr/>
        </p:nvSpPr>
        <p:spPr>
          <a:xfrm>
            <a:off x="1378275" y="1788487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9" name="Google Shape;1189;p50"/>
          <p:cNvSpPr/>
          <p:nvPr/>
        </p:nvSpPr>
        <p:spPr>
          <a:xfrm>
            <a:off x="1951752" y="1788488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0" name="Google Shape;1190;p50"/>
          <p:cNvSpPr/>
          <p:nvPr/>
        </p:nvSpPr>
        <p:spPr>
          <a:xfrm>
            <a:off x="2580552" y="1788488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1" name="Google Shape;1191;p50"/>
          <p:cNvSpPr/>
          <p:nvPr/>
        </p:nvSpPr>
        <p:spPr>
          <a:xfrm>
            <a:off x="3209352" y="1788488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2" name="Google Shape;1192;p50"/>
          <p:cNvSpPr txBox="1"/>
          <p:nvPr/>
        </p:nvSpPr>
        <p:spPr>
          <a:xfrm>
            <a:off x="1378563" y="16889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93" name="Google Shape;1193;p50"/>
          <p:cNvSpPr txBox="1"/>
          <p:nvPr/>
        </p:nvSpPr>
        <p:spPr>
          <a:xfrm>
            <a:off x="1979713" y="16889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94" name="Google Shape;1194;p50"/>
          <p:cNvSpPr txBox="1"/>
          <p:nvPr/>
        </p:nvSpPr>
        <p:spPr>
          <a:xfrm>
            <a:off x="2594525" y="16889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95" name="Google Shape;1195;p50"/>
          <p:cNvSpPr txBox="1"/>
          <p:nvPr/>
        </p:nvSpPr>
        <p:spPr>
          <a:xfrm>
            <a:off x="3209313" y="16889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196" name="Google Shape;1196;p50"/>
          <p:cNvSpPr txBox="1"/>
          <p:nvPr/>
        </p:nvSpPr>
        <p:spPr>
          <a:xfrm>
            <a:off x="65025" y="1788500"/>
            <a:ext cx="14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FC layer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7" name="Google Shape;119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325" y="671726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198" name="Google Shape;1198;p50"/>
          <p:cNvSpPr/>
          <p:nvPr/>
        </p:nvSpPr>
        <p:spPr>
          <a:xfrm>
            <a:off x="1382849" y="65487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9" name="Google Shape;1199;p50"/>
          <p:cNvSpPr/>
          <p:nvPr/>
        </p:nvSpPr>
        <p:spPr>
          <a:xfrm>
            <a:off x="1378275" y="1079750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0" name="Google Shape;1200;p50"/>
          <p:cNvSpPr/>
          <p:nvPr/>
        </p:nvSpPr>
        <p:spPr>
          <a:xfrm>
            <a:off x="1951752" y="1079750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1" name="Google Shape;1201;p50"/>
          <p:cNvSpPr/>
          <p:nvPr/>
        </p:nvSpPr>
        <p:spPr>
          <a:xfrm>
            <a:off x="2580552" y="1079750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2" name="Google Shape;1202;p50"/>
          <p:cNvSpPr/>
          <p:nvPr/>
        </p:nvSpPr>
        <p:spPr>
          <a:xfrm>
            <a:off x="3209352" y="1079750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3" name="Google Shape;1203;p50"/>
          <p:cNvSpPr txBox="1"/>
          <p:nvPr/>
        </p:nvSpPr>
        <p:spPr>
          <a:xfrm>
            <a:off x="1378563" y="9802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204" name="Google Shape;1204;p50"/>
          <p:cNvSpPr txBox="1"/>
          <p:nvPr/>
        </p:nvSpPr>
        <p:spPr>
          <a:xfrm>
            <a:off x="1979713" y="9802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205" name="Google Shape;1205;p50"/>
          <p:cNvSpPr txBox="1"/>
          <p:nvPr/>
        </p:nvSpPr>
        <p:spPr>
          <a:xfrm>
            <a:off x="2594525" y="9802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206" name="Google Shape;1206;p50"/>
          <p:cNvSpPr txBox="1"/>
          <p:nvPr/>
        </p:nvSpPr>
        <p:spPr>
          <a:xfrm>
            <a:off x="3209313" y="9802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207" name="Google Shape;1207;p50"/>
          <p:cNvSpPr txBox="1"/>
          <p:nvPr/>
        </p:nvSpPr>
        <p:spPr>
          <a:xfrm>
            <a:off x="20025" y="1079750"/>
            <a:ext cx="127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Add &amp; Norm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50"/>
          <p:cNvSpPr/>
          <p:nvPr/>
        </p:nvSpPr>
        <p:spPr>
          <a:xfrm>
            <a:off x="1139994" y="1288300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209" name="Google Shape;1209;p50"/>
          <p:cNvSpPr/>
          <p:nvPr/>
        </p:nvSpPr>
        <p:spPr>
          <a:xfrm>
            <a:off x="1737519" y="1288300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210" name="Google Shape;1210;p50"/>
          <p:cNvSpPr/>
          <p:nvPr/>
        </p:nvSpPr>
        <p:spPr>
          <a:xfrm>
            <a:off x="2335044" y="1288300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211" name="Google Shape;1211;p50"/>
          <p:cNvSpPr/>
          <p:nvPr/>
        </p:nvSpPr>
        <p:spPr>
          <a:xfrm>
            <a:off x="2974919" y="1288300"/>
            <a:ext cx="214225" cy="1385125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cxnSp>
        <p:nvCxnSpPr>
          <p:cNvPr id="1212" name="Google Shape;1212;p50"/>
          <p:cNvCxnSpPr/>
          <p:nvPr/>
        </p:nvCxnSpPr>
        <p:spPr>
          <a:xfrm flipH="1">
            <a:off x="1531996" y="3508513"/>
            <a:ext cx="3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3" name="Google Shape;1213;p50"/>
          <p:cNvCxnSpPr/>
          <p:nvPr/>
        </p:nvCxnSpPr>
        <p:spPr>
          <a:xfrm>
            <a:off x="1532296" y="3508513"/>
            <a:ext cx="6399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4" name="Google Shape;1214;p50"/>
          <p:cNvCxnSpPr/>
          <p:nvPr/>
        </p:nvCxnSpPr>
        <p:spPr>
          <a:xfrm>
            <a:off x="1532296" y="3508513"/>
            <a:ext cx="12945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5" name="Google Shape;1215;p50"/>
          <p:cNvCxnSpPr/>
          <p:nvPr/>
        </p:nvCxnSpPr>
        <p:spPr>
          <a:xfrm>
            <a:off x="1532296" y="3508513"/>
            <a:ext cx="1948800" cy="4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6" name="Google Shape;1216;p50"/>
          <p:cNvCxnSpPr/>
          <p:nvPr/>
        </p:nvCxnSpPr>
        <p:spPr>
          <a:xfrm rot="10800000" flipH="1">
            <a:off x="1531950" y="3509447"/>
            <a:ext cx="6402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7" name="Google Shape;1217;p50"/>
          <p:cNvCxnSpPr/>
          <p:nvPr/>
        </p:nvCxnSpPr>
        <p:spPr>
          <a:xfrm rot="10800000" flipH="1">
            <a:off x="1531950" y="3509447"/>
            <a:ext cx="12948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8" name="Google Shape;1218;p50"/>
          <p:cNvCxnSpPr/>
          <p:nvPr/>
        </p:nvCxnSpPr>
        <p:spPr>
          <a:xfrm rot="10800000" flipH="1">
            <a:off x="1531950" y="3509447"/>
            <a:ext cx="19494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9" name="Google Shape;1219;p50"/>
          <p:cNvCxnSpPr/>
          <p:nvPr/>
        </p:nvCxnSpPr>
        <p:spPr>
          <a:xfrm>
            <a:off x="2172041" y="3509757"/>
            <a:ext cx="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0" name="Google Shape;1220;p50"/>
          <p:cNvCxnSpPr/>
          <p:nvPr/>
        </p:nvCxnSpPr>
        <p:spPr>
          <a:xfrm rot="10800000" flipH="1">
            <a:off x="2172041" y="3509447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1" name="Google Shape;1221;p50"/>
          <p:cNvCxnSpPr/>
          <p:nvPr/>
        </p:nvCxnSpPr>
        <p:spPr>
          <a:xfrm>
            <a:off x="2172041" y="3509757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2" name="Google Shape;1222;p50"/>
          <p:cNvCxnSpPr/>
          <p:nvPr/>
        </p:nvCxnSpPr>
        <p:spPr>
          <a:xfrm rot="10800000" flipH="1">
            <a:off x="2826680" y="3509447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3" name="Google Shape;1223;p50"/>
          <p:cNvCxnSpPr/>
          <p:nvPr/>
        </p:nvCxnSpPr>
        <p:spPr>
          <a:xfrm>
            <a:off x="2826680" y="3509757"/>
            <a:ext cx="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4" name="Google Shape;1224;p50"/>
          <p:cNvCxnSpPr/>
          <p:nvPr/>
        </p:nvCxnSpPr>
        <p:spPr>
          <a:xfrm>
            <a:off x="2826680" y="3509757"/>
            <a:ext cx="6546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5" name="Google Shape;1225;p50"/>
          <p:cNvCxnSpPr/>
          <p:nvPr/>
        </p:nvCxnSpPr>
        <p:spPr>
          <a:xfrm rot="10800000">
            <a:off x="3481293" y="3509430"/>
            <a:ext cx="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6" name="Google Shape;1226;p50"/>
          <p:cNvCxnSpPr/>
          <p:nvPr/>
        </p:nvCxnSpPr>
        <p:spPr>
          <a:xfrm rot="10800000">
            <a:off x="2172093" y="3509430"/>
            <a:ext cx="13092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7" name="Google Shape;1227;p50"/>
          <p:cNvCxnSpPr/>
          <p:nvPr/>
        </p:nvCxnSpPr>
        <p:spPr>
          <a:xfrm rot="10800000" flipH="1">
            <a:off x="2172041" y="3509447"/>
            <a:ext cx="1309200" cy="4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8" name="Google Shape;1228;p50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 Encoder</a:t>
            </a:r>
            <a:endParaRPr/>
          </a:p>
        </p:txBody>
      </p:sp>
      <p:sp>
        <p:nvSpPr>
          <p:cNvPr id="1229" name="Google Shape;1229;p50"/>
          <p:cNvSpPr txBox="1"/>
          <p:nvPr/>
        </p:nvSpPr>
        <p:spPr>
          <a:xfrm>
            <a:off x="4135800" y="987600"/>
            <a:ext cx="3326100" cy="29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ld Standard TT"/>
                <a:ea typeface="Old Standard TT"/>
                <a:cs typeface="Old Standard TT"/>
                <a:sym typeface="Old Standard TT"/>
              </a:rPr>
              <a:t>Наша сеть не получает информацию о порядке следования токенов в предложении</a:t>
            </a:r>
            <a:endParaRPr sz="16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ld Standard TT"/>
                <a:ea typeface="Old Standard TT"/>
                <a:cs typeface="Old Standard TT"/>
                <a:sym typeface="Old Standard TT"/>
              </a:rPr>
              <a:t>Но эта информация важна для понимания смысла эмбеддингов и обновления информации о них:</a:t>
            </a:r>
            <a:endParaRPr sz="16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Old Standard TT"/>
              <a:buChar char="-"/>
            </a:pPr>
            <a:r>
              <a:rPr lang="en" sz="1600">
                <a:latin typeface="Old Standard TT"/>
                <a:ea typeface="Old Standard TT"/>
                <a:cs typeface="Old Standard TT"/>
                <a:sym typeface="Old Standard TT"/>
              </a:rPr>
              <a:t>cat runs horse</a:t>
            </a:r>
            <a:endParaRPr sz="16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Old Standard TT"/>
              <a:buChar char="-"/>
            </a:pPr>
            <a:r>
              <a:rPr lang="en" sz="1600">
                <a:latin typeface="Old Standard TT"/>
                <a:ea typeface="Old Standard TT"/>
                <a:cs typeface="Old Standard TT"/>
                <a:sym typeface="Old Standard TT"/>
              </a:rPr>
              <a:t>horse runs cat</a:t>
            </a:r>
            <a:endParaRPr sz="16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51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Positional Encoding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5" name="Google Shape;1235;p51"/>
          <p:cNvSpPr txBox="1"/>
          <p:nvPr/>
        </p:nvSpPr>
        <p:spPr>
          <a:xfrm>
            <a:off x="81725" y="3213678"/>
            <a:ext cx="118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Positional Encodings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51"/>
          <p:cNvSpPr txBox="1"/>
          <p:nvPr/>
        </p:nvSpPr>
        <p:spPr>
          <a:xfrm>
            <a:off x="65025" y="2510025"/>
            <a:ext cx="15267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Эмбеддинги с временным сигналом </a:t>
            </a:r>
            <a:endParaRPr sz="1200"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51"/>
          <p:cNvSpPr txBox="1"/>
          <p:nvPr/>
        </p:nvSpPr>
        <p:spPr>
          <a:xfrm>
            <a:off x="1226331" y="4620295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&lt;BOS&gt;   Guten   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Morgen   &lt;EOS&gt;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51"/>
          <p:cNvSpPr txBox="1"/>
          <p:nvPr/>
        </p:nvSpPr>
        <p:spPr>
          <a:xfrm>
            <a:off x="65025" y="4451463"/>
            <a:ext cx="75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input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9" name="Google Shape;123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325" y="3535626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240" name="Google Shape;1240;p51"/>
          <p:cNvSpPr txBox="1"/>
          <p:nvPr/>
        </p:nvSpPr>
        <p:spPr>
          <a:xfrm>
            <a:off x="65025" y="3782103"/>
            <a:ext cx="118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</a:t>
            </a:r>
            <a:endParaRPr>
              <a:solidFill>
                <a:srgbClr val="B7B7B7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51"/>
          <p:cNvSpPr/>
          <p:nvPr/>
        </p:nvSpPr>
        <p:spPr>
          <a:xfrm>
            <a:off x="1382849" y="351877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2" name="Google Shape;1242;p51"/>
          <p:cNvSpPr/>
          <p:nvPr/>
        </p:nvSpPr>
        <p:spPr>
          <a:xfrm>
            <a:off x="1378275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3" name="Google Shape;1243;p51"/>
          <p:cNvSpPr/>
          <p:nvPr/>
        </p:nvSpPr>
        <p:spPr>
          <a:xfrm>
            <a:off x="1951752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4" name="Google Shape;1244;p51"/>
          <p:cNvSpPr/>
          <p:nvPr/>
        </p:nvSpPr>
        <p:spPr>
          <a:xfrm>
            <a:off x="2580552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5" name="Google Shape;1245;p51"/>
          <p:cNvSpPr/>
          <p:nvPr/>
        </p:nvSpPr>
        <p:spPr>
          <a:xfrm>
            <a:off x="3209352" y="394365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6" name="Google Shape;1246;p51"/>
          <p:cNvSpPr txBox="1"/>
          <p:nvPr/>
        </p:nvSpPr>
        <p:spPr>
          <a:xfrm>
            <a:off x="1378563" y="38441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247" name="Google Shape;1247;p51"/>
          <p:cNvSpPr txBox="1"/>
          <p:nvPr/>
        </p:nvSpPr>
        <p:spPr>
          <a:xfrm>
            <a:off x="1979713" y="38441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248" name="Google Shape;1248;p51"/>
          <p:cNvSpPr txBox="1"/>
          <p:nvPr/>
        </p:nvSpPr>
        <p:spPr>
          <a:xfrm>
            <a:off x="2594525" y="38441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249" name="Google Shape;1249;p51"/>
          <p:cNvSpPr txBox="1"/>
          <p:nvPr/>
        </p:nvSpPr>
        <p:spPr>
          <a:xfrm>
            <a:off x="3209313" y="38441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250" name="Google Shape;1250;p51"/>
          <p:cNvSpPr/>
          <p:nvPr/>
        </p:nvSpPr>
        <p:spPr>
          <a:xfrm>
            <a:off x="1378275" y="3341037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1" name="Google Shape;1251;p51"/>
          <p:cNvSpPr txBox="1"/>
          <p:nvPr/>
        </p:nvSpPr>
        <p:spPr>
          <a:xfrm>
            <a:off x="1378563" y="32415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p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252" name="Google Shape;1252;p51"/>
          <p:cNvSpPr/>
          <p:nvPr/>
        </p:nvSpPr>
        <p:spPr>
          <a:xfrm>
            <a:off x="1979425" y="3341037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3" name="Google Shape;1253;p51"/>
          <p:cNvSpPr txBox="1"/>
          <p:nvPr/>
        </p:nvSpPr>
        <p:spPr>
          <a:xfrm>
            <a:off x="1979713" y="32415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p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254" name="Google Shape;1254;p51"/>
          <p:cNvSpPr/>
          <p:nvPr/>
        </p:nvSpPr>
        <p:spPr>
          <a:xfrm>
            <a:off x="2580575" y="3341037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51"/>
          <p:cNvSpPr txBox="1"/>
          <p:nvPr/>
        </p:nvSpPr>
        <p:spPr>
          <a:xfrm>
            <a:off x="2580863" y="32415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p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256" name="Google Shape;1256;p51"/>
          <p:cNvSpPr/>
          <p:nvPr/>
        </p:nvSpPr>
        <p:spPr>
          <a:xfrm>
            <a:off x="3181725" y="3341037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7" name="Google Shape;1257;p51"/>
          <p:cNvSpPr txBox="1"/>
          <p:nvPr/>
        </p:nvSpPr>
        <p:spPr>
          <a:xfrm>
            <a:off x="3182013" y="32415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p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258" name="Google Shape;1258;p51"/>
          <p:cNvSpPr txBox="1"/>
          <p:nvPr/>
        </p:nvSpPr>
        <p:spPr>
          <a:xfrm>
            <a:off x="1302375" y="3541100"/>
            <a:ext cx="2688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</a:pPr>
            <a:r>
              <a:rPr lang="en" sz="1800">
                <a:solidFill>
                  <a:schemeClr val="dk2"/>
                </a:solidFill>
              </a:rPr>
              <a:t>    +        +       +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59" name="Google Shape;1259;p51"/>
          <p:cNvSpPr txBox="1"/>
          <p:nvPr/>
        </p:nvSpPr>
        <p:spPr>
          <a:xfrm>
            <a:off x="1302375" y="2879325"/>
            <a:ext cx="2688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=         =       =        =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60" name="Google Shape;1260;p51"/>
          <p:cNvSpPr/>
          <p:nvPr/>
        </p:nvSpPr>
        <p:spPr>
          <a:xfrm>
            <a:off x="1350350" y="2631750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1" name="Google Shape;1261;p51"/>
          <p:cNvSpPr/>
          <p:nvPr/>
        </p:nvSpPr>
        <p:spPr>
          <a:xfrm>
            <a:off x="1923827" y="2631750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2" name="Google Shape;1262;p51"/>
          <p:cNvSpPr/>
          <p:nvPr/>
        </p:nvSpPr>
        <p:spPr>
          <a:xfrm>
            <a:off x="2552627" y="2631750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3" name="Google Shape;1263;p51"/>
          <p:cNvSpPr/>
          <p:nvPr/>
        </p:nvSpPr>
        <p:spPr>
          <a:xfrm>
            <a:off x="3181427" y="2631750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4" name="Google Shape;1264;p51"/>
          <p:cNvSpPr txBox="1"/>
          <p:nvPr/>
        </p:nvSpPr>
        <p:spPr>
          <a:xfrm>
            <a:off x="1350638" y="25322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265" name="Google Shape;1265;p51"/>
          <p:cNvSpPr txBox="1"/>
          <p:nvPr/>
        </p:nvSpPr>
        <p:spPr>
          <a:xfrm>
            <a:off x="1951788" y="25322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266" name="Google Shape;1266;p51"/>
          <p:cNvSpPr txBox="1"/>
          <p:nvPr/>
        </p:nvSpPr>
        <p:spPr>
          <a:xfrm>
            <a:off x="2566600" y="25322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267" name="Google Shape;1267;p51"/>
          <p:cNvSpPr txBox="1"/>
          <p:nvPr/>
        </p:nvSpPr>
        <p:spPr>
          <a:xfrm>
            <a:off x="3181388" y="25322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52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Positional Encoding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3" name="Google Shape;1273;p52"/>
          <p:cNvSpPr/>
          <p:nvPr/>
        </p:nvSpPr>
        <p:spPr>
          <a:xfrm>
            <a:off x="374900" y="1833312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4" name="Google Shape;1274;p52"/>
          <p:cNvSpPr txBox="1"/>
          <p:nvPr/>
        </p:nvSpPr>
        <p:spPr>
          <a:xfrm>
            <a:off x="375188" y="17338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t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275" name="Google Shape;1275;p52"/>
          <p:cNvSpPr txBox="1"/>
          <p:nvPr/>
        </p:nvSpPr>
        <p:spPr>
          <a:xfrm>
            <a:off x="887500" y="1701330"/>
            <a:ext cx="54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76" name="Google Shape;1276;p52"/>
          <p:cNvSpPr/>
          <p:nvPr/>
        </p:nvSpPr>
        <p:spPr>
          <a:xfrm>
            <a:off x="1321084" y="1335600"/>
            <a:ext cx="256200" cy="12384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77" name="Google Shape;1277;p52"/>
          <p:cNvCxnSpPr/>
          <p:nvPr/>
        </p:nvCxnSpPr>
        <p:spPr>
          <a:xfrm>
            <a:off x="1340769" y="1568195"/>
            <a:ext cx="256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8" name="Google Shape;1278;p52"/>
          <p:cNvCxnSpPr/>
          <p:nvPr/>
        </p:nvCxnSpPr>
        <p:spPr>
          <a:xfrm>
            <a:off x="1340769" y="1846129"/>
            <a:ext cx="256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9" name="Google Shape;1279;p52"/>
          <p:cNvCxnSpPr/>
          <p:nvPr/>
        </p:nvCxnSpPr>
        <p:spPr>
          <a:xfrm>
            <a:off x="1340769" y="2107981"/>
            <a:ext cx="256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0" name="Google Shape;1280;p52"/>
          <p:cNvCxnSpPr/>
          <p:nvPr/>
        </p:nvCxnSpPr>
        <p:spPr>
          <a:xfrm>
            <a:off x="1340769" y="2327650"/>
            <a:ext cx="256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81" name="Google Shape;1281;p52"/>
          <p:cNvSpPr/>
          <p:nvPr/>
        </p:nvSpPr>
        <p:spPr>
          <a:xfrm>
            <a:off x="2188825" y="1832462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2" name="Google Shape;1282;p52"/>
          <p:cNvSpPr txBox="1"/>
          <p:nvPr/>
        </p:nvSpPr>
        <p:spPr>
          <a:xfrm>
            <a:off x="2189113" y="17329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p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t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283" name="Google Shape;1283;p52"/>
          <p:cNvSpPr txBox="1"/>
          <p:nvPr/>
        </p:nvSpPr>
        <p:spPr>
          <a:xfrm>
            <a:off x="2701425" y="1756779"/>
            <a:ext cx="565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84" name="Google Shape;1284;p52"/>
          <p:cNvSpPr/>
          <p:nvPr/>
        </p:nvSpPr>
        <p:spPr>
          <a:xfrm>
            <a:off x="3153027" y="1379125"/>
            <a:ext cx="266700" cy="12789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85" name="Google Shape;1285;p52"/>
          <p:cNvCxnSpPr/>
          <p:nvPr/>
        </p:nvCxnSpPr>
        <p:spPr>
          <a:xfrm>
            <a:off x="3173531" y="1619304"/>
            <a:ext cx="266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6" name="Google Shape;1286;p52"/>
          <p:cNvCxnSpPr/>
          <p:nvPr/>
        </p:nvCxnSpPr>
        <p:spPr>
          <a:xfrm>
            <a:off x="3173531" y="1906299"/>
            <a:ext cx="266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7" name="Google Shape;1287;p52"/>
          <p:cNvCxnSpPr/>
          <p:nvPr/>
        </p:nvCxnSpPr>
        <p:spPr>
          <a:xfrm>
            <a:off x="3173531" y="2176688"/>
            <a:ext cx="266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8" name="Google Shape;1288;p52"/>
          <p:cNvCxnSpPr/>
          <p:nvPr/>
        </p:nvCxnSpPr>
        <p:spPr>
          <a:xfrm>
            <a:off x="3173531" y="2403519"/>
            <a:ext cx="266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89" name="Google Shape;1289;p52"/>
          <p:cNvSpPr txBox="1"/>
          <p:nvPr/>
        </p:nvSpPr>
        <p:spPr>
          <a:xfrm>
            <a:off x="3466813" y="1271125"/>
            <a:ext cx="4854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p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t1</a:t>
            </a:r>
            <a:endParaRPr sz="1500" i="1" baseline="-2500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chemeClr val="dk2"/>
                </a:solidFill>
              </a:rPr>
              <a:t>p</a:t>
            </a:r>
            <a:r>
              <a:rPr lang="en" sz="1500" i="1" baseline="30000">
                <a:solidFill>
                  <a:schemeClr val="dk2"/>
                </a:solidFill>
              </a:rPr>
              <a:t>e</a:t>
            </a:r>
            <a:r>
              <a:rPr lang="en" sz="1500" i="1" baseline="-25000">
                <a:solidFill>
                  <a:schemeClr val="dk2"/>
                </a:solidFill>
              </a:rPr>
              <a:t>t2</a:t>
            </a:r>
            <a:endParaRPr sz="1500" i="1" baseline="-250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chemeClr val="dk2"/>
                </a:solidFill>
              </a:rPr>
              <a:t>p</a:t>
            </a:r>
            <a:r>
              <a:rPr lang="en" sz="1500" i="1" baseline="30000">
                <a:solidFill>
                  <a:schemeClr val="dk2"/>
                </a:solidFill>
              </a:rPr>
              <a:t>e</a:t>
            </a:r>
            <a:r>
              <a:rPr lang="en" sz="1500" i="1" baseline="-25000">
                <a:solidFill>
                  <a:schemeClr val="dk2"/>
                </a:solidFill>
              </a:rPr>
              <a:t>t3</a:t>
            </a:r>
            <a:r>
              <a:rPr lang="en" sz="1500" i="1">
                <a:solidFill>
                  <a:schemeClr val="dk2"/>
                </a:solidFill>
              </a:rPr>
              <a:t>p</a:t>
            </a:r>
            <a:r>
              <a:rPr lang="en" sz="1500" i="1" baseline="30000">
                <a:solidFill>
                  <a:schemeClr val="dk2"/>
                </a:solidFill>
              </a:rPr>
              <a:t>e</a:t>
            </a:r>
            <a:r>
              <a:rPr lang="en" sz="1500" i="1" baseline="-25000">
                <a:solidFill>
                  <a:schemeClr val="dk2"/>
                </a:solidFill>
              </a:rPr>
              <a:t>t4</a:t>
            </a:r>
            <a:endParaRPr sz="1500" i="1" baseline="-250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chemeClr val="dk2"/>
                </a:solidFill>
              </a:rPr>
              <a:t>p</a:t>
            </a:r>
            <a:r>
              <a:rPr lang="en" sz="1500" i="1" baseline="30000">
                <a:solidFill>
                  <a:schemeClr val="dk2"/>
                </a:solidFill>
              </a:rPr>
              <a:t>e</a:t>
            </a:r>
            <a:r>
              <a:rPr lang="en" sz="1500" i="1" baseline="-25000">
                <a:solidFill>
                  <a:schemeClr val="dk2"/>
                </a:solidFill>
              </a:rPr>
              <a:t>t5</a:t>
            </a:r>
            <a:endParaRPr sz="1500" i="1" baseline="-25000">
              <a:solidFill>
                <a:schemeClr val="dk2"/>
              </a:solidFill>
            </a:endParaRPr>
          </a:p>
        </p:txBody>
      </p:sp>
      <p:pic>
        <p:nvPicPr>
          <p:cNvPr id="1290" name="Google Shape;129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200" y="3740600"/>
            <a:ext cx="635467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1" name="Google Shape;1291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1944" y="3187750"/>
            <a:ext cx="2279855" cy="67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2" name="Google Shape;1292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45300" y="3968276"/>
            <a:ext cx="2610425" cy="68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3" name="Google Shape;1293;p52"/>
          <p:cNvSpPr/>
          <p:nvPr/>
        </p:nvSpPr>
        <p:spPr>
          <a:xfrm>
            <a:off x="1057350" y="3183800"/>
            <a:ext cx="141300" cy="14775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8" name="Google Shape;129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375" y="1182200"/>
            <a:ext cx="6799926" cy="366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9" name="Google Shape;1299;p53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Positional Encoding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4" name="Google Shape;130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074" y="2048100"/>
            <a:ext cx="6954374" cy="234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5" name="Google Shape;1305;p54"/>
          <p:cNvSpPr txBox="1"/>
          <p:nvPr/>
        </p:nvSpPr>
        <p:spPr>
          <a:xfrm>
            <a:off x="352900" y="1201975"/>
            <a:ext cx="5417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Почему функция positional encoding именно такая: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306" name="Google Shape;1306;p54"/>
          <p:cNvSpPr txBox="1"/>
          <p:nvPr/>
        </p:nvSpPr>
        <p:spPr>
          <a:xfrm>
            <a:off x="0" y="4804800"/>
            <a:ext cx="221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https://arxiv.org/pdf/1706.03762.pdf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307" name="Google Shape;1307;p54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Positional Encoding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55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Transformer Encoder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13" name="Google Shape;131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325" y="2210025"/>
            <a:ext cx="2072597" cy="2659976"/>
          </a:xfrm>
          <a:prstGeom prst="rect">
            <a:avLst/>
          </a:prstGeom>
          <a:noFill/>
          <a:ln>
            <a:noFill/>
          </a:ln>
        </p:spPr>
      </p:pic>
      <p:sp>
        <p:nvSpPr>
          <p:cNvPr id="1314" name="Google Shape;1314;p55"/>
          <p:cNvSpPr txBox="1"/>
          <p:nvPr/>
        </p:nvSpPr>
        <p:spPr>
          <a:xfrm>
            <a:off x="399950" y="1129275"/>
            <a:ext cx="3996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Ура, мы собрали Encoder! 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315" name="Google Shape;1315;p55"/>
          <p:cNvSpPr txBox="1"/>
          <p:nvPr/>
        </p:nvSpPr>
        <p:spPr>
          <a:xfrm>
            <a:off x="2990825" y="28988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Encoder Block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316" name="Google Shape;1316;p55"/>
          <p:cNvSpPr/>
          <p:nvPr/>
        </p:nvSpPr>
        <p:spPr>
          <a:xfrm>
            <a:off x="2690875" y="2410725"/>
            <a:ext cx="141300" cy="1376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56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Transformer Encoder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2" name="Google Shape;1322;p56"/>
          <p:cNvSpPr txBox="1"/>
          <p:nvPr/>
        </p:nvSpPr>
        <p:spPr>
          <a:xfrm>
            <a:off x="399950" y="979300"/>
            <a:ext cx="3996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У Encoder могут быть несколько последовательно соединенных блоков 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323" name="Google Shape;132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0400" y="2292343"/>
            <a:ext cx="2181574" cy="2754107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Google Shape;1324;p56"/>
          <p:cNvSpPr/>
          <p:nvPr/>
        </p:nvSpPr>
        <p:spPr>
          <a:xfrm>
            <a:off x="1264216" y="2528874"/>
            <a:ext cx="1489200" cy="1291200"/>
          </a:xfrm>
          <a:prstGeom prst="rect">
            <a:avLst/>
          </a:prstGeom>
          <a:solidFill>
            <a:schemeClr val="lt1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5" name="Google Shape;1325;p56"/>
          <p:cNvSpPr/>
          <p:nvPr/>
        </p:nvSpPr>
        <p:spPr>
          <a:xfrm>
            <a:off x="1390429" y="3373030"/>
            <a:ext cx="1438800" cy="447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26" name="Google Shape;1326;p56"/>
          <p:cNvCxnSpPr>
            <a:stCxn id="1325" idx="0"/>
          </p:cNvCxnSpPr>
          <p:nvPr/>
        </p:nvCxnSpPr>
        <p:spPr>
          <a:xfrm rot="10800000">
            <a:off x="2105629" y="3248830"/>
            <a:ext cx="4200" cy="124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27" name="Google Shape;1327;p56"/>
          <p:cNvSpPr/>
          <p:nvPr/>
        </p:nvSpPr>
        <p:spPr>
          <a:xfrm>
            <a:off x="1390429" y="2802035"/>
            <a:ext cx="1438800" cy="447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8" name="Google Shape;1328;p56"/>
          <p:cNvSpPr/>
          <p:nvPr/>
        </p:nvSpPr>
        <p:spPr>
          <a:xfrm>
            <a:off x="1388284" y="1793825"/>
            <a:ext cx="1438800" cy="447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29" name="Google Shape;1329;p56"/>
          <p:cNvCxnSpPr>
            <a:stCxn id="1327" idx="0"/>
          </p:cNvCxnSpPr>
          <p:nvPr/>
        </p:nvCxnSpPr>
        <p:spPr>
          <a:xfrm rot="10800000">
            <a:off x="2105629" y="2628035"/>
            <a:ext cx="4200" cy="174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56"/>
          <p:cNvCxnSpPr/>
          <p:nvPr/>
        </p:nvCxnSpPr>
        <p:spPr>
          <a:xfrm rot="10800000">
            <a:off x="2107747" y="2240642"/>
            <a:ext cx="4200" cy="174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31" name="Google Shape;1331;p56"/>
          <p:cNvSpPr txBox="1"/>
          <p:nvPr/>
        </p:nvSpPr>
        <p:spPr>
          <a:xfrm>
            <a:off x="1874207" y="2274039"/>
            <a:ext cx="471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…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32" name="Google Shape;1332;p56"/>
          <p:cNvSpPr txBox="1"/>
          <p:nvPr/>
        </p:nvSpPr>
        <p:spPr>
          <a:xfrm>
            <a:off x="1388284" y="3422864"/>
            <a:ext cx="1691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Encoder Block 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33" name="Google Shape;1333;p56"/>
          <p:cNvSpPr txBox="1"/>
          <p:nvPr/>
        </p:nvSpPr>
        <p:spPr>
          <a:xfrm>
            <a:off x="1388284" y="2837775"/>
            <a:ext cx="1691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Encoder Block 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34" name="Google Shape;1334;p56"/>
          <p:cNvSpPr txBox="1"/>
          <p:nvPr/>
        </p:nvSpPr>
        <p:spPr>
          <a:xfrm>
            <a:off x="1388284" y="1829565"/>
            <a:ext cx="1691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Encoder Block 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61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 </a:t>
            </a:r>
            <a:endParaRPr/>
          </a:p>
        </p:txBody>
      </p:sp>
      <p:pic>
        <p:nvPicPr>
          <p:cNvPr id="1368" name="Google Shape;136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9250" y="1060875"/>
            <a:ext cx="4138409" cy="390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9" name="Google Shape;1369;p61"/>
          <p:cNvSpPr/>
          <p:nvPr/>
        </p:nvSpPr>
        <p:spPr>
          <a:xfrm>
            <a:off x="5224875" y="1828450"/>
            <a:ext cx="141300" cy="22587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0" name="Google Shape;1370;p61"/>
          <p:cNvSpPr txBox="1"/>
          <p:nvPr/>
        </p:nvSpPr>
        <p:spPr>
          <a:xfrm>
            <a:off x="5433400" y="2650000"/>
            <a:ext cx="1049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Decoder block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371" name="Google Shape;1371;p61"/>
          <p:cNvSpPr/>
          <p:nvPr/>
        </p:nvSpPr>
        <p:spPr>
          <a:xfrm>
            <a:off x="1019250" y="2276175"/>
            <a:ext cx="141300" cy="12087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2" name="Google Shape;1372;p61"/>
          <p:cNvSpPr txBox="1"/>
          <p:nvPr/>
        </p:nvSpPr>
        <p:spPr>
          <a:xfrm>
            <a:off x="96125" y="2572725"/>
            <a:ext cx="855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Encoder Block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62"/>
          <p:cNvSpPr/>
          <p:nvPr/>
        </p:nvSpPr>
        <p:spPr>
          <a:xfrm>
            <a:off x="3601950" y="2793563"/>
            <a:ext cx="1049700" cy="195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8" name="Google Shape;1378;p62"/>
          <p:cNvSpPr/>
          <p:nvPr/>
        </p:nvSpPr>
        <p:spPr>
          <a:xfrm>
            <a:off x="1952400" y="3246463"/>
            <a:ext cx="1967400" cy="764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9" name="Google Shape;1379;p62"/>
          <p:cNvSpPr txBox="1"/>
          <p:nvPr/>
        </p:nvSpPr>
        <p:spPr>
          <a:xfrm>
            <a:off x="2403650" y="3321013"/>
            <a:ext cx="1049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Decoder block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380" name="Google Shape;1380;p62"/>
          <p:cNvSpPr/>
          <p:nvPr/>
        </p:nvSpPr>
        <p:spPr>
          <a:xfrm>
            <a:off x="2045624" y="408186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62"/>
          <p:cNvSpPr/>
          <p:nvPr/>
        </p:nvSpPr>
        <p:spPr>
          <a:xfrm>
            <a:off x="2041050" y="4506737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62"/>
          <p:cNvSpPr/>
          <p:nvPr/>
        </p:nvSpPr>
        <p:spPr>
          <a:xfrm>
            <a:off x="2614527" y="450673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62"/>
          <p:cNvSpPr/>
          <p:nvPr/>
        </p:nvSpPr>
        <p:spPr>
          <a:xfrm>
            <a:off x="3243327" y="450673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62"/>
          <p:cNvSpPr txBox="1"/>
          <p:nvPr/>
        </p:nvSpPr>
        <p:spPr>
          <a:xfrm>
            <a:off x="2041338" y="44072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385" name="Google Shape;1385;p62"/>
          <p:cNvSpPr txBox="1"/>
          <p:nvPr/>
        </p:nvSpPr>
        <p:spPr>
          <a:xfrm>
            <a:off x="2642488" y="44072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386" name="Google Shape;1386;p62"/>
          <p:cNvSpPr txBox="1"/>
          <p:nvPr/>
        </p:nvSpPr>
        <p:spPr>
          <a:xfrm>
            <a:off x="3257300" y="44072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1387" name="Google Shape;138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9900" y="4081859"/>
            <a:ext cx="2247601" cy="38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8" name="Google Shape;1388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2400" y="2091138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389" name="Google Shape;1389;p62"/>
          <p:cNvSpPr/>
          <p:nvPr/>
        </p:nvSpPr>
        <p:spPr>
          <a:xfrm>
            <a:off x="2088924" y="2074286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0" name="Google Shape;1390;p62"/>
          <p:cNvSpPr/>
          <p:nvPr/>
        </p:nvSpPr>
        <p:spPr>
          <a:xfrm>
            <a:off x="2084350" y="2499162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1" name="Google Shape;1391;p62"/>
          <p:cNvSpPr/>
          <p:nvPr/>
        </p:nvSpPr>
        <p:spPr>
          <a:xfrm>
            <a:off x="2657827" y="2499163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2" name="Google Shape;1392;p62"/>
          <p:cNvSpPr/>
          <p:nvPr/>
        </p:nvSpPr>
        <p:spPr>
          <a:xfrm>
            <a:off x="3286627" y="2499163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3" name="Google Shape;1393;p62"/>
          <p:cNvSpPr txBox="1"/>
          <p:nvPr/>
        </p:nvSpPr>
        <p:spPr>
          <a:xfrm>
            <a:off x="2084638" y="23996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394" name="Google Shape;1394;p62"/>
          <p:cNvSpPr txBox="1"/>
          <p:nvPr/>
        </p:nvSpPr>
        <p:spPr>
          <a:xfrm>
            <a:off x="2685788" y="23996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395" name="Google Shape;1395;p62"/>
          <p:cNvSpPr txBox="1"/>
          <p:nvPr/>
        </p:nvSpPr>
        <p:spPr>
          <a:xfrm>
            <a:off x="3300600" y="23996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396" name="Google Shape;1396;p62"/>
          <p:cNvSpPr/>
          <p:nvPr/>
        </p:nvSpPr>
        <p:spPr>
          <a:xfrm>
            <a:off x="4069475" y="4081750"/>
            <a:ext cx="347100" cy="41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7" name="Google Shape;1397;p62"/>
          <p:cNvSpPr txBox="1"/>
          <p:nvPr/>
        </p:nvSpPr>
        <p:spPr>
          <a:xfrm>
            <a:off x="3297150" y="4207700"/>
            <a:ext cx="1385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</p:txBody>
      </p:sp>
      <p:sp>
        <p:nvSpPr>
          <p:cNvPr id="1398" name="Google Shape;1398;p62"/>
          <p:cNvSpPr/>
          <p:nvPr/>
        </p:nvSpPr>
        <p:spPr>
          <a:xfrm>
            <a:off x="4040700" y="2682025"/>
            <a:ext cx="347100" cy="639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9" name="Google Shape;1399;p62"/>
          <p:cNvSpPr txBox="1"/>
          <p:nvPr/>
        </p:nvSpPr>
        <p:spPr>
          <a:xfrm>
            <a:off x="153650" y="2476875"/>
            <a:ext cx="13851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Выходы decoder block </a:t>
            </a:r>
            <a:endParaRPr sz="1300"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(обновленные эмбеддинги)</a:t>
            </a:r>
            <a:endParaRPr sz="1300"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0" name="Google Shape;1400;p62"/>
          <p:cNvSpPr txBox="1"/>
          <p:nvPr/>
        </p:nvSpPr>
        <p:spPr>
          <a:xfrm>
            <a:off x="153650" y="4321800"/>
            <a:ext cx="127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Decoder block inputs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63"/>
          <p:cNvSpPr/>
          <p:nvPr/>
        </p:nvSpPr>
        <p:spPr>
          <a:xfrm>
            <a:off x="3601950" y="2793563"/>
            <a:ext cx="1049700" cy="195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6" name="Google Shape;1406;p63"/>
          <p:cNvSpPr/>
          <p:nvPr/>
        </p:nvSpPr>
        <p:spPr>
          <a:xfrm>
            <a:off x="1952400" y="3246463"/>
            <a:ext cx="1967400" cy="764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7" name="Google Shape;1407;p63"/>
          <p:cNvSpPr txBox="1"/>
          <p:nvPr/>
        </p:nvSpPr>
        <p:spPr>
          <a:xfrm>
            <a:off x="2403650" y="3321013"/>
            <a:ext cx="1049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Decoder block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408" name="Google Shape;1408;p63"/>
          <p:cNvSpPr/>
          <p:nvPr/>
        </p:nvSpPr>
        <p:spPr>
          <a:xfrm>
            <a:off x="2045624" y="408186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9" name="Google Shape;1409;p63"/>
          <p:cNvSpPr/>
          <p:nvPr/>
        </p:nvSpPr>
        <p:spPr>
          <a:xfrm>
            <a:off x="2041050" y="4506737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0" name="Google Shape;1410;p63"/>
          <p:cNvSpPr/>
          <p:nvPr/>
        </p:nvSpPr>
        <p:spPr>
          <a:xfrm>
            <a:off x="2614527" y="450673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1" name="Google Shape;1411;p63"/>
          <p:cNvSpPr/>
          <p:nvPr/>
        </p:nvSpPr>
        <p:spPr>
          <a:xfrm>
            <a:off x="3243327" y="450673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2" name="Google Shape;1412;p63"/>
          <p:cNvSpPr txBox="1"/>
          <p:nvPr/>
        </p:nvSpPr>
        <p:spPr>
          <a:xfrm>
            <a:off x="2041338" y="44072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413" name="Google Shape;1413;p63"/>
          <p:cNvSpPr txBox="1"/>
          <p:nvPr/>
        </p:nvSpPr>
        <p:spPr>
          <a:xfrm>
            <a:off x="2642488" y="44072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414" name="Google Shape;1414;p63"/>
          <p:cNvSpPr txBox="1"/>
          <p:nvPr/>
        </p:nvSpPr>
        <p:spPr>
          <a:xfrm>
            <a:off x="3257300" y="44072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1415" name="Google Shape;1415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9900" y="4081859"/>
            <a:ext cx="2247601" cy="38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6" name="Google Shape;1416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2400" y="2091138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417" name="Google Shape;1417;p63"/>
          <p:cNvSpPr/>
          <p:nvPr/>
        </p:nvSpPr>
        <p:spPr>
          <a:xfrm>
            <a:off x="2088924" y="2074286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8" name="Google Shape;1418;p63"/>
          <p:cNvSpPr/>
          <p:nvPr/>
        </p:nvSpPr>
        <p:spPr>
          <a:xfrm>
            <a:off x="2084350" y="2499162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9" name="Google Shape;1419;p63"/>
          <p:cNvSpPr/>
          <p:nvPr/>
        </p:nvSpPr>
        <p:spPr>
          <a:xfrm>
            <a:off x="2657827" y="2499163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0" name="Google Shape;1420;p63"/>
          <p:cNvSpPr/>
          <p:nvPr/>
        </p:nvSpPr>
        <p:spPr>
          <a:xfrm>
            <a:off x="3286627" y="2499163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1" name="Google Shape;1421;p63"/>
          <p:cNvSpPr txBox="1"/>
          <p:nvPr/>
        </p:nvSpPr>
        <p:spPr>
          <a:xfrm>
            <a:off x="2084638" y="23996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422" name="Google Shape;1422;p63"/>
          <p:cNvSpPr txBox="1"/>
          <p:nvPr/>
        </p:nvSpPr>
        <p:spPr>
          <a:xfrm>
            <a:off x="2685788" y="23996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423" name="Google Shape;1423;p63"/>
          <p:cNvSpPr txBox="1"/>
          <p:nvPr/>
        </p:nvSpPr>
        <p:spPr>
          <a:xfrm>
            <a:off x="3300600" y="23996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1424" name="Google Shape;1424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2400" y="1359126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425" name="Google Shape;1425;p63"/>
          <p:cNvSpPr/>
          <p:nvPr/>
        </p:nvSpPr>
        <p:spPr>
          <a:xfrm>
            <a:off x="2088924" y="134227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6" name="Google Shape;1426;p63"/>
          <p:cNvSpPr/>
          <p:nvPr/>
        </p:nvSpPr>
        <p:spPr>
          <a:xfrm>
            <a:off x="2084350" y="17671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63"/>
          <p:cNvSpPr/>
          <p:nvPr/>
        </p:nvSpPr>
        <p:spPr>
          <a:xfrm>
            <a:off x="2657827" y="17671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8" name="Google Shape;1428;p63"/>
          <p:cNvSpPr/>
          <p:nvPr/>
        </p:nvSpPr>
        <p:spPr>
          <a:xfrm>
            <a:off x="3286627" y="17671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9" name="Google Shape;1429;p63"/>
          <p:cNvSpPr txBox="1"/>
          <p:nvPr/>
        </p:nvSpPr>
        <p:spPr>
          <a:xfrm>
            <a:off x="2084638" y="16676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430" name="Google Shape;1430;p63"/>
          <p:cNvSpPr txBox="1"/>
          <p:nvPr/>
        </p:nvSpPr>
        <p:spPr>
          <a:xfrm>
            <a:off x="2685788" y="16676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431" name="Google Shape;1431;p63"/>
          <p:cNvSpPr txBox="1"/>
          <p:nvPr/>
        </p:nvSpPr>
        <p:spPr>
          <a:xfrm>
            <a:off x="3300600" y="16676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1432" name="Google Shape;1432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3825" y="1343209"/>
            <a:ext cx="2247601" cy="38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3" name="Google Shape;1433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38813" y="836163"/>
            <a:ext cx="610406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4" name="Google Shape;1434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30889" y="836163"/>
            <a:ext cx="610406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5" name="Google Shape;1435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7782" y="836163"/>
            <a:ext cx="610406" cy="41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63"/>
          <p:cNvSpPr txBox="1"/>
          <p:nvPr/>
        </p:nvSpPr>
        <p:spPr>
          <a:xfrm>
            <a:off x="1932402" y="4814850"/>
            <a:ext cx="2098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&lt;BOS&gt;   Good   morning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p63"/>
          <p:cNvSpPr txBox="1"/>
          <p:nvPr/>
        </p:nvSpPr>
        <p:spPr>
          <a:xfrm>
            <a:off x="1988602" y="97050"/>
            <a:ext cx="1967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Good   morning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&lt;EOS&gt;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63"/>
          <p:cNvSpPr/>
          <p:nvPr/>
        </p:nvSpPr>
        <p:spPr>
          <a:xfrm>
            <a:off x="4069475" y="308750"/>
            <a:ext cx="347100" cy="286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9" name="Google Shape;1439;p63"/>
          <p:cNvSpPr/>
          <p:nvPr/>
        </p:nvSpPr>
        <p:spPr>
          <a:xfrm>
            <a:off x="4069475" y="4081750"/>
            <a:ext cx="347100" cy="41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0" name="Google Shape;1440;p63"/>
          <p:cNvSpPr txBox="1"/>
          <p:nvPr/>
        </p:nvSpPr>
        <p:spPr>
          <a:xfrm>
            <a:off x="3297150" y="4207700"/>
            <a:ext cx="1385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</p:txBody>
      </p:sp>
      <p:sp>
        <p:nvSpPr>
          <p:cNvPr id="1441" name="Google Shape;1441;p63"/>
          <p:cNvSpPr txBox="1"/>
          <p:nvPr/>
        </p:nvSpPr>
        <p:spPr>
          <a:xfrm>
            <a:off x="161200" y="4833400"/>
            <a:ext cx="1385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Target input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2" name="Google Shape;1442;p63"/>
          <p:cNvSpPr txBox="1"/>
          <p:nvPr/>
        </p:nvSpPr>
        <p:spPr>
          <a:xfrm>
            <a:off x="151300" y="4044850"/>
            <a:ext cx="1895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Target token</a:t>
            </a:r>
            <a:endParaRPr>
              <a:solidFill>
                <a:srgbClr val="B7B7B7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Embeddings with positional encodings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3" name="Google Shape;1443;p63"/>
          <p:cNvSpPr txBox="1"/>
          <p:nvPr/>
        </p:nvSpPr>
        <p:spPr>
          <a:xfrm>
            <a:off x="218050" y="2418275"/>
            <a:ext cx="127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Decoder outputs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4" name="Google Shape;1444;p63"/>
          <p:cNvSpPr txBox="1"/>
          <p:nvPr/>
        </p:nvSpPr>
        <p:spPr>
          <a:xfrm>
            <a:off x="203200" y="1740050"/>
            <a:ext cx="1729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FC layer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5" name="Google Shape;1445;p63"/>
          <p:cNvSpPr txBox="1"/>
          <p:nvPr/>
        </p:nvSpPr>
        <p:spPr>
          <a:xfrm>
            <a:off x="218050" y="951500"/>
            <a:ext cx="1793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Softmax 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6" name="Google Shape;1446;p63"/>
          <p:cNvSpPr txBox="1"/>
          <p:nvPr/>
        </p:nvSpPr>
        <p:spPr>
          <a:xfrm>
            <a:off x="203200" y="162950"/>
            <a:ext cx="1843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Ground truth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7" name="Google Shape;1447;p63"/>
          <p:cNvCxnSpPr/>
          <p:nvPr/>
        </p:nvCxnSpPr>
        <p:spPr>
          <a:xfrm>
            <a:off x="2321475" y="445775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448" name="Google Shape;1448;p63"/>
          <p:cNvCxnSpPr/>
          <p:nvPr/>
        </p:nvCxnSpPr>
        <p:spPr>
          <a:xfrm>
            <a:off x="2900825" y="445550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449" name="Google Shape;1449;p63"/>
          <p:cNvCxnSpPr/>
          <p:nvPr/>
        </p:nvCxnSpPr>
        <p:spPr>
          <a:xfrm>
            <a:off x="3529625" y="445550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450" name="Google Shape;1450;p63"/>
          <p:cNvSpPr txBox="1"/>
          <p:nvPr/>
        </p:nvSpPr>
        <p:spPr>
          <a:xfrm>
            <a:off x="203200" y="525275"/>
            <a:ext cx="1967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CE loss 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1" name="Google Shape;1451;p63"/>
          <p:cNvSpPr txBox="1"/>
          <p:nvPr/>
        </p:nvSpPr>
        <p:spPr>
          <a:xfrm>
            <a:off x="4293225" y="308750"/>
            <a:ext cx="33735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Во время обучения мы можем подать на вход декодеру сразу все токены target предложения 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i="1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64"/>
          <p:cNvSpPr/>
          <p:nvPr/>
        </p:nvSpPr>
        <p:spPr>
          <a:xfrm>
            <a:off x="3601950" y="2793563"/>
            <a:ext cx="1049700" cy="195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7" name="Google Shape;1457;p64"/>
          <p:cNvSpPr/>
          <p:nvPr/>
        </p:nvSpPr>
        <p:spPr>
          <a:xfrm>
            <a:off x="1952400" y="3246463"/>
            <a:ext cx="1967400" cy="764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8" name="Google Shape;1458;p64"/>
          <p:cNvSpPr txBox="1"/>
          <p:nvPr/>
        </p:nvSpPr>
        <p:spPr>
          <a:xfrm>
            <a:off x="2403650" y="3321013"/>
            <a:ext cx="1049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Decoder block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459" name="Google Shape;1459;p64"/>
          <p:cNvSpPr/>
          <p:nvPr/>
        </p:nvSpPr>
        <p:spPr>
          <a:xfrm>
            <a:off x="2045624" y="408186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0" name="Google Shape;1460;p64"/>
          <p:cNvSpPr/>
          <p:nvPr/>
        </p:nvSpPr>
        <p:spPr>
          <a:xfrm>
            <a:off x="2041050" y="4506737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1" name="Google Shape;1461;p64"/>
          <p:cNvSpPr/>
          <p:nvPr/>
        </p:nvSpPr>
        <p:spPr>
          <a:xfrm>
            <a:off x="2614527" y="450673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2" name="Google Shape;1462;p64"/>
          <p:cNvSpPr/>
          <p:nvPr/>
        </p:nvSpPr>
        <p:spPr>
          <a:xfrm>
            <a:off x="3243327" y="450673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3" name="Google Shape;1463;p64"/>
          <p:cNvSpPr txBox="1"/>
          <p:nvPr/>
        </p:nvSpPr>
        <p:spPr>
          <a:xfrm>
            <a:off x="2041338" y="44072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464" name="Google Shape;1464;p64"/>
          <p:cNvSpPr txBox="1"/>
          <p:nvPr/>
        </p:nvSpPr>
        <p:spPr>
          <a:xfrm>
            <a:off x="2642488" y="44072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465" name="Google Shape;1465;p64"/>
          <p:cNvSpPr txBox="1"/>
          <p:nvPr/>
        </p:nvSpPr>
        <p:spPr>
          <a:xfrm>
            <a:off x="3257300" y="44072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1466" name="Google Shape;1466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9900" y="4081859"/>
            <a:ext cx="2247601" cy="38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7" name="Google Shape;1467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2400" y="2091138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64"/>
          <p:cNvSpPr/>
          <p:nvPr/>
        </p:nvSpPr>
        <p:spPr>
          <a:xfrm>
            <a:off x="2088924" y="2074286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9" name="Google Shape;1469;p64"/>
          <p:cNvSpPr/>
          <p:nvPr/>
        </p:nvSpPr>
        <p:spPr>
          <a:xfrm>
            <a:off x="2084350" y="2499162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0" name="Google Shape;1470;p64"/>
          <p:cNvSpPr/>
          <p:nvPr/>
        </p:nvSpPr>
        <p:spPr>
          <a:xfrm>
            <a:off x="2657827" y="2499163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1" name="Google Shape;1471;p64"/>
          <p:cNvSpPr/>
          <p:nvPr/>
        </p:nvSpPr>
        <p:spPr>
          <a:xfrm>
            <a:off x="3286627" y="2499163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2" name="Google Shape;1472;p64"/>
          <p:cNvSpPr txBox="1"/>
          <p:nvPr/>
        </p:nvSpPr>
        <p:spPr>
          <a:xfrm>
            <a:off x="2084638" y="23996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473" name="Google Shape;1473;p64"/>
          <p:cNvSpPr txBox="1"/>
          <p:nvPr/>
        </p:nvSpPr>
        <p:spPr>
          <a:xfrm>
            <a:off x="2685788" y="23996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474" name="Google Shape;1474;p64"/>
          <p:cNvSpPr txBox="1"/>
          <p:nvPr/>
        </p:nvSpPr>
        <p:spPr>
          <a:xfrm>
            <a:off x="3300600" y="23996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1475" name="Google Shape;1475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2400" y="1359126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476" name="Google Shape;1476;p64"/>
          <p:cNvSpPr/>
          <p:nvPr/>
        </p:nvSpPr>
        <p:spPr>
          <a:xfrm>
            <a:off x="2088924" y="134227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7" name="Google Shape;1477;p64"/>
          <p:cNvSpPr/>
          <p:nvPr/>
        </p:nvSpPr>
        <p:spPr>
          <a:xfrm>
            <a:off x="2084350" y="17671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8" name="Google Shape;1478;p64"/>
          <p:cNvSpPr/>
          <p:nvPr/>
        </p:nvSpPr>
        <p:spPr>
          <a:xfrm>
            <a:off x="2657827" y="17671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9" name="Google Shape;1479;p64"/>
          <p:cNvSpPr/>
          <p:nvPr/>
        </p:nvSpPr>
        <p:spPr>
          <a:xfrm>
            <a:off x="3286627" y="17671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0" name="Google Shape;1480;p64"/>
          <p:cNvSpPr txBox="1"/>
          <p:nvPr/>
        </p:nvSpPr>
        <p:spPr>
          <a:xfrm>
            <a:off x="2084638" y="16676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481" name="Google Shape;1481;p64"/>
          <p:cNvSpPr txBox="1"/>
          <p:nvPr/>
        </p:nvSpPr>
        <p:spPr>
          <a:xfrm>
            <a:off x="2685788" y="16676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482" name="Google Shape;1482;p64"/>
          <p:cNvSpPr txBox="1"/>
          <p:nvPr/>
        </p:nvSpPr>
        <p:spPr>
          <a:xfrm>
            <a:off x="3300600" y="16676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1483" name="Google Shape;1483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3825" y="1343209"/>
            <a:ext cx="2247601" cy="38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4" name="Google Shape;1484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38813" y="836163"/>
            <a:ext cx="610406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5" name="Google Shape;1485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30889" y="836163"/>
            <a:ext cx="610406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6" name="Google Shape;1486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7782" y="836163"/>
            <a:ext cx="610406" cy="41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7" name="Google Shape;1487;p64"/>
          <p:cNvSpPr txBox="1"/>
          <p:nvPr/>
        </p:nvSpPr>
        <p:spPr>
          <a:xfrm>
            <a:off x="1932402" y="4814850"/>
            <a:ext cx="2098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&lt;BOS&gt;   Good   morning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8" name="Google Shape;1488;p64"/>
          <p:cNvSpPr txBox="1"/>
          <p:nvPr/>
        </p:nvSpPr>
        <p:spPr>
          <a:xfrm>
            <a:off x="1988602" y="97050"/>
            <a:ext cx="1967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Good   morning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&lt;EOS&gt;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9" name="Google Shape;1489;p64"/>
          <p:cNvSpPr/>
          <p:nvPr/>
        </p:nvSpPr>
        <p:spPr>
          <a:xfrm>
            <a:off x="4069475" y="308750"/>
            <a:ext cx="347100" cy="286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0" name="Google Shape;1490;p64"/>
          <p:cNvSpPr/>
          <p:nvPr/>
        </p:nvSpPr>
        <p:spPr>
          <a:xfrm>
            <a:off x="4069475" y="4081750"/>
            <a:ext cx="347100" cy="41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1" name="Google Shape;1491;p64"/>
          <p:cNvSpPr txBox="1"/>
          <p:nvPr/>
        </p:nvSpPr>
        <p:spPr>
          <a:xfrm>
            <a:off x="3297150" y="4207700"/>
            <a:ext cx="1385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</p:txBody>
      </p:sp>
      <p:sp>
        <p:nvSpPr>
          <p:cNvPr id="1492" name="Google Shape;1492;p64"/>
          <p:cNvSpPr txBox="1"/>
          <p:nvPr/>
        </p:nvSpPr>
        <p:spPr>
          <a:xfrm>
            <a:off x="161200" y="4833400"/>
            <a:ext cx="1385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Target input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3" name="Google Shape;1493;p64"/>
          <p:cNvSpPr txBox="1"/>
          <p:nvPr/>
        </p:nvSpPr>
        <p:spPr>
          <a:xfrm>
            <a:off x="151300" y="4044850"/>
            <a:ext cx="1895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Target token</a:t>
            </a:r>
            <a:endParaRPr>
              <a:solidFill>
                <a:srgbClr val="B7B7B7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Embeddings with positional encodings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4" name="Google Shape;1494;p64"/>
          <p:cNvSpPr txBox="1"/>
          <p:nvPr/>
        </p:nvSpPr>
        <p:spPr>
          <a:xfrm>
            <a:off x="218050" y="2418275"/>
            <a:ext cx="127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Decoder outputs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5" name="Google Shape;1495;p64"/>
          <p:cNvSpPr txBox="1"/>
          <p:nvPr/>
        </p:nvSpPr>
        <p:spPr>
          <a:xfrm>
            <a:off x="203200" y="1740050"/>
            <a:ext cx="1729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FC layer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6" name="Google Shape;1496;p64"/>
          <p:cNvSpPr txBox="1"/>
          <p:nvPr/>
        </p:nvSpPr>
        <p:spPr>
          <a:xfrm>
            <a:off x="218050" y="951500"/>
            <a:ext cx="1793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Softmax 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7" name="Google Shape;1497;p64"/>
          <p:cNvSpPr txBox="1"/>
          <p:nvPr/>
        </p:nvSpPr>
        <p:spPr>
          <a:xfrm>
            <a:off x="203200" y="162950"/>
            <a:ext cx="1843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Ground truth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8" name="Google Shape;1498;p64"/>
          <p:cNvCxnSpPr/>
          <p:nvPr/>
        </p:nvCxnSpPr>
        <p:spPr>
          <a:xfrm>
            <a:off x="2321475" y="445775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499" name="Google Shape;1499;p64"/>
          <p:cNvCxnSpPr/>
          <p:nvPr/>
        </p:nvCxnSpPr>
        <p:spPr>
          <a:xfrm>
            <a:off x="2900825" y="445550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00" name="Google Shape;1500;p64"/>
          <p:cNvCxnSpPr/>
          <p:nvPr/>
        </p:nvCxnSpPr>
        <p:spPr>
          <a:xfrm>
            <a:off x="3529625" y="445550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01" name="Google Shape;1501;p64"/>
          <p:cNvSpPr txBox="1"/>
          <p:nvPr/>
        </p:nvSpPr>
        <p:spPr>
          <a:xfrm>
            <a:off x="203200" y="525275"/>
            <a:ext cx="1967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CE loss 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2" name="Google Shape;1502;p64"/>
          <p:cNvSpPr txBox="1"/>
          <p:nvPr/>
        </p:nvSpPr>
        <p:spPr>
          <a:xfrm>
            <a:off x="4293225" y="308750"/>
            <a:ext cx="3373500" cy="21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Во время обучения мы можем подать на вход декодеру сразу все токены target предложения 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Во время инференса decoder генерирует выходную последовательности </a:t>
            </a:r>
            <a:r>
              <a:rPr lang="en" sz="1600" b="1" i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авторерессивно</a:t>
            </a:r>
            <a:endParaRPr sz="1600" b="1" i="1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p65"/>
          <p:cNvSpPr/>
          <p:nvPr/>
        </p:nvSpPr>
        <p:spPr>
          <a:xfrm>
            <a:off x="699350" y="2917088"/>
            <a:ext cx="1049700" cy="195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8" name="Google Shape;1508;p65"/>
          <p:cNvSpPr/>
          <p:nvPr/>
        </p:nvSpPr>
        <p:spPr>
          <a:xfrm>
            <a:off x="778775" y="3005263"/>
            <a:ext cx="1049700" cy="195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9" name="Google Shape;1509;p65"/>
          <p:cNvSpPr/>
          <p:nvPr/>
        </p:nvSpPr>
        <p:spPr>
          <a:xfrm>
            <a:off x="1968900" y="3312363"/>
            <a:ext cx="1967400" cy="764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0" name="Google Shape;1510;p65"/>
          <p:cNvSpPr txBox="1"/>
          <p:nvPr/>
        </p:nvSpPr>
        <p:spPr>
          <a:xfrm>
            <a:off x="2420150" y="3386913"/>
            <a:ext cx="1049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Decoder block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11" name="Google Shape;1511;p65"/>
          <p:cNvSpPr/>
          <p:nvPr/>
        </p:nvSpPr>
        <p:spPr>
          <a:xfrm>
            <a:off x="2062124" y="414776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2" name="Google Shape;1512;p65"/>
          <p:cNvSpPr/>
          <p:nvPr/>
        </p:nvSpPr>
        <p:spPr>
          <a:xfrm>
            <a:off x="2057550" y="4572637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3" name="Google Shape;1513;p65"/>
          <p:cNvSpPr txBox="1"/>
          <p:nvPr/>
        </p:nvSpPr>
        <p:spPr>
          <a:xfrm>
            <a:off x="2057838" y="44731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1514" name="Google Shape;1514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6400" y="4147759"/>
            <a:ext cx="2247601" cy="38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5" name="Google Shape;1515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8900" y="2157038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516" name="Google Shape;1516;p65"/>
          <p:cNvSpPr/>
          <p:nvPr/>
        </p:nvSpPr>
        <p:spPr>
          <a:xfrm>
            <a:off x="2105424" y="2140186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7" name="Google Shape;1517;p65"/>
          <p:cNvSpPr/>
          <p:nvPr/>
        </p:nvSpPr>
        <p:spPr>
          <a:xfrm>
            <a:off x="2100850" y="2565062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8" name="Google Shape;1518;p65"/>
          <p:cNvSpPr txBox="1"/>
          <p:nvPr/>
        </p:nvSpPr>
        <p:spPr>
          <a:xfrm>
            <a:off x="2101138" y="24655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1519" name="Google Shape;1519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8900" y="1425026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520" name="Google Shape;1520;p65"/>
          <p:cNvSpPr/>
          <p:nvPr/>
        </p:nvSpPr>
        <p:spPr>
          <a:xfrm>
            <a:off x="2105424" y="140817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1" name="Google Shape;1521;p65"/>
          <p:cNvSpPr/>
          <p:nvPr/>
        </p:nvSpPr>
        <p:spPr>
          <a:xfrm>
            <a:off x="2100850" y="18330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2" name="Google Shape;1522;p65"/>
          <p:cNvSpPr txBox="1"/>
          <p:nvPr/>
        </p:nvSpPr>
        <p:spPr>
          <a:xfrm>
            <a:off x="2101138" y="17335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1523" name="Google Shape;152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0325" y="1409109"/>
            <a:ext cx="2247601" cy="38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4" name="Google Shape;1524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55313" y="902063"/>
            <a:ext cx="610406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5" name="Google Shape;1525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0325" y="512034"/>
            <a:ext cx="2247601" cy="385280"/>
          </a:xfrm>
          <a:prstGeom prst="rect">
            <a:avLst/>
          </a:prstGeom>
          <a:noFill/>
          <a:ln>
            <a:noFill/>
          </a:ln>
        </p:spPr>
      </p:pic>
      <p:sp>
        <p:nvSpPr>
          <p:cNvPr id="1526" name="Google Shape;1526;p65"/>
          <p:cNvSpPr txBox="1"/>
          <p:nvPr/>
        </p:nvSpPr>
        <p:spPr>
          <a:xfrm>
            <a:off x="1948906" y="4880745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&lt;BOS&gt;     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7" name="Google Shape;1527;p65"/>
          <p:cNvSpPr txBox="1"/>
          <p:nvPr/>
        </p:nvSpPr>
        <p:spPr>
          <a:xfrm>
            <a:off x="2005106" y="162945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Good  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8" name="Google Shape;1528;p65"/>
          <p:cNvSpPr/>
          <p:nvPr/>
        </p:nvSpPr>
        <p:spPr>
          <a:xfrm>
            <a:off x="4085975" y="374650"/>
            <a:ext cx="347100" cy="286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9" name="Google Shape;1529;p65"/>
          <p:cNvSpPr/>
          <p:nvPr/>
        </p:nvSpPr>
        <p:spPr>
          <a:xfrm>
            <a:off x="2703875" y="4147650"/>
            <a:ext cx="1729200" cy="41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0" name="Google Shape;1530;p65"/>
          <p:cNvSpPr txBox="1"/>
          <p:nvPr/>
        </p:nvSpPr>
        <p:spPr>
          <a:xfrm>
            <a:off x="473975" y="4419400"/>
            <a:ext cx="1385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</p:txBody>
      </p:sp>
      <p:sp>
        <p:nvSpPr>
          <p:cNvPr id="1531" name="Google Shape;1531;p65"/>
          <p:cNvSpPr txBox="1"/>
          <p:nvPr/>
        </p:nvSpPr>
        <p:spPr>
          <a:xfrm>
            <a:off x="394550" y="4331225"/>
            <a:ext cx="1385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</p:txBody>
      </p:sp>
      <p:sp>
        <p:nvSpPr>
          <p:cNvPr id="1532" name="Google Shape;1532;p65"/>
          <p:cNvSpPr txBox="1"/>
          <p:nvPr/>
        </p:nvSpPr>
        <p:spPr>
          <a:xfrm>
            <a:off x="161200" y="4833400"/>
            <a:ext cx="1385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Target input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3" name="Google Shape;1533;p65"/>
          <p:cNvSpPr txBox="1"/>
          <p:nvPr/>
        </p:nvSpPr>
        <p:spPr>
          <a:xfrm>
            <a:off x="151300" y="4044850"/>
            <a:ext cx="1895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Target token</a:t>
            </a:r>
            <a:endParaRPr>
              <a:solidFill>
                <a:srgbClr val="B7B7B7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Embeddings with positional encodings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4" name="Google Shape;1534;p65"/>
          <p:cNvSpPr txBox="1"/>
          <p:nvPr/>
        </p:nvSpPr>
        <p:spPr>
          <a:xfrm>
            <a:off x="218050" y="2418275"/>
            <a:ext cx="127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Decoder outputs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5" name="Google Shape;1535;p65"/>
          <p:cNvSpPr txBox="1"/>
          <p:nvPr/>
        </p:nvSpPr>
        <p:spPr>
          <a:xfrm>
            <a:off x="203200" y="1740050"/>
            <a:ext cx="1729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FC layer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6" name="Google Shape;1536;p65"/>
          <p:cNvSpPr txBox="1"/>
          <p:nvPr/>
        </p:nvSpPr>
        <p:spPr>
          <a:xfrm>
            <a:off x="218050" y="951500"/>
            <a:ext cx="1793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Softmax 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p65"/>
          <p:cNvSpPr txBox="1"/>
          <p:nvPr/>
        </p:nvSpPr>
        <p:spPr>
          <a:xfrm>
            <a:off x="203200" y="162950"/>
            <a:ext cx="1843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Ground truth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65"/>
          <p:cNvSpPr txBox="1"/>
          <p:nvPr/>
        </p:nvSpPr>
        <p:spPr>
          <a:xfrm>
            <a:off x="203200" y="525275"/>
            <a:ext cx="1967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CE loss 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9" name="Google Shape;1539;p65"/>
          <p:cNvSpPr/>
          <p:nvPr/>
        </p:nvSpPr>
        <p:spPr>
          <a:xfrm>
            <a:off x="2750400" y="238200"/>
            <a:ext cx="1729200" cy="300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0" name="Google Shape;1540;p65"/>
          <p:cNvSpPr txBox="1"/>
          <p:nvPr/>
        </p:nvSpPr>
        <p:spPr>
          <a:xfrm>
            <a:off x="4564275" y="1309100"/>
            <a:ext cx="30000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Во время инференса decoder генерирует выходную последовательности </a:t>
            </a:r>
            <a:r>
              <a:rPr lang="en" sz="1600" b="1" i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авторерессивно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p66"/>
          <p:cNvSpPr/>
          <p:nvPr/>
        </p:nvSpPr>
        <p:spPr>
          <a:xfrm>
            <a:off x="699350" y="2917088"/>
            <a:ext cx="1049700" cy="195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6" name="Google Shape;1546;p66"/>
          <p:cNvSpPr/>
          <p:nvPr/>
        </p:nvSpPr>
        <p:spPr>
          <a:xfrm>
            <a:off x="778775" y="3005263"/>
            <a:ext cx="1049700" cy="195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7" name="Google Shape;1547;p66"/>
          <p:cNvSpPr/>
          <p:nvPr/>
        </p:nvSpPr>
        <p:spPr>
          <a:xfrm>
            <a:off x="1968900" y="3312363"/>
            <a:ext cx="1967400" cy="764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8" name="Google Shape;1548;p66"/>
          <p:cNvSpPr txBox="1"/>
          <p:nvPr/>
        </p:nvSpPr>
        <p:spPr>
          <a:xfrm>
            <a:off x="2420150" y="3386913"/>
            <a:ext cx="1049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Decoder block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49" name="Google Shape;1549;p66"/>
          <p:cNvSpPr/>
          <p:nvPr/>
        </p:nvSpPr>
        <p:spPr>
          <a:xfrm>
            <a:off x="2062124" y="414776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0" name="Google Shape;1550;p66"/>
          <p:cNvSpPr/>
          <p:nvPr/>
        </p:nvSpPr>
        <p:spPr>
          <a:xfrm>
            <a:off x="2057550" y="4572637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1" name="Google Shape;1551;p66"/>
          <p:cNvSpPr/>
          <p:nvPr/>
        </p:nvSpPr>
        <p:spPr>
          <a:xfrm>
            <a:off x="2631027" y="457263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2" name="Google Shape;1552;p66"/>
          <p:cNvSpPr txBox="1"/>
          <p:nvPr/>
        </p:nvSpPr>
        <p:spPr>
          <a:xfrm>
            <a:off x="2057838" y="44731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553" name="Google Shape;1553;p66"/>
          <p:cNvSpPr txBox="1"/>
          <p:nvPr/>
        </p:nvSpPr>
        <p:spPr>
          <a:xfrm>
            <a:off x="2658988" y="44731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1554" name="Google Shape;1554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6400" y="4147759"/>
            <a:ext cx="2247601" cy="38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5" name="Google Shape;1555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8900" y="2157038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556" name="Google Shape;1556;p66"/>
          <p:cNvSpPr/>
          <p:nvPr/>
        </p:nvSpPr>
        <p:spPr>
          <a:xfrm>
            <a:off x="2105424" y="2140186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7" name="Google Shape;1557;p66"/>
          <p:cNvSpPr/>
          <p:nvPr/>
        </p:nvSpPr>
        <p:spPr>
          <a:xfrm>
            <a:off x="2100850" y="2565062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8" name="Google Shape;1558;p66"/>
          <p:cNvSpPr/>
          <p:nvPr/>
        </p:nvSpPr>
        <p:spPr>
          <a:xfrm>
            <a:off x="2674327" y="2565063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9" name="Google Shape;1559;p66"/>
          <p:cNvSpPr txBox="1"/>
          <p:nvPr/>
        </p:nvSpPr>
        <p:spPr>
          <a:xfrm>
            <a:off x="2101138" y="24655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560" name="Google Shape;1560;p66"/>
          <p:cNvSpPr txBox="1"/>
          <p:nvPr/>
        </p:nvSpPr>
        <p:spPr>
          <a:xfrm>
            <a:off x="2702288" y="24655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1561" name="Google Shape;1561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8900" y="1425026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562" name="Google Shape;1562;p66"/>
          <p:cNvSpPr/>
          <p:nvPr/>
        </p:nvSpPr>
        <p:spPr>
          <a:xfrm>
            <a:off x="2105424" y="140817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3" name="Google Shape;1563;p66"/>
          <p:cNvSpPr/>
          <p:nvPr/>
        </p:nvSpPr>
        <p:spPr>
          <a:xfrm>
            <a:off x="2100850" y="18330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4" name="Google Shape;1564;p66"/>
          <p:cNvSpPr/>
          <p:nvPr/>
        </p:nvSpPr>
        <p:spPr>
          <a:xfrm>
            <a:off x="2674327" y="18330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5" name="Google Shape;1565;p66"/>
          <p:cNvSpPr txBox="1"/>
          <p:nvPr/>
        </p:nvSpPr>
        <p:spPr>
          <a:xfrm>
            <a:off x="2101138" y="17335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566" name="Google Shape;1566;p66"/>
          <p:cNvSpPr txBox="1"/>
          <p:nvPr/>
        </p:nvSpPr>
        <p:spPr>
          <a:xfrm>
            <a:off x="2702288" y="17335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1567" name="Google Shape;156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0325" y="1409109"/>
            <a:ext cx="2247601" cy="38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8" name="Google Shape;1568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55313" y="902063"/>
            <a:ext cx="610406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9" name="Google Shape;1569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47389" y="902063"/>
            <a:ext cx="610406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0" name="Google Shape;1570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0325" y="512034"/>
            <a:ext cx="2247601" cy="385280"/>
          </a:xfrm>
          <a:prstGeom prst="rect">
            <a:avLst/>
          </a:prstGeom>
          <a:noFill/>
          <a:ln>
            <a:noFill/>
          </a:ln>
        </p:spPr>
      </p:pic>
      <p:sp>
        <p:nvSpPr>
          <p:cNvPr id="1571" name="Google Shape;1571;p66"/>
          <p:cNvSpPr txBox="1"/>
          <p:nvPr/>
        </p:nvSpPr>
        <p:spPr>
          <a:xfrm>
            <a:off x="1948906" y="4880745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&lt;BOS&gt;   Good  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2" name="Google Shape;1572;p66"/>
          <p:cNvSpPr txBox="1"/>
          <p:nvPr/>
        </p:nvSpPr>
        <p:spPr>
          <a:xfrm>
            <a:off x="2005106" y="162945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Good   morning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3" name="Google Shape;1573;p66"/>
          <p:cNvSpPr/>
          <p:nvPr/>
        </p:nvSpPr>
        <p:spPr>
          <a:xfrm>
            <a:off x="4085975" y="374650"/>
            <a:ext cx="347100" cy="286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4" name="Google Shape;1574;p66"/>
          <p:cNvSpPr/>
          <p:nvPr/>
        </p:nvSpPr>
        <p:spPr>
          <a:xfrm>
            <a:off x="3383375" y="4147650"/>
            <a:ext cx="1049700" cy="41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5" name="Google Shape;1575;p66"/>
          <p:cNvSpPr txBox="1"/>
          <p:nvPr/>
        </p:nvSpPr>
        <p:spPr>
          <a:xfrm>
            <a:off x="473975" y="4419400"/>
            <a:ext cx="1385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</p:txBody>
      </p:sp>
      <p:sp>
        <p:nvSpPr>
          <p:cNvPr id="1576" name="Google Shape;1576;p66"/>
          <p:cNvSpPr txBox="1"/>
          <p:nvPr/>
        </p:nvSpPr>
        <p:spPr>
          <a:xfrm>
            <a:off x="394550" y="4331225"/>
            <a:ext cx="1385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</p:txBody>
      </p:sp>
      <p:sp>
        <p:nvSpPr>
          <p:cNvPr id="1577" name="Google Shape;1577;p66"/>
          <p:cNvSpPr txBox="1"/>
          <p:nvPr/>
        </p:nvSpPr>
        <p:spPr>
          <a:xfrm>
            <a:off x="161200" y="4833400"/>
            <a:ext cx="1385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Target input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8" name="Google Shape;1578;p66"/>
          <p:cNvSpPr txBox="1"/>
          <p:nvPr/>
        </p:nvSpPr>
        <p:spPr>
          <a:xfrm>
            <a:off x="151300" y="4044850"/>
            <a:ext cx="1895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Target token</a:t>
            </a:r>
            <a:endParaRPr>
              <a:solidFill>
                <a:srgbClr val="B7B7B7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Embeddings with positional encodings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9" name="Google Shape;1579;p66"/>
          <p:cNvSpPr txBox="1"/>
          <p:nvPr/>
        </p:nvSpPr>
        <p:spPr>
          <a:xfrm>
            <a:off x="218050" y="2418275"/>
            <a:ext cx="127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Decoder outputs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0" name="Google Shape;1580;p66"/>
          <p:cNvSpPr txBox="1"/>
          <p:nvPr/>
        </p:nvSpPr>
        <p:spPr>
          <a:xfrm>
            <a:off x="203200" y="1740050"/>
            <a:ext cx="1729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FC layer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1" name="Google Shape;1581;p66"/>
          <p:cNvSpPr txBox="1"/>
          <p:nvPr/>
        </p:nvSpPr>
        <p:spPr>
          <a:xfrm>
            <a:off x="218050" y="951500"/>
            <a:ext cx="1793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Softmax 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2" name="Google Shape;1582;p66"/>
          <p:cNvSpPr txBox="1"/>
          <p:nvPr/>
        </p:nvSpPr>
        <p:spPr>
          <a:xfrm>
            <a:off x="203200" y="162950"/>
            <a:ext cx="1843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Ground truth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p66"/>
          <p:cNvSpPr txBox="1"/>
          <p:nvPr/>
        </p:nvSpPr>
        <p:spPr>
          <a:xfrm>
            <a:off x="203200" y="525275"/>
            <a:ext cx="1967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CE loss 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4" name="Google Shape;1584;p66"/>
          <p:cNvSpPr/>
          <p:nvPr/>
        </p:nvSpPr>
        <p:spPr>
          <a:xfrm>
            <a:off x="3429900" y="238200"/>
            <a:ext cx="1049700" cy="300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5" name="Google Shape;1585;p66"/>
          <p:cNvSpPr txBox="1"/>
          <p:nvPr/>
        </p:nvSpPr>
        <p:spPr>
          <a:xfrm>
            <a:off x="4564275" y="1309100"/>
            <a:ext cx="30000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Во время инференса decoder генерирует выходную последовательности </a:t>
            </a:r>
            <a:r>
              <a:rPr lang="en" sz="1600" b="1" i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авторерессивно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p67"/>
          <p:cNvSpPr/>
          <p:nvPr/>
        </p:nvSpPr>
        <p:spPr>
          <a:xfrm>
            <a:off x="699350" y="2917088"/>
            <a:ext cx="1049700" cy="195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1" name="Google Shape;1591;p67"/>
          <p:cNvSpPr/>
          <p:nvPr/>
        </p:nvSpPr>
        <p:spPr>
          <a:xfrm>
            <a:off x="778775" y="3005263"/>
            <a:ext cx="1049700" cy="195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2" name="Google Shape;1592;p67"/>
          <p:cNvSpPr/>
          <p:nvPr/>
        </p:nvSpPr>
        <p:spPr>
          <a:xfrm>
            <a:off x="1968900" y="3312363"/>
            <a:ext cx="1967400" cy="764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3" name="Google Shape;1593;p67"/>
          <p:cNvSpPr txBox="1"/>
          <p:nvPr/>
        </p:nvSpPr>
        <p:spPr>
          <a:xfrm>
            <a:off x="2420150" y="3386913"/>
            <a:ext cx="1049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Decoder block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94" name="Google Shape;1594;p67"/>
          <p:cNvSpPr/>
          <p:nvPr/>
        </p:nvSpPr>
        <p:spPr>
          <a:xfrm>
            <a:off x="2062124" y="414776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5" name="Google Shape;1595;p67"/>
          <p:cNvSpPr/>
          <p:nvPr/>
        </p:nvSpPr>
        <p:spPr>
          <a:xfrm>
            <a:off x="2057550" y="4572637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6" name="Google Shape;1596;p67"/>
          <p:cNvSpPr/>
          <p:nvPr/>
        </p:nvSpPr>
        <p:spPr>
          <a:xfrm>
            <a:off x="2631027" y="457263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7" name="Google Shape;1597;p67"/>
          <p:cNvSpPr/>
          <p:nvPr/>
        </p:nvSpPr>
        <p:spPr>
          <a:xfrm>
            <a:off x="3259827" y="457263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8" name="Google Shape;1598;p67"/>
          <p:cNvSpPr txBox="1"/>
          <p:nvPr/>
        </p:nvSpPr>
        <p:spPr>
          <a:xfrm>
            <a:off x="2057838" y="44731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599" name="Google Shape;1599;p67"/>
          <p:cNvSpPr txBox="1"/>
          <p:nvPr/>
        </p:nvSpPr>
        <p:spPr>
          <a:xfrm>
            <a:off x="2658988" y="44731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600" name="Google Shape;1600;p67"/>
          <p:cNvSpPr txBox="1"/>
          <p:nvPr/>
        </p:nvSpPr>
        <p:spPr>
          <a:xfrm>
            <a:off x="3273800" y="44731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1601" name="Google Shape;1601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6400" y="4147759"/>
            <a:ext cx="2247601" cy="38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2" name="Google Shape;1602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8900" y="2157038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603" name="Google Shape;1603;p67"/>
          <p:cNvSpPr/>
          <p:nvPr/>
        </p:nvSpPr>
        <p:spPr>
          <a:xfrm>
            <a:off x="2105424" y="2140186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4" name="Google Shape;1604;p67"/>
          <p:cNvSpPr/>
          <p:nvPr/>
        </p:nvSpPr>
        <p:spPr>
          <a:xfrm>
            <a:off x="2100850" y="2565062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5" name="Google Shape;1605;p67"/>
          <p:cNvSpPr/>
          <p:nvPr/>
        </p:nvSpPr>
        <p:spPr>
          <a:xfrm>
            <a:off x="2674327" y="2565063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6" name="Google Shape;1606;p67"/>
          <p:cNvSpPr/>
          <p:nvPr/>
        </p:nvSpPr>
        <p:spPr>
          <a:xfrm>
            <a:off x="3303127" y="2565063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7" name="Google Shape;1607;p67"/>
          <p:cNvSpPr txBox="1"/>
          <p:nvPr/>
        </p:nvSpPr>
        <p:spPr>
          <a:xfrm>
            <a:off x="2101138" y="24655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608" name="Google Shape;1608;p67"/>
          <p:cNvSpPr txBox="1"/>
          <p:nvPr/>
        </p:nvSpPr>
        <p:spPr>
          <a:xfrm>
            <a:off x="2702288" y="24655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609" name="Google Shape;1609;p67"/>
          <p:cNvSpPr txBox="1"/>
          <p:nvPr/>
        </p:nvSpPr>
        <p:spPr>
          <a:xfrm>
            <a:off x="3317100" y="24655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1610" name="Google Shape;1610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8900" y="1425026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611" name="Google Shape;1611;p67"/>
          <p:cNvSpPr/>
          <p:nvPr/>
        </p:nvSpPr>
        <p:spPr>
          <a:xfrm>
            <a:off x="2105424" y="140817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2" name="Google Shape;1612;p67"/>
          <p:cNvSpPr/>
          <p:nvPr/>
        </p:nvSpPr>
        <p:spPr>
          <a:xfrm>
            <a:off x="2100850" y="18330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3" name="Google Shape;1613;p67"/>
          <p:cNvSpPr/>
          <p:nvPr/>
        </p:nvSpPr>
        <p:spPr>
          <a:xfrm>
            <a:off x="2674327" y="18330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4" name="Google Shape;1614;p67"/>
          <p:cNvSpPr/>
          <p:nvPr/>
        </p:nvSpPr>
        <p:spPr>
          <a:xfrm>
            <a:off x="3303127" y="18330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5" name="Google Shape;1615;p67"/>
          <p:cNvSpPr txBox="1"/>
          <p:nvPr/>
        </p:nvSpPr>
        <p:spPr>
          <a:xfrm>
            <a:off x="2101138" y="17335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616" name="Google Shape;1616;p67"/>
          <p:cNvSpPr txBox="1"/>
          <p:nvPr/>
        </p:nvSpPr>
        <p:spPr>
          <a:xfrm>
            <a:off x="2702288" y="17335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617" name="Google Shape;1617;p67"/>
          <p:cNvSpPr txBox="1"/>
          <p:nvPr/>
        </p:nvSpPr>
        <p:spPr>
          <a:xfrm>
            <a:off x="3317100" y="17335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1618" name="Google Shape;161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0325" y="1409109"/>
            <a:ext cx="2247601" cy="38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9" name="Google Shape;1619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55313" y="902063"/>
            <a:ext cx="610406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0" name="Google Shape;1620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47389" y="902063"/>
            <a:ext cx="610406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1" name="Google Shape;1621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4282" y="902063"/>
            <a:ext cx="610406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2" name="Google Shape;1622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0325" y="512034"/>
            <a:ext cx="2247601" cy="385280"/>
          </a:xfrm>
          <a:prstGeom prst="rect">
            <a:avLst/>
          </a:prstGeom>
          <a:noFill/>
          <a:ln>
            <a:noFill/>
          </a:ln>
        </p:spPr>
      </p:pic>
      <p:sp>
        <p:nvSpPr>
          <p:cNvPr id="1623" name="Google Shape;1623;p67"/>
          <p:cNvSpPr txBox="1"/>
          <p:nvPr/>
        </p:nvSpPr>
        <p:spPr>
          <a:xfrm>
            <a:off x="1948906" y="4880745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&lt;BOS&gt;   Good   morning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p67"/>
          <p:cNvSpPr txBox="1"/>
          <p:nvPr/>
        </p:nvSpPr>
        <p:spPr>
          <a:xfrm>
            <a:off x="2005106" y="162945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Good   morning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&lt;EOS&gt;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5" name="Google Shape;1625;p67"/>
          <p:cNvSpPr/>
          <p:nvPr/>
        </p:nvSpPr>
        <p:spPr>
          <a:xfrm>
            <a:off x="4085975" y="374650"/>
            <a:ext cx="347100" cy="286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6" name="Google Shape;1626;p67"/>
          <p:cNvSpPr/>
          <p:nvPr/>
        </p:nvSpPr>
        <p:spPr>
          <a:xfrm>
            <a:off x="4085975" y="4147650"/>
            <a:ext cx="347100" cy="41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7" name="Google Shape;1627;p67"/>
          <p:cNvSpPr txBox="1"/>
          <p:nvPr/>
        </p:nvSpPr>
        <p:spPr>
          <a:xfrm>
            <a:off x="473975" y="4419400"/>
            <a:ext cx="1385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</p:txBody>
      </p:sp>
      <p:sp>
        <p:nvSpPr>
          <p:cNvPr id="1628" name="Google Shape;1628;p67"/>
          <p:cNvSpPr txBox="1"/>
          <p:nvPr/>
        </p:nvSpPr>
        <p:spPr>
          <a:xfrm>
            <a:off x="394550" y="4331225"/>
            <a:ext cx="1385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</p:txBody>
      </p:sp>
      <p:sp>
        <p:nvSpPr>
          <p:cNvPr id="1629" name="Google Shape;1629;p67"/>
          <p:cNvSpPr txBox="1"/>
          <p:nvPr/>
        </p:nvSpPr>
        <p:spPr>
          <a:xfrm>
            <a:off x="161200" y="4833400"/>
            <a:ext cx="1385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Target input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0" name="Google Shape;1630;p67"/>
          <p:cNvSpPr txBox="1"/>
          <p:nvPr/>
        </p:nvSpPr>
        <p:spPr>
          <a:xfrm>
            <a:off x="151300" y="4044850"/>
            <a:ext cx="1895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Target token</a:t>
            </a:r>
            <a:endParaRPr>
              <a:solidFill>
                <a:srgbClr val="B7B7B7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Embeddings with positional encodings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1" name="Google Shape;1631;p67"/>
          <p:cNvSpPr txBox="1"/>
          <p:nvPr/>
        </p:nvSpPr>
        <p:spPr>
          <a:xfrm>
            <a:off x="218050" y="2418275"/>
            <a:ext cx="127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Decoder outputs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2" name="Google Shape;1632;p67"/>
          <p:cNvSpPr txBox="1"/>
          <p:nvPr/>
        </p:nvSpPr>
        <p:spPr>
          <a:xfrm>
            <a:off x="203200" y="1740050"/>
            <a:ext cx="1729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FC layer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3" name="Google Shape;1633;p67"/>
          <p:cNvSpPr txBox="1"/>
          <p:nvPr/>
        </p:nvSpPr>
        <p:spPr>
          <a:xfrm>
            <a:off x="218050" y="951500"/>
            <a:ext cx="1793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Softmax 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4" name="Google Shape;1634;p67"/>
          <p:cNvSpPr txBox="1"/>
          <p:nvPr/>
        </p:nvSpPr>
        <p:spPr>
          <a:xfrm>
            <a:off x="203200" y="162950"/>
            <a:ext cx="1843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Ground truth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p67"/>
          <p:cNvSpPr txBox="1"/>
          <p:nvPr/>
        </p:nvSpPr>
        <p:spPr>
          <a:xfrm>
            <a:off x="203200" y="525275"/>
            <a:ext cx="1967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CE loss 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p67"/>
          <p:cNvSpPr txBox="1"/>
          <p:nvPr/>
        </p:nvSpPr>
        <p:spPr>
          <a:xfrm>
            <a:off x="4564275" y="1309100"/>
            <a:ext cx="30000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Во время инференса decoder генерирует выходную последовательности </a:t>
            </a:r>
            <a:r>
              <a:rPr lang="en" sz="1600" b="1" i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авторерессивно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p68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 </a:t>
            </a:r>
            <a:endParaRPr/>
          </a:p>
        </p:txBody>
      </p:sp>
      <p:pic>
        <p:nvPicPr>
          <p:cNvPr id="1642" name="Google Shape;1642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9250" y="1060875"/>
            <a:ext cx="4138409" cy="390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3" name="Google Shape;1643;p68"/>
          <p:cNvSpPr/>
          <p:nvPr/>
        </p:nvSpPr>
        <p:spPr>
          <a:xfrm>
            <a:off x="5224875" y="1828450"/>
            <a:ext cx="141300" cy="22587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4" name="Google Shape;1644;p68"/>
          <p:cNvSpPr txBox="1"/>
          <p:nvPr/>
        </p:nvSpPr>
        <p:spPr>
          <a:xfrm>
            <a:off x="5433400" y="2650000"/>
            <a:ext cx="1049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Decoder block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645" name="Google Shape;1645;p68"/>
          <p:cNvSpPr/>
          <p:nvPr/>
        </p:nvSpPr>
        <p:spPr>
          <a:xfrm>
            <a:off x="1019250" y="2276175"/>
            <a:ext cx="141300" cy="12087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6" name="Google Shape;1646;p68"/>
          <p:cNvSpPr txBox="1"/>
          <p:nvPr/>
        </p:nvSpPr>
        <p:spPr>
          <a:xfrm>
            <a:off x="96125" y="2572725"/>
            <a:ext cx="855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Encoder Block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69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Masked Self-Attention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2" name="Google Shape;1652;p69"/>
          <p:cNvSpPr txBox="1"/>
          <p:nvPr/>
        </p:nvSpPr>
        <p:spPr>
          <a:xfrm>
            <a:off x="1477544" y="4628607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&lt;BOS&gt;   Guten   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Morgen   &lt;EOS&gt;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3" name="Google Shape;1653;p69"/>
          <p:cNvSpPr txBox="1"/>
          <p:nvPr/>
        </p:nvSpPr>
        <p:spPr>
          <a:xfrm>
            <a:off x="212375" y="4437038"/>
            <a:ext cx="75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input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4" name="Google Shape;165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7537" y="3543938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655" name="Google Shape;1655;p69"/>
          <p:cNvSpPr txBox="1"/>
          <p:nvPr/>
        </p:nvSpPr>
        <p:spPr>
          <a:xfrm>
            <a:off x="132950" y="3723303"/>
            <a:ext cx="118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token</a:t>
            </a:r>
            <a:endParaRPr>
              <a:solidFill>
                <a:srgbClr val="B7B7B7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6" name="Google Shape;1656;p69"/>
          <p:cNvSpPr/>
          <p:nvPr/>
        </p:nvSpPr>
        <p:spPr>
          <a:xfrm>
            <a:off x="1634062" y="3527086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7" name="Google Shape;1657;p69"/>
          <p:cNvSpPr/>
          <p:nvPr/>
        </p:nvSpPr>
        <p:spPr>
          <a:xfrm>
            <a:off x="1629488" y="3951962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8" name="Google Shape;1658;p69"/>
          <p:cNvSpPr/>
          <p:nvPr/>
        </p:nvSpPr>
        <p:spPr>
          <a:xfrm>
            <a:off x="2202965" y="3951963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9" name="Google Shape;1659;p69"/>
          <p:cNvSpPr/>
          <p:nvPr/>
        </p:nvSpPr>
        <p:spPr>
          <a:xfrm>
            <a:off x="2831765" y="3951963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0" name="Google Shape;1660;p69"/>
          <p:cNvSpPr/>
          <p:nvPr/>
        </p:nvSpPr>
        <p:spPr>
          <a:xfrm>
            <a:off x="3460565" y="3951963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1" name="Google Shape;1661;p69"/>
          <p:cNvSpPr txBox="1"/>
          <p:nvPr/>
        </p:nvSpPr>
        <p:spPr>
          <a:xfrm>
            <a:off x="1629775" y="38524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662" name="Google Shape;1662;p69"/>
          <p:cNvSpPr txBox="1"/>
          <p:nvPr/>
        </p:nvSpPr>
        <p:spPr>
          <a:xfrm>
            <a:off x="2230925" y="38524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663" name="Google Shape;1663;p69"/>
          <p:cNvSpPr txBox="1"/>
          <p:nvPr/>
        </p:nvSpPr>
        <p:spPr>
          <a:xfrm>
            <a:off x="2845738" y="38524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664" name="Google Shape;1664;p69"/>
          <p:cNvSpPr txBox="1"/>
          <p:nvPr/>
        </p:nvSpPr>
        <p:spPr>
          <a:xfrm>
            <a:off x="3460525" y="38524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665" name="Google Shape;1665;p69"/>
          <p:cNvSpPr/>
          <p:nvPr/>
        </p:nvSpPr>
        <p:spPr>
          <a:xfrm>
            <a:off x="1634062" y="280386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6" name="Google Shape;1666;p69"/>
          <p:cNvSpPr/>
          <p:nvPr/>
        </p:nvSpPr>
        <p:spPr>
          <a:xfrm>
            <a:off x="1629488" y="3228737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7" name="Google Shape;1667;p69"/>
          <p:cNvSpPr/>
          <p:nvPr/>
        </p:nvSpPr>
        <p:spPr>
          <a:xfrm>
            <a:off x="2202965" y="3228738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8" name="Google Shape;1668;p69"/>
          <p:cNvSpPr/>
          <p:nvPr/>
        </p:nvSpPr>
        <p:spPr>
          <a:xfrm>
            <a:off x="2831765" y="3228738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9" name="Google Shape;1669;p69"/>
          <p:cNvSpPr/>
          <p:nvPr/>
        </p:nvSpPr>
        <p:spPr>
          <a:xfrm>
            <a:off x="3460565" y="3228738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0" name="Google Shape;1670;p69"/>
          <p:cNvSpPr txBox="1"/>
          <p:nvPr/>
        </p:nvSpPr>
        <p:spPr>
          <a:xfrm>
            <a:off x="1630100" y="31283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671" name="Google Shape;1671;p69"/>
          <p:cNvSpPr txBox="1"/>
          <p:nvPr/>
        </p:nvSpPr>
        <p:spPr>
          <a:xfrm>
            <a:off x="2230925" y="31292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672" name="Google Shape;1672;p69"/>
          <p:cNvSpPr txBox="1"/>
          <p:nvPr/>
        </p:nvSpPr>
        <p:spPr>
          <a:xfrm>
            <a:off x="2845738" y="31292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673" name="Google Shape;1673;p69"/>
          <p:cNvSpPr txBox="1"/>
          <p:nvPr/>
        </p:nvSpPr>
        <p:spPr>
          <a:xfrm>
            <a:off x="3460525" y="31292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674" name="Google Shape;1674;p69"/>
          <p:cNvSpPr txBox="1"/>
          <p:nvPr/>
        </p:nvSpPr>
        <p:spPr>
          <a:xfrm>
            <a:off x="72625" y="3108700"/>
            <a:ext cx="14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Self-attention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5" name="Google Shape;1675;p69"/>
          <p:cNvCxnSpPr>
            <a:stCxn id="1670" idx="2"/>
            <a:endCxn id="1661" idx="0"/>
          </p:cNvCxnSpPr>
          <p:nvPr/>
        </p:nvCxnSpPr>
        <p:spPr>
          <a:xfrm flipH="1">
            <a:off x="1872500" y="3543813"/>
            <a:ext cx="3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6" name="Google Shape;1676;p69"/>
          <p:cNvCxnSpPr>
            <a:stCxn id="1670" idx="2"/>
            <a:endCxn id="1662" idx="0"/>
          </p:cNvCxnSpPr>
          <p:nvPr/>
        </p:nvCxnSpPr>
        <p:spPr>
          <a:xfrm>
            <a:off x="1872800" y="3543813"/>
            <a:ext cx="6009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7" name="Google Shape;1677;p69"/>
          <p:cNvCxnSpPr>
            <a:stCxn id="1670" idx="2"/>
            <a:endCxn id="1663" idx="0"/>
          </p:cNvCxnSpPr>
          <p:nvPr/>
        </p:nvCxnSpPr>
        <p:spPr>
          <a:xfrm>
            <a:off x="1872800" y="3543813"/>
            <a:ext cx="12156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8" name="Google Shape;1678;p69"/>
          <p:cNvCxnSpPr>
            <a:stCxn id="1670" idx="2"/>
            <a:endCxn id="1664" idx="0"/>
          </p:cNvCxnSpPr>
          <p:nvPr/>
        </p:nvCxnSpPr>
        <p:spPr>
          <a:xfrm>
            <a:off x="1872800" y="3543813"/>
            <a:ext cx="18303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9" name="Google Shape;1679;p69"/>
          <p:cNvCxnSpPr>
            <a:stCxn id="1671" idx="2"/>
            <a:endCxn id="1661" idx="0"/>
          </p:cNvCxnSpPr>
          <p:nvPr/>
        </p:nvCxnSpPr>
        <p:spPr>
          <a:xfrm flipH="1">
            <a:off x="1872425" y="3544738"/>
            <a:ext cx="6012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0" name="Google Shape;1680;p69"/>
          <p:cNvCxnSpPr>
            <a:stCxn id="1671" idx="2"/>
            <a:endCxn id="1662" idx="0"/>
          </p:cNvCxnSpPr>
          <p:nvPr/>
        </p:nvCxnSpPr>
        <p:spPr>
          <a:xfrm>
            <a:off x="2473625" y="3544738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1" name="Google Shape;1681;p69"/>
          <p:cNvCxnSpPr>
            <a:stCxn id="1671" idx="2"/>
            <a:endCxn id="1663" idx="0"/>
          </p:cNvCxnSpPr>
          <p:nvPr/>
        </p:nvCxnSpPr>
        <p:spPr>
          <a:xfrm>
            <a:off x="2473625" y="3544738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2" name="Google Shape;1682;p69"/>
          <p:cNvCxnSpPr>
            <a:stCxn id="1671" idx="2"/>
            <a:endCxn id="1664" idx="0"/>
          </p:cNvCxnSpPr>
          <p:nvPr/>
        </p:nvCxnSpPr>
        <p:spPr>
          <a:xfrm>
            <a:off x="2473625" y="3544738"/>
            <a:ext cx="1229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3" name="Google Shape;1683;p69"/>
          <p:cNvCxnSpPr>
            <a:stCxn id="1672" idx="2"/>
            <a:endCxn id="1661" idx="0"/>
          </p:cNvCxnSpPr>
          <p:nvPr/>
        </p:nvCxnSpPr>
        <p:spPr>
          <a:xfrm flipH="1">
            <a:off x="1872538" y="3544738"/>
            <a:ext cx="12159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4" name="Google Shape;1684;p69"/>
          <p:cNvCxnSpPr>
            <a:stCxn id="1672" idx="2"/>
            <a:endCxn id="1662" idx="0"/>
          </p:cNvCxnSpPr>
          <p:nvPr/>
        </p:nvCxnSpPr>
        <p:spPr>
          <a:xfrm flipH="1">
            <a:off x="2473738" y="3544738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5" name="Google Shape;1685;p69"/>
          <p:cNvCxnSpPr>
            <a:stCxn id="1672" idx="2"/>
            <a:endCxn id="1663" idx="0"/>
          </p:cNvCxnSpPr>
          <p:nvPr/>
        </p:nvCxnSpPr>
        <p:spPr>
          <a:xfrm>
            <a:off x="3088438" y="3544738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6" name="Google Shape;1686;p69"/>
          <p:cNvCxnSpPr>
            <a:stCxn id="1672" idx="2"/>
            <a:endCxn id="1664" idx="0"/>
          </p:cNvCxnSpPr>
          <p:nvPr/>
        </p:nvCxnSpPr>
        <p:spPr>
          <a:xfrm>
            <a:off x="3088438" y="3544738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7" name="Google Shape;1687;p69"/>
          <p:cNvCxnSpPr>
            <a:stCxn id="1673" idx="2"/>
            <a:endCxn id="1661" idx="0"/>
          </p:cNvCxnSpPr>
          <p:nvPr/>
        </p:nvCxnSpPr>
        <p:spPr>
          <a:xfrm flipH="1">
            <a:off x="1872325" y="3544725"/>
            <a:ext cx="18309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8" name="Google Shape;1688;p69"/>
          <p:cNvCxnSpPr>
            <a:stCxn id="1673" idx="2"/>
            <a:endCxn id="1662" idx="0"/>
          </p:cNvCxnSpPr>
          <p:nvPr/>
        </p:nvCxnSpPr>
        <p:spPr>
          <a:xfrm flipH="1">
            <a:off x="2473525" y="3544725"/>
            <a:ext cx="1229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9" name="Google Shape;1689;p69"/>
          <p:cNvCxnSpPr>
            <a:stCxn id="1673" idx="2"/>
            <a:endCxn id="1663" idx="0"/>
          </p:cNvCxnSpPr>
          <p:nvPr/>
        </p:nvCxnSpPr>
        <p:spPr>
          <a:xfrm flipH="1">
            <a:off x="3088525" y="3544725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0" name="Google Shape;1690;p69"/>
          <p:cNvCxnSpPr>
            <a:stCxn id="1673" idx="2"/>
            <a:endCxn id="1664" idx="0"/>
          </p:cNvCxnSpPr>
          <p:nvPr/>
        </p:nvCxnSpPr>
        <p:spPr>
          <a:xfrm>
            <a:off x="3703225" y="3544725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91" name="Google Shape;1691;p69"/>
          <p:cNvSpPr txBox="1"/>
          <p:nvPr/>
        </p:nvSpPr>
        <p:spPr>
          <a:xfrm>
            <a:off x="399925" y="1376500"/>
            <a:ext cx="2770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Что было в Encoder блоке:</a:t>
            </a:r>
            <a:endParaRPr sz="16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692" name="Google Shape;1692;p69"/>
          <p:cNvSpPr txBox="1"/>
          <p:nvPr/>
        </p:nvSpPr>
        <p:spPr>
          <a:xfrm>
            <a:off x="2195150" y="1949938"/>
            <a:ext cx="1404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Encoder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p70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Masked Self-Attention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8" name="Google Shape;1698;p70"/>
          <p:cNvSpPr/>
          <p:nvPr/>
        </p:nvSpPr>
        <p:spPr>
          <a:xfrm>
            <a:off x="5540752" y="39485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9" name="Google Shape;1699;p70"/>
          <p:cNvSpPr txBox="1"/>
          <p:nvPr/>
        </p:nvSpPr>
        <p:spPr>
          <a:xfrm>
            <a:off x="5540713" y="38490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700" name="Google Shape;1700;p70"/>
          <p:cNvSpPr/>
          <p:nvPr/>
        </p:nvSpPr>
        <p:spPr>
          <a:xfrm>
            <a:off x="5540752" y="3225363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1" name="Google Shape;1701;p70"/>
          <p:cNvSpPr txBox="1"/>
          <p:nvPr/>
        </p:nvSpPr>
        <p:spPr>
          <a:xfrm>
            <a:off x="5540713" y="31258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702" name="Google Shape;1702;p70"/>
          <p:cNvSpPr/>
          <p:nvPr/>
        </p:nvSpPr>
        <p:spPr>
          <a:xfrm>
            <a:off x="5472200" y="3126688"/>
            <a:ext cx="714600" cy="1446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3" name="Google Shape;1703;p70"/>
          <p:cNvSpPr txBox="1"/>
          <p:nvPr/>
        </p:nvSpPr>
        <p:spPr>
          <a:xfrm>
            <a:off x="1248169" y="4632145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&lt;BOS&gt;   Guten   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Morgen   &lt;EOS&gt;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4" name="Google Shape;1704;p70"/>
          <p:cNvSpPr txBox="1"/>
          <p:nvPr/>
        </p:nvSpPr>
        <p:spPr>
          <a:xfrm>
            <a:off x="212375" y="4437038"/>
            <a:ext cx="75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input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5" name="Google Shape;1705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8162" y="3547476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706" name="Google Shape;1706;p70"/>
          <p:cNvSpPr txBox="1"/>
          <p:nvPr/>
        </p:nvSpPr>
        <p:spPr>
          <a:xfrm>
            <a:off x="132950" y="3723303"/>
            <a:ext cx="118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token</a:t>
            </a:r>
            <a:endParaRPr>
              <a:solidFill>
                <a:srgbClr val="B7B7B7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7" name="Google Shape;1707;p70"/>
          <p:cNvSpPr/>
          <p:nvPr/>
        </p:nvSpPr>
        <p:spPr>
          <a:xfrm>
            <a:off x="1404687" y="353062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8" name="Google Shape;1708;p70"/>
          <p:cNvSpPr/>
          <p:nvPr/>
        </p:nvSpPr>
        <p:spPr>
          <a:xfrm>
            <a:off x="1400113" y="395550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9" name="Google Shape;1709;p70"/>
          <p:cNvSpPr/>
          <p:nvPr/>
        </p:nvSpPr>
        <p:spPr>
          <a:xfrm>
            <a:off x="1973590" y="395550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0" name="Google Shape;1710;p70"/>
          <p:cNvSpPr/>
          <p:nvPr/>
        </p:nvSpPr>
        <p:spPr>
          <a:xfrm>
            <a:off x="2602390" y="395550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1" name="Google Shape;1711;p70"/>
          <p:cNvSpPr/>
          <p:nvPr/>
        </p:nvSpPr>
        <p:spPr>
          <a:xfrm>
            <a:off x="3231190" y="395550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2" name="Google Shape;1712;p70"/>
          <p:cNvSpPr txBox="1"/>
          <p:nvPr/>
        </p:nvSpPr>
        <p:spPr>
          <a:xfrm>
            <a:off x="1400400" y="385600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713" name="Google Shape;1713;p70"/>
          <p:cNvSpPr txBox="1"/>
          <p:nvPr/>
        </p:nvSpPr>
        <p:spPr>
          <a:xfrm>
            <a:off x="2001550" y="385600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714" name="Google Shape;1714;p70"/>
          <p:cNvSpPr txBox="1"/>
          <p:nvPr/>
        </p:nvSpPr>
        <p:spPr>
          <a:xfrm>
            <a:off x="2616363" y="385600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715" name="Google Shape;1715;p70"/>
          <p:cNvSpPr txBox="1"/>
          <p:nvPr/>
        </p:nvSpPr>
        <p:spPr>
          <a:xfrm>
            <a:off x="3231150" y="38559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716" name="Google Shape;1716;p70"/>
          <p:cNvSpPr/>
          <p:nvPr/>
        </p:nvSpPr>
        <p:spPr>
          <a:xfrm>
            <a:off x="1404687" y="2807399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7" name="Google Shape;1717;p70"/>
          <p:cNvSpPr/>
          <p:nvPr/>
        </p:nvSpPr>
        <p:spPr>
          <a:xfrm>
            <a:off x="1400113" y="323227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8" name="Google Shape;1718;p70"/>
          <p:cNvSpPr/>
          <p:nvPr/>
        </p:nvSpPr>
        <p:spPr>
          <a:xfrm>
            <a:off x="1973590" y="323227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9" name="Google Shape;1719;p70"/>
          <p:cNvSpPr/>
          <p:nvPr/>
        </p:nvSpPr>
        <p:spPr>
          <a:xfrm>
            <a:off x="2602390" y="323227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0" name="Google Shape;1720;p70"/>
          <p:cNvSpPr/>
          <p:nvPr/>
        </p:nvSpPr>
        <p:spPr>
          <a:xfrm>
            <a:off x="3231190" y="323227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1" name="Google Shape;1721;p70"/>
          <p:cNvSpPr txBox="1"/>
          <p:nvPr/>
        </p:nvSpPr>
        <p:spPr>
          <a:xfrm>
            <a:off x="1400725" y="31318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722" name="Google Shape;1722;p70"/>
          <p:cNvSpPr txBox="1"/>
          <p:nvPr/>
        </p:nvSpPr>
        <p:spPr>
          <a:xfrm>
            <a:off x="2001550" y="31327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723" name="Google Shape;1723;p70"/>
          <p:cNvSpPr txBox="1"/>
          <p:nvPr/>
        </p:nvSpPr>
        <p:spPr>
          <a:xfrm>
            <a:off x="2616363" y="31327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724" name="Google Shape;1724;p70"/>
          <p:cNvSpPr txBox="1"/>
          <p:nvPr/>
        </p:nvSpPr>
        <p:spPr>
          <a:xfrm>
            <a:off x="3231150" y="3132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725" name="Google Shape;1725;p70"/>
          <p:cNvSpPr txBox="1"/>
          <p:nvPr/>
        </p:nvSpPr>
        <p:spPr>
          <a:xfrm>
            <a:off x="72625" y="3108700"/>
            <a:ext cx="14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Self-attention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6" name="Google Shape;1726;p70"/>
          <p:cNvSpPr txBox="1"/>
          <p:nvPr/>
        </p:nvSpPr>
        <p:spPr>
          <a:xfrm>
            <a:off x="4227756" y="4639207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&lt;BOS&gt;   Good   morning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7" name="Google Shape;1727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7750" y="3554538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728" name="Google Shape;1728;p70"/>
          <p:cNvSpPr/>
          <p:nvPr/>
        </p:nvSpPr>
        <p:spPr>
          <a:xfrm>
            <a:off x="4384274" y="3537686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9" name="Google Shape;1729;p70"/>
          <p:cNvSpPr/>
          <p:nvPr/>
        </p:nvSpPr>
        <p:spPr>
          <a:xfrm>
            <a:off x="4379700" y="3962562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0" name="Google Shape;1730;p70"/>
          <p:cNvSpPr/>
          <p:nvPr/>
        </p:nvSpPr>
        <p:spPr>
          <a:xfrm>
            <a:off x="4953177" y="3962563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1" name="Google Shape;1731;p70"/>
          <p:cNvSpPr/>
          <p:nvPr/>
        </p:nvSpPr>
        <p:spPr>
          <a:xfrm>
            <a:off x="5581977" y="3962563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2" name="Google Shape;1732;p70"/>
          <p:cNvSpPr txBox="1"/>
          <p:nvPr/>
        </p:nvSpPr>
        <p:spPr>
          <a:xfrm>
            <a:off x="4379988" y="38630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733" name="Google Shape;1733;p70"/>
          <p:cNvSpPr txBox="1"/>
          <p:nvPr/>
        </p:nvSpPr>
        <p:spPr>
          <a:xfrm>
            <a:off x="4981138" y="38630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734" name="Google Shape;1734;p70"/>
          <p:cNvSpPr txBox="1"/>
          <p:nvPr/>
        </p:nvSpPr>
        <p:spPr>
          <a:xfrm>
            <a:off x="5595950" y="38630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735" name="Google Shape;1735;p70"/>
          <p:cNvSpPr/>
          <p:nvPr/>
        </p:nvSpPr>
        <p:spPr>
          <a:xfrm>
            <a:off x="4384274" y="281446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6" name="Google Shape;1736;p70"/>
          <p:cNvSpPr/>
          <p:nvPr/>
        </p:nvSpPr>
        <p:spPr>
          <a:xfrm>
            <a:off x="4379700" y="3239337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7" name="Google Shape;1737;p70"/>
          <p:cNvSpPr/>
          <p:nvPr/>
        </p:nvSpPr>
        <p:spPr>
          <a:xfrm>
            <a:off x="4953177" y="3239338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8" name="Google Shape;1738;p70"/>
          <p:cNvSpPr/>
          <p:nvPr/>
        </p:nvSpPr>
        <p:spPr>
          <a:xfrm>
            <a:off x="5581977" y="3239338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9" name="Google Shape;1739;p70"/>
          <p:cNvSpPr txBox="1"/>
          <p:nvPr/>
        </p:nvSpPr>
        <p:spPr>
          <a:xfrm>
            <a:off x="4380313" y="31389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740" name="Google Shape;1740;p70"/>
          <p:cNvSpPr txBox="1"/>
          <p:nvPr/>
        </p:nvSpPr>
        <p:spPr>
          <a:xfrm>
            <a:off x="4981138" y="31398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741" name="Google Shape;1741;p70"/>
          <p:cNvSpPr txBox="1"/>
          <p:nvPr/>
        </p:nvSpPr>
        <p:spPr>
          <a:xfrm>
            <a:off x="5595950" y="31398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cxnSp>
        <p:nvCxnSpPr>
          <p:cNvPr id="1742" name="Google Shape;1742;p70"/>
          <p:cNvCxnSpPr>
            <a:stCxn id="1739" idx="2"/>
            <a:endCxn id="1732" idx="0"/>
          </p:cNvCxnSpPr>
          <p:nvPr/>
        </p:nvCxnSpPr>
        <p:spPr>
          <a:xfrm flipH="1">
            <a:off x="4622713" y="3554413"/>
            <a:ext cx="3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43" name="Google Shape;1743;p70"/>
          <p:cNvCxnSpPr>
            <a:stCxn id="1739" idx="2"/>
            <a:endCxn id="1739" idx="2"/>
          </p:cNvCxnSpPr>
          <p:nvPr/>
        </p:nvCxnSpPr>
        <p:spPr>
          <a:xfrm>
            <a:off x="4623013" y="3554413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44" name="Google Shape;1744;p70"/>
          <p:cNvCxnSpPr>
            <a:stCxn id="1740" idx="2"/>
            <a:endCxn id="1732" idx="0"/>
          </p:cNvCxnSpPr>
          <p:nvPr/>
        </p:nvCxnSpPr>
        <p:spPr>
          <a:xfrm flipH="1">
            <a:off x="4622638" y="3555338"/>
            <a:ext cx="6012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45" name="Google Shape;1745;p70"/>
          <p:cNvCxnSpPr>
            <a:stCxn id="1740" idx="2"/>
            <a:endCxn id="1733" idx="0"/>
          </p:cNvCxnSpPr>
          <p:nvPr/>
        </p:nvCxnSpPr>
        <p:spPr>
          <a:xfrm>
            <a:off x="5223838" y="3555338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46" name="Google Shape;1746;p70"/>
          <p:cNvCxnSpPr>
            <a:stCxn id="1741" idx="2"/>
            <a:endCxn id="1732" idx="0"/>
          </p:cNvCxnSpPr>
          <p:nvPr/>
        </p:nvCxnSpPr>
        <p:spPr>
          <a:xfrm flipH="1">
            <a:off x="4622750" y="3555338"/>
            <a:ext cx="12159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47" name="Google Shape;1747;p70"/>
          <p:cNvCxnSpPr>
            <a:stCxn id="1741" idx="2"/>
            <a:endCxn id="1733" idx="0"/>
          </p:cNvCxnSpPr>
          <p:nvPr/>
        </p:nvCxnSpPr>
        <p:spPr>
          <a:xfrm flipH="1">
            <a:off x="5223950" y="3555338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48" name="Google Shape;1748;p70"/>
          <p:cNvCxnSpPr>
            <a:stCxn id="1741" idx="2"/>
            <a:endCxn id="1734" idx="0"/>
          </p:cNvCxnSpPr>
          <p:nvPr/>
        </p:nvCxnSpPr>
        <p:spPr>
          <a:xfrm>
            <a:off x="5838650" y="3555338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9" name="Google Shape;1749;p70"/>
          <p:cNvSpPr/>
          <p:nvPr/>
        </p:nvSpPr>
        <p:spPr>
          <a:xfrm>
            <a:off x="6301525" y="4167738"/>
            <a:ext cx="189900" cy="572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50" name="Google Shape;1750;p70"/>
          <p:cNvCxnSpPr>
            <a:stCxn id="1721" idx="2"/>
            <a:endCxn id="1712" idx="0"/>
          </p:cNvCxnSpPr>
          <p:nvPr/>
        </p:nvCxnSpPr>
        <p:spPr>
          <a:xfrm flipH="1">
            <a:off x="1643125" y="3547350"/>
            <a:ext cx="3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51" name="Google Shape;1751;p70"/>
          <p:cNvCxnSpPr>
            <a:stCxn id="1721" idx="2"/>
            <a:endCxn id="1713" idx="0"/>
          </p:cNvCxnSpPr>
          <p:nvPr/>
        </p:nvCxnSpPr>
        <p:spPr>
          <a:xfrm>
            <a:off x="1643425" y="3547350"/>
            <a:ext cx="6009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52" name="Google Shape;1752;p70"/>
          <p:cNvCxnSpPr>
            <a:stCxn id="1721" idx="2"/>
            <a:endCxn id="1714" idx="0"/>
          </p:cNvCxnSpPr>
          <p:nvPr/>
        </p:nvCxnSpPr>
        <p:spPr>
          <a:xfrm>
            <a:off x="1643425" y="3547350"/>
            <a:ext cx="12156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53" name="Google Shape;1753;p70"/>
          <p:cNvCxnSpPr>
            <a:stCxn id="1721" idx="2"/>
            <a:endCxn id="1715" idx="0"/>
          </p:cNvCxnSpPr>
          <p:nvPr/>
        </p:nvCxnSpPr>
        <p:spPr>
          <a:xfrm>
            <a:off x="1643425" y="3547350"/>
            <a:ext cx="18303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54" name="Google Shape;1754;p70"/>
          <p:cNvCxnSpPr>
            <a:stCxn id="1722" idx="2"/>
            <a:endCxn id="1712" idx="0"/>
          </p:cNvCxnSpPr>
          <p:nvPr/>
        </p:nvCxnSpPr>
        <p:spPr>
          <a:xfrm flipH="1">
            <a:off x="1643050" y="3548275"/>
            <a:ext cx="6012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55" name="Google Shape;1755;p70"/>
          <p:cNvCxnSpPr>
            <a:stCxn id="1722" idx="2"/>
            <a:endCxn id="1713" idx="0"/>
          </p:cNvCxnSpPr>
          <p:nvPr/>
        </p:nvCxnSpPr>
        <p:spPr>
          <a:xfrm>
            <a:off x="2244250" y="3548275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56" name="Google Shape;1756;p70"/>
          <p:cNvCxnSpPr>
            <a:stCxn id="1722" idx="2"/>
            <a:endCxn id="1714" idx="0"/>
          </p:cNvCxnSpPr>
          <p:nvPr/>
        </p:nvCxnSpPr>
        <p:spPr>
          <a:xfrm>
            <a:off x="2244250" y="3548275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57" name="Google Shape;1757;p70"/>
          <p:cNvCxnSpPr>
            <a:stCxn id="1722" idx="2"/>
            <a:endCxn id="1715" idx="0"/>
          </p:cNvCxnSpPr>
          <p:nvPr/>
        </p:nvCxnSpPr>
        <p:spPr>
          <a:xfrm>
            <a:off x="2244250" y="3548275"/>
            <a:ext cx="1229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58" name="Google Shape;1758;p70"/>
          <p:cNvCxnSpPr>
            <a:stCxn id="1723" idx="2"/>
            <a:endCxn id="1712" idx="0"/>
          </p:cNvCxnSpPr>
          <p:nvPr/>
        </p:nvCxnSpPr>
        <p:spPr>
          <a:xfrm flipH="1">
            <a:off x="1643163" y="3548275"/>
            <a:ext cx="12159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59" name="Google Shape;1759;p70"/>
          <p:cNvCxnSpPr>
            <a:stCxn id="1723" idx="2"/>
            <a:endCxn id="1713" idx="0"/>
          </p:cNvCxnSpPr>
          <p:nvPr/>
        </p:nvCxnSpPr>
        <p:spPr>
          <a:xfrm flipH="1">
            <a:off x="2244363" y="3548275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0" name="Google Shape;1760;p70"/>
          <p:cNvCxnSpPr>
            <a:stCxn id="1723" idx="2"/>
            <a:endCxn id="1714" idx="0"/>
          </p:cNvCxnSpPr>
          <p:nvPr/>
        </p:nvCxnSpPr>
        <p:spPr>
          <a:xfrm>
            <a:off x="2859063" y="3548275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1" name="Google Shape;1761;p70"/>
          <p:cNvCxnSpPr>
            <a:stCxn id="1723" idx="2"/>
            <a:endCxn id="1715" idx="0"/>
          </p:cNvCxnSpPr>
          <p:nvPr/>
        </p:nvCxnSpPr>
        <p:spPr>
          <a:xfrm>
            <a:off x="2859063" y="3548275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2" name="Google Shape;1762;p70"/>
          <p:cNvCxnSpPr>
            <a:stCxn id="1724" idx="2"/>
            <a:endCxn id="1712" idx="0"/>
          </p:cNvCxnSpPr>
          <p:nvPr/>
        </p:nvCxnSpPr>
        <p:spPr>
          <a:xfrm flipH="1">
            <a:off x="1642950" y="3548263"/>
            <a:ext cx="18309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3" name="Google Shape;1763;p70"/>
          <p:cNvCxnSpPr>
            <a:stCxn id="1724" idx="2"/>
            <a:endCxn id="1713" idx="0"/>
          </p:cNvCxnSpPr>
          <p:nvPr/>
        </p:nvCxnSpPr>
        <p:spPr>
          <a:xfrm flipH="1">
            <a:off x="2244150" y="3548263"/>
            <a:ext cx="1229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4" name="Google Shape;1764;p70"/>
          <p:cNvCxnSpPr>
            <a:stCxn id="1724" idx="2"/>
            <a:endCxn id="1714" idx="0"/>
          </p:cNvCxnSpPr>
          <p:nvPr/>
        </p:nvCxnSpPr>
        <p:spPr>
          <a:xfrm flipH="1">
            <a:off x="2859150" y="3548263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5" name="Google Shape;1765;p70"/>
          <p:cNvCxnSpPr>
            <a:stCxn id="1724" idx="2"/>
            <a:endCxn id="1715" idx="0"/>
          </p:cNvCxnSpPr>
          <p:nvPr/>
        </p:nvCxnSpPr>
        <p:spPr>
          <a:xfrm>
            <a:off x="3473850" y="3548263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66" name="Google Shape;1766;p70"/>
          <p:cNvSpPr txBox="1"/>
          <p:nvPr/>
        </p:nvSpPr>
        <p:spPr>
          <a:xfrm>
            <a:off x="1965775" y="2287488"/>
            <a:ext cx="1404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Encoder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767" name="Google Shape;1767;p70"/>
          <p:cNvSpPr txBox="1"/>
          <p:nvPr/>
        </p:nvSpPr>
        <p:spPr>
          <a:xfrm>
            <a:off x="4663075" y="2287488"/>
            <a:ext cx="1404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Decoder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768" name="Google Shape;1768;p70"/>
          <p:cNvSpPr txBox="1"/>
          <p:nvPr/>
        </p:nvSpPr>
        <p:spPr>
          <a:xfrm>
            <a:off x="4002450" y="1010350"/>
            <a:ext cx="32055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Во время обучения эмбеддинги  x</a:t>
            </a:r>
            <a:r>
              <a:rPr lang="en" sz="1600" baseline="300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</a:t>
            </a:r>
            <a:r>
              <a:rPr lang="en" sz="1600" baseline="-250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 </a:t>
            </a:r>
            <a:r>
              <a:rPr lang="en" sz="16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не могут брать информацию из “будущих” токенов</a:t>
            </a:r>
            <a:endParaRPr sz="16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769" name="Google Shape;1769;p70"/>
          <p:cNvSpPr txBox="1"/>
          <p:nvPr/>
        </p:nvSpPr>
        <p:spPr>
          <a:xfrm>
            <a:off x="6297350" y="4363038"/>
            <a:ext cx="75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Target input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0" name="Google Shape;1770;p70"/>
          <p:cNvSpPr txBox="1"/>
          <p:nvPr/>
        </p:nvSpPr>
        <p:spPr>
          <a:xfrm>
            <a:off x="6297350" y="3763078"/>
            <a:ext cx="118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Target token</a:t>
            </a:r>
            <a:endParaRPr>
              <a:solidFill>
                <a:srgbClr val="B7B7B7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1" name="Google Shape;1771;p70"/>
          <p:cNvSpPr txBox="1"/>
          <p:nvPr/>
        </p:nvSpPr>
        <p:spPr>
          <a:xfrm>
            <a:off x="6300600" y="3227400"/>
            <a:ext cx="1404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Self-attention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2" name="Google Shape;1772;p70"/>
          <p:cNvCxnSpPr>
            <a:stCxn id="1739" idx="2"/>
            <a:endCxn id="1733" idx="0"/>
          </p:cNvCxnSpPr>
          <p:nvPr/>
        </p:nvCxnSpPr>
        <p:spPr>
          <a:xfrm>
            <a:off x="4623013" y="3554413"/>
            <a:ext cx="600900" cy="308700"/>
          </a:xfrm>
          <a:prstGeom prst="straightConnector1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73" name="Google Shape;1773;p70"/>
          <p:cNvCxnSpPr>
            <a:stCxn id="1739" idx="2"/>
            <a:endCxn id="1734" idx="0"/>
          </p:cNvCxnSpPr>
          <p:nvPr/>
        </p:nvCxnSpPr>
        <p:spPr>
          <a:xfrm>
            <a:off x="4623013" y="3554413"/>
            <a:ext cx="1215600" cy="308700"/>
          </a:xfrm>
          <a:prstGeom prst="straightConnector1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74" name="Google Shape;1774;p70"/>
          <p:cNvCxnSpPr>
            <a:stCxn id="1740" idx="2"/>
            <a:endCxn id="1734" idx="0"/>
          </p:cNvCxnSpPr>
          <p:nvPr/>
        </p:nvCxnSpPr>
        <p:spPr>
          <a:xfrm>
            <a:off x="5223838" y="3555338"/>
            <a:ext cx="614700" cy="307800"/>
          </a:xfrm>
          <a:prstGeom prst="straightConnector1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p71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Masked Self-Attention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0" name="Google Shape;1780;p71"/>
          <p:cNvSpPr/>
          <p:nvPr/>
        </p:nvSpPr>
        <p:spPr>
          <a:xfrm>
            <a:off x="5540752" y="394858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1" name="Google Shape;1781;p71"/>
          <p:cNvSpPr txBox="1"/>
          <p:nvPr/>
        </p:nvSpPr>
        <p:spPr>
          <a:xfrm>
            <a:off x="5540713" y="38490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782" name="Google Shape;1782;p71"/>
          <p:cNvSpPr/>
          <p:nvPr/>
        </p:nvSpPr>
        <p:spPr>
          <a:xfrm>
            <a:off x="5540752" y="3225363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3" name="Google Shape;1783;p71"/>
          <p:cNvSpPr txBox="1"/>
          <p:nvPr/>
        </p:nvSpPr>
        <p:spPr>
          <a:xfrm>
            <a:off x="5540713" y="31258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784" name="Google Shape;1784;p71"/>
          <p:cNvSpPr/>
          <p:nvPr/>
        </p:nvSpPr>
        <p:spPr>
          <a:xfrm>
            <a:off x="5472200" y="3126688"/>
            <a:ext cx="714600" cy="1446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5" name="Google Shape;1785;p71"/>
          <p:cNvSpPr txBox="1"/>
          <p:nvPr/>
        </p:nvSpPr>
        <p:spPr>
          <a:xfrm>
            <a:off x="1248169" y="4632145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&lt;BOS&gt;   Guten   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Morgen   &lt;EOS&gt;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6" name="Google Shape;1786;p71"/>
          <p:cNvSpPr txBox="1"/>
          <p:nvPr/>
        </p:nvSpPr>
        <p:spPr>
          <a:xfrm>
            <a:off x="212375" y="4437038"/>
            <a:ext cx="75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input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7" name="Google Shape;1787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8162" y="3547476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788" name="Google Shape;1788;p71"/>
          <p:cNvSpPr txBox="1"/>
          <p:nvPr/>
        </p:nvSpPr>
        <p:spPr>
          <a:xfrm>
            <a:off x="132950" y="3723303"/>
            <a:ext cx="118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Source token</a:t>
            </a:r>
            <a:endParaRPr>
              <a:solidFill>
                <a:srgbClr val="B7B7B7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9" name="Google Shape;1789;p71"/>
          <p:cNvSpPr/>
          <p:nvPr/>
        </p:nvSpPr>
        <p:spPr>
          <a:xfrm>
            <a:off x="1404687" y="353062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0" name="Google Shape;1790;p71"/>
          <p:cNvSpPr/>
          <p:nvPr/>
        </p:nvSpPr>
        <p:spPr>
          <a:xfrm>
            <a:off x="1400113" y="395550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1" name="Google Shape;1791;p71"/>
          <p:cNvSpPr/>
          <p:nvPr/>
        </p:nvSpPr>
        <p:spPr>
          <a:xfrm>
            <a:off x="1973590" y="395550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2" name="Google Shape;1792;p71"/>
          <p:cNvSpPr/>
          <p:nvPr/>
        </p:nvSpPr>
        <p:spPr>
          <a:xfrm>
            <a:off x="2602390" y="395550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3" name="Google Shape;1793;p71"/>
          <p:cNvSpPr/>
          <p:nvPr/>
        </p:nvSpPr>
        <p:spPr>
          <a:xfrm>
            <a:off x="3231190" y="3955500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4" name="Google Shape;1794;p71"/>
          <p:cNvSpPr txBox="1"/>
          <p:nvPr/>
        </p:nvSpPr>
        <p:spPr>
          <a:xfrm>
            <a:off x="1400400" y="385600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795" name="Google Shape;1795;p71"/>
          <p:cNvSpPr txBox="1"/>
          <p:nvPr/>
        </p:nvSpPr>
        <p:spPr>
          <a:xfrm>
            <a:off x="2001550" y="385600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796" name="Google Shape;1796;p71"/>
          <p:cNvSpPr txBox="1"/>
          <p:nvPr/>
        </p:nvSpPr>
        <p:spPr>
          <a:xfrm>
            <a:off x="2616363" y="385600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797" name="Google Shape;1797;p71"/>
          <p:cNvSpPr txBox="1"/>
          <p:nvPr/>
        </p:nvSpPr>
        <p:spPr>
          <a:xfrm>
            <a:off x="3231150" y="38559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798" name="Google Shape;1798;p71"/>
          <p:cNvSpPr/>
          <p:nvPr/>
        </p:nvSpPr>
        <p:spPr>
          <a:xfrm>
            <a:off x="1404687" y="2807399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9" name="Google Shape;1799;p71"/>
          <p:cNvSpPr/>
          <p:nvPr/>
        </p:nvSpPr>
        <p:spPr>
          <a:xfrm>
            <a:off x="1400113" y="323227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0" name="Google Shape;1800;p71"/>
          <p:cNvSpPr/>
          <p:nvPr/>
        </p:nvSpPr>
        <p:spPr>
          <a:xfrm>
            <a:off x="1973590" y="323227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1" name="Google Shape;1801;p71"/>
          <p:cNvSpPr/>
          <p:nvPr/>
        </p:nvSpPr>
        <p:spPr>
          <a:xfrm>
            <a:off x="2602390" y="323227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2" name="Google Shape;1802;p71"/>
          <p:cNvSpPr/>
          <p:nvPr/>
        </p:nvSpPr>
        <p:spPr>
          <a:xfrm>
            <a:off x="3231190" y="323227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3" name="Google Shape;1803;p71"/>
          <p:cNvSpPr txBox="1"/>
          <p:nvPr/>
        </p:nvSpPr>
        <p:spPr>
          <a:xfrm>
            <a:off x="1400725" y="31318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04" name="Google Shape;1804;p71"/>
          <p:cNvSpPr txBox="1"/>
          <p:nvPr/>
        </p:nvSpPr>
        <p:spPr>
          <a:xfrm>
            <a:off x="2001550" y="31327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05" name="Google Shape;1805;p71"/>
          <p:cNvSpPr txBox="1"/>
          <p:nvPr/>
        </p:nvSpPr>
        <p:spPr>
          <a:xfrm>
            <a:off x="2616363" y="31327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06" name="Google Shape;1806;p71"/>
          <p:cNvSpPr txBox="1"/>
          <p:nvPr/>
        </p:nvSpPr>
        <p:spPr>
          <a:xfrm>
            <a:off x="3231150" y="3132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07" name="Google Shape;1807;p71"/>
          <p:cNvSpPr txBox="1"/>
          <p:nvPr/>
        </p:nvSpPr>
        <p:spPr>
          <a:xfrm>
            <a:off x="72625" y="3108700"/>
            <a:ext cx="14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Self-attention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8" name="Google Shape;1808;p71"/>
          <p:cNvSpPr txBox="1"/>
          <p:nvPr/>
        </p:nvSpPr>
        <p:spPr>
          <a:xfrm>
            <a:off x="4227756" y="4639207"/>
            <a:ext cx="284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&lt;BOS&gt;   Good   morning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9" name="Google Shape;1809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7750" y="3554538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810" name="Google Shape;1810;p71"/>
          <p:cNvSpPr/>
          <p:nvPr/>
        </p:nvSpPr>
        <p:spPr>
          <a:xfrm>
            <a:off x="4384274" y="3537686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1" name="Google Shape;1811;p71"/>
          <p:cNvSpPr/>
          <p:nvPr/>
        </p:nvSpPr>
        <p:spPr>
          <a:xfrm>
            <a:off x="4379700" y="3962562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2" name="Google Shape;1812;p71"/>
          <p:cNvSpPr/>
          <p:nvPr/>
        </p:nvSpPr>
        <p:spPr>
          <a:xfrm>
            <a:off x="4953177" y="3962563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3" name="Google Shape;1813;p71"/>
          <p:cNvSpPr/>
          <p:nvPr/>
        </p:nvSpPr>
        <p:spPr>
          <a:xfrm>
            <a:off x="5581977" y="3962563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4" name="Google Shape;1814;p71"/>
          <p:cNvSpPr txBox="1"/>
          <p:nvPr/>
        </p:nvSpPr>
        <p:spPr>
          <a:xfrm>
            <a:off x="4379988" y="38630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15" name="Google Shape;1815;p71"/>
          <p:cNvSpPr txBox="1"/>
          <p:nvPr/>
        </p:nvSpPr>
        <p:spPr>
          <a:xfrm>
            <a:off x="4981138" y="38630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16" name="Google Shape;1816;p71"/>
          <p:cNvSpPr txBox="1"/>
          <p:nvPr/>
        </p:nvSpPr>
        <p:spPr>
          <a:xfrm>
            <a:off x="5595950" y="38630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17" name="Google Shape;1817;p71"/>
          <p:cNvSpPr/>
          <p:nvPr/>
        </p:nvSpPr>
        <p:spPr>
          <a:xfrm>
            <a:off x="4384274" y="281446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8" name="Google Shape;1818;p71"/>
          <p:cNvSpPr/>
          <p:nvPr/>
        </p:nvSpPr>
        <p:spPr>
          <a:xfrm>
            <a:off x="4379700" y="3239337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9" name="Google Shape;1819;p71"/>
          <p:cNvSpPr/>
          <p:nvPr/>
        </p:nvSpPr>
        <p:spPr>
          <a:xfrm>
            <a:off x="4953177" y="3239338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0" name="Google Shape;1820;p71"/>
          <p:cNvSpPr/>
          <p:nvPr/>
        </p:nvSpPr>
        <p:spPr>
          <a:xfrm>
            <a:off x="5581977" y="3239338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1" name="Google Shape;1821;p71"/>
          <p:cNvSpPr txBox="1"/>
          <p:nvPr/>
        </p:nvSpPr>
        <p:spPr>
          <a:xfrm>
            <a:off x="4380313" y="31389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22" name="Google Shape;1822;p71"/>
          <p:cNvSpPr txBox="1"/>
          <p:nvPr/>
        </p:nvSpPr>
        <p:spPr>
          <a:xfrm>
            <a:off x="4981138" y="31398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23" name="Google Shape;1823;p71"/>
          <p:cNvSpPr txBox="1"/>
          <p:nvPr/>
        </p:nvSpPr>
        <p:spPr>
          <a:xfrm>
            <a:off x="5595950" y="31398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cxnSp>
        <p:nvCxnSpPr>
          <p:cNvPr id="1824" name="Google Shape;1824;p71"/>
          <p:cNvCxnSpPr>
            <a:stCxn id="1821" idx="2"/>
            <a:endCxn id="1814" idx="0"/>
          </p:cNvCxnSpPr>
          <p:nvPr/>
        </p:nvCxnSpPr>
        <p:spPr>
          <a:xfrm flipH="1">
            <a:off x="4622713" y="3554413"/>
            <a:ext cx="3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5" name="Google Shape;1825;p71"/>
          <p:cNvCxnSpPr>
            <a:stCxn id="1821" idx="2"/>
            <a:endCxn id="1821" idx="2"/>
          </p:cNvCxnSpPr>
          <p:nvPr/>
        </p:nvCxnSpPr>
        <p:spPr>
          <a:xfrm>
            <a:off x="4623013" y="3554413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6" name="Google Shape;1826;p71"/>
          <p:cNvCxnSpPr>
            <a:stCxn id="1822" idx="2"/>
            <a:endCxn id="1814" idx="0"/>
          </p:cNvCxnSpPr>
          <p:nvPr/>
        </p:nvCxnSpPr>
        <p:spPr>
          <a:xfrm flipH="1">
            <a:off x="4622638" y="3555338"/>
            <a:ext cx="6012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7" name="Google Shape;1827;p71"/>
          <p:cNvCxnSpPr>
            <a:stCxn id="1822" idx="2"/>
            <a:endCxn id="1815" idx="0"/>
          </p:cNvCxnSpPr>
          <p:nvPr/>
        </p:nvCxnSpPr>
        <p:spPr>
          <a:xfrm>
            <a:off x="5223838" y="3555338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8" name="Google Shape;1828;p71"/>
          <p:cNvCxnSpPr>
            <a:stCxn id="1823" idx="2"/>
            <a:endCxn id="1814" idx="0"/>
          </p:cNvCxnSpPr>
          <p:nvPr/>
        </p:nvCxnSpPr>
        <p:spPr>
          <a:xfrm flipH="1">
            <a:off x="4622750" y="3555338"/>
            <a:ext cx="12159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9" name="Google Shape;1829;p71"/>
          <p:cNvCxnSpPr>
            <a:stCxn id="1823" idx="2"/>
            <a:endCxn id="1815" idx="0"/>
          </p:cNvCxnSpPr>
          <p:nvPr/>
        </p:nvCxnSpPr>
        <p:spPr>
          <a:xfrm flipH="1">
            <a:off x="5223950" y="3555338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0" name="Google Shape;1830;p71"/>
          <p:cNvCxnSpPr>
            <a:stCxn id="1823" idx="2"/>
            <a:endCxn id="1816" idx="0"/>
          </p:cNvCxnSpPr>
          <p:nvPr/>
        </p:nvCxnSpPr>
        <p:spPr>
          <a:xfrm>
            <a:off x="5838650" y="3555338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31" name="Google Shape;1831;p71"/>
          <p:cNvSpPr/>
          <p:nvPr/>
        </p:nvSpPr>
        <p:spPr>
          <a:xfrm>
            <a:off x="6301525" y="4167738"/>
            <a:ext cx="189900" cy="572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32" name="Google Shape;1832;p71"/>
          <p:cNvCxnSpPr>
            <a:stCxn id="1803" idx="2"/>
            <a:endCxn id="1794" idx="0"/>
          </p:cNvCxnSpPr>
          <p:nvPr/>
        </p:nvCxnSpPr>
        <p:spPr>
          <a:xfrm flipH="1">
            <a:off x="1643125" y="3547350"/>
            <a:ext cx="3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3" name="Google Shape;1833;p71"/>
          <p:cNvCxnSpPr>
            <a:stCxn id="1803" idx="2"/>
            <a:endCxn id="1795" idx="0"/>
          </p:cNvCxnSpPr>
          <p:nvPr/>
        </p:nvCxnSpPr>
        <p:spPr>
          <a:xfrm>
            <a:off x="1643425" y="3547350"/>
            <a:ext cx="6009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4" name="Google Shape;1834;p71"/>
          <p:cNvCxnSpPr>
            <a:stCxn id="1803" idx="2"/>
            <a:endCxn id="1796" idx="0"/>
          </p:cNvCxnSpPr>
          <p:nvPr/>
        </p:nvCxnSpPr>
        <p:spPr>
          <a:xfrm>
            <a:off x="1643425" y="3547350"/>
            <a:ext cx="12156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5" name="Google Shape;1835;p71"/>
          <p:cNvCxnSpPr>
            <a:stCxn id="1803" idx="2"/>
            <a:endCxn id="1797" idx="0"/>
          </p:cNvCxnSpPr>
          <p:nvPr/>
        </p:nvCxnSpPr>
        <p:spPr>
          <a:xfrm>
            <a:off x="1643425" y="3547350"/>
            <a:ext cx="1830300" cy="3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6" name="Google Shape;1836;p71"/>
          <p:cNvCxnSpPr>
            <a:stCxn id="1804" idx="2"/>
            <a:endCxn id="1794" idx="0"/>
          </p:cNvCxnSpPr>
          <p:nvPr/>
        </p:nvCxnSpPr>
        <p:spPr>
          <a:xfrm flipH="1">
            <a:off x="1643050" y="3548275"/>
            <a:ext cx="6012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7" name="Google Shape;1837;p71"/>
          <p:cNvCxnSpPr>
            <a:stCxn id="1804" idx="2"/>
            <a:endCxn id="1795" idx="0"/>
          </p:cNvCxnSpPr>
          <p:nvPr/>
        </p:nvCxnSpPr>
        <p:spPr>
          <a:xfrm>
            <a:off x="2244250" y="3548275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8" name="Google Shape;1838;p71"/>
          <p:cNvCxnSpPr>
            <a:stCxn id="1804" idx="2"/>
            <a:endCxn id="1796" idx="0"/>
          </p:cNvCxnSpPr>
          <p:nvPr/>
        </p:nvCxnSpPr>
        <p:spPr>
          <a:xfrm>
            <a:off x="2244250" y="3548275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9" name="Google Shape;1839;p71"/>
          <p:cNvCxnSpPr>
            <a:stCxn id="1804" idx="2"/>
            <a:endCxn id="1797" idx="0"/>
          </p:cNvCxnSpPr>
          <p:nvPr/>
        </p:nvCxnSpPr>
        <p:spPr>
          <a:xfrm>
            <a:off x="2244250" y="3548275"/>
            <a:ext cx="1229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0" name="Google Shape;1840;p71"/>
          <p:cNvCxnSpPr>
            <a:stCxn id="1805" idx="2"/>
            <a:endCxn id="1794" idx="0"/>
          </p:cNvCxnSpPr>
          <p:nvPr/>
        </p:nvCxnSpPr>
        <p:spPr>
          <a:xfrm flipH="1">
            <a:off x="1643163" y="3548275"/>
            <a:ext cx="12159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1" name="Google Shape;1841;p71"/>
          <p:cNvCxnSpPr>
            <a:stCxn id="1805" idx="2"/>
            <a:endCxn id="1795" idx="0"/>
          </p:cNvCxnSpPr>
          <p:nvPr/>
        </p:nvCxnSpPr>
        <p:spPr>
          <a:xfrm flipH="1">
            <a:off x="2244363" y="3548275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2" name="Google Shape;1842;p71"/>
          <p:cNvCxnSpPr>
            <a:stCxn id="1805" idx="2"/>
            <a:endCxn id="1796" idx="0"/>
          </p:cNvCxnSpPr>
          <p:nvPr/>
        </p:nvCxnSpPr>
        <p:spPr>
          <a:xfrm>
            <a:off x="2859063" y="3548275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3" name="Google Shape;1843;p71"/>
          <p:cNvCxnSpPr>
            <a:stCxn id="1805" idx="2"/>
            <a:endCxn id="1797" idx="0"/>
          </p:cNvCxnSpPr>
          <p:nvPr/>
        </p:nvCxnSpPr>
        <p:spPr>
          <a:xfrm>
            <a:off x="2859063" y="3548275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4" name="Google Shape;1844;p71"/>
          <p:cNvCxnSpPr>
            <a:stCxn id="1806" idx="2"/>
            <a:endCxn id="1794" idx="0"/>
          </p:cNvCxnSpPr>
          <p:nvPr/>
        </p:nvCxnSpPr>
        <p:spPr>
          <a:xfrm flipH="1">
            <a:off x="1642950" y="3548263"/>
            <a:ext cx="18309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5" name="Google Shape;1845;p71"/>
          <p:cNvCxnSpPr>
            <a:stCxn id="1806" idx="2"/>
            <a:endCxn id="1795" idx="0"/>
          </p:cNvCxnSpPr>
          <p:nvPr/>
        </p:nvCxnSpPr>
        <p:spPr>
          <a:xfrm flipH="1">
            <a:off x="2244150" y="3548263"/>
            <a:ext cx="1229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6" name="Google Shape;1846;p71"/>
          <p:cNvCxnSpPr>
            <a:stCxn id="1806" idx="2"/>
            <a:endCxn id="1796" idx="0"/>
          </p:cNvCxnSpPr>
          <p:nvPr/>
        </p:nvCxnSpPr>
        <p:spPr>
          <a:xfrm flipH="1">
            <a:off x="2859150" y="3548263"/>
            <a:ext cx="61470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7" name="Google Shape;1847;p71"/>
          <p:cNvCxnSpPr>
            <a:stCxn id="1806" idx="2"/>
            <a:endCxn id="1797" idx="0"/>
          </p:cNvCxnSpPr>
          <p:nvPr/>
        </p:nvCxnSpPr>
        <p:spPr>
          <a:xfrm>
            <a:off x="3473850" y="3548263"/>
            <a:ext cx="0" cy="3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48" name="Google Shape;1848;p71"/>
          <p:cNvSpPr txBox="1"/>
          <p:nvPr/>
        </p:nvSpPr>
        <p:spPr>
          <a:xfrm>
            <a:off x="1965775" y="2287488"/>
            <a:ext cx="1404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Encoder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849" name="Google Shape;1849;p71"/>
          <p:cNvSpPr txBox="1"/>
          <p:nvPr/>
        </p:nvSpPr>
        <p:spPr>
          <a:xfrm>
            <a:off x="4663075" y="2287488"/>
            <a:ext cx="1404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Decoder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850" name="Google Shape;1850;p71"/>
          <p:cNvSpPr txBox="1"/>
          <p:nvPr/>
        </p:nvSpPr>
        <p:spPr>
          <a:xfrm>
            <a:off x="6297350" y="4363038"/>
            <a:ext cx="75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Target input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1" name="Google Shape;1851;p71"/>
          <p:cNvSpPr txBox="1"/>
          <p:nvPr/>
        </p:nvSpPr>
        <p:spPr>
          <a:xfrm>
            <a:off x="6297350" y="3763078"/>
            <a:ext cx="118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Target token</a:t>
            </a:r>
            <a:endParaRPr>
              <a:solidFill>
                <a:srgbClr val="B7B7B7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2" name="Google Shape;1852;p71"/>
          <p:cNvSpPr txBox="1"/>
          <p:nvPr/>
        </p:nvSpPr>
        <p:spPr>
          <a:xfrm>
            <a:off x="6300600" y="3227400"/>
            <a:ext cx="1404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Masked</a:t>
            </a:r>
            <a:endParaRPr b="1"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Self-attention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p72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 </a:t>
            </a:r>
            <a:endParaRPr/>
          </a:p>
        </p:txBody>
      </p:sp>
      <p:pic>
        <p:nvPicPr>
          <p:cNvPr id="1858" name="Google Shape;1858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9250" y="1060875"/>
            <a:ext cx="4138409" cy="390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9" name="Google Shape;1859;p72"/>
          <p:cNvSpPr/>
          <p:nvPr/>
        </p:nvSpPr>
        <p:spPr>
          <a:xfrm>
            <a:off x="5224875" y="1828450"/>
            <a:ext cx="141300" cy="22587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0" name="Google Shape;1860;p72"/>
          <p:cNvSpPr txBox="1"/>
          <p:nvPr/>
        </p:nvSpPr>
        <p:spPr>
          <a:xfrm>
            <a:off x="5433400" y="2650000"/>
            <a:ext cx="1049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Decoder block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861" name="Google Shape;1861;p72"/>
          <p:cNvSpPr/>
          <p:nvPr/>
        </p:nvSpPr>
        <p:spPr>
          <a:xfrm>
            <a:off x="1019250" y="2276175"/>
            <a:ext cx="141300" cy="12087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2" name="Google Shape;1862;p72"/>
          <p:cNvSpPr txBox="1"/>
          <p:nvPr/>
        </p:nvSpPr>
        <p:spPr>
          <a:xfrm>
            <a:off x="96125" y="2572725"/>
            <a:ext cx="855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Encoder Block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p73"/>
          <p:cNvSpPr/>
          <p:nvPr/>
        </p:nvSpPr>
        <p:spPr>
          <a:xfrm>
            <a:off x="258775" y="3476262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8" name="Google Shape;1868;p73"/>
          <p:cNvSpPr/>
          <p:nvPr/>
        </p:nvSpPr>
        <p:spPr>
          <a:xfrm>
            <a:off x="832252" y="3476263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9" name="Google Shape;1869;p73"/>
          <p:cNvSpPr/>
          <p:nvPr/>
        </p:nvSpPr>
        <p:spPr>
          <a:xfrm>
            <a:off x="1461052" y="3476263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0" name="Google Shape;1870;p73"/>
          <p:cNvSpPr/>
          <p:nvPr/>
        </p:nvSpPr>
        <p:spPr>
          <a:xfrm>
            <a:off x="2089852" y="3476263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1" name="Google Shape;1871;p73"/>
          <p:cNvSpPr txBox="1"/>
          <p:nvPr/>
        </p:nvSpPr>
        <p:spPr>
          <a:xfrm>
            <a:off x="259063" y="3376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72" name="Google Shape;1872;p73"/>
          <p:cNvSpPr txBox="1"/>
          <p:nvPr/>
        </p:nvSpPr>
        <p:spPr>
          <a:xfrm>
            <a:off x="860213" y="3376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73" name="Google Shape;1873;p73"/>
          <p:cNvSpPr txBox="1"/>
          <p:nvPr/>
        </p:nvSpPr>
        <p:spPr>
          <a:xfrm>
            <a:off x="1475025" y="3376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74" name="Google Shape;1874;p73"/>
          <p:cNvSpPr txBox="1"/>
          <p:nvPr/>
        </p:nvSpPr>
        <p:spPr>
          <a:xfrm>
            <a:off x="2089813" y="33767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75" name="Google Shape;1875;p73"/>
          <p:cNvSpPr txBox="1"/>
          <p:nvPr/>
        </p:nvSpPr>
        <p:spPr>
          <a:xfrm>
            <a:off x="212725" y="4466400"/>
            <a:ext cx="2596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Финальные выходы энкодера</a:t>
            </a:r>
            <a:endParaRPr sz="13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876" name="Google Shape;1876;p73"/>
          <p:cNvSpPr/>
          <p:nvPr/>
        </p:nvSpPr>
        <p:spPr>
          <a:xfrm>
            <a:off x="2808925" y="3413500"/>
            <a:ext cx="324000" cy="49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7" name="Google Shape;1877;p73"/>
          <p:cNvSpPr/>
          <p:nvPr/>
        </p:nvSpPr>
        <p:spPr>
          <a:xfrm>
            <a:off x="5391475" y="3734125"/>
            <a:ext cx="264600" cy="485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8" name="Google Shape;1878;p73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Cross-Attention</a:t>
            </a:r>
            <a:endParaRPr/>
          </a:p>
        </p:txBody>
      </p:sp>
      <p:sp>
        <p:nvSpPr>
          <p:cNvPr id="1879" name="Google Shape;1879;p73"/>
          <p:cNvSpPr txBox="1"/>
          <p:nvPr/>
        </p:nvSpPr>
        <p:spPr>
          <a:xfrm>
            <a:off x="3476650" y="4474200"/>
            <a:ext cx="205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Выходы слоя декодера</a:t>
            </a:r>
            <a:endParaRPr sz="12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880" name="Google Shape;1880;p73"/>
          <p:cNvSpPr/>
          <p:nvPr/>
        </p:nvSpPr>
        <p:spPr>
          <a:xfrm>
            <a:off x="3411375" y="3476712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1" name="Google Shape;1881;p73"/>
          <p:cNvSpPr/>
          <p:nvPr/>
        </p:nvSpPr>
        <p:spPr>
          <a:xfrm>
            <a:off x="3984852" y="3476713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2" name="Google Shape;1882;p73"/>
          <p:cNvSpPr/>
          <p:nvPr/>
        </p:nvSpPr>
        <p:spPr>
          <a:xfrm>
            <a:off x="4613652" y="3476713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3" name="Google Shape;1883;p73"/>
          <p:cNvSpPr txBox="1"/>
          <p:nvPr/>
        </p:nvSpPr>
        <p:spPr>
          <a:xfrm>
            <a:off x="3411988" y="33762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84" name="Google Shape;1884;p73"/>
          <p:cNvSpPr txBox="1"/>
          <p:nvPr/>
        </p:nvSpPr>
        <p:spPr>
          <a:xfrm>
            <a:off x="4012813" y="33772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85" name="Google Shape;1885;p73"/>
          <p:cNvSpPr txBox="1"/>
          <p:nvPr/>
        </p:nvSpPr>
        <p:spPr>
          <a:xfrm>
            <a:off x="4627625" y="33772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86" name="Google Shape;1886;p73"/>
          <p:cNvSpPr txBox="1"/>
          <p:nvPr/>
        </p:nvSpPr>
        <p:spPr>
          <a:xfrm>
            <a:off x="311700" y="1127600"/>
            <a:ext cx="3957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Каждый эмбеддинг декодера соберет информацию из эмбеддингов энкодера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887" name="Google Shape;1887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550" y="3836000"/>
            <a:ext cx="2224634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8" name="Google Shape;188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6650" y="3836000"/>
            <a:ext cx="2224634" cy="41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9" name="Google Shape;1889;p73"/>
          <p:cNvSpPr/>
          <p:nvPr/>
        </p:nvSpPr>
        <p:spPr>
          <a:xfrm>
            <a:off x="5303250" y="3672375"/>
            <a:ext cx="398100" cy="49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Google Shape;1894;p74"/>
          <p:cNvSpPr/>
          <p:nvPr/>
        </p:nvSpPr>
        <p:spPr>
          <a:xfrm>
            <a:off x="258775" y="3476262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5" name="Google Shape;1895;p74"/>
          <p:cNvSpPr/>
          <p:nvPr/>
        </p:nvSpPr>
        <p:spPr>
          <a:xfrm>
            <a:off x="832252" y="3476263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6" name="Google Shape;1896;p74"/>
          <p:cNvSpPr/>
          <p:nvPr/>
        </p:nvSpPr>
        <p:spPr>
          <a:xfrm>
            <a:off x="1461052" y="3476263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7" name="Google Shape;1897;p74"/>
          <p:cNvSpPr/>
          <p:nvPr/>
        </p:nvSpPr>
        <p:spPr>
          <a:xfrm>
            <a:off x="2089852" y="3476263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8" name="Google Shape;1898;p74"/>
          <p:cNvSpPr txBox="1"/>
          <p:nvPr/>
        </p:nvSpPr>
        <p:spPr>
          <a:xfrm>
            <a:off x="259063" y="3376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899" name="Google Shape;1899;p74"/>
          <p:cNvSpPr txBox="1"/>
          <p:nvPr/>
        </p:nvSpPr>
        <p:spPr>
          <a:xfrm>
            <a:off x="860213" y="3376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900" name="Google Shape;1900;p74"/>
          <p:cNvSpPr txBox="1"/>
          <p:nvPr/>
        </p:nvSpPr>
        <p:spPr>
          <a:xfrm>
            <a:off x="1475025" y="3376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901" name="Google Shape;1901;p74"/>
          <p:cNvSpPr txBox="1"/>
          <p:nvPr/>
        </p:nvSpPr>
        <p:spPr>
          <a:xfrm>
            <a:off x="2089813" y="33767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902" name="Google Shape;1902;p74"/>
          <p:cNvSpPr txBox="1"/>
          <p:nvPr/>
        </p:nvSpPr>
        <p:spPr>
          <a:xfrm>
            <a:off x="212725" y="4466400"/>
            <a:ext cx="2596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Финальные выходы энкодера</a:t>
            </a:r>
            <a:endParaRPr sz="13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903" name="Google Shape;1903;p74"/>
          <p:cNvSpPr/>
          <p:nvPr/>
        </p:nvSpPr>
        <p:spPr>
          <a:xfrm>
            <a:off x="2808925" y="3413500"/>
            <a:ext cx="324000" cy="49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4" name="Google Shape;1904;p74"/>
          <p:cNvSpPr/>
          <p:nvPr/>
        </p:nvSpPr>
        <p:spPr>
          <a:xfrm>
            <a:off x="5391475" y="3734125"/>
            <a:ext cx="264600" cy="485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5" name="Google Shape;1905;p74"/>
          <p:cNvSpPr txBox="1"/>
          <p:nvPr/>
        </p:nvSpPr>
        <p:spPr>
          <a:xfrm>
            <a:off x="3476650" y="4474200"/>
            <a:ext cx="205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Выходы слоя декодера</a:t>
            </a:r>
            <a:endParaRPr sz="12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906" name="Google Shape;1906;p74"/>
          <p:cNvSpPr/>
          <p:nvPr/>
        </p:nvSpPr>
        <p:spPr>
          <a:xfrm>
            <a:off x="3411375" y="3476712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7" name="Google Shape;1907;p74"/>
          <p:cNvSpPr/>
          <p:nvPr/>
        </p:nvSpPr>
        <p:spPr>
          <a:xfrm>
            <a:off x="3984852" y="3476713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8" name="Google Shape;1908;p74"/>
          <p:cNvSpPr/>
          <p:nvPr/>
        </p:nvSpPr>
        <p:spPr>
          <a:xfrm>
            <a:off x="4613652" y="3476713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9" name="Google Shape;1909;p74"/>
          <p:cNvSpPr txBox="1"/>
          <p:nvPr/>
        </p:nvSpPr>
        <p:spPr>
          <a:xfrm>
            <a:off x="3411988" y="33762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910" name="Google Shape;1910;p74"/>
          <p:cNvSpPr txBox="1"/>
          <p:nvPr/>
        </p:nvSpPr>
        <p:spPr>
          <a:xfrm>
            <a:off x="4012813" y="33772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911" name="Google Shape;1911;p74"/>
          <p:cNvSpPr txBox="1"/>
          <p:nvPr/>
        </p:nvSpPr>
        <p:spPr>
          <a:xfrm>
            <a:off x="4627625" y="33772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1912" name="Google Shape;1912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550" y="3836000"/>
            <a:ext cx="2224634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3" name="Google Shape;1913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6650" y="3836000"/>
            <a:ext cx="2224634" cy="41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4" name="Google Shape;1914;p74"/>
          <p:cNvSpPr/>
          <p:nvPr/>
        </p:nvSpPr>
        <p:spPr>
          <a:xfrm>
            <a:off x="5303250" y="3672375"/>
            <a:ext cx="398100" cy="49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5" name="Google Shape;1915;p74"/>
          <p:cNvSpPr/>
          <p:nvPr/>
        </p:nvSpPr>
        <p:spPr>
          <a:xfrm>
            <a:off x="947756" y="27621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6" name="Google Shape;1916;p74"/>
          <p:cNvSpPr/>
          <p:nvPr/>
        </p:nvSpPr>
        <p:spPr>
          <a:xfrm>
            <a:off x="1518062" y="27621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7" name="Google Shape;1917;p74"/>
          <p:cNvSpPr/>
          <p:nvPr/>
        </p:nvSpPr>
        <p:spPr>
          <a:xfrm>
            <a:off x="2088371" y="27621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8" name="Google Shape;1918;p74"/>
          <p:cNvSpPr txBox="1"/>
          <p:nvPr/>
        </p:nvSpPr>
        <p:spPr>
          <a:xfrm>
            <a:off x="877970" y="2695359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12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1919" name="Google Shape;1919;p74"/>
          <p:cNvSpPr txBox="1"/>
          <p:nvPr/>
        </p:nvSpPr>
        <p:spPr>
          <a:xfrm>
            <a:off x="1480979" y="2695360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13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1920" name="Google Shape;1920;p74"/>
          <p:cNvSpPr txBox="1"/>
          <p:nvPr/>
        </p:nvSpPr>
        <p:spPr>
          <a:xfrm>
            <a:off x="2055659" y="2695352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14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1921" name="Google Shape;1921;p74"/>
          <p:cNvSpPr/>
          <p:nvPr/>
        </p:nvSpPr>
        <p:spPr>
          <a:xfrm>
            <a:off x="363290" y="279664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2" name="Google Shape;1922;p74"/>
          <p:cNvSpPr txBox="1"/>
          <p:nvPr/>
        </p:nvSpPr>
        <p:spPr>
          <a:xfrm>
            <a:off x="363300" y="2724527"/>
            <a:ext cx="583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11</a:t>
            </a:r>
            <a:endParaRPr sz="1200" i="1" baseline="-25000">
              <a:solidFill>
                <a:srgbClr val="595959"/>
              </a:solidFill>
            </a:endParaRPr>
          </a:p>
        </p:txBody>
      </p:sp>
      <p:cxnSp>
        <p:nvCxnSpPr>
          <p:cNvPr id="1923" name="Google Shape;1923;p74"/>
          <p:cNvCxnSpPr>
            <a:endCxn id="1921" idx="4"/>
          </p:cNvCxnSpPr>
          <p:nvPr/>
        </p:nvCxnSpPr>
        <p:spPr>
          <a:xfrm rot="10800000" flipH="1">
            <a:off x="524990" y="3150646"/>
            <a:ext cx="300" cy="29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24" name="Google Shape;1924;p74"/>
          <p:cNvCxnSpPr/>
          <p:nvPr/>
        </p:nvCxnSpPr>
        <p:spPr>
          <a:xfrm rot="10800000" flipH="1">
            <a:off x="1132838" y="3183138"/>
            <a:ext cx="300" cy="29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25" name="Google Shape;1925;p74"/>
          <p:cNvCxnSpPr/>
          <p:nvPr/>
        </p:nvCxnSpPr>
        <p:spPr>
          <a:xfrm rot="10800000" flipH="1">
            <a:off x="1679888" y="3183138"/>
            <a:ext cx="300" cy="29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26" name="Google Shape;1926;p74"/>
          <p:cNvCxnSpPr/>
          <p:nvPr/>
        </p:nvCxnSpPr>
        <p:spPr>
          <a:xfrm rot="10800000" flipH="1">
            <a:off x="2250213" y="3183138"/>
            <a:ext cx="300" cy="29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27" name="Google Shape;1927;p74"/>
          <p:cNvSpPr txBox="1"/>
          <p:nvPr/>
        </p:nvSpPr>
        <p:spPr>
          <a:xfrm>
            <a:off x="320491" y="1443875"/>
            <a:ext cx="221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0.4     0.55     0.1    0.05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28" name="Google Shape;1928;p74"/>
          <p:cNvSpPr/>
          <p:nvPr/>
        </p:nvSpPr>
        <p:spPr>
          <a:xfrm>
            <a:off x="1056568" y="1947161"/>
            <a:ext cx="209400" cy="6636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9" name="Google Shape;1929;p74"/>
          <p:cNvSpPr/>
          <p:nvPr/>
        </p:nvSpPr>
        <p:spPr>
          <a:xfrm>
            <a:off x="1553268" y="2370187"/>
            <a:ext cx="209400" cy="2304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0" name="Google Shape;1930;p74"/>
          <p:cNvSpPr/>
          <p:nvPr/>
        </p:nvSpPr>
        <p:spPr>
          <a:xfrm>
            <a:off x="2145684" y="2451352"/>
            <a:ext cx="209400" cy="124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31" name="Google Shape;1931;p74"/>
          <p:cNvCxnSpPr/>
          <p:nvPr/>
        </p:nvCxnSpPr>
        <p:spPr>
          <a:xfrm>
            <a:off x="159756" y="2694031"/>
            <a:ext cx="2230800" cy="1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32" name="Google Shape;1932;p74"/>
          <p:cNvSpPr/>
          <p:nvPr/>
        </p:nvSpPr>
        <p:spPr>
          <a:xfrm>
            <a:off x="387624" y="2119328"/>
            <a:ext cx="209400" cy="4971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3" name="Google Shape;1933;p74"/>
          <p:cNvSpPr/>
          <p:nvPr/>
        </p:nvSpPr>
        <p:spPr>
          <a:xfrm rot="5400000">
            <a:off x="1300388" y="233500"/>
            <a:ext cx="141300" cy="2073300"/>
          </a:xfrm>
          <a:prstGeom prst="leftBrace">
            <a:avLst>
              <a:gd name="adj1" fmla="val 50000"/>
              <a:gd name="adj2" fmla="val 83897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34" name="Google Shape;1934;p74"/>
          <p:cNvCxnSpPr>
            <a:endCxn id="1920" idx="2"/>
          </p:cNvCxnSpPr>
          <p:nvPr/>
        </p:nvCxnSpPr>
        <p:spPr>
          <a:xfrm rot="10800000">
            <a:off x="2357159" y="3064652"/>
            <a:ext cx="1320900" cy="37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35" name="Google Shape;1935;p74"/>
          <p:cNvCxnSpPr>
            <a:endCxn id="1919" idx="2"/>
          </p:cNvCxnSpPr>
          <p:nvPr/>
        </p:nvCxnSpPr>
        <p:spPr>
          <a:xfrm rot="10800000">
            <a:off x="1782479" y="3064660"/>
            <a:ext cx="1895400" cy="37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36" name="Google Shape;1936;p74"/>
          <p:cNvCxnSpPr>
            <a:endCxn id="1918" idx="2"/>
          </p:cNvCxnSpPr>
          <p:nvPr/>
        </p:nvCxnSpPr>
        <p:spPr>
          <a:xfrm rot="10800000">
            <a:off x="1179470" y="3064659"/>
            <a:ext cx="2498400" cy="37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37" name="Google Shape;1937;p74"/>
          <p:cNvCxnSpPr>
            <a:endCxn id="1922" idx="2"/>
          </p:cNvCxnSpPr>
          <p:nvPr/>
        </p:nvCxnSpPr>
        <p:spPr>
          <a:xfrm rot="10800000">
            <a:off x="655200" y="3093827"/>
            <a:ext cx="3022800" cy="34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38" name="Google Shape;1938;p74"/>
          <p:cNvSpPr txBox="1"/>
          <p:nvPr/>
        </p:nvSpPr>
        <p:spPr>
          <a:xfrm>
            <a:off x="3434613" y="2103858"/>
            <a:ext cx="85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SoftMax</a:t>
            </a:r>
            <a:endParaRPr>
              <a:solidFill>
                <a:srgbClr val="B7B7B7"/>
              </a:solidFill>
            </a:endParaRPr>
          </a:p>
        </p:txBody>
      </p:sp>
      <p:pic>
        <p:nvPicPr>
          <p:cNvPr id="1939" name="Google Shape;1939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6725" y="2754221"/>
            <a:ext cx="1320900" cy="371904"/>
          </a:xfrm>
          <a:prstGeom prst="rect">
            <a:avLst/>
          </a:prstGeom>
          <a:noFill/>
          <a:ln>
            <a:noFill/>
          </a:ln>
        </p:spPr>
      </p:pic>
      <p:sp>
        <p:nvSpPr>
          <p:cNvPr id="1940" name="Google Shape;1940;p74"/>
          <p:cNvSpPr/>
          <p:nvPr/>
        </p:nvSpPr>
        <p:spPr>
          <a:xfrm>
            <a:off x="461738" y="8266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1" name="Google Shape;1941;p74"/>
          <p:cNvSpPr txBox="1"/>
          <p:nvPr/>
        </p:nvSpPr>
        <p:spPr>
          <a:xfrm>
            <a:off x="462050" y="7531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ed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1942" name="Google Shape;1942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2000" y="89525"/>
            <a:ext cx="1422000" cy="66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p75"/>
          <p:cNvSpPr/>
          <p:nvPr/>
        </p:nvSpPr>
        <p:spPr>
          <a:xfrm>
            <a:off x="258775" y="3476262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8" name="Google Shape;1948;p75"/>
          <p:cNvSpPr/>
          <p:nvPr/>
        </p:nvSpPr>
        <p:spPr>
          <a:xfrm>
            <a:off x="832252" y="3476263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9" name="Google Shape;1949;p75"/>
          <p:cNvSpPr/>
          <p:nvPr/>
        </p:nvSpPr>
        <p:spPr>
          <a:xfrm>
            <a:off x="1461052" y="3476263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0" name="Google Shape;1950;p75"/>
          <p:cNvSpPr/>
          <p:nvPr/>
        </p:nvSpPr>
        <p:spPr>
          <a:xfrm>
            <a:off x="2089852" y="3476263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1" name="Google Shape;1951;p75"/>
          <p:cNvSpPr txBox="1"/>
          <p:nvPr/>
        </p:nvSpPr>
        <p:spPr>
          <a:xfrm>
            <a:off x="259063" y="3376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952" name="Google Shape;1952;p75"/>
          <p:cNvSpPr txBox="1"/>
          <p:nvPr/>
        </p:nvSpPr>
        <p:spPr>
          <a:xfrm>
            <a:off x="860213" y="3376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953" name="Google Shape;1953;p75"/>
          <p:cNvSpPr txBox="1"/>
          <p:nvPr/>
        </p:nvSpPr>
        <p:spPr>
          <a:xfrm>
            <a:off x="1475025" y="3376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954" name="Google Shape;1954;p75"/>
          <p:cNvSpPr txBox="1"/>
          <p:nvPr/>
        </p:nvSpPr>
        <p:spPr>
          <a:xfrm>
            <a:off x="2089813" y="33767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955" name="Google Shape;1955;p75"/>
          <p:cNvSpPr txBox="1"/>
          <p:nvPr/>
        </p:nvSpPr>
        <p:spPr>
          <a:xfrm>
            <a:off x="212725" y="4466400"/>
            <a:ext cx="2596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Финальные выходы энкодера</a:t>
            </a:r>
            <a:endParaRPr sz="13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956" name="Google Shape;1956;p75"/>
          <p:cNvSpPr/>
          <p:nvPr/>
        </p:nvSpPr>
        <p:spPr>
          <a:xfrm>
            <a:off x="2808925" y="3413500"/>
            <a:ext cx="324000" cy="49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7" name="Google Shape;1957;p75"/>
          <p:cNvSpPr/>
          <p:nvPr/>
        </p:nvSpPr>
        <p:spPr>
          <a:xfrm>
            <a:off x="5391475" y="3734125"/>
            <a:ext cx="264600" cy="485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8" name="Google Shape;1958;p75"/>
          <p:cNvSpPr txBox="1"/>
          <p:nvPr/>
        </p:nvSpPr>
        <p:spPr>
          <a:xfrm>
            <a:off x="3476650" y="4474200"/>
            <a:ext cx="205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Выходы слоя декодера</a:t>
            </a:r>
            <a:endParaRPr sz="12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959" name="Google Shape;1959;p75"/>
          <p:cNvSpPr/>
          <p:nvPr/>
        </p:nvSpPr>
        <p:spPr>
          <a:xfrm>
            <a:off x="3411375" y="3476712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0" name="Google Shape;1960;p75"/>
          <p:cNvSpPr/>
          <p:nvPr/>
        </p:nvSpPr>
        <p:spPr>
          <a:xfrm>
            <a:off x="3984852" y="3476713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1" name="Google Shape;1961;p75"/>
          <p:cNvSpPr/>
          <p:nvPr/>
        </p:nvSpPr>
        <p:spPr>
          <a:xfrm>
            <a:off x="4613652" y="3476713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2" name="Google Shape;1962;p75"/>
          <p:cNvSpPr txBox="1"/>
          <p:nvPr/>
        </p:nvSpPr>
        <p:spPr>
          <a:xfrm>
            <a:off x="3411988" y="33762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963" name="Google Shape;1963;p75"/>
          <p:cNvSpPr txBox="1"/>
          <p:nvPr/>
        </p:nvSpPr>
        <p:spPr>
          <a:xfrm>
            <a:off x="4012825" y="3377247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964" name="Google Shape;1964;p75"/>
          <p:cNvSpPr txBox="1"/>
          <p:nvPr/>
        </p:nvSpPr>
        <p:spPr>
          <a:xfrm>
            <a:off x="4627625" y="33772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1965" name="Google Shape;1965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550" y="3836000"/>
            <a:ext cx="2224634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6" name="Google Shape;1966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6650" y="3836000"/>
            <a:ext cx="2224634" cy="41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7" name="Google Shape;1967;p75"/>
          <p:cNvSpPr/>
          <p:nvPr/>
        </p:nvSpPr>
        <p:spPr>
          <a:xfrm>
            <a:off x="5303250" y="3672375"/>
            <a:ext cx="398100" cy="49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8" name="Google Shape;1968;p75"/>
          <p:cNvSpPr/>
          <p:nvPr/>
        </p:nvSpPr>
        <p:spPr>
          <a:xfrm>
            <a:off x="947756" y="27621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9" name="Google Shape;1969;p75"/>
          <p:cNvSpPr/>
          <p:nvPr/>
        </p:nvSpPr>
        <p:spPr>
          <a:xfrm>
            <a:off x="1518062" y="27621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0" name="Google Shape;1970;p75"/>
          <p:cNvSpPr/>
          <p:nvPr/>
        </p:nvSpPr>
        <p:spPr>
          <a:xfrm>
            <a:off x="2088371" y="27621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1" name="Google Shape;1971;p75"/>
          <p:cNvSpPr txBox="1"/>
          <p:nvPr/>
        </p:nvSpPr>
        <p:spPr>
          <a:xfrm>
            <a:off x="877970" y="2695359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12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1972" name="Google Shape;1972;p75"/>
          <p:cNvSpPr txBox="1"/>
          <p:nvPr/>
        </p:nvSpPr>
        <p:spPr>
          <a:xfrm>
            <a:off x="1480979" y="2695360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13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1973" name="Google Shape;1973;p75"/>
          <p:cNvSpPr txBox="1"/>
          <p:nvPr/>
        </p:nvSpPr>
        <p:spPr>
          <a:xfrm>
            <a:off x="2055659" y="2695352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14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1974" name="Google Shape;1974;p75"/>
          <p:cNvSpPr/>
          <p:nvPr/>
        </p:nvSpPr>
        <p:spPr>
          <a:xfrm>
            <a:off x="363290" y="279664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5" name="Google Shape;1975;p75"/>
          <p:cNvSpPr txBox="1"/>
          <p:nvPr/>
        </p:nvSpPr>
        <p:spPr>
          <a:xfrm>
            <a:off x="363300" y="2724527"/>
            <a:ext cx="583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11</a:t>
            </a:r>
            <a:endParaRPr sz="1200" i="1" baseline="-25000">
              <a:solidFill>
                <a:srgbClr val="595959"/>
              </a:solidFill>
            </a:endParaRPr>
          </a:p>
        </p:txBody>
      </p:sp>
      <p:cxnSp>
        <p:nvCxnSpPr>
          <p:cNvPr id="1976" name="Google Shape;1976;p75"/>
          <p:cNvCxnSpPr>
            <a:endCxn id="1974" idx="4"/>
          </p:cNvCxnSpPr>
          <p:nvPr/>
        </p:nvCxnSpPr>
        <p:spPr>
          <a:xfrm rot="10800000" flipH="1">
            <a:off x="524990" y="3150646"/>
            <a:ext cx="300" cy="29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77" name="Google Shape;1977;p75"/>
          <p:cNvCxnSpPr/>
          <p:nvPr/>
        </p:nvCxnSpPr>
        <p:spPr>
          <a:xfrm rot="10800000" flipH="1">
            <a:off x="1132838" y="3183138"/>
            <a:ext cx="300" cy="29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78" name="Google Shape;1978;p75"/>
          <p:cNvCxnSpPr/>
          <p:nvPr/>
        </p:nvCxnSpPr>
        <p:spPr>
          <a:xfrm rot="10800000" flipH="1">
            <a:off x="1679888" y="3183138"/>
            <a:ext cx="300" cy="29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79" name="Google Shape;1979;p75"/>
          <p:cNvCxnSpPr/>
          <p:nvPr/>
        </p:nvCxnSpPr>
        <p:spPr>
          <a:xfrm rot="10800000" flipH="1">
            <a:off x="2250213" y="3183138"/>
            <a:ext cx="300" cy="29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80" name="Google Shape;1980;p75"/>
          <p:cNvSpPr txBox="1"/>
          <p:nvPr/>
        </p:nvSpPr>
        <p:spPr>
          <a:xfrm>
            <a:off x="320491" y="1443875"/>
            <a:ext cx="2213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0.1     0.15    0.5       0.25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81" name="Google Shape;1981;p75"/>
          <p:cNvCxnSpPr/>
          <p:nvPr/>
        </p:nvCxnSpPr>
        <p:spPr>
          <a:xfrm>
            <a:off x="159756" y="2694031"/>
            <a:ext cx="2230800" cy="1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82" name="Google Shape;1982;p75"/>
          <p:cNvSpPr/>
          <p:nvPr/>
        </p:nvSpPr>
        <p:spPr>
          <a:xfrm rot="5400000">
            <a:off x="1300388" y="233500"/>
            <a:ext cx="141300" cy="2073300"/>
          </a:xfrm>
          <a:prstGeom prst="leftBrace">
            <a:avLst>
              <a:gd name="adj1" fmla="val 50000"/>
              <a:gd name="adj2" fmla="val 57831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83" name="Google Shape;1983;p75"/>
          <p:cNvCxnSpPr>
            <a:stCxn id="1963" idx="0"/>
            <a:endCxn id="1973" idx="2"/>
          </p:cNvCxnSpPr>
          <p:nvPr/>
        </p:nvCxnSpPr>
        <p:spPr>
          <a:xfrm rot="10800000">
            <a:off x="2357125" y="3064647"/>
            <a:ext cx="1898400" cy="31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84" name="Google Shape;1984;p75"/>
          <p:cNvCxnSpPr>
            <a:stCxn id="1963" idx="0"/>
            <a:endCxn id="1972" idx="2"/>
          </p:cNvCxnSpPr>
          <p:nvPr/>
        </p:nvCxnSpPr>
        <p:spPr>
          <a:xfrm rot="10800000">
            <a:off x="1782625" y="3064647"/>
            <a:ext cx="2472900" cy="31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85" name="Google Shape;1985;p75"/>
          <p:cNvCxnSpPr>
            <a:stCxn id="1963" idx="0"/>
            <a:endCxn id="1971" idx="2"/>
          </p:cNvCxnSpPr>
          <p:nvPr/>
        </p:nvCxnSpPr>
        <p:spPr>
          <a:xfrm rot="10800000">
            <a:off x="1179325" y="3064647"/>
            <a:ext cx="3076200" cy="31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86" name="Google Shape;1986;p75"/>
          <p:cNvCxnSpPr>
            <a:stCxn id="1963" idx="0"/>
            <a:endCxn id="1975" idx="2"/>
          </p:cNvCxnSpPr>
          <p:nvPr/>
        </p:nvCxnSpPr>
        <p:spPr>
          <a:xfrm rot="10800000">
            <a:off x="655225" y="3093747"/>
            <a:ext cx="3600300" cy="283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87" name="Google Shape;1987;p75"/>
          <p:cNvSpPr txBox="1"/>
          <p:nvPr/>
        </p:nvSpPr>
        <p:spPr>
          <a:xfrm>
            <a:off x="3434613" y="2103858"/>
            <a:ext cx="85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SoftMax</a:t>
            </a:r>
            <a:endParaRPr>
              <a:solidFill>
                <a:srgbClr val="B7B7B7"/>
              </a:solidFill>
            </a:endParaRPr>
          </a:p>
        </p:txBody>
      </p:sp>
      <p:pic>
        <p:nvPicPr>
          <p:cNvPr id="1988" name="Google Shape;1988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6725" y="2754221"/>
            <a:ext cx="1320900" cy="371904"/>
          </a:xfrm>
          <a:prstGeom prst="rect">
            <a:avLst/>
          </a:prstGeom>
          <a:noFill/>
          <a:ln>
            <a:noFill/>
          </a:ln>
        </p:spPr>
      </p:pic>
      <p:sp>
        <p:nvSpPr>
          <p:cNvPr id="1989" name="Google Shape;1989;p75"/>
          <p:cNvSpPr/>
          <p:nvPr/>
        </p:nvSpPr>
        <p:spPr>
          <a:xfrm>
            <a:off x="461738" y="8266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0" name="Google Shape;1990;p75"/>
          <p:cNvSpPr txBox="1"/>
          <p:nvPr/>
        </p:nvSpPr>
        <p:spPr>
          <a:xfrm>
            <a:off x="462050" y="7531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ed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991" name="Google Shape;1991;p75"/>
          <p:cNvSpPr/>
          <p:nvPr/>
        </p:nvSpPr>
        <p:spPr>
          <a:xfrm>
            <a:off x="989013" y="8266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2" name="Google Shape;1992;p75"/>
          <p:cNvSpPr txBox="1"/>
          <p:nvPr/>
        </p:nvSpPr>
        <p:spPr>
          <a:xfrm>
            <a:off x="989325" y="7531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ed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1993" name="Google Shape;1993;p75"/>
          <p:cNvSpPr/>
          <p:nvPr/>
        </p:nvSpPr>
        <p:spPr>
          <a:xfrm>
            <a:off x="1056275" y="2281581"/>
            <a:ext cx="209400" cy="2931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4" name="Google Shape;1994;p75"/>
          <p:cNvSpPr/>
          <p:nvPr/>
        </p:nvSpPr>
        <p:spPr>
          <a:xfrm>
            <a:off x="1552975" y="1980632"/>
            <a:ext cx="209400" cy="5838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5" name="Google Shape;1995;p75"/>
          <p:cNvSpPr/>
          <p:nvPr/>
        </p:nvSpPr>
        <p:spPr>
          <a:xfrm>
            <a:off x="2145375" y="2185772"/>
            <a:ext cx="209400" cy="3540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6" name="Google Shape;1996;p75"/>
          <p:cNvSpPr/>
          <p:nvPr/>
        </p:nvSpPr>
        <p:spPr>
          <a:xfrm>
            <a:off x="387325" y="2352214"/>
            <a:ext cx="209400" cy="2280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97" name="Google Shape;1997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4425" y="88819"/>
            <a:ext cx="1437125" cy="664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8" name="Google Shape;1998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06736" y="2748188"/>
            <a:ext cx="1388389" cy="38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p76"/>
          <p:cNvSpPr/>
          <p:nvPr/>
        </p:nvSpPr>
        <p:spPr>
          <a:xfrm>
            <a:off x="258775" y="3476262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4" name="Google Shape;2004;p76"/>
          <p:cNvSpPr/>
          <p:nvPr/>
        </p:nvSpPr>
        <p:spPr>
          <a:xfrm>
            <a:off x="832252" y="3476263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5" name="Google Shape;2005;p76"/>
          <p:cNvSpPr/>
          <p:nvPr/>
        </p:nvSpPr>
        <p:spPr>
          <a:xfrm>
            <a:off x="1461052" y="3476263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6" name="Google Shape;2006;p76"/>
          <p:cNvSpPr/>
          <p:nvPr/>
        </p:nvSpPr>
        <p:spPr>
          <a:xfrm>
            <a:off x="2089852" y="3476263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7" name="Google Shape;2007;p76"/>
          <p:cNvSpPr txBox="1"/>
          <p:nvPr/>
        </p:nvSpPr>
        <p:spPr>
          <a:xfrm>
            <a:off x="259063" y="3376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008" name="Google Shape;2008;p76"/>
          <p:cNvSpPr txBox="1"/>
          <p:nvPr/>
        </p:nvSpPr>
        <p:spPr>
          <a:xfrm>
            <a:off x="860213" y="3376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009" name="Google Shape;2009;p76"/>
          <p:cNvSpPr txBox="1"/>
          <p:nvPr/>
        </p:nvSpPr>
        <p:spPr>
          <a:xfrm>
            <a:off x="1475025" y="3376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010" name="Google Shape;2010;p76"/>
          <p:cNvSpPr txBox="1"/>
          <p:nvPr/>
        </p:nvSpPr>
        <p:spPr>
          <a:xfrm>
            <a:off x="2089813" y="33767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011" name="Google Shape;2011;p76"/>
          <p:cNvSpPr txBox="1"/>
          <p:nvPr/>
        </p:nvSpPr>
        <p:spPr>
          <a:xfrm>
            <a:off x="212725" y="4466400"/>
            <a:ext cx="2596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Финальные выходы энкодера</a:t>
            </a:r>
            <a:endParaRPr sz="13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012" name="Google Shape;2012;p76"/>
          <p:cNvSpPr/>
          <p:nvPr/>
        </p:nvSpPr>
        <p:spPr>
          <a:xfrm>
            <a:off x="2808925" y="3413500"/>
            <a:ext cx="324000" cy="49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3" name="Google Shape;2013;p76"/>
          <p:cNvSpPr/>
          <p:nvPr/>
        </p:nvSpPr>
        <p:spPr>
          <a:xfrm>
            <a:off x="5391475" y="3734125"/>
            <a:ext cx="264600" cy="485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4" name="Google Shape;2014;p76"/>
          <p:cNvSpPr txBox="1"/>
          <p:nvPr/>
        </p:nvSpPr>
        <p:spPr>
          <a:xfrm>
            <a:off x="3476650" y="4474200"/>
            <a:ext cx="205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Выходы слоя декодера</a:t>
            </a:r>
            <a:endParaRPr sz="12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015" name="Google Shape;2015;p76"/>
          <p:cNvSpPr/>
          <p:nvPr/>
        </p:nvSpPr>
        <p:spPr>
          <a:xfrm>
            <a:off x="3411375" y="3476712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6" name="Google Shape;2016;p76"/>
          <p:cNvSpPr/>
          <p:nvPr/>
        </p:nvSpPr>
        <p:spPr>
          <a:xfrm>
            <a:off x="3984852" y="3476713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7" name="Google Shape;2017;p76"/>
          <p:cNvSpPr/>
          <p:nvPr/>
        </p:nvSpPr>
        <p:spPr>
          <a:xfrm>
            <a:off x="4613652" y="3476713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8" name="Google Shape;2018;p76"/>
          <p:cNvSpPr txBox="1"/>
          <p:nvPr/>
        </p:nvSpPr>
        <p:spPr>
          <a:xfrm>
            <a:off x="3411988" y="33762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019" name="Google Shape;2019;p76"/>
          <p:cNvSpPr txBox="1"/>
          <p:nvPr/>
        </p:nvSpPr>
        <p:spPr>
          <a:xfrm>
            <a:off x="4012825" y="3377247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020" name="Google Shape;2020;p76"/>
          <p:cNvSpPr txBox="1"/>
          <p:nvPr/>
        </p:nvSpPr>
        <p:spPr>
          <a:xfrm>
            <a:off x="4627625" y="33772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2021" name="Google Shape;2021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550" y="3836000"/>
            <a:ext cx="2224634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2" name="Google Shape;2022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6650" y="3836000"/>
            <a:ext cx="2224634" cy="41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3" name="Google Shape;2023;p76"/>
          <p:cNvSpPr/>
          <p:nvPr/>
        </p:nvSpPr>
        <p:spPr>
          <a:xfrm>
            <a:off x="5303250" y="3672375"/>
            <a:ext cx="398100" cy="49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4" name="Google Shape;2024;p76"/>
          <p:cNvSpPr/>
          <p:nvPr/>
        </p:nvSpPr>
        <p:spPr>
          <a:xfrm>
            <a:off x="947756" y="27621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5" name="Google Shape;2025;p76"/>
          <p:cNvSpPr/>
          <p:nvPr/>
        </p:nvSpPr>
        <p:spPr>
          <a:xfrm>
            <a:off x="1518062" y="27621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6" name="Google Shape;2026;p76"/>
          <p:cNvSpPr/>
          <p:nvPr/>
        </p:nvSpPr>
        <p:spPr>
          <a:xfrm>
            <a:off x="2088371" y="276216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7" name="Google Shape;2027;p76"/>
          <p:cNvSpPr txBox="1"/>
          <p:nvPr/>
        </p:nvSpPr>
        <p:spPr>
          <a:xfrm>
            <a:off x="877970" y="2695359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12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028" name="Google Shape;2028;p76"/>
          <p:cNvSpPr txBox="1"/>
          <p:nvPr/>
        </p:nvSpPr>
        <p:spPr>
          <a:xfrm>
            <a:off x="1480979" y="2695360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13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029" name="Google Shape;2029;p76"/>
          <p:cNvSpPr txBox="1"/>
          <p:nvPr/>
        </p:nvSpPr>
        <p:spPr>
          <a:xfrm>
            <a:off x="2055659" y="2695352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14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030" name="Google Shape;2030;p76"/>
          <p:cNvSpPr/>
          <p:nvPr/>
        </p:nvSpPr>
        <p:spPr>
          <a:xfrm>
            <a:off x="363290" y="2796646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1" name="Google Shape;2031;p76"/>
          <p:cNvSpPr txBox="1"/>
          <p:nvPr/>
        </p:nvSpPr>
        <p:spPr>
          <a:xfrm>
            <a:off x="363300" y="2724527"/>
            <a:ext cx="583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11</a:t>
            </a:r>
            <a:endParaRPr sz="1200" i="1" baseline="-25000">
              <a:solidFill>
                <a:srgbClr val="595959"/>
              </a:solidFill>
            </a:endParaRPr>
          </a:p>
        </p:txBody>
      </p:sp>
      <p:cxnSp>
        <p:nvCxnSpPr>
          <p:cNvPr id="2032" name="Google Shape;2032;p76"/>
          <p:cNvCxnSpPr>
            <a:endCxn id="2030" idx="4"/>
          </p:cNvCxnSpPr>
          <p:nvPr/>
        </p:nvCxnSpPr>
        <p:spPr>
          <a:xfrm rot="10800000" flipH="1">
            <a:off x="524990" y="3150646"/>
            <a:ext cx="300" cy="29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33" name="Google Shape;2033;p76"/>
          <p:cNvCxnSpPr/>
          <p:nvPr/>
        </p:nvCxnSpPr>
        <p:spPr>
          <a:xfrm rot="10800000" flipH="1">
            <a:off x="1132838" y="3183138"/>
            <a:ext cx="300" cy="29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34" name="Google Shape;2034;p76"/>
          <p:cNvCxnSpPr/>
          <p:nvPr/>
        </p:nvCxnSpPr>
        <p:spPr>
          <a:xfrm rot="10800000" flipH="1">
            <a:off x="1679888" y="3183138"/>
            <a:ext cx="300" cy="29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35" name="Google Shape;2035;p76"/>
          <p:cNvCxnSpPr/>
          <p:nvPr/>
        </p:nvCxnSpPr>
        <p:spPr>
          <a:xfrm rot="10800000" flipH="1">
            <a:off x="2250213" y="3183138"/>
            <a:ext cx="300" cy="29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36" name="Google Shape;2036;p76"/>
          <p:cNvSpPr txBox="1"/>
          <p:nvPr/>
        </p:nvSpPr>
        <p:spPr>
          <a:xfrm>
            <a:off x="320491" y="1443875"/>
            <a:ext cx="2213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0.11     0.11    0.2     0.56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cxnSp>
        <p:nvCxnSpPr>
          <p:cNvPr id="2037" name="Google Shape;2037;p76"/>
          <p:cNvCxnSpPr/>
          <p:nvPr/>
        </p:nvCxnSpPr>
        <p:spPr>
          <a:xfrm>
            <a:off x="159756" y="2694031"/>
            <a:ext cx="2230800" cy="1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38" name="Google Shape;2038;p76"/>
          <p:cNvSpPr/>
          <p:nvPr/>
        </p:nvSpPr>
        <p:spPr>
          <a:xfrm rot="5400000">
            <a:off x="1300388" y="233500"/>
            <a:ext cx="141300" cy="2073300"/>
          </a:xfrm>
          <a:prstGeom prst="leftBrace">
            <a:avLst>
              <a:gd name="adj1" fmla="val 50000"/>
              <a:gd name="adj2" fmla="val 32299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39" name="Google Shape;2039;p76"/>
          <p:cNvCxnSpPr>
            <a:stCxn id="2019" idx="0"/>
            <a:endCxn id="2029" idx="2"/>
          </p:cNvCxnSpPr>
          <p:nvPr/>
        </p:nvCxnSpPr>
        <p:spPr>
          <a:xfrm rot="10800000">
            <a:off x="2357125" y="3064647"/>
            <a:ext cx="1898400" cy="31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40" name="Google Shape;2040;p76"/>
          <p:cNvCxnSpPr>
            <a:stCxn id="2019" idx="0"/>
            <a:endCxn id="2028" idx="2"/>
          </p:cNvCxnSpPr>
          <p:nvPr/>
        </p:nvCxnSpPr>
        <p:spPr>
          <a:xfrm rot="10800000">
            <a:off x="1782625" y="3064647"/>
            <a:ext cx="2472900" cy="31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41" name="Google Shape;2041;p76"/>
          <p:cNvCxnSpPr>
            <a:stCxn id="2019" idx="0"/>
            <a:endCxn id="2027" idx="2"/>
          </p:cNvCxnSpPr>
          <p:nvPr/>
        </p:nvCxnSpPr>
        <p:spPr>
          <a:xfrm rot="10800000">
            <a:off x="1179325" y="3064647"/>
            <a:ext cx="3076200" cy="31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42" name="Google Shape;2042;p76"/>
          <p:cNvCxnSpPr>
            <a:stCxn id="2019" idx="0"/>
            <a:endCxn id="2031" idx="2"/>
          </p:cNvCxnSpPr>
          <p:nvPr/>
        </p:nvCxnSpPr>
        <p:spPr>
          <a:xfrm rot="10800000">
            <a:off x="655225" y="3093747"/>
            <a:ext cx="3600300" cy="283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43" name="Google Shape;2043;p76"/>
          <p:cNvSpPr txBox="1"/>
          <p:nvPr/>
        </p:nvSpPr>
        <p:spPr>
          <a:xfrm>
            <a:off x="3434613" y="2103858"/>
            <a:ext cx="85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SoftMax</a:t>
            </a:r>
            <a:endParaRPr>
              <a:solidFill>
                <a:srgbClr val="B7B7B7"/>
              </a:solidFill>
            </a:endParaRPr>
          </a:p>
        </p:txBody>
      </p:sp>
      <p:pic>
        <p:nvPicPr>
          <p:cNvPr id="2044" name="Google Shape;2044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6725" y="2754221"/>
            <a:ext cx="1320900" cy="371904"/>
          </a:xfrm>
          <a:prstGeom prst="rect">
            <a:avLst/>
          </a:prstGeom>
          <a:noFill/>
          <a:ln>
            <a:noFill/>
          </a:ln>
        </p:spPr>
      </p:pic>
      <p:sp>
        <p:nvSpPr>
          <p:cNvPr id="2045" name="Google Shape;2045;p76"/>
          <p:cNvSpPr/>
          <p:nvPr/>
        </p:nvSpPr>
        <p:spPr>
          <a:xfrm>
            <a:off x="461738" y="8266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6" name="Google Shape;2046;p76"/>
          <p:cNvSpPr txBox="1"/>
          <p:nvPr/>
        </p:nvSpPr>
        <p:spPr>
          <a:xfrm>
            <a:off x="462050" y="7531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ed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2047" name="Google Shape;2047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4425" y="88819"/>
            <a:ext cx="1437125" cy="664331"/>
          </a:xfrm>
          <a:prstGeom prst="rect">
            <a:avLst/>
          </a:prstGeom>
          <a:noFill/>
          <a:ln>
            <a:noFill/>
          </a:ln>
        </p:spPr>
      </p:pic>
      <p:sp>
        <p:nvSpPr>
          <p:cNvPr id="2048" name="Google Shape;2048;p76"/>
          <p:cNvSpPr/>
          <p:nvPr/>
        </p:nvSpPr>
        <p:spPr>
          <a:xfrm>
            <a:off x="1056275" y="2369837"/>
            <a:ext cx="209400" cy="2280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9" name="Google Shape;2049;p76"/>
          <p:cNvSpPr/>
          <p:nvPr/>
        </p:nvSpPr>
        <p:spPr>
          <a:xfrm>
            <a:off x="1552975" y="2233590"/>
            <a:ext cx="209400" cy="3540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0" name="Google Shape;2050;p76"/>
          <p:cNvSpPr/>
          <p:nvPr/>
        </p:nvSpPr>
        <p:spPr>
          <a:xfrm>
            <a:off x="2145375" y="1831165"/>
            <a:ext cx="209400" cy="7317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1" name="Google Shape;2051;p76"/>
          <p:cNvSpPr/>
          <p:nvPr/>
        </p:nvSpPr>
        <p:spPr>
          <a:xfrm>
            <a:off x="387325" y="2375376"/>
            <a:ext cx="209400" cy="2280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2" name="Google Shape;2052;p76"/>
          <p:cNvSpPr/>
          <p:nvPr/>
        </p:nvSpPr>
        <p:spPr>
          <a:xfrm>
            <a:off x="1516288" y="8266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3" name="Google Shape;2053;p76"/>
          <p:cNvSpPr txBox="1"/>
          <p:nvPr/>
        </p:nvSpPr>
        <p:spPr>
          <a:xfrm>
            <a:off x="1516600" y="7531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ed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054" name="Google Shape;2054;p76"/>
          <p:cNvSpPr/>
          <p:nvPr/>
        </p:nvSpPr>
        <p:spPr>
          <a:xfrm>
            <a:off x="989013" y="826625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5" name="Google Shape;2055;p76"/>
          <p:cNvSpPr txBox="1"/>
          <p:nvPr/>
        </p:nvSpPr>
        <p:spPr>
          <a:xfrm>
            <a:off x="989325" y="7531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ed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2056" name="Google Shape;2056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1749" y="88825"/>
            <a:ext cx="1388400" cy="662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7" name="Google Shape;2057;p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35326" y="2752875"/>
            <a:ext cx="1243316" cy="36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Google Shape;2062;p77"/>
          <p:cNvSpPr/>
          <p:nvPr/>
        </p:nvSpPr>
        <p:spPr>
          <a:xfrm>
            <a:off x="258775" y="3476262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3" name="Google Shape;2063;p77"/>
          <p:cNvSpPr/>
          <p:nvPr/>
        </p:nvSpPr>
        <p:spPr>
          <a:xfrm>
            <a:off x="832252" y="3476263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4" name="Google Shape;2064;p77"/>
          <p:cNvSpPr/>
          <p:nvPr/>
        </p:nvSpPr>
        <p:spPr>
          <a:xfrm>
            <a:off x="1461052" y="3476263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5" name="Google Shape;2065;p77"/>
          <p:cNvSpPr/>
          <p:nvPr/>
        </p:nvSpPr>
        <p:spPr>
          <a:xfrm>
            <a:off x="2089852" y="3476263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6" name="Google Shape;2066;p77"/>
          <p:cNvSpPr txBox="1"/>
          <p:nvPr/>
        </p:nvSpPr>
        <p:spPr>
          <a:xfrm>
            <a:off x="259063" y="3376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067" name="Google Shape;2067;p77"/>
          <p:cNvSpPr txBox="1"/>
          <p:nvPr/>
        </p:nvSpPr>
        <p:spPr>
          <a:xfrm>
            <a:off x="860213" y="3376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068" name="Google Shape;2068;p77"/>
          <p:cNvSpPr txBox="1"/>
          <p:nvPr/>
        </p:nvSpPr>
        <p:spPr>
          <a:xfrm>
            <a:off x="1475025" y="33767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069" name="Google Shape;2069;p77"/>
          <p:cNvSpPr txBox="1"/>
          <p:nvPr/>
        </p:nvSpPr>
        <p:spPr>
          <a:xfrm>
            <a:off x="2089813" y="33767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070" name="Google Shape;2070;p77"/>
          <p:cNvSpPr txBox="1"/>
          <p:nvPr/>
        </p:nvSpPr>
        <p:spPr>
          <a:xfrm>
            <a:off x="212725" y="4466400"/>
            <a:ext cx="2596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Финальные выходы энкодера</a:t>
            </a:r>
            <a:endParaRPr sz="13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071" name="Google Shape;2071;p77"/>
          <p:cNvSpPr/>
          <p:nvPr/>
        </p:nvSpPr>
        <p:spPr>
          <a:xfrm>
            <a:off x="2808925" y="3413500"/>
            <a:ext cx="324000" cy="49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2" name="Google Shape;2072;p77"/>
          <p:cNvSpPr/>
          <p:nvPr/>
        </p:nvSpPr>
        <p:spPr>
          <a:xfrm>
            <a:off x="5391475" y="3734125"/>
            <a:ext cx="264600" cy="485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3" name="Google Shape;2073;p77"/>
          <p:cNvSpPr txBox="1"/>
          <p:nvPr/>
        </p:nvSpPr>
        <p:spPr>
          <a:xfrm>
            <a:off x="3476650" y="4474200"/>
            <a:ext cx="205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Выходы слоя декодера</a:t>
            </a:r>
            <a:endParaRPr sz="12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074" name="Google Shape;2074;p77"/>
          <p:cNvSpPr/>
          <p:nvPr/>
        </p:nvSpPr>
        <p:spPr>
          <a:xfrm>
            <a:off x="3411375" y="3476712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5" name="Google Shape;2075;p77"/>
          <p:cNvSpPr/>
          <p:nvPr/>
        </p:nvSpPr>
        <p:spPr>
          <a:xfrm>
            <a:off x="3984852" y="3476713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6" name="Google Shape;2076;p77"/>
          <p:cNvSpPr/>
          <p:nvPr/>
        </p:nvSpPr>
        <p:spPr>
          <a:xfrm>
            <a:off x="4613652" y="3476713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7" name="Google Shape;2077;p77"/>
          <p:cNvSpPr txBox="1"/>
          <p:nvPr/>
        </p:nvSpPr>
        <p:spPr>
          <a:xfrm>
            <a:off x="3411988" y="33762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078" name="Google Shape;2078;p77"/>
          <p:cNvSpPr txBox="1"/>
          <p:nvPr/>
        </p:nvSpPr>
        <p:spPr>
          <a:xfrm>
            <a:off x="4012825" y="3377247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079" name="Google Shape;2079;p77"/>
          <p:cNvSpPr txBox="1"/>
          <p:nvPr/>
        </p:nvSpPr>
        <p:spPr>
          <a:xfrm>
            <a:off x="4627625" y="33772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d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2080" name="Google Shape;2080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550" y="3836000"/>
            <a:ext cx="2224634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1" name="Google Shape;2081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6650" y="3836000"/>
            <a:ext cx="2224634" cy="41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2" name="Google Shape;2082;p77"/>
          <p:cNvSpPr/>
          <p:nvPr/>
        </p:nvSpPr>
        <p:spPr>
          <a:xfrm>
            <a:off x="5303250" y="3672375"/>
            <a:ext cx="398100" cy="49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3" name="Google Shape;2083;p77"/>
          <p:cNvSpPr/>
          <p:nvPr/>
        </p:nvSpPr>
        <p:spPr>
          <a:xfrm>
            <a:off x="3412875" y="2598300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4" name="Google Shape;2084;p77"/>
          <p:cNvSpPr/>
          <p:nvPr/>
        </p:nvSpPr>
        <p:spPr>
          <a:xfrm>
            <a:off x="3986352" y="2598300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5" name="Google Shape;2085;p77"/>
          <p:cNvSpPr/>
          <p:nvPr/>
        </p:nvSpPr>
        <p:spPr>
          <a:xfrm>
            <a:off x="4615152" y="2598300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6" name="Google Shape;2086;p77"/>
          <p:cNvSpPr txBox="1"/>
          <p:nvPr/>
        </p:nvSpPr>
        <p:spPr>
          <a:xfrm>
            <a:off x="3413488" y="24978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ed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087" name="Google Shape;2087;p77"/>
          <p:cNvSpPr txBox="1"/>
          <p:nvPr/>
        </p:nvSpPr>
        <p:spPr>
          <a:xfrm>
            <a:off x="4014313" y="249880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ed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088" name="Google Shape;2088;p77"/>
          <p:cNvSpPr txBox="1"/>
          <p:nvPr/>
        </p:nvSpPr>
        <p:spPr>
          <a:xfrm>
            <a:off x="4629125" y="249880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r>
              <a:rPr lang="en" sz="1500" i="1" baseline="30000">
                <a:solidFill>
                  <a:srgbClr val="595959"/>
                </a:solidFill>
              </a:rPr>
              <a:t>ed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cxnSp>
        <p:nvCxnSpPr>
          <p:cNvPr id="2089" name="Google Shape;2089;p77"/>
          <p:cNvCxnSpPr>
            <a:stCxn id="2077" idx="0"/>
            <a:endCxn id="2086" idx="2"/>
          </p:cNvCxnSpPr>
          <p:nvPr/>
        </p:nvCxnSpPr>
        <p:spPr>
          <a:xfrm rot="10800000" flipH="1">
            <a:off x="3654688" y="2913388"/>
            <a:ext cx="1500" cy="462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0" name="Google Shape;2090;p77"/>
          <p:cNvCxnSpPr>
            <a:stCxn id="2086" idx="2"/>
          </p:cNvCxnSpPr>
          <p:nvPr/>
        </p:nvCxnSpPr>
        <p:spPr>
          <a:xfrm flipH="1">
            <a:off x="460588" y="2913375"/>
            <a:ext cx="3195600" cy="500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1" name="Google Shape;2091;p77"/>
          <p:cNvCxnSpPr>
            <a:stCxn id="2086" idx="2"/>
          </p:cNvCxnSpPr>
          <p:nvPr/>
        </p:nvCxnSpPr>
        <p:spPr>
          <a:xfrm flipH="1">
            <a:off x="1061488" y="2913375"/>
            <a:ext cx="2594700" cy="500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2" name="Google Shape;2092;p77"/>
          <p:cNvCxnSpPr>
            <a:stCxn id="2086" idx="2"/>
          </p:cNvCxnSpPr>
          <p:nvPr/>
        </p:nvCxnSpPr>
        <p:spPr>
          <a:xfrm flipH="1">
            <a:off x="1676488" y="2913375"/>
            <a:ext cx="1979700" cy="500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3" name="Google Shape;2093;p77"/>
          <p:cNvCxnSpPr>
            <a:stCxn id="2086" idx="2"/>
          </p:cNvCxnSpPr>
          <p:nvPr/>
        </p:nvCxnSpPr>
        <p:spPr>
          <a:xfrm flipH="1">
            <a:off x="2291188" y="2913375"/>
            <a:ext cx="1365000" cy="500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4" name="Google Shape;2094;p77"/>
          <p:cNvCxnSpPr>
            <a:stCxn id="2087" idx="2"/>
            <a:endCxn id="2078" idx="0"/>
          </p:cNvCxnSpPr>
          <p:nvPr/>
        </p:nvCxnSpPr>
        <p:spPr>
          <a:xfrm flipH="1">
            <a:off x="4255513" y="2914300"/>
            <a:ext cx="1500" cy="462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5" name="Google Shape;2095;p77"/>
          <p:cNvCxnSpPr>
            <a:stCxn id="2087" idx="2"/>
          </p:cNvCxnSpPr>
          <p:nvPr/>
        </p:nvCxnSpPr>
        <p:spPr>
          <a:xfrm flipH="1">
            <a:off x="460513" y="2914300"/>
            <a:ext cx="3796500" cy="49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6" name="Google Shape;2096;p77"/>
          <p:cNvCxnSpPr>
            <a:stCxn id="2087" idx="2"/>
          </p:cNvCxnSpPr>
          <p:nvPr/>
        </p:nvCxnSpPr>
        <p:spPr>
          <a:xfrm flipH="1">
            <a:off x="1061713" y="2914300"/>
            <a:ext cx="3195300" cy="49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7" name="Google Shape;2097;p77"/>
          <p:cNvCxnSpPr>
            <a:stCxn id="2087" idx="2"/>
          </p:cNvCxnSpPr>
          <p:nvPr/>
        </p:nvCxnSpPr>
        <p:spPr>
          <a:xfrm flipH="1">
            <a:off x="1676413" y="2914300"/>
            <a:ext cx="2580600" cy="49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8" name="Google Shape;2098;p77"/>
          <p:cNvCxnSpPr>
            <a:stCxn id="2087" idx="2"/>
          </p:cNvCxnSpPr>
          <p:nvPr/>
        </p:nvCxnSpPr>
        <p:spPr>
          <a:xfrm flipH="1">
            <a:off x="2291113" y="2914300"/>
            <a:ext cx="1965900" cy="49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9" name="Google Shape;2099;p77"/>
          <p:cNvCxnSpPr>
            <a:stCxn id="2088" idx="2"/>
          </p:cNvCxnSpPr>
          <p:nvPr/>
        </p:nvCxnSpPr>
        <p:spPr>
          <a:xfrm flipH="1">
            <a:off x="460325" y="2914300"/>
            <a:ext cx="4411500" cy="49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0" name="Google Shape;2100;p77"/>
          <p:cNvCxnSpPr>
            <a:stCxn id="2088" idx="2"/>
          </p:cNvCxnSpPr>
          <p:nvPr/>
        </p:nvCxnSpPr>
        <p:spPr>
          <a:xfrm flipH="1">
            <a:off x="1061525" y="2914300"/>
            <a:ext cx="3810300" cy="49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1" name="Google Shape;2101;p77"/>
          <p:cNvCxnSpPr>
            <a:stCxn id="2088" idx="2"/>
          </p:cNvCxnSpPr>
          <p:nvPr/>
        </p:nvCxnSpPr>
        <p:spPr>
          <a:xfrm flipH="1">
            <a:off x="1676525" y="2914300"/>
            <a:ext cx="3195300" cy="49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2" name="Google Shape;2102;p77"/>
          <p:cNvCxnSpPr>
            <a:stCxn id="2088" idx="2"/>
          </p:cNvCxnSpPr>
          <p:nvPr/>
        </p:nvCxnSpPr>
        <p:spPr>
          <a:xfrm flipH="1">
            <a:off x="2291225" y="2914300"/>
            <a:ext cx="2580600" cy="49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3" name="Google Shape;2103;p77"/>
          <p:cNvCxnSpPr>
            <a:stCxn id="2088" idx="2"/>
            <a:endCxn id="2079" idx="0"/>
          </p:cNvCxnSpPr>
          <p:nvPr/>
        </p:nvCxnSpPr>
        <p:spPr>
          <a:xfrm flipH="1">
            <a:off x="4870325" y="2914300"/>
            <a:ext cx="1500" cy="462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104" name="Google Shape;210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6575" y="2123825"/>
            <a:ext cx="2224634" cy="41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5" name="Google Shape;2105;p77"/>
          <p:cNvSpPr/>
          <p:nvPr/>
        </p:nvSpPr>
        <p:spPr>
          <a:xfrm>
            <a:off x="5303175" y="1960200"/>
            <a:ext cx="398100" cy="49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06" name="Google Shape;2106;p77"/>
          <p:cNvCxnSpPr/>
          <p:nvPr/>
        </p:nvCxnSpPr>
        <p:spPr>
          <a:xfrm>
            <a:off x="2103500" y="2121050"/>
            <a:ext cx="1067400" cy="485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07" name="Google Shape;2107;p77"/>
          <p:cNvSpPr txBox="1"/>
          <p:nvPr/>
        </p:nvSpPr>
        <p:spPr>
          <a:xfrm>
            <a:off x="496025" y="1684213"/>
            <a:ext cx="2247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Векторы cross-attention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2" name="Google Shape;2112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8844" y="4046331"/>
            <a:ext cx="2254784" cy="966293"/>
          </a:xfrm>
          <a:prstGeom prst="rect">
            <a:avLst/>
          </a:prstGeom>
          <a:noFill/>
          <a:ln>
            <a:noFill/>
          </a:ln>
        </p:spPr>
      </p:pic>
      <p:sp>
        <p:nvSpPr>
          <p:cNvPr id="2113" name="Google Shape;2113;p78"/>
          <p:cNvSpPr/>
          <p:nvPr/>
        </p:nvSpPr>
        <p:spPr>
          <a:xfrm>
            <a:off x="2641496" y="4031319"/>
            <a:ext cx="2048400" cy="6813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4" name="Google Shape;2114;p78"/>
          <p:cNvSpPr/>
          <p:nvPr/>
        </p:nvSpPr>
        <p:spPr>
          <a:xfrm>
            <a:off x="2637327" y="4409825"/>
            <a:ext cx="442800" cy="2391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5" name="Google Shape;2115;p78"/>
          <p:cNvSpPr/>
          <p:nvPr/>
        </p:nvSpPr>
        <p:spPr>
          <a:xfrm>
            <a:off x="3159981" y="4409826"/>
            <a:ext cx="442800" cy="2391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6" name="Google Shape;2116;p78"/>
          <p:cNvSpPr/>
          <p:nvPr/>
        </p:nvSpPr>
        <p:spPr>
          <a:xfrm>
            <a:off x="3733055" y="4409826"/>
            <a:ext cx="442800" cy="2391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7" name="Google Shape;2117;p78"/>
          <p:cNvSpPr/>
          <p:nvPr/>
        </p:nvSpPr>
        <p:spPr>
          <a:xfrm>
            <a:off x="4306128" y="4409826"/>
            <a:ext cx="442800" cy="2391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8" name="Google Shape;2118;p78"/>
          <p:cNvSpPr txBox="1"/>
          <p:nvPr/>
        </p:nvSpPr>
        <p:spPr>
          <a:xfrm>
            <a:off x="2637589" y="4321185"/>
            <a:ext cx="44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595959"/>
                </a:solidFill>
              </a:rPr>
              <a:t>x</a:t>
            </a:r>
            <a:r>
              <a:rPr lang="en" i="1" baseline="30000">
                <a:solidFill>
                  <a:srgbClr val="595959"/>
                </a:solidFill>
              </a:rPr>
              <a:t>e</a:t>
            </a:r>
            <a:r>
              <a:rPr lang="en" i="1" baseline="-25000">
                <a:solidFill>
                  <a:srgbClr val="595959"/>
                </a:solidFill>
              </a:rPr>
              <a:t>1</a:t>
            </a:r>
            <a:endParaRPr i="1" baseline="-25000">
              <a:solidFill>
                <a:srgbClr val="595959"/>
              </a:solidFill>
            </a:endParaRPr>
          </a:p>
        </p:txBody>
      </p:sp>
      <p:sp>
        <p:nvSpPr>
          <p:cNvPr id="2119" name="Google Shape;2119;p78"/>
          <p:cNvSpPr txBox="1"/>
          <p:nvPr/>
        </p:nvSpPr>
        <p:spPr>
          <a:xfrm>
            <a:off x="3185463" y="4321185"/>
            <a:ext cx="44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595959"/>
                </a:solidFill>
              </a:rPr>
              <a:t>x</a:t>
            </a:r>
            <a:r>
              <a:rPr lang="en" i="1" baseline="30000">
                <a:solidFill>
                  <a:srgbClr val="595959"/>
                </a:solidFill>
              </a:rPr>
              <a:t>e</a:t>
            </a:r>
            <a:r>
              <a:rPr lang="en" i="1" baseline="-25000">
                <a:solidFill>
                  <a:srgbClr val="595959"/>
                </a:solidFill>
              </a:rPr>
              <a:t>2</a:t>
            </a:r>
            <a:endParaRPr i="1" baseline="-25000">
              <a:solidFill>
                <a:srgbClr val="595959"/>
              </a:solidFill>
            </a:endParaRPr>
          </a:p>
        </p:txBody>
      </p:sp>
      <p:sp>
        <p:nvSpPr>
          <p:cNvPr id="2120" name="Google Shape;2120;p78"/>
          <p:cNvSpPr txBox="1"/>
          <p:nvPr/>
        </p:nvSpPr>
        <p:spPr>
          <a:xfrm>
            <a:off x="3745789" y="4321185"/>
            <a:ext cx="44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595959"/>
                </a:solidFill>
              </a:rPr>
              <a:t>x</a:t>
            </a:r>
            <a:r>
              <a:rPr lang="en" i="1" baseline="30000">
                <a:solidFill>
                  <a:srgbClr val="595959"/>
                </a:solidFill>
              </a:rPr>
              <a:t>e</a:t>
            </a:r>
            <a:r>
              <a:rPr lang="en" i="1" baseline="-25000">
                <a:solidFill>
                  <a:srgbClr val="595959"/>
                </a:solidFill>
              </a:rPr>
              <a:t>3</a:t>
            </a:r>
            <a:endParaRPr i="1" baseline="-25000">
              <a:solidFill>
                <a:srgbClr val="595959"/>
              </a:solidFill>
            </a:endParaRPr>
          </a:p>
        </p:txBody>
      </p:sp>
      <p:sp>
        <p:nvSpPr>
          <p:cNvPr id="2121" name="Google Shape;2121;p78"/>
          <p:cNvSpPr txBox="1"/>
          <p:nvPr/>
        </p:nvSpPr>
        <p:spPr>
          <a:xfrm>
            <a:off x="4306092" y="4321173"/>
            <a:ext cx="44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595959"/>
                </a:solidFill>
              </a:rPr>
              <a:t>x</a:t>
            </a:r>
            <a:r>
              <a:rPr lang="en" i="1" baseline="30000">
                <a:solidFill>
                  <a:srgbClr val="595959"/>
                </a:solidFill>
              </a:rPr>
              <a:t>e</a:t>
            </a:r>
            <a:r>
              <a:rPr lang="en" i="1" baseline="-25000">
                <a:solidFill>
                  <a:srgbClr val="595959"/>
                </a:solidFill>
              </a:rPr>
              <a:t>4</a:t>
            </a:r>
            <a:endParaRPr i="1" baseline="-25000">
              <a:solidFill>
                <a:srgbClr val="595959"/>
              </a:solidFill>
            </a:endParaRPr>
          </a:p>
        </p:txBody>
      </p:sp>
      <p:sp>
        <p:nvSpPr>
          <p:cNvPr id="2122" name="Google Shape;2122;p78"/>
          <p:cNvSpPr/>
          <p:nvPr/>
        </p:nvSpPr>
        <p:spPr>
          <a:xfrm>
            <a:off x="2641496" y="3387023"/>
            <a:ext cx="2048400" cy="6813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3" name="Google Shape;2123;p78"/>
          <p:cNvSpPr/>
          <p:nvPr/>
        </p:nvSpPr>
        <p:spPr>
          <a:xfrm>
            <a:off x="2637327" y="3765530"/>
            <a:ext cx="442800" cy="2391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4" name="Google Shape;2124;p78"/>
          <p:cNvSpPr/>
          <p:nvPr/>
        </p:nvSpPr>
        <p:spPr>
          <a:xfrm>
            <a:off x="3159981" y="3765530"/>
            <a:ext cx="442800" cy="2391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5" name="Google Shape;2125;p78"/>
          <p:cNvSpPr/>
          <p:nvPr/>
        </p:nvSpPr>
        <p:spPr>
          <a:xfrm>
            <a:off x="3733055" y="3765530"/>
            <a:ext cx="442800" cy="2391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6" name="Google Shape;2126;p78"/>
          <p:cNvSpPr/>
          <p:nvPr/>
        </p:nvSpPr>
        <p:spPr>
          <a:xfrm>
            <a:off x="4306128" y="3765530"/>
            <a:ext cx="442800" cy="2391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7" name="Google Shape;2127;p78"/>
          <p:cNvSpPr txBox="1"/>
          <p:nvPr/>
        </p:nvSpPr>
        <p:spPr>
          <a:xfrm>
            <a:off x="2637886" y="3676065"/>
            <a:ext cx="44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595959"/>
                </a:solidFill>
              </a:rPr>
              <a:t>a</a:t>
            </a:r>
            <a:r>
              <a:rPr lang="en" i="1" baseline="30000">
                <a:solidFill>
                  <a:srgbClr val="595959"/>
                </a:solidFill>
              </a:rPr>
              <a:t>e</a:t>
            </a:r>
            <a:r>
              <a:rPr lang="en" i="1" baseline="-25000">
                <a:solidFill>
                  <a:srgbClr val="595959"/>
                </a:solidFill>
              </a:rPr>
              <a:t>1</a:t>
            </a:r>
            <a:endParaRPr i="1" baseline="-25000">
              <a:solidFill>
                <a:srgbClr val="595959"/>
              </a:solidFill>
            </a:endParaRPr>
          </a:p>
        </p:txBody>
      </p:sp>
      <p:sp>
        <p:nvSpPr>
          <p:cNvPr id="2128" name="Google Shape;2128;p78"/>
          <p:cNvSpPr txBox="1"/>
          <p:nvPr/>
        </p:nvSpPr>
        <p:spPr>
          <a:xfrm>
            <a:off x="3185463" y="3676889"/>
            <a:ext cx="44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595959"/>
                </a:solidFill>
              </a:rPr>
              <a:t>a</a:t>
            </a:r>
            <a:r>
              <a:rPr lang="en" i="1" baseline="30000">
                <a:solidFill>
                  <a:srgbClr val="595959"/>
                </a:solidFill>
              </a:rPr>
              <a:t>e</a:t>
            </a:r>
            <a:r>
              <a:rPr lang="en" i="1" baseline="-25000">
                <a:solidFill>
                  <a:srgbClr val="595959"/>
                </a:solidFill>
              </a:rPr>
              <a:t>2</a:t>
            </a:r>
            <a:endParaRPr i="1" baseline="-25000">
              <a:solidFill>
                <a:srgbClr val="595959"/>
              </a:solidFill>
            </a:endParaRPr>
          </a:p>
        </p:txBody>
      </p:sp>
      <p:sp>
        <p:nvSpPr>
          <p:cNvPr id="2129" name="Google Shape;2129;p78"/>
          <p:cNvSpPr txBox="1"/>
          <p:nvPr/>
        </p:nvSpPr>
        <p:spPr>
          <a:xfrm>
            <a:off x="3745789" y="3676889"/>
            <a:ext cx="44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595959"/>
                </a:solidFill>
              </a:rPr>
              <a:t>a</a:t>
            </a:r>
            <a:r>
              <a:rPr lang="en" i="1" baseline="30000">
                <a:solidFill>
                  <a:srgbClr val="595959"/>
                </a:solidFill>
              </a:rPr>
              <a:t>e</a:t>
            </a:r>
            <a:r>
              <a:rPr lang="en" i="1" baseline="-25000">
                <a:solidFill>
                  <a:srgbClr val="595959"/>
                </a:solidFill>
              </a:rPr>
              <a:t>3</a:t>
            </a:r>
            <a:endParaRPr i="1" baseline="-25000">
              <a:solidFill>
                <a:srgbClr val="595959"/>
              </a:solidFill>
            </a:endParaRPr>
          </a:p>
        </p:txBody>
      </p:sp>
      <p:sp>
        <p:nvSpPr>
          <p:cNvPr id="2130" name="Google Shape;2130;p78"/>
          <p:cNvSpPr txBox="1"/>
          <p:nvPr/>
        </p:nvSpPr>
        <p:spPr>
          <a:xfrm>
            <a:off x="4306092" y="3676878"/>
            <a:ext cx="44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595959"/>
                </a:solidFill>
              </a:rPr>
              <a:t>a</a:t>
            </a:r>
            <a:r>
              <a:rPr lang="en" i="1" baseline="30000">
                <a:solidFill>
                  <a:srgbClr val="595959"/>
                </a:solidFill>
              </a:rPr>
              <a:t>e</a:t>
            </a:r>
            <a:r>
              <a:rPr lang="en" i="1" baseline="-25000">
                <a:solidFill>
                  <a:srgbClr val="595959"/>
                </a:solidFill>
              </a:rPr>
              <a:t>4</a:t>
            </a:r>
            <a:endParaRPr i="1" baseline="-25000">
              <a:solidFill>
                <a:srgbClr val="595959"/>
              </a:solidFill>
            </a:endParaRPr>
          </a:p>
        </p:txBody>
      </p:sp>
      <p:sp>
        <p:nvSpPr>
          <p:cNvPr id="2131" name="Google Shape;2131;p78"/>
          <p:cNvSpPr txBox="1"/>
          <p:nvPr/>
        </p:nvSpPr>
        <p:spPr>
          <a:xfrm>
            <a:off x="1112062" y="3593172"/>
            <a:ext cx="1280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Masked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Self-attention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2" name="Google Shape;2132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8844" y="2772651"/>
            <a:ext cx="2254784" cy="966293"/>
          </a:xfrm>
          <a:prstGeom prst="rect">
            <a:avLst/>
          </a:prstGeom>
          <a:noFill/>
          <a:ln>
            <a:noFill/>
          </a:ln>
        </p:spPr>
      </p:pic>
      <p:sp>
        <p:nvSpPr>
          <p:cNvPr id="2133" name="Google Shape;2133;p78"/>
          <p:cNvSpPr/>
          <p:nvPr/>
        </p:nvSpPr>
        <p:spPr>
          <a:xfrm>
            <a:off x="2641496" y="2757639"/>
            <a:ext cx="2048400" cy="6813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4" name="Google Shape;2134;p78"/>
          <p:cNvSpPr/>
          <p:nvPr/>
        </p:nvSpPr>
        <p:spPr>
          <a:xfrm>
            <a:off x="2637327" y="3136145"/>
            <a:ext cx="442800" cy="2391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5" name="Google Shape;2135;p78"/>
          <p:cNvSpPr/>
          <p:nvPr/>
        </p:nvSpPr>
        <p:spPr>
          <a:xfrm>
            <a:off x="3159981" y="3136146"/>
            <a:ext cx="442800" cy="2391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6" name="Google Shape;2136;p78"/>
          <p:cNvSpPr/>
          <p:nvPr/>
        </p:nvSpPr>
        <p:spPr>
          <a:xfrm>
            <a:off x="3733055" y="3136146"/>
            <a:ext cx="442800" cy="2391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7" name="Google Shape;2137;p78"/>
          <p:cNvSpPr/>
          <p:nvPr/>
        </p:nvSpPr>
        <p:spPr>
          <a:xfrm>
            <a:off x="4306128" y="3136146"/>
            <a:ext cx="442800" cy="2391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8" name="Google Shape;2138;p78"/>
          <p:cNvSpPr txBox="1"/>
          <p:nvPr/>
        </p:nvSpPr>
        <p:spPr>
          <a:xfrm>
            <a:off x="2666364" y="3026617"/>
            <a:ext cx="44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595959"/>
                </a:solidFill>
              </a:rPr>
              <a:t>x</a:t>
            </a:r>
            <a:r>
              <a:rPr lang="en" i="1" baseline="30000">
                <a:solidFill>
                  <a:srgbClr val="595959"/>
                </a:solidFill>
              </a:rPr>
              <a:t>e</a:t>
            </a:r>
            <a:r>
              <a:rPr lang="en" i="1" baseline="-25000">
                <a:solidFill>
                  <a:srgbClr val="595959"/>
                </a:solidFill>
              </a:rPr>
              <a:t>1</a:t>
            </a:r>
            <a:endParaRPr i="1" baseline="-25000">
              <a:solidFill>
                <a:srgbClr val="595959"/>
              </a:solidFill>
            </a:endParaRPr>
          </a:p>
        </p:txBody>
      </p:sp>
      <p:sp>
        <p:nvSpPr>
          <p:cNvPr id="2139" name="Google Shape;2139;p78"/>
          <p:cNvSpPr txBox="1"/>
          <p:nvPr/>
        </p:nvSpPr>
        <p:spPr>
          <a:xfrm>
            <a:off x="3185326" y="3027030"/>
            <a:ext cx="44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595959"/>
                </a:solidFill>
              </a:rPr>
              <a:t>x</a:t>
            </a:r>
            <a:r>
              <a:rPr lang="en" i="1" baseline="30000">
                <a:solidFill>
                  <a:srgbClr val="595959"/>
                </a:solidFill>
              </a:rPr>
              <a:t>e</a:t>
            </a:r>
            <a:r>
              <a:rPr lang="en" i="1" baseline="-25000">
                <a:solidFill>
                  <a:srgbClr val="595959"/>
                </a:solidFill>
              </a:rPr>
              <a:t>2</a:t>
            </a:r>
            <a:endParaRPr i="1" baseline="-25000">
              <a:solidFill>
                <a:srgbClr val="595959"/>
              </a:solidFill>
            </a:endParaRPr>
          </a:p>
        </p:txBody>
      </p:sp>
      <p:sp>
        <p:nvSpPr>
          <p:cNvPr id="2140" name="Google Shape;2140;p78"/>
          <p:cNvSpPr txBox="1"/>
          <p:nvPr/>
        </p:nvSpPr>
        <p:spPr>
          <a:xfrm>
            <a:off x="3745789" y="3027030"/>
            <a:ext cx="44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595959"/>
                </a:solidFill>
              </a:rPr>
              <a:t>x</a:t>
            </a:r>
            <a:r>
              <a:rPr lang="en" i="1" baseline="30000">
                <a:solidFill>
                  <a:srgbClr val="595959"/>
                </a:solidFill>
              </a:rPr>
              <a:t>e</a:t>
            </a:r>
            <a:r>
              <a:rPr lang="en" i="1" baseline="-25000">
                <a:solidFill>
                  <a:srgbClr val="595959"/>
                </a:solidFill>
              </a:rPr>
              <a:t>3</a:t>
            </a:r>
            <a:endParaRPr i="1" baseline="-25000">
              <a:solidFill>
                <a:srgbClr val="595959"/>
              </a:solidFill>
            </a:endParaRPr>
          </a:p>
        </p:txBody>
      </p:sp>
      <p:sp>
        <p:nvSpPr>
          <p:cNvPr id="2141" name="Google Shape;2141;p78"/>
          <p:cNvSpPr txBox="1"/>
          <p:nvPr/>
        </p:nvSpPr>
        <p:spPr>
          <a:xfrm>
            <a:off x="4306117" y="3027006"/>
            <a:ext cx="44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595959"/>
                </a:solidFill>
              </a:rPr>
              <a:t>x</a:t>
            </a:r>
            <a:r>
              <a:rPr lang="en" i="1" baseline="30000">
                <a:solidFill>
                  <a:srgbClr val="595959"/>
                </a:solidFill>
              </a:rPr>
              <a:t>e</a:t>
            </a:r>
            <a:r>
              <a:rPr lang="en" i="1" baseline="-25000">
                <a:solidFill>
                  <a:srgbClr val="595959"/>
                </a:solidFill>
              </a:rPr>
              <a:t>4</a:t>
            </a:r>
            <a:endParaRPr i="1" baseline="-25000">
              <a:solidFill>
                <a:srgbClr val="595959"/>
              </a:solidFill>
            </a:endParaRPr>
          </a:p>
        </p:txBody>
      </p:sp>
      <p:sp>
        <p:nvSpPr>
          <p:cNvPr id="2142" name="Google Shape;2142;p78"/>
          <p:cNvSpPr/>
          <p:nvPr/>
        </p:nvSpPr>
        <p:spPr>
          <a:xfrm>
            <a:off x="2442082" y="3268205"/>
            <a:ext cx="195245" cy="1234008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143" name="Google Shape;2143;p78"/>
          <p:cNvSpPr/>
          <p:nvPr/>
        </p:nvSpPr>
        <p:spPr>
          <a:xfrm>
            <a:off x="2964734" y="3268205"/>
            <a:ext cx="195245" cy="1234008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144" name="Google Shape;2144;p78"/>
          <p:cNvSpPr/>
          <p:nvPr/>
        </p:nvSpPr>
        <p:spPr>
          <a:xfrm>
            <a:off x="3528614" y="3268205"/>
            <a:ext cx="195245" cy="1234008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145" name="Google Shape;2145;p78"/>
          <p:cNvSpPr/>
          <p:nvPr/>
        </p:nvSpPr>
        <p:spPr>
          <a:xfrm>
            <a:off x="4092471" y="3268150"/>
            <a:ext cx="195245" cy="1234008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146" name="Google Shape;2146;p78"/>
          <p:cNvSpPr txBox="1"/>
          <p:nvPr/>
        </p:nvSpPr>
        <p:spPr>
          <a:xfrm>
            <a:off x="1107359" y="3071765"/>
            <a:ext cx="115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Add &amp; Norm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7" name="Google Shape;2147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8844" y="2126374"/>
            <a:ext cx="2254784" cy="966293"/>
          </a:xfrm>
          <a:prstGeom prst="rect">
            <a:avLst/>
          </a:prstGeom>
          <a:noFill/>
          <a:ln>
            <a:noFill/>
          </a:ln>
        </p:spPr>
      </p:pic>
      <p:sp>
        <p:nvSpPr>
          <p:cNvPr id="2148" name="Google Shape;2148;p78"/>
          <p:cNvSpPr/>
          <p:nvPr/>
        </p:nvSpPr>
        <p:spPr>
          <a:xfrm>
            <a:off x="2641496" y="2111361"/>
            <a:ext cx="2048400" cy="6813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9" name="Google Shape;2149;p78"/>
          <p:cNvSpPr/>
          <p:nvPr/>
        </p:nvSpPr>
        <p:spPr>
          <a:xfrm>
            <a:off x="2637327" y="2489868"/>
            <a:ext cx="442800" cy="239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0" name="Google Shape;2150;p78"/>
          <p:cNvSpPr/>
          <p:nvPr/>
        </p:nvSpPr>
        <p:spPr>
          <a:xfrm>
            <a:off x="3159981" y="2489868"/>
            <a:ext cx="442800" cy="239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1" name="Google Shape;2151;p78"/>
          <p:cNvSpPr/>
          <p:nvPr/>
        </p:nvSpPr>
        <p:spPr>
          <a:xfrm>
            <a:off x="3733055" y="2489868"/>
            <a:ext cx="442800" cy="239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2" name="Google Shape;2152;p78"/>
          <p:cNvSpPr/>
          <p:nvPr/>
        </p:nvSpPr>
        <p:spPr>
          <a:xfrm>
            <a:off x="4306128" y="2489868"/>
            <a:ext cx="442800" cy="239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3" name="Google Shape;2153;p78"/>
          <p:cNvSpPr txBox="1"/>
          <p:nvPr/>
        </p:nvSpPr>
        <p:spPr>
          <a:xfrm>
            <a:off x="2574302" y="2401225"/>
            <a:ext cx="50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2"/>
                </a:solidFill>
              </a:rPr>
              <a:t>a</a:t>
            </a:r>
            <a:r>
              <a:rPr lang="en" i="1" baseline="30000">
                <a:solidFill>
                  <a:schemeClr val="dk2"/>
                </a:solidFill>
              </a:rPr>
              <a:t>ed</a:t>
            </a:r>
            <a:r>
              <a:rPr lang="en" i="1" baseline="-25000">
                <a:solidFill>
                  <a:schemeClr val="dk2"/>
                </a:solidFill>
              </a:rPr>
              <a:t>1</a:t>
            </a:r>
            <a:endParaRPr i="1">
              <a:solidFill>
                <a:srgbClr val="595959"/>
              </a:solidFill>
            </a:endParaRPr>
          </a:p>
        </p:txBody>
      </p:sp>
      <p:sp>
        <p:nvSpPr>
          <p:cNvPr id="2154" name="Google Shape;2154;p78"/>
          <p:cNvSpPr txBox="1"/>
          <p:nvPr/>
        </p:nvSpPr>
        <p:spPr>
          <a:xfrm>
            <a:off x="3122177" y="2401225"/>
            <a:ext cx="50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2"/>
                </a:solidFill>
              </a:rPr>
              <a:t>a</a:t>
            </a:r>
            <a:r>
              <a:rPr lang="en" i="1" baseline="30000">
                <a:solidFill>
                  <a:schemeClr val="dk2"/>
                </a:solidFill>
              </a:rPr>
              <a:t>ed</a:t>
            </a:r>
            <a:r>
              <a:rPr lang="en" i="1" baseline="-25000">
                <a:solidFill>
                  <a:schemeClr val="dk2"/>
                </a:solidFill>
              </a:rPr>
              <a:t>2</a:t>
            </a:r>
            <a:endParaRPr i="1">
              <a:solidFill>
                <a:srgbClr val="595959"/>
              </a:solidFill>
            </a:endParaRPr>
          </a:p>
        </p:txBody>
      </p:sp>
      <p:sp>
        <p:nvSpPr>
          <p:cNvPr id="2155" name="Google Shape;2155;p78"/>
          <p:cNvSpPr txBox="1"/>
          <p:nvPr/>
        </p:nvSpPr>
        <p:spPr>
          <a:xfrm>
            <a:off x="3682501" y="2401225"/>
            <a:ext cx="50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2"/>
                </a:solidFill>
              </a:rPr>
              <a:t>a</a:t>
            </a:r>
            <a:r>
              <a:rPr lang="en" i="1" baseline="30000">
                <a:solidFill>
                  <a:schemeClr val="dk2"/>
                </a:solidFill>
              </a:rPr>
              <a:t>ed</a:t>
            </a:r>
            <a:r>
              <a:rPr lang="en" i="1" baseline="-25000">
                <a:solidFill>
                  <a:schemeClr val="dk2"/>
                </a:solidFill>
              </a:rPr>
              <a:t>3</a:t>
            </a:r>
            <a:endParaRPr i="1">
              <a:solidFill>
                <a:srgbClr val="595959"/>
              </a:solidFill>
            </a:endParaRPr>
          </a:p>
        </p:txBody>
      </p:sp>
      <p:sp>
        <p:nvSpPr>
          <p:cNvPr id="2156" name="Google Shape;2156;p78"/>
          <p:cNvSpPr txBox="1"/>
          <p:nvPr/>
        </p:nvSpPr>
        <p:spPr>
          <a:xfrm>
            <a:off x="4242801" y="2401225"/>
            <a:ext cx="50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2"/>
                </a:solidFill>
              </a:rPr>
              <a:t>a</a:t>
            </a:r>
            <a:r>
              <a:rPr lang="en" i="1" baseline="30000">
                <a:solidFill>
                  <a:schemeClr val="dk2"/>
                </a:solidFill>
              </a:rPr>
              <a:t>ed</a:t>
            </a:r>
            <a:r>
              <a:rPr lang="en" i="1" baseline="-25000">
                <a:solidFill>
                  <a:schemeClr val="dk2"/>
                </a:solidFill>
              </a:rPr>
              <a:t>4</a:t>
            </a:r>
            <a:endParaRPr i="1">
              <a:solidFill>
                <a:srgbClr val="595959"/>
              </a:solidFill>
            </a:endParaRPr>
          </a:p>
        </p:txBody>
      </p:sp>
      <p:sp>
        <p:nvSpPr>
          <p:cNvPr id="2157" name="Google Shape;2157;p78"/>
          <p:cNvSpPr txBox="1"/>
          <p:nvPr/>
        </p:nvSpPr>
        <p:spPr>
          <a:xfrm>
            <a:off x="1103625" y="2573313"/>
            <a:ext cx="142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Cross- Attention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8" name="Google Shape;2158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8844" y="1494985"/>
            <a:ext cx="2254784" cy="966293"/>
          </a:xfrm>
          <a:prstGeom prst="rect">
            <a:avLst/>
          </a:prstGeom>
          <a:noFill/>
          <a:ln>
            <a:noFill/>
          </a:ln>
        </p:spPr>
      </p:pic>
      <p:sp>
        <p:nvSpPr>
          <p:cNvPr id="2159" name="Google Shape;2159;p78"/>
          <p:cNvSpPr/>
          <p:nvPr/>
        </p:nvSpPr>
        <p:spPr>
          <a:xfrm>
            <a:off x="2641496" y="1479972"/>
            <a:ext cx="2048400" cy="6813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0" name="Google Shape;2160;p78"/>
          <p:cNvSpPr/>
          <p:nvPr/>
        </p:nvSpPr>
        <p:spPr>
          <a:xfrm>
            <a:off x="2637327" y="1858479"/>
            <a:ext cx="442800" cy="239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1" name="Google Shape;2161;p78"/>
          <p:cNvSpPr/>
          <p:nvPr/>
        </p:nvSpPr>
        <p:spPr>
          <a:xfrm>
            <a:off x="3159981" y="1858479"/>
            <a:ext cx="442800" cy="239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2" name="Google Shape;2162;p78"/>
          <p:cNvSpPr/>
          <p:nvPr/>
        </p:nvSpPr>
        <p:spPr>
          <a:xfrm>
            <a:off x="3733055" y="1858479"/>
            <a:ext cx="442800" cy="239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3" name="Google Shape;2163;p78"/>
          <p:cNvSpPr/>
          <p:nvPr/>
        </p:nvSpPr>
        <p:spPr>
          <a:xfrm>
            <a:off x="4306128" y="1858479"/>
            <a:ext cx="442800" cy="239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4" name="Google Shape;2164;p78"/>
          <p:cNvSpPr txBox="1"/>
          <p:nvPr/>
        </p:nvSpPr>
        <p:spPr>
          <a:xfrm>
            <a:off x="2637589" y="1769838"/>
            <a:ext cx="44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595959"/>
                </a:solidFill>
              </a:rPr>
              <a:t>x</a:t>
            </a:r>
            <a:r>
              <a:rPr lang="en" i="1" baseline="30000">
                <a:solidFill>
                  <a:srgbClr val="595959"/>
                </a:solidFill>
              </a:rPr>
              <a:t>e</a:t>
            </a:r>
            <a:r>
              <a:rPr lang="en" i="1" baseline="-25000">
                <a:solidFill>
                  <a:srgbClr val="595959"/>
                </a:solidFill>
              </a:rPr>
              <a:t>1</a:t>
            </a:r>
            <a:endParaRPr i="1" baseline="-25000">
              <a:solidFill>
                <a:srgbClr val="595959"/>
              </a:solidFill>
            </a:endParaRPr>
          </a:p>
        </p:txBody>
      </p:sp>
      <p:sp>
        <p:nvSpPr>
          <p:cNvPr id="2165" name="Google Shape;2165;p78"/>
          <p:cNvSpPr txBox="1"/>
          <p:nvPr/>
        </p:nvSpPr>
        <p:spPr>
          <a:xfrm>
            <a:off x="3185463" y="1769838"/>
            <a:ext cx="44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595959"/>
                </a:solidFill>
              </a:rPr>
              <a:t>x</a:t>
            </a:r>
            <a:r>
              <a:rPr lang="en" i="1" baseline="30000">
                <a:solidFill>
                  <a:srgbClr val="595959"/>
                </a:solidFill>
              </a:rPr>
              <a:t>e</a:t>
            </a:r>
            <a:r>
              <a:rPr lang="en" i="1" baseline="-25000">
                <a:solidFill>
                  <a:srgbClr val="595959"/>
                </a:solidFill>
              </a:rPr>
              <a:t>2</a:t>
            </a:r>
            <a:endParaRPr i="1" baseline="-25000">
              <a:solidFill>
                <a:srgbClr val="595959"/>
              </a:solidFill>
            </a:endParaRPr>
          </a:p>
        </p:txBody>
      </p:sp>
      <p:sp>
        <p:nvSpPr>
          <p:cNvPr id="2166" name="Google Shape;2166;p78"/>
          <p:cNvSpPr txBox="1"/>
          <p:nvPr/>
        </p:nvSpPr>
        <p:spPr>
          <a:xfrm>
            <a:off x="3745789" y="1769838"/>
            <a:ext cx="44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595959"/>
                </a:solidFill>
              </a:rPr>
              <a:t>x</a:t>
            </a:r>
            <a:r>
              <a:rPr lang="en" i="1" baseline="30000">
                <a:solidFill>
                  <a:srgbClr val="595959"/>
                </a:solidFill>
              </a:rPr>
              <a:t>e</a:t>
            </a:r>
            <a:r>
              <a:rPr lang="en" i="1" baseline="-25000">
                <a:solidFill>
                  <a:srgbClr val="595959"/>
                </a:solidFill>
              </a:rPr>
              <a:t>3</a:t>
            </a:r>
            <a:endParaRPr i="1" baseline="-25000">
              <a:solidFill>
                <a:srgbClr val="595959"/>
              </a:solidFill>
            </a:endParaRPr>
          </a:p>
        </p:txBody>
      </p:sp>
      <p:sp>
        <p:nvSpPr>
          <p:cNvPr id="2167" name="Google Shape;2167;p78"/>
          <p:cNvSpPr txBox="1"/>
          <p:nvPr/>
        </p:nvSpPr>
        <p:spPr>
          <a:xfrm>
            <a:off x="4306092" y="1769827"/>
            <a:ext cx="44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595959"/>
                </a:solidFill>
              </a:rPr>
              <a:t>x</a:t>
            </a:r>
            <a:r>
              <a:rPr lang="en" i="1" baseline="30000">
                <a:solidFill>
                  <a:srgbClr val="595959"/>
                </a:solidFill>
              </a:rPr>
              <a:t>e</a:t>
            </a:r>
            <a:r>
              <a:rPr lang="en" i="1" baseline="-25000">
                <a:solidFill>
                  <a:srgbClr val="595959"/>
                </a:solidFill>
              </a:rPr>
              <a:t>4</a:t>
            </a:r>
            <a:endParaRPr i="1" baseline="-25000">
              <a:solidFill>
                <a:srgbClr val="595959"/>
              </a:solidFill>
            </a:endParaRPr>
          </a:p>
        </p:txBody>
      </p:sp>
      <p:sp>
        <p:nvSpPr>
          <p:cNvPr id="2168" name="Google Shape;2168;p78"/>
          <p:cNvSpPr txBox="1"/>
          <p:nvPr/>
        </p:nvSpPr>
        <p:spPr>
          <a:xfrm>
            <a:off x="1107350" y="1878454"/>
            <a:ext cx="115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Add &amp; Norm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9" name="Google Shape;2169;p78"/>
          <p:cNvSpPr/>
          <p:nvPr/>
        </p:nvSpPr>
        <p:spPr>
          <a:xfrm>
            <a:off x="2420163" y="2044269"/>
            <a:ext cx="195245" cy="1234008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170" name="Google Shape;2170;p78"/>
          <p:cNvSpPr/>
          <p:nvPr/>
        </p:nvSpPr>
        <p:spPr>
          <a:xfrm>
            <a:off x="2964734" y="2044269"/>
            <a:ext cx="195245" cy="1234008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171" name="Google Shape;2171;p78"/>
          <p:cNvSpPr/>
          <p:nvPr/>
        </p:nvSpPr>
        <p:spPr>
          <a:xfrm>
            <a:off x="3509304" y="2044269"/>
            <a:ext cx="195245" cy="1234008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172" name="Google Shape;2172;p78"/>
          <p:cNvSpPr/>
          <p:nvPr/>
        </p:nvSpPr>
        <p:spPr>
          <a:xfrm>
            <a:off x="4092471" y="2044269"/>
            <a:ext cx="195245" cy="1234008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cxnSp>
        <p:nvCxnSpPr>
          <p:cNvPr id="2173" name="Google Shape;2173;p78"/>
          <p:cNvCxnSpPr/>
          <p:nvPr/>
        </p:nvCxnSpPr>
        <p:spPr>
          <a:xfrm flipH="1">
            <a:off x="2777399" y="4022177"/>
            <a:ext cx="300" cy="36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4" name="Google Shape;2174;p78"/>
          <p:cNvCxnSpPr/>
          <p:nvPr/>
        </p:nvCxnSpPr>
        <p:spPr>
          <a:xfrm>
            <a:off x="2777699" y="4022177"/>
            <a:ext cx="583200" cy="36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5" name="Google Shape;2175;p78"/>
          <p:cNvCxnSpPr/>
          <p:nvPr/>
        </p:nvCxnSpPr>
        <p:spPr>
          <a:xfrm>
            <a:off x="2777699" y="4022177"/>
            <a:ext cx="1179900" cy="36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6" name="Google Shape;2176;p78"/>
          <p:cNvCxnSpPr/>
          <p:nvPr/>
        </p:nvCxnSpPr>
        <p:spPr>
          <a:xfrm>
            <a:off x="2777699" y="4022177"/>
            <a:ext cx="1776000" cy="36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7" name="Google Shape;2177;p78"/>
          <p:cNvCxnSpPr/>
          <p:nvPr/>
        </p:nvCxnSpPr>
        <p:spPr>
          <a:xfrm rot="10800000" flipH="1">
            <a:off x="2777383" y="4023095"/>
            <a:ext cx="583500" cy="36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8" name="Google Shape;2178;p78"/>
          <p:cNvCxnSpPr/>
          <p:nvPr/>
        </p:nvCxnSpPr>
        <p:spPr>
          <a:xfrm rot="10800000" flipH="1">
            <a:off x="2777383" y="4023095"/>
            <a:ext cx="1180200" cy="36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9" name="Google Shape;2179;p78"/>
          <p:cNvCxnSpPr/>
          <p:nvPr/>
        </p:nvCxnSpPr>
        <p:spPr>
          <a:xfrm rot="10800000" flipH="1">
            <a:off x="2777383" y="4023095"/>
            <a:ext cx="1776600" cy="36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0" name="Google Shape;2180;p78"/>
          <p:cNvCxnSpPr/>
          <p:nvPr/>
        </p:nvCxnSpPr>
        <p:spPr>
          <a:xfrm>
            <a:off x="3360748" y="4023286"/>
            <a:ext cx="0" cy="36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1" name="Google Shape;2181;p78"/>
          <p:cNvCxnSpPr/>
          <p:nvPr/>
        </p:nvCxnSpPr>
        <p:spPr>
          <a:xfrm rot="10800000" flipH="1">
            <a:off x="3360748" y="4023095"/>
            <a:ext cx="596700" cy="36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2" name="Google Shape;2182;p78"/>
          <p:cNvCxnSpPr/>
          <p:nvPr/>
        </p:nvCxnSpPr>
        <p:spPr>
          <a:xfrm>
            <a:off x="3360748" y="4023286"/>
            <a:ext cx="596700" cy="36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3" name="Google Shape;2183;p78"/>
          <p:cNvCxnSpPr/>
          <p:nvPr/>
        </p:nvCxnSpPr>
        <p:spPr>
          <a:xfrm rot="10800000" flipH="1">
            <a:off x="3957370" y="4023095"/>
            <a:ext cx="596700" cy="36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4" name="Google Shape;2184;p78"/>
          <p:cNvCxnSpPr/>
          <p:nvPr/>
        </p:nvCxnSpPr>
        <p:spPr>
          <a:xfrm>
            <a:off x="3957370" y="4023286"/>
            <a:ext cx="0" cy="36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5" name="Google Shape;2185;p78"/>
          <p:cNvCxnSpPr/>
          <p:nvPr/>
        </p:nvCxnSpPr>
        <p:spPr>
          <a:xfrm>
            <a:off x="3957370" y="4023286"/>
            <a:ext cx="596700" cy="36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6" name="Google Shape;2186;p78"/>
          <p:cNvCxnSpPr/>
          <p:nvPr/>
        </p:nvCxnSpPr>
        <p:spPr>
          <a:xfrm rot="10800000">
            <a:off x="4553969" y="4023080"/>
            <a:ext cx="0" cy="36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7" name="Google Shape;2187;p78"/>
          <p:cNvCxnSpPr/>
          <p:nvPr/>
        </p:nvCxnSpPr>
        <p:spPr>
          <a:xfrm rot="10800000">
            <a:off x="3360869" y="4023080"/>
            <a:ext cx="1193100" cy="36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8" name="Google Shape;2188;p78"/>
          <p:cNvCxnSpPr/>
          <p:nvPr/>
        </p:nvCxnSpPr>
        <p:spPr>
          <a:xfrm rot="10800000" flipH="1">
            <a:off x="3360748" y="4023095"/>
            <a:ext cx="1193100" cy="36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189" name="Google Shape;2189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9856" y="884576"/>
            <a:ext cx="2254784" cy="966293"/>
          </a:xfrm>
          <a:prstGeom prst="rect">
            <a:avLst/>
          </a:prstGeom>
          <a:noFill/>
          <a:ln>
            <a:noFill/>
          </a:ln>
        </p:spPr>
      </p:pic>
      <p:sp>
        <p:nvSpPr>
          <p:cNvPr id="2190" name="Google Shape;2190;p78"/>
          <p:cNvSpPr/>
          <p:nvPr/>
        </p:nvSpPr>
        <p:spPr>
          <a:xfrm>
            <a:off x="2682508" y="869563"/>
            <a:ext cx="2048400" cy="6813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1" name="Google Shape;2191;p78"/>
          <p:cNvSpPr/>
          <p:nvPr/>
        </p:nvSpPr>
        <p:spPr>
          <a:xfrm>
            <a:off x="2678339" y="1248070"/>
            <a:ext cx="442800" cy="239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2" name="Google Shape;2192;p78"/>
          <p:cNvSpPr/>
          <p:nvPr/>
        </p:nvSpPr>
        <p:spPr>
          <a:xfrm>
            <a:off x="3200993" y="1248070"/>
            <a:ext cx="442800" cy="239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3" name="Google Shape;2193;p78"/>
          <p:cNvSpPr/>
          <p:nvPr/>
        </p:nvSpPr>
        <p:spPr>
          <a:xfrm>
            <a:off x="3774067" y="1248070"/>
            <a:ext cx="442800" cy="239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4" name="Google Shape;2194;p78"/>
          <p:cNvSpPr/>
          <p:nvPr/>
        </p:nvSpPr>
        <p:spPr>
          <a:xfrm>
            <a:off x="4347140" y="1248070"/>
            <a:ext cx="442800" cy="239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5" name="Google Shape;2195;p78"/>
          <p:cNvSpPr txBox="1"/>
          <p:nvPr/>
        </p:nvSpPr>
        <p:spPr>
          <a:xfrm>
            <a:off x="2615325" y="1136913"/>
            <a:ext cx="50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2"/>
                </a:solidFill>
              </a:rPr>
              <a:t>x</a:t>
            </a:r>
            <a:r>
              <a:rPr lang="en" i="1" baseline="30000">
                <a:solidFill>
                  <a:schemeClr val="dk2"/>
                </a:solidFill>
              </a:rPr>
              <a:t>e</a:t>
            </a:r>
            <a:r>
              <a:rPr lang="en" i="1" baseline="-25000">
                <a:solidFill>
                  <a:schemeClr val="dk2"/>
                </a:solidFill>
              </a:rPr>
              <a:t>1</a:t>
            </a:r>
            <a:endParaRPr i="1">
              <a:solidFill>
                <a:schemeClr val="dk2"/>
              </a:solidFill>
            </a:endParaRPr>
          </a:p>
        </p:txBody>
      </p:sp>
      <p:sp>
        <p:nvSpPr>
          <p:cNvPr id="2196" name="Google Shape;2196;p78"/>
          <p:cNvSpPr txBox="1"/>
          <p:nvPr/>
        </p:nvSpPr>
        <p:spPr>
          <a:xfrm>
            <a:off x="3159612" y="1136913"/>
            <a:ext cx="505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2"/>
                </a:solidFill>
              </a:rPr>
              <a:t>x</a:t>
            </a:r>
            <a:r>
              <a:rPr lang="en" i="1" baseline="30000">
                <a:solidFill>
                  <a:schemeClr val="dk2"/>
                </a:solidFill>
              </a:rPr>
              <a:t>e</a:t>
            </a:r>
            <a:r>
              <a:rPr lang="en" i="1" baseline="-25000">
                <a:solidFill>
                  <a:schemeClr val="dk2"/>
                </a:solidFill>
              </a:rPr>
              <a:t>2</a:t>
            </a:r>
            <a:endParaRPr i="1" baseline="-250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i="1">
              <a:solidFill>
                <a:schemeClr val="dk2"/>
              </a:solidFill>
            </a:endParaRPr>
          </a:p>
        </p:txBody>
      </p:sp>
      <p:sp>
        <p:nvSpPr>
          <p:cNvPr id="2197" name="Google Shape;2197;p78"/>
          <p:cNvSpPr txBox="1"/>
          <p:nvPr/>
        </p:nvSpPr>
        <p:spPr>
          <a:xfrm>
            <a:off x="3703887" y="1136913"/>
            <a:ext cx="58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2"/>
                </a:solidFill>
              </a:rPr>
              <a:t>x</a:t>
            </a:r>
            <a:r>
              <a:rPr lang="en" i="1" baseline="30000">
                <a:solidFill>
                  <a:schemeClr val="dk2"/>
                </a:solidFill>
              </a:rPr>
              <a:t>e</a:t>
            </a:r>
            <a:r>
              <a:rPr lang="en" i="1" baseline="-25000">
                <a:solidFill>
                  <a:schemeClr val="dk2"/>
                </a:solidFill>
              </a:rPr>
              <a:t>3</a:t>
            </a:r>
            <a:endParaRPr i="1">
              <a:solidFill>
                <a:schemeClr val="dk2"/>
              </a:solidFill>
            </a:endParaRPr>
          </a:p>
        </p:txBody>
      </p:sp>
      <p:sp>
        <p:nvSpPr>
          <p:cNvPr id="2198" name="Google Shape;2198;p78"/>
          <p:cNvSpPr txBox="1"/>
          <p:nvPr/>
        </p:nvSpPr>
        <p:spPr>
          <a:xfrm>
            <a:off x="4321973" y="1136900"/>
            <a:ext cx="678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2"/>
                </a:solidFill>
              </a:rPr>
              <a:t>x</a:t>
            </a:r>
            <a:r>
              <a:rPr lang="en" i="1" baseline="30000">
                <a:solidFill>
                  <a:schemeClr val="dk2"/>
                </a:solidFill>
              </a:rPr>
              <a:t>e</a:t>
            </a:r>
            <a:r>
              <a:rPr lang="en" i="1" baseline="-25000">
                <a:solidFill>
                  <a:schemeClr val="dk2"/>
                </a:solidFill>
              </a:rPr>
              <a:t>4</a:t>
            </a:r>
            <a:endParaRPr i="1">
              <a:solidFill>
                <a:schemeClr val="dk2"/>
              </a:solidFill>
            </a:endParaRPr>
          </a:p>
        </p:txBody>
      </p:sp>
      <p:sp>
        <p:nvSpPr>
          <p:cNvPr id="2199" name="Google Shape;2199;p78"/>
          <p:cNvSpPr txBox="1"/>
          <p:nvPr/>
        </p:nvSpPr>
        <p:spPr>
          <a:xfrm>
            <a:off x="1111225" y="1190750"/>
            <a:ext cx="107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FC layer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0" name="Google Shape;2200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9856" y="253187"/>
            <a:ext cx="2254784" cy="966293"/>
          </a:xfrm>
          <a:prstGeom prst="rect">
            <a:avLst/>
          </a:prstGeom>
          <a:noFill/>
          <a:ln>
            <a:noFill/>
          </a:ln>
        </p:spPr>
      </p:pic>
      <p:sp>
        <p:nvSpPr>
          <p:cNvPr id="2201" name="Google Shape;2201;p78"/>
          <p:cNvSpPr/>
          <p:nvPr/>
        </p:nvSpPr>
        <p:spPr>
          <a:xfrm>
            <a:off x="2682508" y="238174"/>
            <a:ext cx="2048400" cy="6813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2" name="Google Shape;2202;p78"/>
          <p:cNvSpPr/>
          <p:nvPr/>
        </p:nvSpPr>
        <p:spPr>
          <a:xfrm>
            <a:off x="2678339" y="616681"/>
            <a:ext cx="442800" cy="239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3" name="Google Shape;2203;p78"/>
          <p:cNvSpPr/>
          <p:nvPr/>
        </p:nvSpPr>
        <p:spPr>
          <a:xfrm>
            <a:off x="3200993" y="616681"/>
            <a:ext cx="442800" cy="239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4" name="Google Shape;2204;p78"/>
          <p:cNvSpPr/>
          <p:nvPr/>
        </p:nvSpPr>
        <p:spPr>
          <a:xfrm>
            <a:off x="3774067" y="616681"/>
            <a:ext cx="442800" cy="239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5" name="Google Shape;2205;p78"/>
          <p:cNvSpPr/>
          <p:nvPr/>
        </p:nvSpPr>
        <p:spPr>
          <a:xfrm>
            <a:off x="4347140" y="616681"/>
            <a:ext cx="442800" cy="239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6" name="Google Shape;2206;p78"/>
          <p:cNvSpPr txBox="1"/>
          <p:nvPr/>
        </p:nvSpPr>
        <p:spPr>
          <a:xfrm>
            <a:off x="2678601" y="528040"/>
            <a:ext cx="44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595959"/>
                </a:solidFill>
              </a:rPr>
              <a:t>x</a:t>
            </a:r>
            <a:r>
              <a:rPr lang="en" i="1" baseline="30000">
                <a:solidFill>
                  <a:srgbClr val="595959"/>
                </a:solidFill>
              </a:rPr>
              <a:t>e</a:t>
            </a:r>
            <a:r>
              <a:rPr lang="en" i="1" baseline="-25000">
                <a:solidFill>
                  <a:srgbClr val="595959"/>
                </a:solidFill>
              </a:rPr>
              <a:t>1</a:t>
            </a:r>
            <a:endParaRPr i="1" baseline="-25000">
              <a:solidFill>
                <a:srgbClr val="595959"/>
              </a:solidFill>
            </a:endParaRPr>
          </a:p>
        </p:txBody>
      </p:sp>
      <p:sp>
        <p:nvSpPr>
          <p:cNvPr id="2207" name="Google Shape;2207;p78"/>
          <p:cNvSpPr txBox="1"/>
          <p:nvPr/>
        </p:nvSpPr>
        <p:spPr>
          <a:xfrm>
            <a:off x="3226475" y="528040"/>
            <a:ext cx="44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595959"/>
                </a:solidFill>
              </a:rPr>
              <a:t>x</a:t>
            </a:r>
            <a:r>
              <a:rPr lang="en" i="1" baseline="30000">
                <a:solidFill>
                  <a:srgbClr val="595959"/>
                </a:solidFill>
              </a:rPr>
              <a:t>e</a:t>
            </a:r>
            <a:r>
              <a:rPr lang="en" i="1" baseline="-25000">
                <a:solidFill>
                  <a:srgbClr val="595959"/>
                </a:solidFill>
              </a:rPr>
              <a:t>2</a:t>
            </a:r>
            <a:endParaRPr i="1" baseline="-25000">
              <a:solidFill>
                <a:srgbClr val="595959"/>
              </a:solidFill>
            </a:endParaRPr>
          </a:p>
        </p:txBody>
      </p:sp>
      <p:sp>
        <p:nvSpPr>
          <p:cNvPr id="2208" name="Google Shape;2208;p78"/>
          <p:cNvSpPr txBox="1"/>
          <p:nvPr/>
        </p:nvSpPr>
        <p:spPr>
          <a:xfrm>
            <a:off x="3786801" y="528040"/>
            <a:ext cx="44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595959"/>
                </a:solidFill>
              </a:rPr>
              <a:t>x</a:t>
            </a:r>
            <a:r>
              <a:rPr lang="en" i="1" baseline="30000">
                <a:solidFill>
                  <a:srgbClr val="595959"/>
                </a:solidFill>
              </a:rPr>
              <a:t>e</a:t>
            </a:r>
            <a:r>
              <a:rPr lang="en" i="1" baseline="-25000">
                <a:solidFill>
                  <a:srgbClr val="595959"/>
                </a:solidFill>
              </a:rPr>
              <a:t>3</a:t>
            </a:r>
            <a:endParaRPr i="1" baseline="-25000">
              <a:solidFill>
                <a:srgbClr val="595959"/>
              </a:solidFill>
            </a:endParaRPr>
          </a:p>
        </p:txBody>
      </p:sp>
      <p:sp>
        <p:nvSpPr>
          <p:cNvPr id="2209" name="Google Shape;2209;p78"/>
          <p:cNvSpPr txBox="1"/>
          <p:nvPr/>
        </p:nvSpPr>
        <p:spPr>
          <a:xfrm>
            <a:off x="4347104" y="528029"/>
            <a:ext cx="44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595959"/>
                </a:solidFill>
              </a:rPr>
              <a:t>x</a:t>
            </a:r>
            <a:r>
              <a:rPr lang="en" i="1" baseline="30000">
                <a:solidFill>
                  <a:srgbClr val="595959"/>
                </a:solidFill>
              </a:rPr>
              <a:t>e</a:t>
            </a:r>
            <a:r>
              <a:rPr lang="en" i="1" baseline="-25000">
                <a:solidFill>
                  <a:srgbClr val="595959"/>
                </a:solidFill>
              </a:rPr>
              <a:t>4</a:t>
            </a:r>
            <a:endParaRPr i="1" baseline="-25000">
              <a:solidFill>
                <a:srgbClr val="595959"/>
              </a:solidFill>
            </a:endParaRPr>
          </a:p>
        </p:txBody>
      </p:sp>
      <p:sp>
        <p:nvSpPr>
          <p:cNvPr id="2210" name="Google Shape;2210;p78"/>
          <p:cNvSpPr txBox="1"/>
          <p:nvPr/>
        </p:nvSpPr>
        <p:spPr>
          <a:xfrm>
            <a:off x="1107362" y="620206"/>
            <a:ext cx="115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Add &amp; Norm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1" name="Google Shape;2211;p78"/>
          <p:cNvSpPr/>
          <p:nvPr/>
        </p:nvSpPr>
        <p:spPr>
          <a:xfrm>
            <a:off x="2461175" y="802471"/>
            <a:ext cx="195245" cy="1234008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212" name="Google Shape;2212;p78"/>
          <p:cNvSpPr/>
          <p:nvPr/>
        </p:nvSpPr>
        <p:spPr>
          <a:xfrm>
            <a:off x="3005746" y="802471"/>
            <a:ext cx="195245" cy="1234008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213" name="Google Shape;2213;p78"/>
          <p:cNvSpPr/>
          <p:nvPr/>
        </p:nvSpPr>
        <p:spPr>
          <a:xfrm>
            <a:off x="3550316" y="802471"/>
            <a:ext cx="195245" cy="1234008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214" name="Google Shape;2214;p78"/>
          <p:cNvSpPr/>
          <p:nvPr/>
        </p:nvSpPr>
        <p:spPr>
          <a:xfrm>
            <a:off x="4133483" y="802471"/>
            <a:ext cx="195245" cy="1234008"/>
          </a:xfrm>
          <a:custGeom>
            <a:avLst/>
            <a:gdLst/>
            <a:ahLst/>
            <a:cxnLst/>
            <a:rect l="l" t="t" r="r" b="b"/>
            <a:pathLst>
              <a:path w="8569" h="55405" extrusionOk="0">
                <a:moveTo>
                  <a:pt x="8569" y="55405"/>
                </a:moveTo>
                <a:cubicBezTo>
                  <a:pt x="-926" y="39565"/>
                  <a:pt x="-4490" y="13059"/>
                  <a:pt x="8569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pic>
        <p:nvPicPr>
          <p:cNvPr id="2215" name="Google Shape;2215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2499" y="271644"/>
            <a:ext cx="2048400" cy="331231"/>
          </a:xfrm>
          <a:prstGeom prst="rect">
            <a:avLst/>
          </a:prstGeom>
          <a:noFill/>
          <a:ln>
            <a:noFill/>
          </a:ln>
        </p:spPr>
      </p:pic>
      <p:sp>
        <p:nvSpPr>
          <p:cNvPr id="2216" name="Google Shape;2216;p78"/>
          <p:cNvSpPr txBox="1"/>
          <p:nvPr/>
        </p:nvSpPr>
        <p:spPr>
          <a:xfrm>
            <a:off x="1112062" y="4265097"/>
            <a:ext cx="1280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Input embeddings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7" name="Google Shape;2217;p78"/>
          <p:cNvCxnSpPr>
            <a:endCxn id="2153" idx="2"/>
          </p:cNvCxnSpPr>
          <p:nvPr/>
        </p:nvCxnSpPr>
        <p:spPr>
          <a:xfrm rot="10800000" flipH="1">
            <a:off x="834602" y="2801425"/>
            <a:ext cx="19926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18" name="Google Shape;2218;p78"/>
          <p:cNvCxnSpPr>
            <a:endCxn id="2154" idx="2"/>
          </p:cNvCxnSpPr>
          <p:nvPr/>
        </p:nvCxnSpPr>
        <p:spPr>
          <a:xfrm rot="10800000" flipH="1">
            <a:off x="843677" y="2801425"/>
            <a:ext cx="25314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19" name="Google Shape;2219;p78"/>
          <p:cNvCxnSpPr>
            <a:endCxn id="2155" idx="2"/>
          </p:cNvCxnSpPr>
          <p:nvPr/>
        </p:nvCxnSpPr>
        <p:spPr>
          <a:xfrm rot="10800000" flipH="1">
            <a:off x="861301" y="2801425"/>
            <a:ext cx="30741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20" name="Google Shape;2220;p78"/>
          <p:cNvCxnSpPr>
            <a:endCxn id="2156" idx="2"/>
          </p:cNvCxnSpPr>
          <p:nvPr/>
        </p:nvCxnSpPr>
        <p:spPr>
          <a:xfrm rot="10800000" flipH="1">
            <a:off x="834801" y="2801425"/>
            <a:ext cx="3660900" cy="209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21" name="Google Shape;2221;p78"/>
          <p:cNvSpPr txBox="1"/>
          <p:nvPr/>
        </p:nvSpPr>
        <p:spPr>
          <a:xfrm>
            <a:off x="118525" y="2881125"/>
            <a:ext cx="834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Encoder outputs</a:t>
            </a:r>
            <a:endParaRPr sz="1200"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2" name="Google Shape;2222;p78"/>
          <p:cNvSpPr/>
          <p:nvPr/>
        </p:nvSpPr>
        <p:spPr>
          <a:xfrm>
            <a:off x="2637925" y="123525"/>
            <a:ext cx="2048400" cy="1482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3" name="Google Shape;2223;p78"/>
          <p:cNvSpPr txBox="1"/>
          <p:nvPr/>
        </p:nvSpPr>
        <p:spPr>
          <a:xfrm>
            <a:off x="5805775" y="363275"/>
            <a:ext cx="1658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Decoder block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8" name="Google Shape;2228;p79"/>
          <p:cNvSpPr/>
          <p:nvPr/>
        </p:nvSpPr>
        <p:spPr>
          <a:xfrm>
            <a:off x="3601950" y="2793563"/>
            <a:ext cx="1049700" cy="195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9" name="Google Shape;2229;p79"/>
          <p:cNvSpPr/>
          <p:nvPr/>
        </p:nvSpPr>
        <p:spPr>
          <a:xfrm>
            <a:off x="1952400" y="3246463"/>
            <a:ext cx="1967400" cy="764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0" name="Google Shape;2230;p79"/>
          <p:cNvSpPr txBox="1"/>
          <p:nvPr/>
        </p:nvSpPr>
        <p:spPr>
          <a:xfrm>
            <a:off x="2403650" y="3321013"/>
            <a:ext cx="1049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Decoder block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231" name="Google Shape;2231;p79"/>
          <p:cNvSpPr/>
          <p:nvPr/>
        </p:nvSpPr>
        <p:spPr>
          <a:xfrm>
            <a:off x="2045624" y="4081861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2" name="Google Shape;2232;p79"/>
          <p:cNvSpPr/>
          <p:nvPr/>
        </p:nvSpPr>
        <p:spPr>
          <a:xfrm>
            <a:off x="2041050" y="4506737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3" name="Google Shape;2233;p79"/>
          <p:cNvSpPr/>
          <p:nvPr/>
        </p:nvSpPr>
        <p:spPr>
          <a:xfrm>
            <a:off x="2614527" y="450673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4" name="Google Shape;2234;p79"/>
          <p:cNvSpPr/>
          <p:nvPr/>
        </p:nvSpPr>
        <p:spPr>
          <a:xfrm>
            <a:off x="3243327" y="4506738"/>
            <a:ext cx="486000" cy="2685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5" name="Google Shape;2235;p79"/>
          <p:cNvSpPr txBox="1"/>
          <p:nvPr/>
        </p:nvSpPr>
        <p:spPr>
          <a:xfrm>
            <a:off x="2041338" y="44072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236" name="Google Shape;2236;p79"/>
          <p:cNvSpPr txBox="1"/>
          <p:nvPr/>
        </p:nvSpPr>
        <p:spPr>
          <a:xfrm>
            <a:off x="2642488" y="44072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237" name="Google Shape;2237;p79"/>
          <p:cNvSpPr txBox="1"/>
          <p:nvPr/>
        </p:nvSpPr>
        <p:spPr>
          <a:xfrm>
            <a:off x="3257300" y="44072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2238" name="Google Shape;2238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9900" y="4081859"/>
            <a:ext cx="2247601" cy="38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9" name="Google Shape;2239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2400" y="2091138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2240" name="Google Shape;2240;p79"/>
          <p:cNvSpPr/>
          <p:nvPr/>
        </p:nvSpPr>
        <p:spPr>
          <a:xfrm>
            <a:off x="2088924" y="2074286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1" name="Google Shape;2241;p79"/>
          <p:cNvSpPr/>
          <p:nvPr/>
        </p:nvSpPr>
        <p:spPr>
          <a:xfrm>
            <a:off x="2084350" y="2499162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2" name="Google Shape;2242;p79"/>
          <p:cNvSpPr/>
          <p:nvPr/>
        </p:nvSpPr>
        <p:spPr>
          <a:xfrm>
            <a:off x="2657827" y="2499163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3" name="Google Shape;2243;p79"/>
          <p:cNvSpPr/>
          <p:nvPr/>
        </p:nvSpPr>
        <p:spPr>
          <a:xfrm>
            <a:off x="3286627" y="2499163"/>
            <a:ext cx="486000" cy="268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4" name="Google Shape;2244;p79"/>
          <p:cNvSpPr txBox="1"/>
          <p:nvPr/>
        </p:nvSpPr>
        <p:spPr>
          <a:xfrm>
            <a:off x="2084638" y="23996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245" name="Google Shape;2245;p79"/>
          <p:cNvSpPr txBox="1"/>
          <p:nvPr/>
        </p:nvSpPr>
        <p:spPr>
          <a:xfrm>
            <a:off x="2685788" y="23996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246" name="Google Shape;2246;p79"/>
          <p:cNvSpPr txBox="1"/>
          <p:nvPr/>
        </p:nvSpPr>
        <p:spPr>
          <a:xfrm>
            <a:off x="3300600" y="23996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2247" name="Google Shape;2247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2400" y="1359126"/>
            <a:ext cx="2474042" cy="1084670"/>
          </a:xfrm>
          <a:prstGeom prst="rect">
            <a:avLst/>
          </a:prstGeom>
          <a:noFill/>
          <a:ln>
            <a:noFill/>
          </a:ln>
        </p:spPr>
      </p:pic>
      <p:sp>
        <p:nvSpPr>
          <p:cNvPr id="2248" name="Google Shape;2248;p79"/>
          <p:cNvSpPr/>
          <p:nvPr/>
        </p:nvSpPr>
        <p:spPr>
          <a:xfrm>
            <a:off x="2088924" y="1342274"/>
            <a:ext cx="2247600" cy="764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9" name="Google Shape;2249;p79"/>
          <p:cNvSpPr/>
          <p:nvPr/>
        </p:nvSpPr>
        <p:spPr>
          <a:xfrm>
            <a:off x="2084350" y="17671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0" name="Google Shape;2250;p79"/>
          <p:cNvSpPr/>
          <p:nvPr/>
        </p:nvSpPr>
        <p:spPr>
          <a:xfrm>
            <a:off x="2657827" y="17671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1" name="Google Shape;2251;p79"/>
          <p:cNvSpPr/>
          <p:nvPr/>
        </p:nvSpPr>
        <p:spPr>
          <a:xfrm>
            <a:off x="3286627" y="1767150"/>
            <a:ext cx="486000" cy="268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2" name="Google Shape;2252;p79"/>
          <p:cNvSpPr txBox="1"/>
          <p:nvPr/>
        </p:nvSpPr>
        <p:spPr>
          <a:xfrm>
            <a:off x="2084638" y="16676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253" name="Google Shape;2253;p79"/>
          <p:cNvSpPr txBox="1"/>
          <p:nvPr/>
        </p:nvSpPr>
        <p:spPr>
          <a:xfrm>
            <a:off x="2685788" y="16676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254" name="Google Shape;2254;p79"/>
          <p:cNvSpPr txBox="1"/>
          <p:nvPr/>
        </p:nvSpPr>
        <p:spPr>
          <a:xfrm>
            <a:off x="3300600" y="1667650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30000">
                <a:solidFill>
                  <a:srgbClr val="595959"/>
                </a:solidFill>
              </a:rPr>
              <a:t>e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pic>
        <p:nvPicPr>
          <p:cNvPr id="2255" name="Google Shape;2255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3825" y="1343209"/>
            <a:ext cx="2247601" cy="38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6" name="Google Shape;2256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38813" y="836163"/>
            <a:ext cx="610406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7" name="Google Shape;2257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30889" y="836163"/>
            <a:ext cx="610406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8" name="Google Shape;2258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7782" y="836163"/>
            <a:ext cx="610406" cy="41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9" name="Google Shape;2259;p79"/>
          <p:cNvSpPr txBox="1"/>
          <p:nvPr/>
        </p:nvSpPr>
        <p:spPr>
          <a:xfrm>
            <a:off x="1932402" y="4814850"/>
            <a:ext cx="2098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&lt;BOS&gt;   Good   morning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0" name="Google Shape;2260;p79"/>
          <p:cNvSpPr txBox="1"/>
          <p:nvPr/>
        </p:nvSpPr>
        <p:spPr>
          <a:xfrm>
            <a:off x="1988602" y="97050"/>
            <a:ext cx="1967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Good   morning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&lt;EOS&gt;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1" name="Google Shape;2261;p79"/>
          <p:cNvSpPr/>
          <p:nvPr/>
        </p:nvSpPr>
        <p:spPr>
          <a:xfrm>
            <a:off x="4069475" y="308750"/>
            <a:ext cx="347100" cy="286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2" name="Google Shape;2262;p79"/>
          <p:cNvSpPr/>
          <p:nvPr/>
        </p:nvSpPr>
        <p:spPr>
          <a:xfrm>
            <a:off x="4069475" y="4081750"/>
            <a:ext cx="347100" cy="41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3" name="Google Shape;2263;p79"/>
          <p:cNvSpPr txBox="1"/>
          <p:nvPr/>
        </p:nvSpPr>
        <p:spPr>
          <a:xfrm>
            <a:off x="3297150" y="4207700"/>
            <a:ext cx="1385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</p:txBody>
      </p:sp>
      <p:sp>
        <p:nvSpPr>
          <p:cNvPr id="2264" name="Google Shape;2264;p79"/>
          <p:cNvSpPr txBox="1"/>
          <p:nvPr/>
        </p:nvSpPr>
        <p:spPr>
          <a:xfrm>
            <a:off x="161200" y="4833400"/>
            <a:ext cx="1385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Target input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5" name="Google Shape;2265;p79"/>
          <p:cNvSpPr txBox="1"/>
          <p:nvPr/>
        </p:nvSpPr>
        <p:spPr>
          <a:xfrm>
            <a:off x="151300" y="4044850"/>
            <a:ext cx="1895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Target token</a:t>
            </a:r>
            <a:endParaRPr>
              <a:solidFill>
                <a:srgbClr val="B7B7B7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Embeddings with positional encodings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6" name="Google Shape;2266;p79"/>
          <p:cNvSpPr txBox="1"/>
          <p:nvPr/>
        </p:nvSpPr>
        <p:spPr>
          <a:xfrm>
            <a:off x="218050" y="2418275"/>
            <a:ext cx="127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Decoder outputs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7" name="Google Shape;2267;p79"/>
          <p:cNvSpPr txBox="1"/>
          <p:nvPr/>
        </p:nvSpPr>
        <p:spPr>
          <a:xfrm>
            <a:off x="203200" y="1740050"/>
            <a:ext cx="1729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FC layer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8" name="Google Shape;2268;p79"/>
          <p:cNvSpPr txBox="1"/>
          <p:nvPr/>
        </p:nvSpPr>
        <p:spPr>
          <a:xfrm>
            <a:off x="218050" y="951500"/>
            <a:ext cx="1793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Softmax 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9" name="Google Shape;2269;p79"/>
          <p:cNvSpPr txBox="1"/>
          <p:nvPr/>
        </p:nvSpPr>
        <p:spPr>
          <a:xfrm>
            <a:off x="203200" y="162950"/>
            <a:ext cx="1843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Ground truth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0" name="Google Shape;2270;p79"/>
          <p:cNvCxnSpPr/>
          <p:nvPr/>
        </p:nvCxnSpPr>
        <p:spPr>
          <a:xfrm>
            <a:off x="2321475" y="445775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71" name="Google Shape;2271;p79"/>
          <p:cNvCxnSpPr/>
          <p:nvPr/>
        </p:nvCxnSpPr>
        <p:spPr>
          <a:xfrm>
            <a:off x="2900825" y="445550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72" name="Google Shape;2272;p79"/>
          <p:cNvCxnSpPr/>
          <p:nvPr/>
        </p:nvCxnSpPr>
        <p:spPr>
          <a:xfrm>
            <a:off x="3529625" y="445550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73" name="Google Shape;2273;p79"/>
          <p:cNvSpPr txBox="1"/>
          <p:nvPr/>
        </p:nvSpPr>
        <p:spPr>
          <a:xfrm>
            <a:off x="203200" y="525275"/>
            <a:ext cx="1967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CE loss </a:t>
            </a: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8" name="Google Shape;2278;p80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 Decoder</a:t>
            </a:r>
            <a:endParaRPr/>
          </a:p>
        </p:txBody>
      </p:sp>
      <p:pic>
        <p:nvPicPr>
          <p:cNvPr id="2279" name="Google Shape;227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1275" y="445025"/>
            <a:ext cx="4577212" cy="4317024"/>
          </a:xfrm>
          <a:prstGeom prst="rect">
            <a:avLst/>
          </a:prstGeom>
          <a:noFill/>
          <a:ln>
            <a:noFill/>
          </a:ln>
        </p:spPr>
      </p:pic>
      <p:sp>
        <p:nvSpPr>
          <p:cNvPr id="2280" name="Google Shape;2280;p80"/>
          <p:cNvSpPr/>
          <p:nvPr/>
        </p:nvSpPr>
        <p:spPr>
          <a:xfrm>
            <a:off x="7693175" y="1316750"/>
            <a:ext cx="141300" cy="22587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1" name="Google Shape;2281;p80"/>
          <p:cNvSpPr txBox="1"/>
          <p:nvPr/>
        </p:nvSpPr>
        <p:spPr>
          <a:xfrm>
            <a:off x="7940350" y="2138300"/>
            <a:ext cx="1049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Decoder block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6" name="Google Shape;2286;p81"/>
          <p:cNvSpPr/>
          <p:nvPr/>
        </p:nvSpPr>
        <p:spPr>
          <a:xfrm>
            <a:off x="364625" y="4041987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7" name="Google Shape;2287;p81"/>
          <p:cNvSpPr/>
          <p:nvPr/>
        </p:nvSpPr>
        <p:spPr>
          <a:xfrm>
            <a:off x="938102" y="4041988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8" name="Google Shape;2288;p81"/>
          <p:cNvSpPr/>
          <p:nvPr/>
        </p:nvSpPr>
        <p:spPr>
          <a:xfrm>
            <a:off x="1566902" y="4041988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9" name="Google Shape;2289;p81"/>
          <p:cNvSpPr/>
          <p:nvPr/>
        </p:nvSpPr>
        <p:spPr>
          <a:xfrm>
            <a:off x="2195702" y="4041988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0" name="Google Shape;2290;p81"/>
          <p:cNvSpPr txBox="1"/>
          <p:nvPr/>
        </p:nvSpPr>
        <p:spPr>
          <a:xfrm>
            <a:off x="364913" y="39424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291" name="Google Shape;2291;p81"/>
          <p:cNvSpPr txBox="1"/>
          <p:nvPr/>
        </p:nvSpPr>
        <p:spPr>
          <a:xfrm>
            <a:off x="966063" y="39424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292" name="Google Shape;2292;p81"/>
          <p:cNvSpPr txBox="1"/>
          <p:nvPr/>
        </p:nvSpPr>
        <p:spPr>
          <a:xfrm>
            <a:off x="1580875" y="394248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293" name="Google Shape;2293;p81"/>
          <p:cNvSpPr txBox="1"/>
          <p:nvPr/>
        </p:nvSpPr>
        <p:spPr>
          <a:xfrm>
            <a:off x="2195663" y="39424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294" name="Google Shape;2294;p81"/>
          <p:cNvSpPr/>
          <p:nvPr/>
        </p:nvSpPr>
        <p:spPr>
          <a:xfrm>
            <a:off x="2914775" y="3979225"/>
            <a:ext cx="324000" cy="497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5" name="Google Shape;2295;p81"/>
          <p:cNvSpPr/>
          <p:nvPr/>
        </p:nvSpPr>
        <p:spPr>
          <a:xfrm>
            <a:off x="3517225" y="4042437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6" name="Google Shape;2296;p81"/>
          <p:cNvSpPr txBox="1"/>
          <p:nvPr/>
        </p:nvSpPr>
        <p:spPr>
          <a:xfrm>
            <a:off x="3517838" y="394201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y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297" name="Google Shape;2297;p81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QKV Attention </a:t>
            </a:r>
            <a:endParaRPr/>
          </a:p>
        </p:txBody>
      </p:sp>
      <p:pic>
        <p:nvPicPr>
          <p:cNvPr id="2298" name="Google Shape;2298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925" y="4410950"/>
            <a:ext cx="2224634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9" name="Google Shape;2299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4005" y="4358000"/>
            <a:ext cx="390570" cy="41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" name="Google Shape;2304;p82"/>
          <p:cNvSpPr/>
          <p:nvPr/>
        </p:nvSpPr>
        <p:spPr>
          <a:xfrm>
            <a:off x="412000" y="4359037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5" name="Google Shape;2305;p82"/>
          <p:cNvSpPr/>
          <p:nvPr/>
        </p:nvSpPr>
        <p:spPr>
          <a:xfrm>
            <a:off x="985477" y="4359038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6" name="Google Shape;2306;p82"/>
          <p:cNvSpPr/>
          <p:nvPr/>
        </p:nvSpPr>
        <p:spPr>
          <a:xfrm>
            <a:off x="1614277" y="4359038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7" name="Google Shape;2307;p82"/>
          <p:cNvSpPr/>
          <p:nvPr/>
        </p:nvSpPr>
        <p:spPr>
          <a:xfrm>
            <a:off x="2243077" y="4359038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8" name="Google Shape;2308;p82"/>
          <p:cNvSpPr txBox="1"/>
          <p:nvPr/>
        </p:nvSpPr>
        <p:spPr>
          <a:xfrm>
            <a:off x="412288" y="42595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309" name="Google Shape;2309;p82"/>
          <p:cNvSpPr txBox="1"/>
          <p:nvPr/>
        </p:nvSpPr>
        <p:spPr>
          <a:xfrm>
            <a:off x="1013438" y="42595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310" name="Google Shape;2310;p82"/>
          <p:cNvSpPr txBox="1"/>
          <p:nvPr/>
        </p:nvSpPr>
        <p:spPr>
          <a:xfrm>
            <a:off x="1628250" y="42595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311" name="Google Shape;2311;p82"/>
          <p:cNvSpPr txBox="1"/>
          <p:nvPr/>
        </p:nvSpPr>
        <p:spPr>
          <a:xfrm>
            <a:off x="2243038" y="42595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312" name="Google Shape;2312;p82"/>
          <p:cNvSpPr/>
          <p:nvPr/>
        </p:nvSpPr>
        <p:spPr>
          <a:xfrm>
            <a:off x="2962150" y="4296275"/>
            <a:ext cx="324000" cy="497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3" name="Google Shape;2313;p82"/>
          <p:cNvSpPr/>
          <p:nvPr/>
        </p:nvSpPr>
        <p:spPr>
          <a:xfrm>
            <a:off x="3564600" y="4359487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4" name="Google Shape;2314;p82"/>
          <p:cNvSpPr txBox="1"/>
          <p:nvPr/>
        </p:nvSpPr>
        <p:spPr>
          <a:xfrm>
            <a:off x="3565213" y="42590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y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315" name="Google Shape;2315;p82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QKV Attention </a:t>
            </a:r>
            <a:endParaRPr/>
          </a:p>
        </p:txBody>
      </p:sp>
      <p:sp>
        <p:nvSpPr>
          <p:cNvPr id="2316" name="Google Shape;2316;p82"/>
          <p:cNvSpPr/>
          <p:nvPr/>
        </p:nvSpPr>
        <p:spPr>
          <a:xfrm>
            <a:off x="1099706" y="3619578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7" name="Google Shape;2317;p82"/>
          <p:cNvSpPr/>
          <p:nvPr/>
        </p:nvSpPr>
        <p:spPr>
          <a:xfrm>
            <a:off x="1670012" y="3619578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8" name="Google Shape;2318;p82"/>
          <p:cNvSpPr/>
          <p:nvPr/>
        </p:nvSpPr>
        <p:spPr>
          <a:xfrm>
            <a:off x="2240321" y="3619578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9" name="Google Shape;2319;p82"/>
          <p:cNvSpPr txBox="1"/>
          <p:nvPr/>
        </p:nvSpPr>
        <p:spPr>
          <a:xfrm>
            <a:off x="1029920" y="3552771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2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320" name="Google Shape;2320;p82"/>
          <p:cNvSpPr txBox="1"/>
          <p:nvPr/>
        </p:nvSpPr>
        <p:spPr>
          <a:xfrm>
            <a:off x="1632929" y="3552773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3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321" name="Google Shape;2321;p82"/>
          <p:cNvSpPr txBox="1"/>
          <p:nvPr/>
        </p:nvSpPr>
        <p:spPr>
          <a:xfrm>
            <a:off x="2207609" y="3552765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4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322" name="Google Shape;2322;p82"/>
          <p:cNvSpPr/>
          <p:nvPr/>
        </p:nvSpPr>
        <p:spPr>
          <a:xfrm>
            <a:off x="515240" y="3654058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3" name="Google Shape;2323;p82"/>
          <p:cNvSpPr txBox="1"/>
          <p:nvPr/>
        </p:nvSpPr>
        <p:spPr>
          <a:xfrm>
            <a:off x="515250" y="3581939"/>
            <a:ext cx="583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</a:t>
            </a:r>
            <a:endParaRPr sz="1200" i="1" baseline="-25000">
              <a:solidFill>
                <a:srgbClr val="595959"/>
              </a:solidFill>
            </a:endParaRPr>
          </a:p>
        </p:txBody>
      </p:sp>
      <p:cxnSp>
        <p:nvCxnSpPr>
          <p:cNvPr id="2324" name="Google Shape;2324;p82"/>
          <p:cNvCxnSpPr/>
          <p:nvPr/>
        </p:nvCxnSpPr>
        <p:spPr>
          <a:xfrm rot="10800000" flipH="1">
            <a:off x="1284788" y="4040550"/>
            <a:ext cx="300" cy="2931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25" name="Google Shape;2325;p82"/>
          <p:cNvCxnSpPr/>
          <p:nvPr/>
        </p:nvCxnSpPr>
        <p:spPr>
          <a:xfrm rot="10800000" flipH="1">
            <a:off x="1831838" y="4040550"/>
            <a:ext cx="300" cy="2931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26" name="Google Shape;2326;p82"/>
          <p:cNvCxnSpPr/>
          <p:nvPr/>
        </p:nvCxnSpPr>
        <p:spPr>
          <a:xfrm rot="10800000" flipH="1">
            <a:off x="2402163" y="4040550"/>
            <a:ext cx="300" cy="2931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27" name="Google Shape;2327;p82"/>
          <p:cNvSpPr txBox="1"/>
          <p:nvPr/>
        </p:nvSpPr>
        <p:spPr>
          <a:xfrm>
            <a:off x="472441" y="2301288"/>
            <a:ext cx="221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0.4     0.55     0.1    0.05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28" name="Google Shape;2328;p82"/>
          <p:cNvSpPr/>
          <p:nvPr/>
        </p:nvSpPr>
        <p:spPr>
          <a:xfrm>
            <a:off x="1208518" y="2804574"/>
            <a:ext cx="209400" cy="6636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9" name="Google Shape;2329;p82"/>
          <p:cNvSpPr/>
          <p:nvPr/>
        </p:nvSpPr>
        <p:spPr>
          <a:xfrm>
            <a:off x="1705218" y="3227599"/>
            <a:ext cx="209400" cy="2304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0" name="Google Shape;2330;p82"/>
          <p:cNvSpPr/>
          <p:nvPr/>
        </p:nvSpPr>
        <p:spPr>
          <a:xfrm>
            <a:off x="2297634" y="3308764"/>
            <a:ext cx="209400" cy="124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331" name="Google Shape;2331;p82"/>
          <p:cNvCxnSpPr/>
          <p:nvPr/>
        </p:nvCxnSpPr>
        <p:spPr>
          <a:xfrm>
            <a:off x="311706" y="3551444"/>
            <a:ext cx="2230800" cy="1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32" name="Google Shape;2332;p82"/>
          <p:cNvSpPr/>
          <p:nvPr/>
        </p:nvSpPr>
        <p:spPr>
          <a:xfrm rot="5400000">
            <a:off x="1452338" y="1090913"/>
            <a:ext cx="141300" cy="2073300"/>
          </a:xfrm>
          <a:prstGeom prst="leftBrace">
            <a:avLst>
              <a:gd name="adj1" fmla="val 50000"/>
              <a:gd name="adj2" fmla="val 5028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333" name="Google Shape;2333;p82"/>
          <p:cNvCxnSpPr>
            <a:endCxn id="2321" idx="2"/>
          </p:cNvCxnSpPr>
          <p:nvPr/>
        </p:nvCxnSpPr>
        <p:spPr>
          <a:xfrm rot="10800000">
            <a:off x="2509109" y="3922065"/>
            <a:ext cx="1320900" cy="378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34" name="Google Shape;2334;p82"/>
          <p:cNvCxnSpPr>
            <a:endCxn id="2320" idx="2"/>
          </p:cNvCxnSpPr>
          <p:nvPr/>
        </p:nvCxnSpPr>
        <p:spPr>
          <a:xfrm rot="10800000">
            <a:off x="1934429" y="3922073"/>
            <a:ext cx="1895400" cy="378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35" name="Google Shape;2335;p82"/>
          <p:cNvCxnSpPr>
            <a:endCxn id="2319" idx="2"/>
          </p:cNvCxnSpPr>
          <p:nvPr/>
        </p:nvCxnSpPr>
        <p:spPr>
          <a:xfrm rot="10800000">
            <a:off x="1331420" y="3922071"/>
            <a:ext cx="2498400" cy="378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36" name="Google Shape;2336;p82"/>
          <p:cNvCxnSpPr>
            <a:endCxn id="2323" idx="2"/>
          </p:cNvCxnSpPr>
          <p:nvPr/>
        </p:nvCxnSpPr>
        <p:spPr>
          <a:xfrm rot="10800000">
            <a:off x="807150" y="3951239"/>
            <a:ext cx="3022800" cy="3495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37" name="Google Shape;2337;p82"/>
          <p:cNvSpPr/>
          <p:nvPr/>
        </p:nvSpPr>
        <p:spPr>
          <a:xfrm>
            <a:off x="1336288" y="1636787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8" name="Google Shape;2338;p82"/>
          <p:cNvSpPr txBox="1"/>
          <p:nvPr/>
        </p:nvSpPr>
        <p:spPr>
          <a:xfrm>
            <a:off x="1336600" y="15632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339" name="Google Shape;2339;p82"/>
          <p:cNvSpPr/>
          <p:nvPr/>
        </p:nvSpPr>
        <p:spPr>
          <a:xfrm>
            <a:off x="539574" y="2976740"/>
            <a:ext cx="209400" cy="4971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0" name="Google Shape;2340;p82"/>
          <p:cNvSpPr txBox="1"/>
          <p:nvPr/>
        </p:nvSpPr>
        <p:spPr>
          <a:xfrm>
            <a:off x="3066038" y="2936271"/>
            <a:ext cx="85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7B7B7"/>
              </a:solidFill>
            </a:endParaRPr>
          </a:p>
        </p:txBody>
      </p:sp>
      <p:cxnSp>
        <p:nvCxnSpPr>
          <p:cNvPr id="2341" name="Google Shape;2341;p82"/>
          <p:cNvCxnSpPr/>
          <p:nvPr/>
        </p:nvCxnSpPr>
        <p:spPr>
          <a:xfrm rot="10800000" flipH="1">
            <a:off x="680138" y="4036988"/>
            <a:ext cx="300" cy="2931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42" name="Google Shape;2342;p82"/>
          <p:cNvSpPr txBox="1"/>
          <p:nvPr/>
        </p:nvSpPr>
        <p:spPr>
          <a:xfrm>
            <a:off x="3066038" y="2773533"/>
            <a:ext cx="85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SoftMax</a:t>
            </a:r>
            <a:endParaRPr>
              <a:solidFill>
                <a:srgbClr val="B7B7B7"/>
              </a:solidFill>
            </a:endParaRPr>
          </a:p>
        </p:txBody>
      </p:sp>
      <p:pic>
        <p:nvPicPr>
          <p:cNvPr id="2343" name="Google Shape;234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300" y="4728000"/>
            <a:ext cx="2224634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4" name="Google Shape;2344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1380" y="4675050"/>
            <a:ext cx="390570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5" name="Google Shape;2345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1722" y="3590025"/>
            <a:ext cx="1415778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6" name="Google Shape;2346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07600" y="1439227"/>
            <a:ext cx="1228415" cy="66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1" name="Google Shape;2351;p83"/>
          <p:cNvSpPr/>
          <p:nvPr/>
        </p:nvSpPr>
        <p:spPr>
          <a:xfrm>
            <a:off x="412000" y="4359037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2" name="Google Shape;2352;p83"/>
          <p:cNvSpPr/>
          <p:nvPr/>
        </p:nvSpPr>
        <p:spPr>
          <a:xfrm>
            <a:off x="985477" y="4359038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3" name="Google Shape;2353;p83"/>
          <p:cNvSpPr/>
          <p:nvPr/>
        </p:nvSpPr>
        <p:spPr>
          <a:xfrm>
            <a:off x="1614277" y="4359038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4" name="Google Shape;2354;p83"/>
          <p:cNvSpPr/>
          <p:nvPr/>
        </p:nvSpPr>
        <p:spPr>
          <a:xfrm>
            <a:off x="2243077" y="4359038"/>
            <a:ext cx="486000" cy="26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5" name="Google Shape;2355;p83"/>
          <p:cNvSpPr txBox="1"/>
          <p:nvPr/>
        </p:nvSpPr>
        <p:spPr>
          <a:xfrm>
            <a:off x="412288" y="42595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-25000">
                <a:solidFill>
                  <a:srgbClr val="595959"/>
                </a:solidFill>
              </a:rPr>
              <a:t>1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356" name="Google Shape;2356;p83"/>
          <p:cNvSpPr txBox="1"/>
          <p:nvPr/>
        </p:nvSpPr>
        <p:spPr>
          <a:xfrm>
            <a:off x="1013438" y="42595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-25000">
                <a:solidFill>
                  <a:srgbClr val="595959"/>
                </a:solidFill>
              </a:rPr>
              <a:t>2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357" name="Google Shape;2357;p83"/>
          <p:cNvSpPr txBox="1"/>
          <p:nvPr/>
        </p:nvSpPr>
        <p:spPr>
          <a:xfrm>
            <a:off x="1628250" y="4259538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-25000">
                <a:solidFill>
                  <a:srgbClr val="595959"/>
                </a:solidFill>
              </a:rPr>
              <a:t>3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358" name="Google Shape;2358;p83"/>
          <p:cNvSpPr txBox="1"/>
          <p:nvPr/>
        </p:nvSpPr>
        <p:spPr>
          <a:xfrm>
            <a:off x="2243038" y="425952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-25000">
                <a:solidFill>
                  <a:srgbClr val="595959"/>
                </a:solidFill>
              </a:rPr>
              <a:t>4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359" name="Google Shape;2359;p83"/>
          <p:cNvSpPr/>
          <p:nvPr/>
        </p:nvSpPr>
        <p:spPr>
          <a:xfrm>
            <a:off x="2962150" y="4296275"/>
            <a:ext cx="324000" cy="497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0" name="Google Shape;2360;p83"/>
          <p:cNvSpPr/>
          <p:nvPr/>
        </p:nvSpPr>
        <p:spPr>
          <a:xfrm>
            <a:off x="3564600" y="4359487"/>
            <a:ext cx="486000" cy="268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1" name="Google Shape;2361;p83"/>
          <p:cNvSpPr txBox="1"/>
          <p:nvPr/>
        </p:nvSpPr>
        <p:spPr>
          <a:xfrm>
            <a:off x="3565213" y="4259063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y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362" name="Google Shape;2362;p83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QKV Attention </a:t>
            </a:r>
            <a:endParaRPr/>
          </a:p>
        </p:txBody>
      </p:sp>
      <p:sp>
        <p:nvSpPr>
          <p:cNvPr id="2363" name="Google Shape;2363;p83"/>
          <p:cNvSpPr/>
          <p:nvPr/>
        </p:nvSpPr>
        <p:spPr>
          <a:xfrm>
            <a:off x="1099706" y="3619578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4" name="Google Shape;2364;p83"/>
          <p:cNvSpPr/>
          <p:nvPr/>
        </p:nvSpPr>
        <p:spPr>
          <a:xfrm>
            <a:off x="1670012" y="3619578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5" name="Google Shape;2365;p83"/>
          <p:cNvSpPr/>
          <p:nvPr/>
        </p:nvSpPr>
        <p:spPr>
          <a:xfrm>
            <a:off x="2240321" y="3619578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6" name="Google Shape;2366;p83"/>
          <p:cNvSpPr txBox="1"/>
          <p:nvPr/>
        </p:nvSpPr>
        <p:spPr>
          <a:xfrm>
            <a:off x="1029920" y="3552771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2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367" name="Google Shape;2367;p83"/>
          <p:cNvSpPr txBox="1"/>
          <p:nvPr/>
        </p:nvSpPr>
        <p:spPr>
          <a:xfrm>
            <a:off x="1632929" y="3552773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3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368" name="Google Shape;2368;p83"/>
          <p:cNvSpPr txBox="1"/>
          <p:nvPr/>
        </p:nvSpPr>
        <p:spPr>
          <a:xfrm>
            <a:off x="2207609" y="3552765"/>
            <a:ext cx="6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4</a:t>
            </a:r>
            <a:endParaRPr sz="1200" i="1" baseline="-25000">
              <a:solidFill>
                <a:srgbClr val="595959"/>
              </a:solidFill>
            </a:endParaRPr>
          </a:p>
        </p:txBody>
      </p:sp>
      <p:sp>
        <p:nvSpPr>
          <p:cNvPr id="2369" name="Google Shape;2369;p83"/>
          <p:cNvSpPr/>
          <p:nvPr/>
        </p:nvSpPr>
        <p:spPr>
          <a:xfrm>
            <a:off x="515240" y="3654058"/>
            <a:ext cx="324000" cy="3540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0" name="Google Shape;2370;p83"/>
          <p:cNvSpPr txBox="1"/>
          <p:nvPr/>
        </p:nvSpPr>
        <p:spPr>
          <a:xfrm>
            <a:off x="515250" y="3581939"/>
            <a:ext cx="583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595959"/>
                </a:solidFill>
              </a:rPr>
              <a:t>w</a:t>
            </a:r>
            <a:r>
              <a:rPr lang="en" sz="1200" i="1" baseline="-25000">
                <a:solidFill>
                  <a:srgbClr val="595959"/>
                </a:solidFill>
              </a:rPr>
              <a:t>1</a:t>
            </a:r>
            <a:endParaRPr sz="1200" i="1" baseline="-25000">
              <a:solidFill>
                <a:srgbClr val="595959"/>
              </a:solidFill>
            </a:endParaRPr>
          </a:p>
        </p:txBody>
      </p:sp>
      <p:cxnSp>
        <p:nvCxnSpPr>
          <p:cNvPr id="2371" name="Google Shape;2371;p83"/>
          <p:cNvCxnSpPr/>
          <p:nvPr/>
        </p:nvCxnSpPr>
        <p:spPr>
          <a:xfrm rot="10800000" flipH="1">
            <a:off x="1284788" y="4040550"/>
            <a:ext cx="300" cy="2931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72" name="Google Shape;2372;p83"/>
          <p:cNvCxnSpPr/>
          <p:nvPr/>
        </p:nvCxnSpPr>
        <p:spPr>
          <a:xfrm rot="10800000" flipH="1">
            <a:off x="1831838" y="4040550"/>
            <a:ext cx="300" cy="2931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73" name="Google Shape;2373;p83"/>
          <p:cNvCxnSpPr/>
          <p:nvPr/>
        </p:nvCxnSpPr>
        <p:spPr>
          <a:xfrm rot="10800000" flipH="1">
            <a:off x="2402163" y="4040550"/>
            <a:ext cx="300" cy="2931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74" name="Google Shape;2374;p83"/>
          <p:cNvSpPr txBox="1"/>
          <p:nvPr/>
        </p:nvSpPr>
        <p:spPr>
          <a:xfrm>
            <a:off x="472441" y="2301288"/>
            <a:ext cx="221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0.4     0.55     0.1    0.05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75" name="Google Shape;2375;p83"/>
          <p:cNvSpPr/>
          <p:nvPr/>
        </p:nvSpPr>
        <p:spPr>
          <a:xfrm>
            <a:off x="1208518" y="2804574"/>
            <a:ext cx="209400" cy="6636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6" name="Google Shape;2376;p83"/>
          <p:cNvSpPr/>
          <p:nvPr/>
        </p:nvSpPr>
        <p:spPr>
          <a:xfrm>
            <a:off x="1705218" y="3227599"/>
            <a:ext cx="209400" cy="2304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7" name="Google Shape;2377;p83"/>
          <p:cNvSpPr/>
          <p:nvPr/>
        </p:nvSpPr>
        <p:spPr>
          <a:xfrm>
            <a:off x="2297634" y="3308764"/>
            <a:ext cx="209400" cy="124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378" name="Google Shape;2378;p83"/>
          <p:cNvCxnSpPr/>
          <p:nvPr/>
        </p:nvCxnSpPr>
        <p:spPr>
          <a:xfrm>
            <a:off x="311706" y="3551444"/>
            <a:ext cx="2230800" cy="1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79" name="Google Shape;2379;p83"/>
          <p:cNvSpPr/>
          <p:nvPr/>
        </p:nvSpPr>
        <p:spPr>
          <a:xfrm rot="5400000">
            <a:off x="1452338" y="1090913"/>
            <a:ext cx="141300" cy="2073300"/>
          </a:xfrm>
          <a:prstGeom prst="leftBrace">
            <a:avLst>
              <a:gd name="adj1" fmla="val 50000"/>
              <a:gd name="adj2" fmla="val 5028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380" name="Google Shape;2380;p83"/>
          <p:cNvCxnSpPr>
            <a:endCxn id="2368" idx="2"/>
          </p:cNvCxnSpPr>
          <p:nvPr/>
        </p:nvCxnSpPr>
        <p:spPr>
          <a:xfrm rot="10800000">
            <a:off x="2509109" y="3922065"/>
            <a:ext cx="1320900" cy="378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81" name="Google Shape;2381;p83"/>
          <p:cNvCxnSpPr>
            <a:endCxn id="2367" idx="2"/>
          </p:cNvCxnSpPr>
          <p:nvPr/>
        </p:nvCxnSpPr>
        <p:spPr>
          <a:xfrm rot="10800000">
            <a:off x="1934429" y="3922073"/>
            <a:ext cx="1895400" cy="378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82" name="Google Shape;2382;p83"/>
          <p:cNvCxnSpPr>
            <a:endCxn id="2366" idx="2"/>
          </p:cNvCxnSpPr>
          <p:nvPr/>
        </p:nvCxnSpPr>
        <p:spPr>
          <a:xfrm rot="10800000">
            <a:off x="1331420" y="3922071"/>
            <a:ext cx="2498400" cy="378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83" name="Google Shape;2383;p83"/>
          <p:cNvCxnSpPr>
            <a:endCxn id="2370" idx="2"/>
          </p:cNvCxnSpPr>
          <p:nvPr/>
        </p:nvCxnSpPr>
        <p:spPr>
          <a:xfrm rot="10800000">
            <a:off x="807150" y="3951239"/>
            <a:ext cx="3022800" cy="3495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84" name="Google Shape;2384;p83"/>
          <p:cNvSpPr/>
          <p:nvPr/>
        </p:nvSpPr>
        <p:spPr>
          <a:xfrm>
            <a:off x="1336288" y="1636787"/>
            <a:ext cx="486000" cy="2685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5" name="Google Shape;2385;p83"/>
          <p:cNvSpPr txBox="1"/>
          <p:nvPr/>
        </p:nvSpPr>
        <p:spPr>
          <a:xfrm>
            <a:off x="1336600" y="1563275"/>
            <a:ext cx="48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a</a:t>
            </a:r>
            <a:endParaRPr sz="1500" i="1" baseline="-25000">
              <a:solidFill>
                <a:srgbClr val="595959"/>
              </a:solidFill>
            </a:endParaRPr>
          </a:p>
        </p:txBody>
      </p:sp>
      <p:sp>
        <p:nvSpPr>
          <p:cNvPr id="2386" name="Google Shape;2386;p83"/>
          <p:cNvSpPr/>
          <p:nvPr/>
        </p:nvSpPr>
        <p:spPr>
          <a:xfrm>
            <a:off x="539574" y="2976740"/>
            <a:ext cx="209400" cy="4971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7" name="Google Shape;2387;p83"/>
          <p:cNvSpPr txBox="1"/>
          <p:nvPr/>
        </p:nvSpPr>
        <p:spPr>
          <a:xfrm>
            <a:off x="3066038" y="2936271"/>
            <a:ext cx="85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7B7B7"/>
              </a:solidFill>
            </a:endParaRPr>
          </a:p>
        </p:txBody>
      </p:sp>
      <p:cxnSp>
        <p:nvCxnSpPr>
          <p:cNvPr id="2388" name="Google Shape;2388;p83"/>
          <p:cNvCxnSpPr/>
          <p:nvPr/>
        </p:nvCxnSpPr>
        <p:spPr>
          <a:xfrm rot="10800000" flipH="1">
            <a:off x="680138" y="4036988"/>
            <a:ext cx="300" cy="2931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89" name="Google Shape;2389;p83"/>
          <p:cNvSpPr txBox="1"/>
          <p:nvPr/>
        </p:nvSpPr>
        <p:spPr>
          <a:xfrm>
            <a:off x="3066038" y="2773533"/>
            <a:ext cx="85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SoftMax</a:t>
            </a:r>
            <a:endParaRPr>
              <a:solidFill>
                <a:srgbClr val="B7B7B7"/>
              </a:solidFill>
            </a:endParaRPr>
          </a:p>
        </p:txBody>
      </p:sp>
      <p:pic>
        <p:nvPicPr>
          <p:cNvPr id="2390" name="Google Shape;2390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300" y="4728000"/>
            <a:ext cx="2224634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1" name="Google Shape;2391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1380" y="4675050"/>
            <a:ext cx="390570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2" name="Google Shape;2392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1722" y="3590025"/>
            <a:ext cx="1415778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3" name="Google Shape;2393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07600" y="1439227"/>
            <a:ext cx="1228415" cy="66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4" name="Google Shape;2394;p8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96317" y="1354675"/>
            <a:ext cx="1371608" cy="74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5" name="Google Shape;2395;p8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93824" y="3533600"/>
            <a:ext cx="1463600" cy="4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6" name="Google Shape;2396;p83"/>
          <p:cNvSpPr txBox="1"/>
          <p:nvPr/>
        </p:nvSpPr>
        <p:spPr>
          <a:xfrm>
            <a:off x="4506950" y="438900"/>
            <a:ext cx="4082700" cy="4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У QKV Attention 3 обучаемые матрицы::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ld Standard TT"/>
              <a:buChar char="-"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Q</a:t>
            </a:r>
            <a:r>
              <a:rPr lang="en" sz="1600" baseline="-25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dxm</a:t>
            </a: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(query)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ld Standard TT"/>
              <a:buChar char="-"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K</a:t>
            </a:r>
            <a:r>
              <a:rPr lang="en" sz="1600" baseline="-25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dxm</a:t>
            </a: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(key) 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ld Standard TT"/>
              <a:buChar char="-"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V</a:t>
            </a:r>
            <a:r>
              <a:rPr lang="en" sz="1600" baseline="-25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dxm</a:t>
            </a: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(value)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Здесь: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ld Standard TT"/>
              <a:buChar char="-"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 — длина эмбеддингов;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ld Standard TT"/>
              <a:buChar char="-"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 можно выбирать любым 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</a:t>
            </a:r>
            <a:endParaRPr sz="1600" i="1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1" name="Google Shape;2401;p84"/>
          <p:cNvSpPr txBox="1"/>
          <p:nvPr/>
        </p:nvSpPr>
        <p:spPr>
          <a:xfrm>
            <a:off x="4346500" y="137050"/>
            <a:ext cx="3628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QKV Attention в векторной форме: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402" name="Google Shape;2402;p84"/>
          <p:cNvSpPr/>
          <p:nvPr/>
        </p:nvSpPr>
        <p:spPr>
          <a:xfrm>
            <a:off x="917375" y="3744150"/>
            <a:ext cx="642900" cy="344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03" name="Google Shape;2403;p84"/>
          <p:cNvCxnSpPr>
            <a:endCxn id="2402" idx="2"/>
          </p:cNvCxnSpPr>
          <p:nvPr/>
        </p:nvCxnSpPr>
        <p:spPr>
          <a:xfrm rot="10800000">
            <a:off x="1238825" y="4088250"/>
            <a:ext cx="5100" cy="551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04" name="Google Shape;2404;p84"/>
          <p:cNvSpPr/>
          <p:nvPr/>
        </p:nvSpPr>
        <p:spPr>
          <a:xfrm>
            <a:off x="3182800" y="4626688"/>
            <a:ext cx="2163600" cy="344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05" name="Google Shape;2405;p84"/>
          <p:cNvCxnSpPr/>
          <p:nvPr/>
        </p:nvCxnSpPr>
        <p:spPr>
          <a:xfrm rot="10800000">
            <a:off x="4264700" y="4095888"/>
            <a:ext cx="5400" cy="534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06" name="Google Shape;2406;p84"/>
          <p:cNvSpPr/>
          <p:nvPr/>
        </p:nvSpPr>
        <p:spPr>
          <a:xfrm>
            <a:off x="3934550" y="3708313"/>
            <a:ext cx="642900" cy="344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7" name="Google Shape;2407;p84"/>
          <p:cNvSpPr txBox="1"/>
          <p:nvPr/>
        </p:nvSpPr>
        <p:spPr>
          <a:xfrm>
            <a:off x="917363" y="3680263"/>
            <a:ext cx="915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k= x</a:t>
            </a:r>
            <a:r>
              <a:rPr lang="en" b="1" i="1">
                <a:solidFill>
                  <a:schemeClr val="dk1"/>
                </a:solidFill>
              </a:rPr>
              <a:t>K</a:t>
            </a:r>
            <a:endParaRPr b="1">
              <a:solidFill>
                <a:schemeClr val="dk1"/>
              </a:solidFill>
            </a:endParaRPr>
          </a:p>
        </p:txBody>
      </p:sp>
      <p:cxnSp>
        <p:nvCxnSpPr>
          <p:cNvPr id="2408" name="Google Shape;2408;p84"/>
          <p:cNvCxnSpPr>
            <a:stCxn id="2402" idx="0"/>
            <a:endCxn id="2409" idx="3"/>
          </p:cNvCxnSpPr>
          <p:nvPr/>
        </p:nvCxnSpPr>
        <p:spPr>
          <a:xfrm rot="10800000" flipH="1">
            <a:off x="1238825" y="3416850"/>
            <a:ext cx="938400" cy="32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10" name="Google Shape;2410;p84"/>
          <p:cNvSpPr/>
          <p:nvPr/>
        </p:nvSpPr>
        <p:spPr>
          <a:xfrm>
            <a:off x="139350" y="4626688"/>
            <a:ext cx="2163600" cy="344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1" name="Google Shape;2411;p84"/>
          <p:cNvSpPr txBox="1"/>
          <p:nvPr/>
        </p:nvSpPr>
        <p:spPr>
          <a:xfrm>
            <a:off x="221700" y="4590988"/>
            <a:ext cx="2785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x</a:t>
            </a:r>
            <a:r>
              <a:rPr lang="en" sz="1500" i="1" baseline="-25000">
                <a:solidFill>
                  <a:srgbClr val="595959"/>
                </a:solidFill>
              </a:rPr>
              <a:t> </a:t>
            </a:r>
            <a:r>
              <a:rPr lang="en" sz="1500" i="1">
                <a:solidFill>
                  <a:srgbClr val="595959"/>
                </a:solidFill>
              </a:rPr>
              <a:t> = [x</a:t>
            </a:r>
            <a:r>
              <a:rPr lang="en" sz="1500" i="1" baseline="-25000">
                <a:solidFill>
                  <a:srgbClr val="595959"/>
                </a:solidFill>
              </a:rPr>
              <a:t>1 </a:t>
            </a:r>
            <a:r>
              <a:rPr lang="en" sz="1500" i="1">
                <a:solidFill>
                  <a:srgbClr val="595959"/>
                </a:solidFill>
              </a:rPr>
              <a:t>, </a:t>
            </a:r>
            <a:r>
              <a:rPr lang="en" sz="1500" i="1">
                <a:solidFill>
                  <a:schemeClr val="dk2"/>
                </a:solidFill>
              </a:rPr>
              <a:t>x</a:t>
            </a:r>
            <a:r>
              <a:rPr lang="en" sz="1500" i="1" baseline="-25000">
                <a:solidFill>
                  <a:schemeClr val="dk2"/>
                </a:solidFill>
              </a:rPr>
              <a:t>2 </a:t>
            </a:r>
            <a:r>
              <a:rPr lang="en" sz="1500" i="1">
                <a:solidFill>
                  <a:schemeClr val="dk2"/>
                </a:solidFill>
              </a:rPr>
              <a:t>,..., x</a:t>
            </a:r>
            <a:r>
              <a:rPr lang="en" sz="1500" i="1" baseline="-25000">
                <a:solidFill>
                  <a:schemeClr val="dk2"/>
                </a:solidFill>
              </a:rPr>
              <a:t>n</a:t>
            </a:r>
            <a:r>
              <a:rPr lang="en" sz="1500" i="1">
                <a:solidFill>
                  <a:srgbClr val="595959"/>
                </a:solidFill>
              </a:rPr>
              <a:t>]</a:t>
            </a:r>
            <a:endParaRPr sz="1500" i="1">
              <a:solidFill>
                <a:srgbClr val="595959"/>
              </a:solidFill>
            </a:endParaRPr>
          </a:p>
        </p:txBody>
      </p:sp>
      <p:cxnSp>
        <p:nvCxnSpPr>
          <p:cNvPr id="2412" name="Google Shape;2412;p84"/>
          <p:cNvCxnSpPr>
            <a:endCxn id="2409" idx="5"/>
          </p:cNvCxnSpPr>
          <p:nvPr/>
        </p:nvCxnSpPr>
        <p:spPr>
          <a:xfrm rot="10800000">
            <a:off x="3207249" y="3416893"/>
            <a:ext cx="1081800" cy="27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13" name="Google Shape;2413;p84"/>
          <p:cNvCxnSpPr/>
          <p:nvPr/>
        </p:nvCxnSpPr>
        <p:spPr>
          <a:xfrm rot="10800000">
            <a:off x="2695625" y="2328188"/>
            <a:ext cx="0" cy="59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14" name="Google Shape;2414;p84"/>
          <p:cNvSpPr/>
          <p:nvPr/>
        </p:nvSpPr>
        <p:spPr>
          <a:xfrm>
            <a:off x="1967373" y="1781550"/>
            <a:ext cx="1456500" cy="572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5" name="Google Shape;2415;p84"/>
          <p:cNvSpPr txBox="1"/>
          <p:nvPr/>
        </p:nvSpPr>
        <p:spPr>
          <a:xfrm>
            <a:off x="1964050" y="1882338"/>
            <a:ext cx="161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w=softmax( kq</a:t>
            </a:r>
            <a:r>
              <a:rPr lang="en" i="1" baseline="30000">
                <a:solidFill>
                  <a:schemeClr val="dk1"/>
                </a:solidFill>
              </a:rPr>
              <a:t>T</a:t>
            </a:r>
            <a:r>
              <a:rPr lang="en" i="1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09" name="Google Shape;2409;p84"/>
          <p:cNvSpPr/>
          <p:nvPr/>
        </p:nvSpPr>
        <p:spPr>
          <a:xfrm>
            <a:off x="1964048" y="2928063"/>
            <a:ext cx="1456500" cy="572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6" name="Google Shape;2416;p84"/>
          <p:cNvSpPr txBox="1"/>
          <p:nvPr/>
        </p:nvSpPr>
        <p:spPr>
          <a:xfrm>
            <a:off x="2302950" y="2967938"/>
            <a:ext cx="85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w= kq</a:t>
            </a:r>
            <a:r>
              <a:rPr lang="en" i="1" baseline="30000">
                <a:solidFill>
                  <a:schemeClr val="dk1"/>
                </a:solidFill>
              </a:rPr>
              <a:t>T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2417" name="Google Shape;2417;p84"/>
          <p:cNvCxnSpPr/>
          <p:nvPr/>
        </p:nvCxnSpPr>
        <p:spPr>
          <a:xfrm rot="10800000" flipH="1">
            <a:off x="593913" y="2328188"/>
            <a:ext cx="18600" cy="227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18" name="Google Shape;2418;p84"/>
          <p:cNvSpPr txBox="1"/>
          <p:nvPr/>
        </p:nvSpPr>
        <p:spPr>
          <a:xfrm>
            <a:off x="3934550" y="3680250"/>
            <a:ext cx="85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q = </a:t>
            </a:r>
            <a:r>
              <a:rPr lang="en">
                <a:solidFill>
                  <a:schemeClr val="dk1"/>
                </a:solidFill>
              </a:rPr>
              <a:t>y</a:t>
            </a:r>
            <a:r>
              <a:rPr lang="en" b="1">
                <a:solidFill>
                  <a:schemeClr val="dk1"/>
                </a:solidFill>
              </a:rPr>
              <a:t>Q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419" name="Google Shape;2419;p84"/>
          <p:cNvSpPr txBox="1"/>
          <p:nvPr/>
        </p:nvSpPr>
        <p:spPr>
          <a:xfrm>
            <a:off x="3317700" y="4590975"/>
            <a:ext cx="2785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95959"/>
                </a:solidFill>
              </a:rPr>
              <a:t>y</a:t>
            </a:r>
            <a:r>
              <a:rPr lang="en" sz="1500" i="1" baseline="-25000">
                <a:solidFill>
                  <a:srgbClr val="595959"/>
                </a:solidFill>
              </a:rPr>
              <a:t> </a:t>
            </a:r>
            <a:r>
              <a:rPr lang="en" sz="1500" i="1">
                <a:solidFill>
                  <a:srgbClr val="595959"/>
                </a:solidFill>
              </a:rPr>
              <a:t> = [y</a:t>
            </a:r>
            <a:r>
              <a:rPr lang="en" sz="1500" i="1" baseline="-25000">
                <a:solidFill>
                  <a:srgbClr val="595959"/>
                </a:solidFill>
              </a:rPr>
              <a:t>1 </a:t>
            </a:r>
            <a:r>
              <a:rPr lang="en" sz="1500" i="1">
                <a:solidFill>
                  <a:srgbClr val="595959"/>
                </a:solidFill>
              </a:rPr>
              <a:t>, </a:t>
            </a:r>
            <a:r>
              <a:rPr lang="en" sz="1500" i="1">
                <a:solidFill>
                  <a:schemeClr val="dk2"/>
                </a:solidFill>
              </a:rPr>
              <a:t>y</a:t>
            </a:r>
            <a:r>
              <a:rPr lang="en" sz="1500" i="1" baseline="-25000">
                <a:solidFill>
                  <a:schemeClr val="dk2"/>
                </a:solidFill>
              </a:rPr>
              <a:t>2 </a:t>
            </a:r>
            <a:r>
              <a:rPr lang="en" sz="1500" i="1">
                <a:solidFill>
                  <a:schemeClr val="dk2"/>
                </a:solidFill>
              </a:rPr>
              <a:t>,..., y</a:t>
            </a:r>
            <a:r>
              <a:rPr lang="en" sz="1500" i="1" baseline="-25000">
                <a:solidFill>
                  <a:schemeClr val="dk2"/>
                </a:solidFill>
              </a:rPr>
              <a:t>n</a:t>
            </a:r>
            <a:r>
              <a:rPr lang="en" sz="1500" i="1">
                <a:solidFill>
                  <a:srgbClr val="595959"/>
                </a:solidFill>
              </a:rPr>
              <a:t>]</a:t>
            </a:r>
            <a:endParaRPr sz="1500" i="1">
              <a:solidFill>
                <a:srgbClr val="595959"/>
              </a:solidFill>
            </a:endParaRPr>
          </a:p>
        </p:txBody>
      </p:sp>
      <p:sp>
        <p:nvSpPr>
          <p:cNvPr id="2420" name="Google Shape;2420;p84"/>
          <p:cNvSpPr/>
          <p:nvPr/>
        </p:nvSpPr>
        <p:spPr>
          <a:xfrm>
            <a:off x="323525" y="1984075"/>
            <a:ext cx="642900" cy="3441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1" name="Google Shape;2421;p84"/>
          <p:cNvSpPr txBox="1"/>
          <p:nvPr/>
        </p:nvSpPr>
        <p:spPr>
          <a:xfrm>
            <a:off x="323513" y="1956038"/>
            <a:ext cx="915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v = x</a:t>
            </a:r>
            <a:r>
              <a:rPr lang="en" b="1" i="1">
                <a:solidFill>
                  <a:schemeClr val="dk1"/>
                </a:solidFill>
              </a:rPr>
              <a:t>V</a:t>
            </a:r>
            <a:endParaRPr b="1">
              <a:solidFill>
                <a:schemeClr val="dk1"/>
              </a:solidFill>
            </a:endParaRPr>
          </a:p>
        </p:txBody>
      </p:sp>
      <p:cxnSp>
        <p:nvCxnSpPr>
          <p:cNvPr id="2422" name="Google Shape;2422;p84"/>
          <p:cNvCxnSpPr>
            <a:stCxn id="2421" idx="0"/>
          </p:cNvCxnSpPr>
          <p:nvPr/>
        </p:nvCxnSpPr>
        <p:spPr>
          <a:xfrm rot="10800000" flipH="1">
            <a:off x="781163" y="1190138"/>
            <a:ext cx="639300" cy="76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23" name="Google Shape;2423;p84"/>
          <p:cNvCxnSpPr>
            <a:stCxn id="2414" idx="0"/>
          </p:cNvCxnSpPr>
          <p:nvPr/>
        </p:nvCxnSpPr>
        <p:spPr>
          <a:xfrm rot="10800000">
            <a:off x="1684923" y="1207650"/>
            <a:ext cx="1010700" cy="57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24" name="Google Shape;2424;p84"/>
          <p:cNvSpPr/>
          <p:nvPr/>
        </p:nvSpPr>
        <p:spPr>
          <a:xfrm>
            <a:off x="1250375" y="835600"/>
            <a:ext cx="642900" cy="3441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5" name="Google Shape;2425;p84"/>
          <p:cNvSpPr txBox="1"/>
          <p:nvPr/>
        </p:nvSpPr>
        <p:spPr>
          <a:xfrm>
            <a:off x="1178112" y="807563"/>
            <a:ext cx="1828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a = wv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426" name="Google Shape;2426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2150" y="1437449"/>
            <a:ext cx="1082875" cy="34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7" name="Google Shape;2427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2156" y="655625"/>
            <a:ext cx="2199019" cy="67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2" name="Google Shape;2432;p85"/>
          <p:cNvSpPr txBox="1">
            <a:spLocks noGrp="1"/>
          </p:cNvSpPr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</a:t>
            </a:r>
            <a:endParaRPr/>
          </a:p>
        </p:txBody>
      </p:sp>
      <p:pic>
        <p:nvPicPr>
          <p:cNvPr id="2433" name="Google Shape;2433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89750"/>
            <a:ext cx="3970701" cy="374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128"/>
          <p:cNvSpPr txBox="1">
            <a:spLocks noGrp="1"/>
          </p:cNvSpPr>
          <p:nvPr>
            <p:ph type="title"/>
          </p:nvPr>
        </p:nvSpPr>
        <p:spPr>
          <a:xfrm>
            <a:off x="209450" y="175725"/>
            <a:ext cx="6180000" cy="1931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/>
          <a:p>
            <a:r>
              <a:rPr lang="ru" b="0" dirty="0">
                <a:solidFill>
                  <a:schemeClr val="tx1"/>
                </a:solidFill>
              </a:rPr>
              <a:t>Спасибо </a:t>
            </a:r>
            <a:endParaRPr b="0" dirty="0">
              <a:solidFill>
                <a:schemeClr val="tx1"/>
              </a:solidFill>
            </a:endParaRPr>
          </a:p>
          <a:p>
            <a:r>
              <a:rPr lang="ru" b="0" dirty="0">
                <a:solidFill>
                  <a:schemeClr val="tx1"/>
                </a:solidFill>
              </a:rPr>
              <a:t>за внимание!</a:t>
            </a:r>
            <a:endParaRPr b="0" dirty="0">
              <a:solidFill>
                <a:schemeClr val="tx1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C550ACE-0CEE-44E2-9107-E3C511DB23D2}"/>
              </a:ext>
            </a:extLst>
          </p:cNvPr>
          <p:cNvSpPr/>
          <p:nvPr/>
        </p:nvSpPr>
        <p:spPr>
          <a:xfrm>
            <a:off x="6129338" y="246460"/>
            <a:ext cx="1210866" cy="503634"/>
          </a:xfrm>
          <a:prstGeom prst="rect">
            <a:avLst/>
          </a:prstGeom>
          <a:solidFill>
            <a:srgbClr val="B4E915"/>
          </a:solidFill>
          <a:ln>
            <a:solidFill>
              <a:srgbClr val="B4E9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4167096"/>
      </p:ext>
    </p:extLst>
  </p:cSld>
  <p:clrMapOvr>
    <a:masterClrMapping/>
  </p:clrMapOvr>
</p:sld>
</file>

<file path=ppt/theme/theme1.xml><?xml version="1.0" encoding="utf-8"?>
<a:theme xmlns:a="http://schemas.openxmlformats.org/drawingml/2006/main" name="DLS lectur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1930</Words>
  <Application>Microsoft Office PowerPoint</Application>
  <PresentationFormat>Экран (16:9)</PresentationFormat>
  <Paragraphs>859</Paragraphs>
  <Slides>68</Slides>
  <Notes>68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68</vt:i4>
      </vt:variant>
    </vt:vector>
  </HeadingPairs>
  <TitlesOfParts>
    <vt:vector size="74" baseType="lpstr">
      <vt:lpstr>Arial</vt:lpstr>
      <vt:lpstr>Verdana</vt:lpstr>
      <vt:lpstr>Old Standard TT</vt:lpstr>
      <vt:lpstr>Calibri</vt:lpstr>
      <vt:lpstr>Montserrat</vt:lpstr>
      <vt:lpstr>DLS lecture</vt:lpstr>
      <vt:lpstr>Введение в глубокое обучение</vt:lpstr>
      <vt:lpstr>План занятия</vt:lpstr>
      <vt:lpstr>Encoder и Decoder</vt:lpstr>
      <vt:lpstr>Encoder и Decoder</vt:lpstr>
      <vt:lpstr>Недостатки RNN </vt:lpstr>
      <vt:lpstr>Attention</vt:lpstr>
      <vt:lpstr>Идея Transformer</vt:lpstr>
      <vt:lpstr>Идея Transformer </vt:lpstr>
      <vt:lpstr>Идея Transformer  </vt:lpstr>
      <vt:lpstr>Transformer Encoder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Layer Norm</vt:lpstr>
      <vt:lpstr>Layer Norm</vt:lpstr>
      <vt:lpstr>Layer Norm</vt:lpstr>
      <vt:lpstr>Презентация PowerPoint</vt:lpstr>
      <vt:lpstr>Transformer Encoder </vt:lpstr>
      <vt:lpstr>Transformer Encoder  </vt:lpstr>
      <vt:lpstr>Multi-Head Self-Attention  </vt:lpstr>
      <vt:lpstr>Multi-Head Self-Attention </vt:lpstr>
      <vt:lpstr>Multi-Head Self-Attention </vt:lpstr>
      <vt:lpstr>Презентация PowerPoint</vt:lpstr>
      <vt:lpstr>Transformer Encoder</vt:lpstr>
      <vt:lpstr>Multi-Head Self-Attention  </vt:lpstr>
      <vt:lpstr>Multi-Head Self-Attention  </vt:lpstr>
      <vt:lpstr>Transformer Encoder  </vt:lpstr>
      <vt:lpstr>Transformer Encoder</vt:lpstr>
      <vt:lpstr>Positional Encoding </vt:lpstr>
      <vt:lpstr>Positional Encoding </vt:lpstr>
      <vt:lpstr>Positional Encoding </vt:lpstr>
      <vt:lpstr>Positional Encoding  </vt:lpstr>
      <vt:lpstr>Transformer Encoder  </vt:lpstr>
      <vt:lpstr>Transformer Encoder  </vt:lpstr>
      <vt:lpstr>Transformer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Transformer </vt:lpstr>
      <vt:lpstr>Masked Self-Attention  </vt:lpstr>
      <vt:lpstr>Masked Self-Attention  </vt:lpstr>
      <vt:lpstr>Masked Self-Attention  </vt:lpstr>
      <vt:lpstr>Transformer </vt:lpstr>
      <vt:lpstr>Cross-Attention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Transformer Decoder</vt:lpstr>
      <vt:lpstr>QKV Attention </vt:lpstr>
      <vt:lpstr>QKV Attention </vt:lpstr>
      <vt:lpstr>QKV Attention </vt:lpstr>
      <vt:lpstr>Презентация PowerPoint</vt:lpstr>
      <vt:lpstr>Transformer</vt:lpstr>
      <vt:lpstr>Спасибо 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глубокое обучение</dc:title>
  <cp:lastModifiedBy>Константин Некрасов</cp:lastModifiedBy>
  <cp:revision>6</cp:revision>
  <dcterms:modified xsi:type="dcterms:W3CDTF">2025-06-02T12:58:51Z</dcterms:modified>
</cp:coreProperties>
</file>