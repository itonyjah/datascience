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82"/>
  </p:notesMasterIdLst>
  <p:sldIdLst>
    <p:sldId id="256" r:id="rId2"/>
    <p:sldId id="257" r:id="rId3"/>
    <p:sldId id="29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2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293" r:id="rId37"/>
    <p:sldId id="349" r:id="rId38"/>
    <p:sldId id="350" r:id="rId39"/>
    <p:sldId id="351" r:id="rId40"/>
    <p:sldId id="352" r:id="rId41"/>
    <p:sldId id="353" r:id="rId42"/>
    <p:sldId id="354" r:id="rId43"/>
    <p:sldId id="355" r:id="rId44"/>
    <p:sldId id="356" r:id="rId45"/>
    <p:sldId id="357" r:id="rId46"/>
    <p:sldId id="358" r:id="rId47"/>
    <p:sldId id="359" r:id="rId48"/>
    <p:sldId id="360" r:id="rId49"/>
    <p:sldId id="361" r:id="rId50"/>
    <p:sldId id="362" r:id="rId51"/>
    <p:sldId id="363" r:id="rId52"/>
    <p:sldId id="364" r:id="rId53"/>
    <p:sldId id="365" r:id="rId54"/>
    <p:sldId id="366" r:id="rId55"/>
    <p:sldId id="367" r:id="rId56"/>
    <p:sldId id="368" r:id="rId57"/>
    <p:sldId id="369" r:id="rId58"/>
    <p:sldId id="371" r:id="rId59"/>
    <p:sldId id="372" r:id="rId60"/>
    <p:sldId id="373" r:id="rId61"/>
    <p:sldId id="374" r:id="rId62"/>
    <p:sldId id="375" r:id="rId63"/>
    <p:sldId id="376" r:id="rId64"/>
    <p:sldId id="377" r:id="rId65"/>
    <p:sldId id="378" r:id="rId66"/>
    <p:sldId id="379" r:id="rId67"/>
    <p:sldId id="380" r:id="rId68"/>
    <p:sldId id="381" r:id="rId69"/>
    <p:sldId id="382" r:id="rId70"/>
    <p:sldId id="383" r:id="rId71"/>
    <p:sldId id="384" r:id="rId72"/>
    <p:sldId id="385" r:id="rId73"/>
    <p:sldId id="386" r:id="rId74"/>
    <p:sldId id="387" r:id="rId75"/>
    <p:sldId id="278" r:id="rId76"/>
    <p:sldId id="388" r:id="rId77"/>
    <p:sldId id="389" r:id="rId78"/>
    <p:sldId id="390" r:id="rId79"/>
    <p:sldId id="391" r:id="rId80"/>
    <p:sldId id="348" r:id="rId8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83"/>
      <p:bold r:id="rId84"/>
      <p:italic r:id="rId85"/>
      <p:boldItalic r:id="rId86"/>
    </p:embeddedFont>
    <p:embeddedFont>
      <p:font typeface="Cambria Math" panose="02040503050406030204" pitchFamily="18" charset="0"/>
      <p:regular r:id="rId87"/>
    </p:embeddedFont>
    <p:embeddedFont>
      <p:font typeface="Helvetica Neue" panose="020B0604020202020204" charset="0"/>
      <p:regular r:id="rId88"/>
      <p:bold r:id="rId89"/>
      <p:italic r:id="rId90"/>
      <p:boldItalic r:id="rId91"/>
    </p:embeddedFont>
    <p:embeddedFont>
      <p:font typeface="Montserrat" panose="00000500000000000000" pitchFamily="2" charset="-52"/>
      <p:regular r:id="rId92"/>
      <p:bold r:id="rId93"/>
      <p:italic r:id="rId94"/>
      <p:boldItalic r:id="rId95"/>
    </p:embeddedFont>
    <p:embeddedFont>
      <p:font typeface="Verdana" panose="020B0604030504040204" pitchFamily="34" charset="0"/>
      <p:regular r:id="rId96"/>
      <p:bold r:id="rId97"/>
      <p:italic r:id="rId98"/>
      <p:boldItalic r:id="rId9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4" d="100"/>
          <a:sy n="184" d="100"/>
        </p:scale>
        <p:origin x="156" y="3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2.fntdata"/><Relationship Id="rId89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font" Target="fonts/font8.fntdata"/><Relationship Id="rId95" Type="http://schemas.openxmlformats.org/officeDocument/2006/relationships/font" Target="fonts/font13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3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1.fntdata"/><Relationship Id="rId88" Type="http://schemas.openxmlformats.org/officeDocument/2006/relationships/font" Target="fonts/font6.fntdata"/><Relationship Id="rId91" Type="http://schemas.openxmlformats.org/officeDocument/2006/relationships/font" Target="fonts/font9.fntdata"/><Relationship Id="rId96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4.fntdata"/><Relationship Id="rId94" Type="http://schemas.openxmlformats.org/officeDocument/2006/relationships/font" Target="fonts/font12.fntdata"/><Relationship Id="rId99" Type="http://schemas.openxmlformats.org/officeDocument/2006/relationships/font" Target="fonts/font17.fntdata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5.fntdata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1.fntdata"/><Relationship Id="rId98" Type="http://schemas.openxmlformats.org/officeDocument/2006/relationships/font" Target="fonts/font16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954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e4515900b_0_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22e4515900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e4515900b_0_28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g22e4515900b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2e4515900b_0_10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22e4515900b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e4515900b_0_10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/>
              <a:t>Языковое моделирование имеет очень естественную и общую постановку задачи: мы говорим и пишем последовательно слово за словом. </a:t>
            </a:r>
            <a:endParaRPr/>
          </a:p>
        </p:txBody>
      </p:sp>
      <p:sp>
        <p:nvSpPr>
          <p:cNvPr id="146" name="Google Shape;146;g22e4515900b_0_1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2e4515900b_0_3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22e4515900b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2e4515900b_0_4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22e4515900b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2e4515900b_0_1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2e4515900b_0_1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e4515900b_0_5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g22e4515900b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2e4515900b_0_10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22e4515900b_0_1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2e4515900b_0_10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22e4515900b_0_1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2e4515900b_0_58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22e4515900b_0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2e4515900b_0_6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22e4515900b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2e4515900b_0_10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22e4515900b_0_10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e4515900b_0_109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g22e4515900b_0_1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2e4515900b_0_110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g22e4515900b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2e4515900b_0_7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22e4515900b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2e4515900b_0_10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22e4515900b_0_1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2e4515900b_0_11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g22e4515900b_0_1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2e4515900b_0_8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g22e4515900b_0_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e4515900b_0_11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22e4515900b_0_1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e4515900b_0_88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g22e4515900b_0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e1fa1c0b9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2e1fa1c0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2e1fa1c0b9_0_4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g22e1fa1c0b9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e1fa1c0b9_0_4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22e1fa1c0b9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2e1fa1c0b9_0_4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22e1fa1c0b9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e1fa1c0b9_0_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22e1fa1c0b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e1fa1c0b9_0_1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22e1fa1c0b9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2e1fa1c0b9_0_3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22e1fa1c0b9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2e1fa1c0b9_0_3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22e1fa1c0b9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2e1fa1c0b9_0_39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22e1fa1c0b9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e1fa1c0b9_0_40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22e1fa1c0b9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e1fa1c0b9_0_4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22e1fa1c0b9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83cf81036b_0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183cf81036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83cf81036b_0_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83cf81036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83cf81036b_0_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183cf81036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83cf81036b_0_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g183cf81036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83cf81036b_0_3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183cf81036b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83cf81036b_0_3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g183cf81036b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83cf81036b_0_1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g183cf81036b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83cf81036b_0_2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g183cf81036b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83cf81036b_0_2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4" name="Google Shape;314;g183cf81036b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83cf81036b_0_39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g183cf81036b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3cf81036b_0_4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2" name="Google Shape;412;g183cf81036b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83cf81036b_0_4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2" name="Google Shape;472;g183cf81036b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83cf81036b_0_5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2" name="Google Shape;532;g183cf81036b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83cf81036b_0_6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7" name="Google Shape;597;g183cf81036b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0a1292b4eb_0_1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2" name="Google Shape;662;g20a1292b4eb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0a1292b4eb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0a1292b4eb_0_10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a13254c08_0_10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20a13254c08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0a13254c08_0_1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20a13254c08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0a13254c08_0_20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20a13254c08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0a13254c08_0_2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20a13254c08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0a13254c08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g20a13254c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0a13254c08_0_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g20a13254c0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0a13254c08_0_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20a13254c0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0a13254c08_0_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g20a13254c0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0a13254c08_0_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g20a13254c08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0a13254c08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0a13254c08_0_4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0a13254c0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0a13254c08_0_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0a13254c08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0a13254c08_0_4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0a13254c08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0a13254c08_0_4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0a13254c08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0a13254c08_0_4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0a13254c08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0a13254c08_0_5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0a13254c08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0a13254c08_0_5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0a13254c08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0a13254c08_0_5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0a13254c08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0a13254c08_0_6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0a13254c08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0a13254c08_0_6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78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пункты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 фото">
  <p:cSld name="Заголовок и фото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>
            <a:spLocks noGrp="1"/>
          </p:cNvSpPr>
          <p:nvPr>
            <p:ph type="pic" idx="2"/>
          </p:nvPr>
        </p:nvSpPr>
        <p:spPr>
          <a:xfrm>
            <a:off x="-433387" y="-485775"/>
            <a:ext cx="10029900" cy="60072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52438" y="2671763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52884" y="414801"/>
            <a:ext cx="8238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3"/>
          </p:nvPr>
        </p:nvSpPr>
        <p:spPr>
          <a:xfrm>
            <a:off x="452438" y="4353716"/>
            <a:ext cx="82392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 фото (вариант)">
  <p:cSld name="Заголовок и фото (вариант)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>
            <a:spLocks noGrp="1"/>
          </p:cNvSpPr>
          <p:nvPr>
            <p:ph type="pic" idx="2"/>
          </p:nvPr>
        </p:nvSpPr>
        <p:spPr>
          <a:xfrm>
            <a:off x="4114800" y="-76200"/>
            <a:ext cx="4554300" cy="53007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452438" y="476250"/>
            <a:ext cx="3667200" cy="22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452438" y="2647716"/>
            <a:ext cx="3667200" cy="2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4500562" y="4906962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нкты">
  <p:cSld name="Пункты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ункты и фото">
  <p:cSld name="Заголовок, пункты и фото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452438" y="889861"/>
            <a:ext cx="3667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3667200" cy="30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>
            <a:spLocks noGrp="1"/>
          </p:cNvSpPr>
          <p:nvPr>
            <p:ph type="pic" idx="3"/>
          </p:nvPr>
        </p:nvSpPr>
        <p:spPr>
          <a:xfrm>
            <a:off x="4572000" y="-152725"/>
            <a:ext cx="4093800" cy="54585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36672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">
  <p:cSld name="Раздел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452436" y="1700213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4500562" y="4906962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1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вестка дня">
  <p:cSld name="Повестка дня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1pPr>
            <a:lvl2pPr marL="91440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2pPr>
            <a:lvl3pPr marL="137160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3pPr>
            <a:lvl4pPr marL="182880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4pPr>
            <a:lvl5pPr marL="228600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Информационное сообщение">
  <p:cSld name="Информационное сообщение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452438" y="1845316"/>
            <a:ext cx="82392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факт">
  <p:cSld name="Важный факт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body" idx="1"/>
          </p:nvPr>
        </p:nvSpPr>
        <p:spPr>
          <a:xfrm>
            <a:off x="452438" y="403473"/>
            <a:ext cx="8239200" cy="2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marL="457200" lvl="0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sz="9400" b="1"/>
            </a:lvl1pPr>
            <a:lvl2pPr marL="914400" lvl="1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sz="9400" b="1"/>
            </a:lvl2pPr>
            <a:lvl3pPr marL="1371600" lvl="2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sz="9400" b="1"/>
            </a:lvl3pPr>
            <a:lvl4pPr marL="1828800" lvl="3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sz="9400" b="1"/>
            </a:lvl4pPr>
            <a:lvl5pPr marL="2286000" lvl="4" indent="-228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sz="9400" b="1"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body" idx="2"/>
          </p:nvPr>
        </p:nvSpPr>
        <p:spPr>
          <a:xfrm>
            <a:off x="452438" y="3098317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">
  <p:cSld name="Цитата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>
            <a:spLocks noGrp="1"/>
          </p:cNvSpPr>
          <p:nvPr>
            <p:ph type="body" idx="1"/>
          </p:nvPr>
        </p:nvSpPr>
        <p:spPr>
          <a:xfrm>
            <a:off x="911259" y="4003295"/>
            <a:ext cx="7575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body" idx="2"/>
          </p:nvPr>
        </p:nvSpPr>
        <p:spPr>
          <a:xfrm>
            <a:off x="657721" y="1852447"/>
            <a:ext cx="78285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(3 шт.)">
  <p:cSld name="Фото (3 шт.)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>
            <a:spLocks noGrp="1"/>
          </p:cNvSpPr>
          <p:nvPr>
            <p:ph type="pic" idx="2"/>
          </p:nvPr>
        </p:nvSpPr>
        <p:spPr>
          <a:xfrm>
            <a:off x="5910263" y="381000"/>
            <a:ext cx="2789700" cy="2231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6"/>
          <p:cNvSpPr>
            <a:spLocks noGrp="1"/>
          </p:cNvSpPr>
          <p:nvPr>
            <p:ph type="pic" idx="3"/>
          </p:nvPr>
        </p:nvSpPr>
        <p:spPr>
          <a:xfrm>
            <a:off x="5062538" y="1491853"/>
            <a:ext cx="3914700" cy="455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6"/>
          <p:cNvSpPr>
            <a:spLocks noGrp="1"/>
          </p:cNvSpPr>
          <p:nvPr>
            <p:ph type="pic" idx="4"/>
          </p:nvPr>
        </p:nvSpPr>
        <p:spPr>
          <a:xfrm>
            <a:off x="-52387" y="185738"/>
            <a:ext cx="6229500" cy="46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">
  <p:cSld name="Фото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>
            <a:spLocks noGrp="1"/>
          </p:cNvSpPr>
          <p:nvPr>
            <p:ph type="pic" idx="2"/>
          </p:nvPr>
        </p:nvSpPr>
        <p:spPr>
          <a:xfrm>
            <a:off x="-500062" y="-2071687"/>
            <a:ext cx="10144200" cy="8115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">
  <p:cSld name="Пустой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пункты 1">
  <p:cSld name="Заголовок и пункты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1621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пункты 2">
  <p:cSld name="Заголовок и пункты 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8618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пункты 3">
  <p:cSld name="Заголовок и пункты 3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595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09425" y="180000"/>
            <a:ext cx="56142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24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451" y="298801"/>
            <a:ext cx="2709550" cy="397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4437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895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451" y="302401"/>
            <a:ext cx="2683775" cy="39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8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683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Turing_tes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lah.github.io/posts/2015-08-Understanding-LSTMs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09424" y="180000"/>
            <a:ext cx="5967538" cy="2052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solidFill>
                  <a:srgbClr val="FE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Введение в глубокое обучение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326;p68">
            <a:extLst>
              <a:ext uri="{FF2B5EF4-FFF2-40B4-BE49-F238E27FC236}">
                <a16:creationId xmlns:a16="http://schemas.microsoft.com/office/drawing/2014/main" id="{EB927237-F683-4A70-9044-2467C97BE202}"/>
              </a:ext>
            </a:extLst>
          </p:cNvPr>
          <p:cNvSpPr txBox="1">
            <a:spLocks/>
          </p:cNvSpPr>
          <p:nvPr/>
        </p:nvSpPr>
        <p:spPr>
          <a:xfrm>
            <a:off x="152400" y="3782982"/>
            <a:ext cx="4911300" cy="123290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15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Директор по разработке 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ML-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моделей  </a:t>
            </a:r>
          </a:p>
          <a:p>
            <a:pPr marL="0" indent="0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</a:t>
            </a:r>
            <a:r>
              <a:rPr lang="en-US" sz="1500" dirty="0" err="1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algolab</a:t>
            </a:r>
            <a:endParaRPr lang="ru-R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DDAEA7-D3EE-480A-BC7F-A3AC7A236D4D}"/>
              </a:ext>
            </a:extLst>
          </p:cNvPr>
          <p:cNvSpPr/>
          <p:nvPr/>
        </p:nvSpPr>
        <p:spPr>
          <a:xfrm>
            <a:off x="6027539" y="131780"/>
            <a:ext cx="1296590" cy="682608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9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sz="32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План </a:t>
            </a:r>
            <a:r>
              <a:rPr lang="ru" dirty="0"/>
              <a:t>занятия</a:t>
            </a:r>
            <a:endParaRPr dirty="0"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Понятие языкового моделирования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N-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граммы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Обучение RNN для решения задачи языкового моделирования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Алгоритмы генерации</a:t>
            </a:r>
            <a:endParaRPr lang="ru-RU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endParaRPr lang="ru-RU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endParaRPr lang="ru-RU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36F7643-F9BD-4013-8236-411223537B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8F5A582D-E9FA-4B0F-88E9-2D1DAF5DA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2333" y="2697753"/>
            <a:ext cx="6428192" cy="45038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1. Понятие языкового моделирования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169695" y="151792"/>
            <a:ext cx="8666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dirty="0"/>
              <a:t>Понятие</a:t>
            </a:r>
            <a:r>
              <a:rPr lang="ru" sz="32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языково</a:t>
            </a:r>
            <a:r>
              <a:rPr lang="ru" dirty="0"/>
              <a:t>го</a:t>
            </a:r>
            <a:r>
              <a:rPr lang="ru" sz="32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моделировани</a:t>
            </a:r>
            <a:r>
              <a:rPr lang="ru" dirty="0"/>
              <a:t>я</a:t>
            </a:r>
            <a:endParaRPr dirty="0"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2"/>
          </p:nvPr>
        </p:nvSpPr>
        <p:spPr>
          <a:xfrm>
            <a:off x="452450" y="1593199"/>
            <a:ext cx="823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Языковая модель предсказывает вероятность следующего слова на основе предыдущих: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>
            <a:spLocks noGrp="1"/>
          </p:cNvSpPr>
          <p:nvPr>
            <p:ph type="title"/>
          </p:nvPr>
        </p:nvSpPr>
        <p:spPr>
          <a:xfrm>
            <a:off x="169695" y="151792"/>
            <a:ext cx="8666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/>
              <a:t>Понятие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языково</a:t>
            </a:r>
            <a:r>
              <a:rPr lang="ru"/>
              <a:t>го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моделировани</a:t>
            </a:r>
            <a:r>
              <a:rPr lang="ru"/>
              <a:t>я</a:t>
            </a:r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body" idx="2"/>
          </p:nvPr>
        </p:nvSpPr>
        <p:spPr>
          <a:xfrm>
            <a:off x="452450" y="1593199"/>
            <a:ext cx="823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Языковая модель предсказывает вероятность следующего слова на основе предыдущих: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32"/>
          <p:cNvSpPr txBox="1"/>
          <p:nvPr/>
        </p:nvSpPr>
        <p:spPr>
          <a:xfrm>
            <a:off x="902400" y="3042000"/>
            <a:ext cx="3177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400"/>
              <a:buFont typeface="Helvetica Neue"/>
              <a:buNone/>
            </a:pPr>
            <a:r>
              <a:rPr lang="ru" sz="14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Студенты открыли свои</a:t>
            </a:r>
            <a:r>
              <a:rPr lang="ru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5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3" name="Google Shape;143;p32"/>
          <p:cNvSpPr txBox="1"/>
          <p:nvPr/>
        </p:nvSpPr>
        <p:spPr>
          <a:xfrm>
            <a:off x="1623540" y="3993626"/>
            <a:ext cx="1303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Контекст 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>
            <a:spLocks noGrp="1"/>
          </p:cNvSpPr>
          <p:nvPr>
            <p:ph type="title"/>
          </p:nvPr>
        </p:nvSpPr>
        <p:spPr>
          <a:xfrm>
            <a:off x="169695" y="151792"/>
            <a:ext cx="8666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/>
              <a:t>Понятие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языково</a:t>
            </a:r>
            <a:r>
              <a:rPr lang="ru"/>
              <a:t>го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моделировани</a:t>
            </a:r>
            <a:r>
              <a:rPr lang="ru"/>
              <a:t>я</a:t>
            </a:r>
            <a:endParaRPr/>
          </a:p>
        </p:txBody>
      </p:sp>
      <p:sp>
        <p:nvSpPr>
          <p:cNvPr id="149" name="Google Shape;149;p33"/>
          <p:cNvSpPr txBox="1">
            <a:spLocks noGrp="1"/>
          </p:cNvSpPr>
          <p:nvPr>
            <p:ph type="body" idx="2"/>
          </p:nvPr>
        </p:nvSpPr>
        <p:spPr>
          <a:xfrm>
            <a:off x="452450" y="1593199"/>
            <a:ext cx="823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Языковая модель предсказывает вероятность следующего слова на основе предыдущих: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33"/>
          <p:cNvSpPr txBox="1"/>
          <p:nvPr/>
        </p:nvSpPr>
        <p:spPr>
          <a:xfrm>
            <a:off x="902400" y="3042000"/>
            <a:ext cx="3177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SzPts val="1400"/>
              <a:buFont typeface="Helvetica Neue"/>
              <a:buNone/>
            </a:pPr>
            <a:r>
              <a:rPr lang="ru" sz="1400" b="1" i="0" u="none" strike="noStrike" cap="non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Студенты открыли свои</a:t>
            </a:r>
            <a:r>
              <a:rPr lang="ru" sz="14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5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51" name="Google Shape;151;p33"/>
          <p:cNvSpPr txBox="1"/>
          <p:nvPr/>
        </p:nvSpPr>
        <p:spPr>
          <a:xfrm>
            <a:off x="4944646" y="2612125"/>
            <a:ext cx="850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AD01"/>
              </a:buClr>
              <a:buSzPts val="1400"/>
              <a:buFont typeface="Helvetica Neue"/>
              <a:buNone/>
            </a:pPr>
            <a:r>
              <a:rPr lang="ru" sz="14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Книжки</a:t>
            </a:r>
            <a:endParaRPr sz="500" b="0" i="0" u="none" strike="noStrike" cap="none">
              <a:solidFill>
                <a:srgbClr val="1DA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3"/>
          <p:cNvSpPr txBox="1"/>
          <p:nvPr/>
        </p:nvSpPr>
        <p:spPr>
          <a:xfrm>
            <a:off x="4921100" y="3082377"/>
            <a:ext cx="1005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lvetica Neue"/>
              <a:buNone/>
            </a:pPr>
            <a:r>
              <a:rPr lang="ru" sz="14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Тетрадки</a:t>
            </a:r>
            <a:endParaRPr sz="500" b="0" i="0" u="none" strike="noStrike" cap="none">
              <a:solidFill>
                <a:srgbClr val="1DA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3"/>
          <p:cNvSpPr txBox="1"/>
          <p:nvPr/>
        </p:nvSpPr>
        <p:spPr>
          <a:xfrm>
            <a:off x="4916894" y="3552629"/>
            <a:ext cx="101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AD01"/>
              </a:buClr>
              <a:buSzPts val="1400"/>
              <a:buFont typeface="Helvetica Neue"/>
              <a:buNone/>
            </a:pPr>
            <a:r>
              <a:rPr lang="ru" sz="14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Ноутбуки</a:t>
            </a:r>
            <a:endParaRPr sz="500" b="0" i="0" u="none" strike="noStrike" cap="none">
              <a:solidFill>
                <a:srgbClr val="1DA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3"/>
          <p:cNvCxnSpPr/>
          <p:nvPr/>
        </p:nvCxnSpPr>
        <p:spPr>
          <a:xfrm rot="10800000" flipH="1">
            <a:off x="3769690" y="2757618"/>
            <a:ext cx="669300" cy="41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55" name="Google Shape;155;p33"/>
          <p:cNvCxnSpPr/>
          <p:nvPr/>
        </p:nvCxnSpPr>
        <p:spPr>
          <a:xfrm>
            <a:off x="3749048" y="3183098"/>
            <a:ext cx="669000" cy="4602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56" name="Google Shape;156;p33"/>
          <p:cNvCxnSpPr/>
          <p:nvPr/>
        </p:nvCxnSpPr>
        <p:spPr>
          <a:xfrm rot="10800000" flipH="1">
            <a:off x="3769805" y="3176498"/>
            <a:ext cx="666900" cy="66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57" name="Google Shape;157;p33"/>
          <p:cNvSpPr txBox="1"/>
          <p:nvPr/>
        </p:nvSpPr>
        <p:spPr>
          <a:xfrm>
            <a:off x="4365500" y="3088200"/>
            <a:ext cx="666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rPr lang="ru"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0.4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4429688" y="2671700"/>
            <a:ext cx="53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rPr lang="ru"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0.4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3"/>
          <p:cNvSpPr txBox="1"/>
          <p:nvPr/>
        </p:nvSpPr>
        <p:spPr>
          <a:xfrm>
            <a:off x="4476790" y="3608250"/>
            <a:ext cx="444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rPr lang="ru"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0.2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1623540" y="3993626"/>
            <a:ext cx="1303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Контекст 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4801242" y="3993634"/>
            <a:ext cx="124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Предсказание 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>
            <a:spLocks noGrp="1"/>
          </p:cNvSpPr>
          <p:nvPr>
            <p:ph type="title"/>
          </p:nvPr>
        </p:nvSpPr>
        <p:spPr>
          <a:xfrm>
            <a:off x="169664" y="151805"/>
            <a:ext cx="30897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/>
              <a:t>Тест Тьюринга</a:t>
            </a:r>
            <a:endParaRPr/>
          </a:p>
        </p:txBody>
      </p:sp>
      <p:pic>
        <p:nvPicPr>
          <p:cNvPr id="167" name="Google Shape;16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147" y="1743488"/>
            <a:ext cx="2906147" cy="221593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4"/>
          <p:cNvSpPr txBox="1"/>
          <p:nvPr/>
        </p:nvSpPr>
        <p:spPr>
          <a:xfrm>
            <a:off x="765291" y="4760681"/>
            <a:ext cx="5125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Википедия, тест Тьюринга</a:t>
            </a:r>
            <a:endParaRPr sz="1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>
            <a:spLocks noGrp="1"/>
          </p:cNvSpPr>
          <p:nvPr>
            <p:ph type="title"/>
          </p:nvPr>
        </p:nvSpPr>
        <p:spPr>
          <a:xfrm>
            <a:off x="169694" y="151800"/>
            <a:ext cx="84897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Языковые модели вокруг нас</a:t>
            </a:r>
            <a:endParaRPr/>
          </a:p>
        </p:txBody>
      </p:sp>
      <p:grpSp>
        <p:nvGrpSpPr>
          <p:cNvPr id="174" name="Google Shape;174;p35"/>
          <p:cNvGrpSpPr/>
          <p:nvPr/>
        </p:nvGrpSpPr>
        <p:grpSpPr>
          <a:xfrm>
            <a:off x="2350425" y="1427407"/>
            <a:ext cx="4014563" cy="3332293"/>
            <a:chOff x="0" y="0"/>
            <a:chExt cx="10705500" cy="8886115"/>
          </a:xfrm>
        </p:grpSpPr>
        <p:pic>
          <p:nvPicPr>
            <p:cNvPr id="175" name="Google Shape;175;p35" descr="photo_2022-10-27 01.38.28.jpeg"/>
            <p:cNvPicPr preferRelativeResize="0"/>
            <p:nvPr/>
          </p:nvPicPr>
          <p:blipFill rotWithShape="1">
            <a:blip r:embed="rId3">
              <a:alphaModFix/>
            </a:blip>
            <a:srcRect t="816" b="826"/>
            <a:stretch/>
          </p:blipFill>
          <p:spPr>
            <a:xfrm>
              <a:off x="0" y="0"/>
              <a:ext cx="10705444" cy="82978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35"/>
            <p:cNvSpPr/>
            <p:nvPr/>
          </p:nvSpPr>
          <p:spPr>
            <a:xfrm>
              <a:off x="0" y="8374015"/>
              <a:ext cx="10705500" cy="51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" tIns="28575" rIns="28575" bIns="285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900"/>
                <a:buFont typeface="Helvetica Neue"/>
                <a:buNone/>
              </a:pPr>
              <a:r>
                <a:rPr lang="ru" sz="900" b="0" i="0" u="none" strike="noStrike" cap="none">
                  <a:solidFill>
                    <a:srgbClr val="5E5E5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Пример работы языковой модели в клавиатуре смартфона</a:t>
              </a:r>
              <a:endPara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>
            <a:spLocks noGrp="1"/>
          </p:cNvSpPr>
          <p:nvPr>
            <p:ph type="title"/>
          </p:nvPr>
        </p:nvSpPr>
        <p:spPr>
          <a:xfrm>
            <a:off x="257338" y="289513"/>
            <a:ext cx="8239200" cy="5373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ChatGPT тоже является языковой моделью </a:t>
            </a:r>
            <a:endParaRPr/>
          </a:p>
        </p:txBody>
      </p:sp>
      <p:pic>
        <p:nvPicPr>
          <p:cNvPr id="182" name="Google Shape;18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625" y="1070850"/>
            <a:ext cx="4772752" cy="35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>
            <a:spLocks noGrp="1"/>
          </p:cNvSpPr>
          <p:nvPr>
            <p:ph type="title"/>
          </p:nvPr>
        </p:nvSpPr>
        <p:spPr>
          <a:xfrm>
            <a:off x="169683" y="151800"/>
            <a:ext cx="54744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Формальная постановка</a:t>
            </a:r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body" idx="2"/>
          </p:nvPr>
        </p:nvSpPr>
        <p:spPr>
          <a:xfrm>
            <a:off x="169665" y="916397"/>
            <a:ext cx="7407600" cy="3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Каждое слово w лежит в словаре </a:t>
            </a:r>
            <a:r>
              <a:rPr lang="ru" sz="1800" b="0" i="1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i="1" dirty="0"/>
          </a:p>
          <a:p>
            <a:pPr marL="0" lvl="0" indent="0" algn="l" rtl="0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dirty="0"/>
          </a:p>
        </p:txBody>
      </p:sp>
      <p:pic>
        <p:nvPicPr>
          <p:cNvPr id="189" name="Google Shape;189;p37"/>
          <p:cNvPicPr preferRelativeResize="0"/>
          <p:nvPr/>
        </p:nvPicPr>
        <p:blipFill rotWithShape="1">
          <a:blip r:embed="rId3">
            <a:alphaModFix/>
          </a:blip>
          <a:srcRect r="8875" b="8567"/>
          <a:stretch/>
        </p:blipFill>
        <p:spPr>
          <a:xfrm>
            <a:off x="1685082" y="1055827"/>
            <a:ext cx="284766" cy="281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>
            <a:spLocks noGrp="1"/>
          </p:cNvSpPr>
          <p:nvPr>
            <p:ph type="title"/>
          </p:nvPr>
        </p:nvSpPr>
        <p:spPr>
          <a:xfrm>
            <a:off x="169683" y="151800"/>
            <a:ext cx="54744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Формальная постановка</a:t>
            </a:r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body" idx="2"/>
          </p:nvPr>
        </p:nvSpPr>
        <p:spPr>
          <a:xfrm>
            <a:off x="169665" y="916397"/>
            <a:ext cx="7407600" cy="3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Каждое слово w лежит в словаре </a:t>
            </a:r>
            <a:r>
              <a:rPr lang="ru" sz="1800" b="0" i="1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i="1" dirty="0"/>
          </a:p>
          <a:p>
            <a:pPr marL="0" lvl="0" indent="0" algn="l" rtl="0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Моделируем вероятностное распределение следующего слова при условии предыдущих: </a:t>
            </a:r>
            <a:endParaRPr lang="ru-RU" dirty="0"/>
          </a:p>
          <a:p>
            <a:pPr marL="0" lvl="0" indent="0" algn="ctr" rtl="0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</a:t>
            </a:r>
          </a:p>
          <a:p>
            <a:pPr marL="0" lvl="0" indent="0" algn="ctr" rtl="0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lang="ru-RU"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dirty="0"/>
          </a:p>
        </p:txBody>
      </p:sp>
      <p:pic>
        <p:nvPicPr>
          <p:cNvPr id="196" name="Google Shape;19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8105" y="2506245"/>
            <a:ext cx="2174450" cy="55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8"/>
          <p:cNvPicPr preferRelativeResize="0"/>
          <p:nvPr/>
        </p:nvPicPr>
        <p:blipFill rotWithShape="1">
          <a:blip r:embed="rId4">
            <a:alphaModFix/>
          </a:blip>
          <a:srcRect r="8875" b="8567"/>
          <a:stretch/>
        </p:blipFill>
        <p:spPr>
          <a:xfrm>
            <a:off x="1690276" y="1050631"/>
            <a:ext cx="284766" cy="28198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4D7220-0015-439B-B213-996348DBA80B}"/>
                  </a:ext>
                </a:extLst>
              </p:cNvPr>
              <p:cNvSpPr txBox="1"/>
              <p:nvPr/>
            </p:nvSpPr>
            <p:spPr>
              <a:xfrm>
                <a:off x="223405" y="3408218"/>
                <a:ext cx="39953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1800" dirty="0">
                    <a:latin typeface="Helvetica Neue" panose="020B0604020202020204" charset="0"/>
                  </a:rPr>
                  <a:t> – параметр модели;</a:t>
                </a:r>
              </a:p>
              <a:p>
                <a:r>
                  <a:rPr lang="en-US" sz="1800" dirty="0">
                    <a:latin typeface="Helvetica Neue" panose="020B0604020202020204" charset="0"/>
                  </a:rPr>
                  <a:t>P – </a:t>
                </a:r>
                <a:r>
                  <a:rPr lang="ru-RU" sz="1800" dirty="0">
                    <a:latin typeface="Helvetica Neue" panose="020B0604020202020204" charset="0"/>
                  </a:rPr>
                  <a:t>вероятностное распределение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4D7220-0015-439B-B213-996348DBA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05" y="3408218"/>
                <a:ext cx="3995304" cy="646331"/>
              </a:xfrm>
              <a:prstGeom prst="rect">
                <a:avLst/>
              </a:prstGeom>
              <a:blipFill>
                <a:blip r:embed="rId5"/>
                <a:stretch>
                  <a:fillRect l="-1374" t="-3774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>
            <a:spLocks noGrp="1"/>
          </p:cNvSpPr>
          <p:nvPr>
            <p:ph type="title"/>
          </p:nvPr>
        </p:nvSpPr>
        <p:spPr>
          <a:xfrm>
            <a:off x="169683" y="151800"/>
            <a:ext cx="54744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Формальная постановка</a:t>
            </a:r>
            <a:endParaRPr/>
          </a:p>
        </p:txBody>
      </p:sp>
      <p:sp>
        <p:nvSpPr>
          <p:cNvPr id="203" name="Google Shape;203;p39"/>
          <p:cNvSpPr txBox="1">
            <a:spLocks noGrp="1"/>
          </p:cNvSpPr>
          <p:nvPr>
            <p:ph type="body" idx="2"/>
          </p:nvPr>
        </p:nvSpPr>
        <p:spPr>
          <a:xfrm>
            <a:off x="169665" y="916397"/>
            <a:ext cx="7407600" cy="3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Каждое слово w лежит в словаре </a:t>
            </a:r>
            <a:r>
              <a:rPr lang="ru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i="1"/>
          </a:p>
          <a:p>
            <a:pPr marL="0" lvl="0" indent="0" algn="l" rtl="0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Моделируем вероятностное распределение следующего слова при условии предыдущих: </a:t>
            </a:r>
            <a:endParaRPr/>
          </a:p>
          <a:p>
            <a:pPr marL="0" lvl="0" indent="0" algn="ctr" rtl="0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/>
              <a:t>М</a:t>
            </a: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ы оцениваем вероятность слова </a:t>
            </a:r>
            <a:r>
              <a:rPr lang="ru"/>
              <a:t>w</a:t>
            </a: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быть следующим, если нам известны слова </a:t>
            </a:r>
            <a:endParaRPr/>
          </a:p>
        </p:txBody>
      </p:sp>
      <p:pic>
        <p:nvPicPr>
          <p:cNvPr id="204" name="Google Shape;20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6250" y="2430563"/>
            <a:ext cx="2174450" cy="55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4614" y="3752692"/>
            <a:ext cx="1092994" cy="32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9"/>
          <p:cNvPicPr preferRelativeResize="0"/>
          <p:nvPr/>
        </p:nvPicPr>
        <p:blipFill rotWithShape="1">
          <a:blip r:embed="rId5">
            <a:alphaModFix/>
          </a:blip>
          <a:srcRect r="8875" b="8567"/>
          <a:stretch/>
        </p:blipFill>
        <p:spPr>
          <a:xfrm>
            <a:off x="1690277" y="1062195"/>
            <a:ext cx="284766" cy="281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9"/>
          <p:cNvPicPr preferRelativeResize="0"/>
          <p:nvPr/>
        </p:nvPicPr>
        <p:blipFill rotWithShape="1">
          <a:blip r:embed="rId5">
            <a:alphaModFix/>
          </a:blip>
          <a:srcRect r="8875" b="8567"/>
          <a:stretch/>
        </p:blipFill>
        <p:spPr>
          <a:xfrm>
            <a:off x="3777772" y="3359783"/>
            <a:ext cx="284766" cy="281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>
            <a:spLocks noGrp="1"/>
          </p:cNvSpPr>
          <p:nvPr>
            <p:ph type="title"/>
          </p:nvPr>
        </p:nvSpPr>
        <p:spPr>
          <a:xfrm>
            <a:off x="169692" y="151800"/>
            <a:ext cx="78333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Посчитаем вероятность текста</a:t>
            </a:r>
            <a:endParaRPr/>
          </a:p>
        </p:txBody>
      </p:sp>
      <p:sp>
        <p:nvSpPr>
          <p:cNvPr id="213" name="Google Shape;213;p40"/>
          <p:cNvSpPr txBox="1">
            <a:spLocks noGrp="1"/>
          </p:cNvSpPr>
          <p:nvPr>
            <p:ph type="body" idx="2"/>
          </p:nvPr>
        </p:nvSpPr>
        <p:spPr>
          <a:xfrm>
            <a:off x="452438" y="221586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 помощью языковой модели мож</a:t>
            </a:r>
            <a:r>
              <a:rPr lang="ru"/>
              <a:t>но</a:t>
            </a: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оцен</a:t>
            </a:r>
            <a:r>
              <a:rPr lang="ru"/>
              <a:t>и</a:t>
            </a: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ть вероятность  конкретного текст</a:t>
            </a:r>
            <a:r>
              <a:rPr lang="ru"/>
              <a:t>а</a:t>
            </a: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</p:txBody>
      </p:sp>
      <p:sp>
        <p:nvSpPr>
          <p:cNvPr id="214" name="Google Shape;214;p40"/>
          <p:cNvSpPr txBox="1"/>
          <p:nvPr/>
        </p:nvSpPr>
        <p:spPr>
          <a:xfrm>
            <a:off x="2714663" y="2860742"/>
            <a:ext cx="3714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8541" y="3015974"/>
            <a:ext cx="4190795" cy="835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8166" y="2502574"/>
            <a:ext cx="1091403" cy="287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>
            <a:spLocks noGrp="1"/>
          </p:cNvSpPr>
          <p:nvPr>
            <p:ph type="title"/>
          </p:nvPr>
        </p:nvSpPr>
        <p:spPr>
          <a:xfrm>
            <a:off x="169692" y="151800"/>
            <a:ext cx="80106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Посчитаем вероятность текста</a:t>
            </a:r>
            <a:endParaRPr/>
          </a:p>
        </p:txBody>
      </p:sp>
      <p:sp>
        <p:nvSpPr>
          <p:cNvPr id="222" name="Google Shape;222;p41"/>
          <p:cNvSpPr txBox="1">
            <a:spLocks noGrp="1"/>
          </p:cNvSpPr>
          <p:nvPr>
            <p:ph type="body" idx="2"/>
          </p:nvPr>
        </p:nvSpPr>
        <p:spPr>
          <a:xfrm>
            <a:off x="452438" y="2197457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 практике гораздо удобнее оценивать логарифм вероятности: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3" name="Google Shape;22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9434" y="2899328"/>
            <a:ext cx="6765131" cy="689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>
            <a:spLocks noGrp="1"/>
          </p:cNvSpPr>
          <p:nvPr>
            <p:ph type="title"/>
          </p:nvPr>
        </p:nvSpPr>
        <p:spPr>
          <a:xfrm>
            <a:off x="169694" y="151800"/>
            <a:ext cx="8481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Пример подсч</a:t>
            </a:r>
            <a:r>
              <a:rPr lang="ru"/>
              <a:t>ё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та вероятности текста</a:t>
            </a:r>
            <a:endParaRPr/>
          </a:p>
        </p:txBody>
      </p:sp>
      <p:sp>
        <p:nvSpPr>
          <p:cNvPr id="229" name="Google Shape;229;p42"/>
          <p:cNvSpPr txBox="1">
            <a:spLocks noGrp="1"/>
          </p:cNvSpPr>
          <p:nvPr>
            <p:ph type="body" idx="2"/>
          </p:nvPr>
        </p:nvSpPr>
        <p:spPr>
          <a:xfrm>
            <a:off x="331038" y="1282788"/>
            <a:ext cx="84819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lang="ru" sz="1700"/>
              <a:t>Исходный текст: </a:t>
            </a:r>
            <a:r>
              <a:rPr lang="ru">
                <a:solidFill>
                  <a:srgbClr val="0076B9"/>
                </a:solidFill>
              </a:rPr>
              <a:t>студенты открыли свои книги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>
            <a:spLocks noGrp="1"/>
          </p:cNvSpPr>
          <p:nvPr>
            <p:ph type="title"/>
          </p:nvPr>
        </p:nvSpPr>
        <p:spPr>
          <a:xfrm>
            <a:off x="169694" y="151800"/>
            <a:ext cx="8481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Пример подсч</a:t>
            </a:r>
            <a:r>
              <a:rPr lang="ru"/>
              <a:t>ё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та вероятности текста</a:t>
            </a:r>
            <a:endParaRPr/>
          </a:p>
        </p:txBody>
      </p:sp>
      <p:sp>
        <p:nvSpPr>
          <p:cNvPr id="235" name="Google Shape;235;p43"/>
          <p:cNvSpPr txBox="1">
            <a:spLocks noGrp="1"/>
          </p:cNvSpPr>
          <p:nvPr>
            <p:ph type="body" idx="2"/>
          </p:nvPr>
        </p:nvSpPr>
        <p:spPr>
          <a:xfrm>
            <a:off x="331038" y="1282788"/>
            <a:ext cx="84819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lang="ru" sz="1700"/>
              <a:t>Исходный текст: </a:t>
            </a:r>
            <a:r>
              <a:rPr lang="ru">
                <a:solidFill>
                  <a:srgbClr val="0076B9"/>
                </a:solidFill>
              </a:rPr>
              <a:t>студенты открыли свои книги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P(студенты) = 0.4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>
            <a:spLocks noGrp="1"/>
          </p:cNvSpPr>
          <p:nvPr>
            <p:ph type="title"/>
          </p:nvPr>
        </p:nvSpPr>
        <p:spPr>
          <a:xfrm>
            <a:off x="169694" y="151800"/>
            <a:ext cx="8481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Пример подсч</a:t>
            </a:r>
            <a:r>
              <a:rPr lang="ru"/>
              <a:t>ё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та вероятности текста</a:t>
            </a:r>
            <a:endParaRPr/>
          </a:p>
        </p:txBody>
      </p:sp>
      <p:sp>
        <p:nvSpPr>
          <p:cNvPr id="241" name="Google Shape;241;p44"/>
          <p:cNvSpPr txBox="1">
            <a:spLocks noGrp="1"/>
          </p:cNvSpPr>
          <p:nvPr>
            <p:ph type="body" idx="2"/>
          </p:nvPr>
        </p:nvSpPr>
        <p:spPr>
          <a:xfrm>
            <a:off x="331038" y="1282788"/>
            <a:ext cx="84819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lang="ru" sz="1700"/>
              <a:t>Исходный текст: </a:t>
            </a:r>
            <a:r>
              <a:rPr lang="ru">
                <a:solidFill>
                  <a:srgbClr val="0076B9"/>
                </a:solidFill>
              </a:rPr>
              <a:t>студенты открыли свои книги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P(студенты) = 0.4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P(открыли|студенты) = 0.2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>
            <a:spLocks noGrp="1"/>
          </p:cNvSpPr>
          <p:nvPr>
            <p:ph type="title"/>
          </p:nvPr>
        </p:nvSpPr>
        <p:spPr>
          <a:xfrm>
            <a:off x="169694" y="151800"/>
            <a:ext cx="8481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Пример подсч</a:t>
            </a:r>
            <a:r>
              <a:rPr lang="ru"/>
              <a:t>ё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та вероятности текста</a:t>
            </a:r>
            <a:endParaRPr/>
          </a:p>
        </p:txBody>
      </p:sp>
      <p:sp>
        <p:nvSpPr>
          <p:cNvPr id="247" name="Google Shape;247;p45"/>
          <p:cNvSpPr txBox="1">
            <a:spLocks noGrp="1"/>
          </p:cNvSpPr>
          <p:nvPr>
            <p:ph type="body" idx="2"/>
          </p:nvPr>
        </p:nvSpPr>
        <p:spPr>
          <a:xfrm>
            <a:off x="331038" y="1282788"/>
            <a:ext cx="84819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lang="ru" sz="1700"/>
              <a:t>Исходный текст: </a:t>
            </a:r>
            <a:r>
              <a:rPr lang="ru">
                <a:solidFill>
                  <a:srgbClr val="0076B9"/>
                </a:solidFill>
              </a:rPr>
              <a:t>студенты открыли свои книги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P(студенты) = 0.4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P(открыли|студенты) = 0.2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P(свои|студенты, открыли) = 0.7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>
            <a:spLocks noGrp="1"/>
          </p:cNvSpPr>
          <p:nvPr>
            <p:ph type="title"/>
          </p:nvPr>
        </p:nvSpPr>
        <p:spPr>
          <a:xfrm>
            <a:off x="169694" y="151800"/>
            <a:ext cx="8481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Пример подсч</a:t>
            </a:r>
            <a:r>
              <a:rPr lang="ru"/>
              <a:t>ё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та вероятности текста</a:t>
            </a:r>
            <a:endParaRPr/>
          </a:p>
        </p:txBody>
      </p:sp>
      <p:sp>
        <p:nvSpPr>
          <p:cNvPr id="253" name="Google Shape;253;p46"/>
          <p:cNvSpPr txBox="1">
            <a:spLocks noGrp="1"/>
          </p:cNvSpPr>
          <p:nvPr>
            <p:ph type="body" idx="2"/>
          </p:nvPr>
        </p:nvSpPr>
        <p:spPr>
          <a:xfrm>
            <a:off x="331038" y="1282788"/>
            <a:ext cx="84819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lang="ru" sz="1700"/>
              <a:t>Исходный текст: </a:t>
            </a:r>
            <a:r>
              <a:rPr lang="ru">
                <a:solidFill>
                  <a:srgbClr val="0076B9"/>
                </a:solidFill>
              </a:rPr>
              <a:t>студенты открыли свои книги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P(студенты) = 0.4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P(открыли|студенты) = 0.2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P(свои|студенты, открыли) = 0.7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P(книги|студенты, открыли, свои) = 0.3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7"/>
          <p:cNvSpPr txBox="1">
            <a:spLocks noGrp="1"/>
          </p:cNvSpPr>
          <p:nvPr>
            <p:ph type="title"/>
          </p:nvPr>
        </p:nvSpPr>
        <p:spPr>
          <a:xfrm>
            <a:off x="169694" y="151800"/>
            <a:ext cx="8481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Пример подсч</a:t>
            </a:r>
            <a:r>
              <a:rPr lang="ru"/>
              <a:t>ё</a:t>
            </a: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та вероятности текста</a:t>
            </a:r>
            <a:endParaRPr/>
          </a:p>
        </p:txBody>
      </p:sp>
      <p:sp>
        <p:nvSpPr>
          <p:cNvPr id="259" name="Google Shape;259;p47"/>
          <p:cNvSpPr txBox="1">
            <a:spLocks noGrp="1"/>
          </p:cNvSpPr>
          <p:nvPr>
            <p:ph type="body" idx="2"/>
          </p:nvPr>
        </p:nvSpPr>
        <p:spPr>
          <a:xfrm>
            <a:off x="331038" y="1282788"/>
            <a:ext cx="84819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lang="ru" sz="1700"/>
              <a:t>Исходный текст: </a:t>
            </a:r>
            <a:r>
              <a:rPr lang="ru">
                <a:solidFill>
                  <a:srgbClr val="0076B9"/>
                </a:solidFill>
              </a:rPr>
              <a:t>студенты открыли свои книги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P(студенты) = 0.4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P(открыли|студенты) = 0.2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P(свои|студенты, открыли) = 0.7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6B9"/>
              </a:buClr>
              <a:buSzPts val="17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P(книги|студенты, открыли, свои) = 0.3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lang="ru" sz="1700"/>
              <a:t>Тогда логарифм общей вероятности текста: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lang="ru" sz="1700"/>
              <a:t>log[P(</a:t>
            </a:r>
            <a:r>
              <a:rPr lang="ru">
                <a:solidFill>
                  <a:srgbClr val="0076B9"/>
                </a:solidFill>
              </a:rPr>
              <a:t>студенты открыли свои книги</a:t>
            </a:r>
            <a:r>
              <a:rPr lang="ru" sz="1700"/>
              <a:t>)] = log(0.4) + log(0.2) + log(0.7) + log(0.3) =-4.08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 txBox="1">
            <a:spLocks noGrp="1"/>
          </p:cNvSpPr>
          <p:nvPr>
            <p:ph type="title"/>
          </p:nvPr>
        </p:nvSpPr>
        <p:spPr>
          <a:xfrm>
            <a:off x="169700" y="151800"/>
            <a:ext cx="8409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Формула перплексии</a:t>
            </a:r>
            <a:endParaRPr/>
          </a:p>
        </p:txBody>
      </p:sp>
      <p:sp>
        <p:nvSpPr>
          <p:cNvPr id="265" name="Google Shape;265;p48"/>
          <p:cNvSpPr txBox="1">
            <a:spLocks noGrp="1"/>
          </p:cNvSpPr>
          <p:nvPr>
            <p:ph type="body" idx="2"/>
          </p:nvPr>
        </p:nvSpPr>
        <p:spPr>
          <a:xfrm>
            <a:off x="258400" y="1067474"/>
            <a:ext cx="8321100" cy="1421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ru" dirty="0"/>
              <a:t>В общем случае: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 dirty="0"/>
          </a:p>
        </p:txBody>
      </p:sp>
      <p:pic>
        <p:nvPicPr>
          <p:cNvPr id="266" name="Google Shape;26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663" y="1558347"/>
            <a:ext cx="6035627" cy="76093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B387C3-FC46-42E9-AF9C-3A72F7F3C0F7}"/>
                  </a:ext>
                </a:extLst>
              </p:cNvPr>
              <p:cNvSpPr txBox="1"/>
              <p:nvPr/>
            </p:nvSpPr>
            <p:spPr>
              <a:xfrm>
                <a:off x="258400" y="2804956"/>
                <a:ext cx="408362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latin typeface="Helvetica Neue" panose="020B0604020202020204" charset="0"/>
                  </a:rPr>
                  <a:t>                             - это произведение вероятностей каждого слова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sz="1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>
                    <a:latin typeface="Helvetica Neue" panose="020B0604020202020204" charset="0"/>
                  </a:rPr>
                  <a:t> в последовательности, условно на все предыдущие слова. </a:t>
                </a:r>
              </a:p>
              <a:p>
                <a:r>
                  <a:rPr lang="en-US" sz="1800" b="1" dirty="0">
                    <a:latin typeface="Helvetica Neue" panose="020B0604020202020204" charset="0"/>
                  </a:rPr>
                  <a:t>k</a:t>
                </a:r>
                <a:r>
                  <a:rPr lang="en-US" sz="1800" dirty="0">
                    <a:latin typeface="Helvetica Neue" panose="020B0604020202020204" charset="0"/>
                  </a:rPr>
                  <a:t> — </a:t>
                </a:r>
                <a:r>
                  <a:rPr lang="ru-RU" sz="1800" dirty="0">
                    <a:latin typeface="Helvetica Neue" panose="020B0604020202020204" charset="0"/>
                  </a:rPr>
                  <a:t>длина последовательности слов.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B387C3-FC46-42E9-AF9C-3A72F7F3C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00" y="2804956"/>
                <a:ext cx="4083627" cy="1754326"/>
              </a:xfrm>
              <a:prstGeom prst="rect">
                <a:avLst/>
              </a:prstGeom>
              <a:blipFill>
                <a:blip r:embed="rId4"/>
                <a:stretch>
                  <a:fillRect l="-1194" t="-1389" r="-1940" b="-48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9F105E-1393-434C-A64C-A4EC080B5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700" y="2804955"/>
            <a:ext cx="1961081" cy="39774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>
            <a:spLocks noGrp="1"/>
          </p:cNvSpPr>
          <p:nvPr>
            <p:ph type="title"/>
          </p:nvPr>
        </p:nvSpPr>
        <p:spPr>
          <a:xfrm>
            <a:off x="169700" y="151800"/>
            <a:ext cx="8409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Формула перплексии</a:t>
            </a:r>
            <a:endParaRPr/>
          </a:p>
        </p:txBody>
      </p:sp>
      <p:sp>
        <p:nvSpPr>
          <p:cNvPr id="272" name="Google Shape;272;p49"/>
          <p:cNvSpPr txBox="1">
            <a:spLocks noGrp="1"/>
          </p:cNvSpPr>
          <p:nvPr>
            <p:ph type="body" idx="2"/>
          </p:nvPr>
        </p:nvSpPr>
        <p:spPr>
          <a:xfrm>
            <a:off x="258400" y="1067474"/>
            <a:ext cx="8321100" cy="3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ru"/>
              <a:t>В общем случае: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ru"/>
              <a:t>Для примера с прошлого слайда: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lang="ru" b="1"/>
              <a:t>Важно:</a:t>
            </a:r>
            <a:r>
              <a:rPr lang="ru"/>
              <a:t> чем ниже перплексия, тем лучше.</a:t>
            </a:r>
            <a:endParaRPr/>
          </a:p>
        </p:txBody>
      </p:sp>
      <p:pic>
        <p:nvPicPr>
          <p:cNvPr id="273" name="Google Shape;27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0575" y="3034601"/>
            <a:ext cx="2042848" cy="637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2663" y="1558347"/>
            <a:ext cx="6035627" cy="760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0"/>
          <p:cNvSpPr txBox="1">
            <a:spLocks noGrp="1"/>
          </p:cNvSpPr>
          <p:nvPr>
            <p:ph type="title"/>
          </p:nvPr>
        </p:nvSpPr>
        <p:spPr>
          <a:xfrm>
            <a:off x="169701" y="151800"/>
            <a:ext cx="8595900" cy="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lang="ru" sz="2400"/>
              <a:t>Почему языковое моделирование — важная задача?</a:t>
            </a:r>
            <a:endParaRPr/>
          </a:p>
        </p:txBody>
      </p:sp>
      <p:sp>
        <p:nvSpPr>
          <p:cNvPr id="280" name="Google Shape;280;p50"/>
          <p:cNvSpPr txBox="1">
            <a:spLocks noGrp="1"/>
          </p:cNvSpPr>
          <p:nvPr>
            <p:ph type="body" idx="2"/>
          </p:nvPr>
        </p:nvSpPr>
        <p:spPr>
          <a:xfrm>
            <a:off x="169675" y="1227075"/>
            <a:ext cx="7762500" cy="41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2921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AutoNum type="arabicPeriod"/>
            </a:pPr>
            <a:r>
              <a:rPr lang="ru" sz="1500"/>
              <a:t>Языковые модели являются компонентом многих других задач в NLP, связанных с генерацией или оценкой вероятности текста:</a:t>
            </a:r>
            <a:endParaRPr/>
          </a:p>
          <a:p>
            <a:pPr marL="393700" lvl="1" indent="-1968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Char char="•"/>
            </a:pPr>
            <a:r>
              <a:rPr lang="ru" sz="1500"/>
              <a:t>автодополнение текста,</a:t>
            </a:r>
            <a:endParaRPr/>
          </a:p>
          <a:p>
            <a:pPr marL="393700" lvl="1" indent="-1968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Char char="•"/>
            </a:pPr>
            <a:r>
              <a:rPr lang="ru" sz="1500"/>
              <a:t>исправление грамматических ошибок,</a:t>
            </a:r>
            <a:endParaRPr/>
          </a:p>
          <a:p>
            <a:pPr marL="393700" lvl="1" indent="-1968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Char char="•"/>
            </a:pPr>
            <a:r>
              <a:rPr lang="ru" sz="1500"/>
              <a:t>машинный перевод,</a:t>
            </a:r>
            <a:endParaRPr/>
          </a:p>
          <a:p>
            <a:pPr marL="393700" lvl="1" indent="-1968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Char char="•"/>
            </a:pPr>
            <a:r>
              <a:rPr lang="ru" sz="1500"/>
              <a:t>распознавание речи,</a:t>
            </a:r>
            <a:endParaRPr/>
          </a:p>
          <a:p>
            <a:pPr marL="393700" lvl="1" indent="-1968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Char char="•"/>
            </a:pPr>
            <a:r>
              <a:rPr lang="ru" sz="1500"/>
              <a:t>…</a:t>
            </a:r>
            <a:endParaRPr/>
          </a:p>
          <a:p>
            <a:pPr marL="292100" lvl="0" indent="-28575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AutoNum type="arabicPeriod"/>
            </a:pPr>
            <a:r>
              <a:rPr lang="ru" sz="1500"/>
              <a:t>Языковые модели — бенчмарк, который оценивает текущий прогресс в NLP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36F7643-F9BD-4013-8236-411223537B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8F5A582D-E9FA-4B0F-88E9-2D1DAF5DA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2333" y="2697753"/>
            <a:ext cx="6428192" cy="45038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N-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граммы</a:t>
            </a:r>
          </a:p>
        </p:txBody>
      </p:sp>
    </p:spTree>
    <p:extLst>
      <p:ext uri="{BB962C8B-B14F-4D97-AF65-F5344CB8AC3E}">
        <p14:creationId xmlns:p14="http://schemas.microsoft.com/office/powerpoint/2010/main" val="2444851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ru" sz="3000"/>
              <a:t>С помощью чего можем решить эту задачу?</a:t>
            </a:r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N-грамма — подпоследовательность из N подряд идущих слов.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>
              <a:solidFill>
                <a:srgbClr val="0076B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ru" sz="3000"/>
              <a:t>С помощью чего можем решить эту задачу?</a:t>
            </a:r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N-грамма — подпоследовательность из N подряд идущих слов.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76B9"/>
              </a:buClr>
              <a:buSzPts val="18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Студенты на паре открыли книги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Униграммы: </a:t>
            </a:r>
            <a:r>
              <a:rPr lang="ru">
                <a:solidFill>
                  <a:srgbClr val="0076B9"/>
                </a:solidFill>
              </a:rPr>
              <a:t>студенты, на, паре, открыли, книги</a:t>
            </a:r>
            <a:endParaRPr>
              <a:solidFill>
                <a:srgbClr val="0076B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ru" sz="3000"/>
              <a:t>С помощью чего можем решить эту задачу?</a:t>
            </a:r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N-грамма — подпоследовательность из N подряд идущих слов.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76B9"/>
              </a:buClr>
              <a:buSzPts val="18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Студенты на паре открыли книги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Униграммы: </a:t>
            </a:r>
            <a:r>
              <a:rPr lang="ru">
                <a:solidFill>
                  <a:srgbClr val="0076B9"/>
                </a:solidFill>
              </a:rPr>
              <a:t>студенты, на, паре, открыли, книги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Биграммы: </a:t>
            </a:r>
            <a:r>
              <a:rPr lang="ru">
                <a:solidFill>
                  <a:srgbClr val="0076B9"/>
                </a:solidFill>
              </a:rPr>
              <a:t>студенты на, на паре, паре открыли, открыли книги</a:t>
            </a: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>
              <a:solidFill>
                <a:srgbClr val="0076B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ru" sz="3000"/>
              <a:t>С помощью чего можем решить эту задачу?</a:t>
            </a:r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N-грамма — подпоследовательность из N подряд идущих слов.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76B9"/>
              </a:buClr>
              <a:buSzPts val="18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Студенты на паре открыли книги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Униграммы: </a:t>
            </a:r>
            <a:r>
              <a:rPr lang="ru">
                <a:solidFill>
                  <a:srgbClr val="0076B9"/>
                </a:solidFill>
              </a:rPr>
              <a:t>студенты, на, паре, открыли, книги</a:t>
            </a:r>
            <a:endParaRPr>
              <a:solidFill>
                <a:srgbClr val="0076B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Биграммы: </a:t>
            </a:r>
            <a:r>
              <a:rPr lang="ru">
                <a:solidFill>
                  <a:srgbClr val="0076B9"/>
                </a:solidFill>
              </a:rPr>
              <a:t>студенты на, на паре, паре открыли, открыли книги</a:t>
            </a: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Триграммы:  </a:t>
            </a:r>
            <a:r>
              <a:rPr lang="ru">
                <a:solidFill>
                  <a:srgbClr val="0076B9"/>
                </a:solidFill>
              </a:rPr>
              <a:t>студенты на паре, на паре открыли, паре открыли книги </a:t>
            </a:r>
            <a:endParaRPr>
              <a:solidFill>
                <a:srgbClr val="0076B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N-граммная модель</a:t>
            </a:r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Алгоритм:</a:t>
            </a:r>
            <a:endParaRPr/>
          </a:p>
          <a:p>
            <a:pPr marL="330200" lvl="0" indent="-3302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rabicPeriod"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Выбрать значение параметра N.</a:t>
            </a:r>
            <a:endParaRPr/>
          </a:p>
          <a:p>
            <a:pPr marL="330200" lvl="0" indent="-3302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rabicPeriod"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Разбить большой текст на N-граммы.</a:t>
            </a:r>
            <a:endParaRPr/>
          </a:p>
          <a:p>
            <a:pPr marL="330200" lvl="0" indent="-3302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rabicPeriod"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Для каждой N-граммы </a:t>
            </a:r>
            <a:r>
              <a:rPr lang="ru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подсчитать</a:t>
            </a: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частоту встречаемости.</a:t>
            </a:r>
            <a:endParaRPr/>
          </a:p>
          <a:p>
            <a:pPr marL="330200" lvl="0" indent="-3302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AutoNum type="arabicPeriod"/>
            </a:pPr>
            <a:r>
              <a:rPr lang="ru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Сохранить N-граммные частоты.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Пример </a:t>
            </a:r>
            <a:r>
              <a:rPr lang="ru" sz="3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расчета вероятности </a:t>
            </a:r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2"/>
          </p:nvPr>
        </p:nvSpPr>
        <p:spPr>
          <a:xfrm>
            <a:off x="452450" y="1154821"/>
            <a:ext cx="8239200" cy="20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lang="ru" sz="1500"/>
              <a:t>Предположим, что в нашем большом тексте следующие последовательности встретились: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76B9"/>
              </a:buClr>
              <a:buSzPts val="15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студенты открыли свои </a:t>
            </a:r>
            <a:r>
              <a:rPr lang="ru" sz="1500"/>
              <a:t>— 100 раз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76B9"/>
              </a:buClr>
              <a:buSzPts val="15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студенты открыли свои книги </a:t>
            </a:r>
            <a:r>
              <a:rPr lang="ru" sz="1500"/>
              <a:t>— 20 раз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76B9"/>
              </a:buClr>
              <a:buSzPts val="1500"/>
              <a:buFont typeface="Helvetica Neue"/>
              <a:buNone/>
            </a:pPr>
            <a:r>
              <a:rPr lang="ru">
                <a:solidFill>
                  <a:srgbClr val="0076B9"/>
                </a:solidFill>
              </a:rPr>
              <a:t>студенты открыли свои ноутбуки </a:t>
            </a:r>
            <a:r>
              <a:rPr lang="ru" sz="1500"/>
              <a:t>— 80 раз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lang="ru" sz="1500"/>
              <a:t>Статистики выглядят так:</a:t>
            </a:r>
            <a:endParaRPr sz="1800"/>
          </a:p>
        </p:txBody>
      </p:sp>
      <p:pic>
        <p:nvPicPr>
          <p:cNvPr id="118" name="Google Shape;11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9563" y="3156697"/>
            <a:ext cx="5364956" cy="1435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sz="3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N-граммные модели на практике</a:t>
            </a:r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2"/>
          </p:nvPr>
        </p:nvSpPr>
        <p:spPr>
          <a:xfrm>
            <a:off x="452450" y="1593197"/>
            <a:ext cx="82392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Вставить дополнительные служебные токены &lt;s&gt; в начало каждой последовательности в необходимом количестве, чтобы оценить вероятность первого слова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sz="3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N-граммные модели на практике</a:t>
            </a:r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body" idx="2"/>
          </p:nvPr>
        </p:nvSpPr>
        <p:spPr>
          <a:xfrm>
            <a:off x="452450" y="1593197"/>
            <a:ext cx="82392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Вставить дополнительные служебные токены &lt;s&gt; в начало каждой последовательности в необходимом количестве, чтобы оценить вероятность первого слова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Добавить &lt;UNK&gt; токен для слов не из словаря (Out-of-vocabulary)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ru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Мы вчера пошли в картинг</a:t>
            </a: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-&gt; </a:t>
            </a:r>
            <a:r>
              <a:rPr lang="ru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&lt;s&gt;&lt;s&gt; Мы вчера пошли в &lt;UNK&gt; &lt;/s&gt;</a:t>
            </a: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sz="3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N-граммные модели на практике</a:t>
            </a:r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body" idx="2"/>
          </p:nvPr>
        </p:nvSpPr>
        <p:spPr>
          <a:xfrm>
            <a:off x="452450" y="1593200"/>
            <a:ext cx="8239200" cy="30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Вставить дополнительные служебные токены &lt;s&gt; в начало каждой последовательности в необходимом количестве, чтобы оценить вероятность первого слова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Добавить &lt;UNK&gt; токен для слов не из словаря (Out-of-vocabulary)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Мы вчера пошли в картинг</a:t>
            </a: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-&gt; </a:t>
            </a:r>
            <a:r>
              <a:rPr lang="ru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&lt;s&gt;&lt;s&gt; Мы вчера пошли в &lt;UNK&gt;</a:t>
            </a: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&lt;/s&gt;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Генерировать за счет сэмплирования из вероятностного распределения на каждом шаге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sz="3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N-граммные модели на практике</a:t>
            </a:r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body" idx="2"/>
          </p:nvPr>
        </p:nvSpPr>
        <p:spPr>
          <a:xfrm>
            <a:off x="452400" y="1230780"/>
            <a:ext cx="8239200" cy="30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Вставить дополнительные служебные токены &lt;s&gt; в начало каждой последовательности в необходимом количестве, чтобы оценить вероятность первого слова</a:t>
            </a:r>
            <a:endParaRPr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Добавить &lt;UNK&gt; токен для слов не из словаря (Out-of-vocabulary)</a:t>
            </a:r>
            <a:endParaRPr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76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Мы вчера пошли в картинг</a:t>
            </a:r>
            <a:r>
              <a:rPr lang="ru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-&gt; </a:t>
            </a:r>
            <a:r>
              <a:rPr lang="ru" dirty="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&lt;s&gt;&lt;s&gt; Мы вчера пошли в &lt;UNK&gt; &lt;/s&gt;</a:t>
            </a:r>
            <a:r>
              <a:rPr lang="ru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Генерировать за счет сэмплирования из вероятностного распределения на каждом шаге</a:t>
            </a:r>
            <a:endParaRPr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eriod"/>
            </a:pPr>
            <a:r>
              <a:rPr lang="ru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Добавление сглаживания для избегания нулевых вероятностей для некоторых N-грамм, например, сглаживание Лапласа:</a:t>
            </a:r>
            <a:endParaRPr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624" y="4223570"/>
            <a:ext cx="5336751" cy="6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7BAEFE-33A7-4D2D-BBBE-675F5FDDAA5B}"/>
              </a:ext>
            </a:extLst>
          </p:cNvPr>
          <p:cNvSpPr txBox="1"/>
          <p:nvPr/>
        </p:nvSpPr>
        <p:spPr>
          <a:xfrm>
            <a:off x="5179868" y="4047259"/>
            <a:ext cx="266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Кол-во вхождений биграмм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4511EFA-92E2-428E-9A0C-120492725AFB}"/>
              </a:ext>
            </a:extLst>
          </p:cNvPr>
          <p:cNvSpPr/>
          <p:nvPr/>
        </p:nvSpPr>
        <p:spPr>
          <a:xfrm>
            <a:off x="5574723" y="4343400"/>
            <a:ext cx="1319645" cy="229147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F4988-7E7A-45A5-9E8F-211DA4959050}"/>
              </a:ext>
            </a:extLst>
          </p:cNvPr>
          <p:cNvSpPr txBox="1"/>
          <p:nvPr/>
        </p:nvSpPr>
        <p:spPr>
          <a:xfrm>
            <a:off x="4973782" y="4759801"/>
            <a:ext cx="2665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Кол-во вхождений слова контекста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23AA654-A922-4C0E-B4C1-4226941BA538}"/>
              </a:ext>
            </a:extLst>
          </p:cNvPr>
          <p:cNvSpPr/>
          <p:nvPr/>
        </p:nvSpPr>
        <p:spPr>
          <a:xfrm>
            <a:off x="5668241" y="4587596"/>
            <a:ext cx="775167" cy="22914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822E6E-9E60-4C38-801C-5BF616610A08}"/>
              </a:ext>
            </a:extLst>
          </p:cNvPr>
          <p:cNvSpPr/>
          <p:nvPr/>
        </p:nvSpPr>
        <p:spPr>
          <a:xfrm>
            <a:off x="6584373" y="4587596"/>
            <a:ext cx="237259" cy="22914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A5137-C128-4675-92BE-FD1BD31804E4}"/>
              </a:ext>
            </a:extLst>
          </p:cNvPr>
          <p:cNvSpPr txBox="1"/>
          <p:nvPr/>
        </p:nvSpPr>
        <p:spPr>
          <a:xfrm>
            <a:off x="6839638" y="4548280"/>
            <a:ext cx="266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Размер словаря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ru" sz="3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Плюсы и минусы N-граммных моделей</a:t>
            </a:r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2"/>
          </p:nvPr>
        </p:nvSpPr>
        <p:spPr>
          <a:xfrm>
            <a:off x="452450" y="1337500"/>
            <a:ext cx="31821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8761D"/>
                </a:solidFill>
              </a:rPr>
              <a:t>Плюсы:</a:t>
            </a:r>
            <a:endParaRPr>
              <a:solidFill>
                <a:srgbClr val="38761D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Arial"/>
              <a:buAutoNum type="arabicPeriod"/>
            </a:pPr>
            <a:r>
              <a:rPr lang="ru">
                <a:solidFill>
                  <a:srgbClr val="38761D"/>
                </a:solidFill>
              </a:rPr>
              <a:t>Очень быстрые. Работают за О(1)</a:t>
            </a:r>
            <a:endParaRPr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Arial"/>
              <a:buAutoNum type="arabicPeriod"/>
            </a:pPr>
            <a:r>
              <a:rPr lang="ru">
                <a:solidFill>
                  <a:srgbClr val="38761D"/>
                </a:solidFill>
              </a:rPr>
              <a:t>Просты в обучении</a:t>
            </a:r>
            <a:endParaRPr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2"/>
          </p:nvPr>
        </p:nvSpPr>
        <p:spPr>
          <a:xfrm>
            <a:off x="4462475" y="1373000"/>
            <a:ext cx="41181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</a:rPr>
              <a:t>Минусы:</a:t>
            </a:r>
            <a:endParaRPr>
              <a:solidFill>
                <a:srgbClr val="85200C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800"/>
              <a:buFont typeface="Arial"/>
              <a:buAutoNum type="arabicPeriod"/>
            </a:pPr>
            <a:r>
              <a:rPr lang="ru">
                <a:solidFill>
                  <a:srgbClr val="85200C"/>
                </a:solidFill>
              </a:rPr>
              <a:t>Очень чувствительны к тренировочным данным</a:t>
            </a:r>
            <a:endParaRPr>
              <a:solidFill>
                <a:srgbClr val="85200C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800"/>
              <a:buFont typeface="Arial"/>
              <a:buAutoNum type="arabicPeriod"/>
            </a:pPr>
            <a:r>
              <a:rPr lang="ru">
                <a:solidFill>
                  <a:srgbClr val="85200C"/>
                </a:solidFill>
              </a:rPr>
              <a:t>Занимают много памяти</a:t>
            </a:r>
            <a:endParaRPr>
              <a:solidFill>
                <a:srgbClr val="85200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800"/>
              <a:buFont typeface="Arial"/>
              <a:buAutoNum type="arabicPeriod"/>
            </a:pPr>
            <a:r>
              <a:rPr lang="ru">
                <a:solidFill>
                  <a:srgbClr val="85200C"/>
                </a:solidFill>
              </a:rPr>
              <a:t>Имеют очень короткий контекст </a:t>
            </a:r>
            <a:endParaRPr>
              <a:solidFill>
                <a:srgbClr val="85200C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800"/>
              <a:buAutoNum type="arabicPeriod"/>
            </a:pPr>
            <a:r>
              <a:rPr lang="ru">
                <a:solidFill>
                  <a:srgbClr val="85200C"/>
                </a:solidFill>
              </a:rPr>
              <a:t>Проблема несуществующих N-грамм</a:t>
            </a:r>
            <a:endParaRPr>
              <a:solidFill>
                <a:srgbClr val="85200C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36F7643-F9BD-4013-8236-411223537B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8F5A582D-E9FA-4B0F-88E9-2D1DAF5DA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2333" y="2485388"/>
            <a:ext cx="6428192" cy="8751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3. Обучение RNN для решения задачи языкового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810458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125" cy="5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8500"/>
            </a:pPr>
            <a:r>
              <a:rPr lang="en-US" sz="3188"/>
              <a:t>RNN</a:t>
            </a:r>
            <a:endParaRPr/>
          </a:p>
        </p:txBody>
      </p:sp>
      <p:pic>
        <p:nvPicPr>
          <p:cNvPr id="134" name="Google Shape;134;p3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144" y="1671083"/>
            <a:ext cx="6855712" cy="180133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 txBox="1"/>
          <p:nvPr/>
        </p:nvSpPr>
        <p:spPr>
          <a:xfrm>
            <a:off x="745262" y="4575659"/>
            <a:ext cx="3678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Understanding LSTM Networks, </a:t>
            </a:r>
            <a:r>
              <a:rPr lang="en-US" sz="1350" u="sng"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colah.github.io</a:t>
            </a:r>
            <a:endParaRPr sz="525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125" cy="5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513"/>
              <a:t>Как обучить языковую модель с помощью RNN</a:t>
            </a:r>
            <a:endParaRPr sz="2513"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2"/>
          </p:nvPr>
        </p:nvSpPr>
        <p:spPr>
          <a:xfrm>
            <a:off x="452437" y="1593189"/>
            <a:ext cx="8239163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333375" indent="-333375">
              <a:spcBef>
                <a:spcPts val="0"/>
              </a:spcBef>
              <a:buSzPts val="4800"/>
              <a:buFont typeface="Helvetica Neue"/>
              <a:buAutoNum type="arabicPeriod"/>
            </a:pPr>
            <a:r>
              <a:rPr lang="en-US"/>
              <a:t>Взять большой корпус текста. Разбить его на отдельные последовательности слов </a:t>
            </a:r>
            <a:endParaRPr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5594" y="1828870"/>
            <a:ext cx="1032272" cy="378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83cf81036b_0_1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805"/>
              <a:t>Как обучить языковую модель с помощью RNN</a:t>
            </a:r>
            <a:endParaRPr/>
          </a:p>
        </p:txBody>
      </p:sp>
      <p:sp>
        <p:nvSpPr>
          <p:cNvPr id="148" name="Google Shape;148;g183cf81036b_0_1"/>
          <p:cNvSpPr txBox="1">
            <a:spLocks noGrp="1"/>
          </p:cNvSpPr>
          <p:nvPr>
            <p:ph type="body" idx="2"/>
          </p:nvPr>
        </p:nvSpPr>
        <p:spPr>
          <a:xfrm>
            <a:off x="452437" y="1593189"/>
            <a:ext cx="8239163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333375" indent="-333375">
              <a:spcBef>
                <a:spcPts val="0"/>
              </a:spcBef>
              <a:buSzPts val="4800"/>
              <a:buFont typeface="Helvetica Neue"/>
              <a:buAutoNum type="arabicPeriod"/>
            </a:pPr>
            <a:r>
              <a:rPr lang="en-US"/>
              <a:t>Взять большой корпус текста. Разбить его на отдельные последовательности слов </a:t>
            </a:r>
            <a:endParaRPr/>
          </a:p>
          <a:p>
            <a:pPr marL="333375" indent="-333375">
              <a:spcBef>
                <a:spcPts val="1688"/>
              </a:spcBef>
              <a:buSzPts val="4800"/>
              <a:buFont typeface="Helvetica Neue"/>
              <a:buAutoNum type="arabicPeriod"/>
            </a:pPr>
            <a:r>
              <a:rPr lang="en-US"/>
              <a:t>Подать эти последовательности на вход в RNN. Рассчитать вероятностное распределение</a:t>
            </a:r>
            <a:endParaRPr/>
          </a:p>
        </p:txBody>
      </p:sp>
      <p:pic>
        <p:nvPicPr>
          <p:cNvPr id="149" name="Google Shape;149;g183cf81036b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5594" y="1828870"/>
            <a:ext cx="1032272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183cf81036b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86238" y="2529990"/>
            <a:ext cx="1053703" cy="36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83cf81036b_0_11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805"/>
              <a:t>Как обучить языковую модель с помощью RNN</a:t>
            </a:r>
            <a:endParaRPr/>
          </a:p>
        </p:txBody>
      </p:sp>
      <p:sp>
        <p:nvSpPr>
          <p:cNvPr id="156" name="Google Shape;156;g183cf81036b_0_11"/>
          <p:cNvSpPr txBox="1">
            <a:spLocks noGrp="1"/>
          </p:cNvSpPr>
          <p:nvPr>
            <p:ph type="body" idx="2"/>
          </p:nvPr>
        </p:nvSpPr>
        <p:spPr>
          <a:xfrm>
            <a:off x="452437" y="1593189"/>
            <a:ext cx="8239163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333375" indent="-333375">
              <a:spcBef>
                <a:spcPts val="0"/>
              </a:spcBef>
              <a:buSzPts val="4800"/>
              <a:buFont typeface="Helvetica Neue"/>
              <a:buAutoNum type="arabicPeriod"/>
            </a:pPr>
            <a:r>
              <a:rPr lang="en-US"/>
              <a:t>Взять большой корпус текста. Разбить его на отдельные последовательности слов </a:t>
            </a:r>
            <a:endParaRPr/>
          </a:p>
          <a:p>
            <a:pPr marL="333375" indent="-333375">
              <a:spcBef>
                <a:spcPts val="1688"/>
              </a:spcBef>
              <a:buSzPts val="4800"/>
              <a:buFont typeface="Helvetica Neue"/>
              <a:buAutoNum type="arabicPeriod"/>
            </a:pPr>
            <a:r>
              <a:rPr lang="en-US"/>
              <a:t>Подать эти последовательности на вход в RNN. Рассчитать вероятностное распределение </a:t>
            </a:r>
            <a:endParaRPr/>
          </a:p>
          <a:p>
            <a:pPr marL="333375" indent="-333375">
              <a:spcBef>
                <a:spcPts val="1688"/>
              </a:spcBef>
              <a:buSzPts val="4800"/>
              <a:buFont typeface="Helvetica Neue"/>
              <a:buAutoNum type="arabicPeriod"/>
            </a:pPr>
            <a:r>
              <a:rPr lang="en-US"/>
              <a:t>Посчитать лосс функцию — кросс-энтропию между предсказанием и истинным распределением               . Каждый       является one-hot вектором для </a:t>
            </a:r>
            <a:endParaRPr/>
          </a:p>
        </p:txBody>
      </p:sp>
      <p:pic>
        <p:nvPicPr>
          <p:cNvPr id="157" name="Google Shape;157;g183cf81036b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5594" y="1828870"/>
            <a:ext cx="1032272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183cf81036b_0_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86238" y="2529990"/>
            <a:ext cx="1053703" cy="367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183cf81036b_0_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72950" y="3248972"/>
            <a:ext cx="914919" cy="314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183cf81036b_0_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6972" y="3283121"/>
            <a:ext cx="192881" cy="24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183cf81036b_0_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32809" y="3563738"/>
            <a:ext cx="354615" cy="246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83cf81036b_0_21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805"/>
              <a:t>Как обучить языковую модель с помощью RNN</a:t>
            </a:r>
            <a:endParaRPr/>
          </a:p>
        </p:txBody>
      </p:sp>
      <p:sp>
        <p:nvSpPr>
          <p:cNvPr id="167" name="Google Shape;167;g183cf81036b_0_21"/>
          <p:cNvSpPr txBox="1">
            <a:spLocks noGrp="1"/>
          </p:cNvSpPr>
          <p:nvPr>
            <p:ph type="body" idx="2"/>
          </p:nvPr>
        </p:nvSpPr>
        <p:spPr>
          <a:xfrm>
            <a:off x="452437" y="1593189"/>
            <a:ext cx="8239163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333375" indent="-333375">
              <a:spcBef>
                <a:spcPts val="0"/>
              </a:spcBef>
              <a:buSzPts val="4800"/>
              <a:buFont typeface="Helvetica Neue"/>
              <a:buAutoNum type="arabicPeriod"/>
            </a:pPr>
            <a:r>
              <a:rPr lang="en-US"/>
              <a:t>Взять большой корпус текста. Разбить его на отдельные последовательности слов </a:t>
            </a:r>
            <a:endParaRPr/>
          </a:p>
          <a:p>
            <a:pPr marL="333375" indent="-333375">
              <a:spcBef>
                <a:spcPts val="1688"/>
              </a:spcBef>
              <a:buSzPts val="4800"/>
              <a:buFont typeface="Helvetica Neue"/>
              <a:buAutoNum type="arabicPeriod"/>
            </a:pPr>
            <a:r>
              <a:rPr lang="en-US"/>
              <a:t>Подать эти последовательности на вход в RNN. Рассчитать вероятностное распределение </a:t>
            </a:r>
            <a:endParaRPr/>
          </a:p>
          <a:p>
            <a:pPr marL="333375" indent="-333375">
              <a:spcBef>
                <a:spcPts val="1688"/>
              </a:spcBef>
              <a:buSzPts val="4800"/>
              <a:buFont typeface="Helvetica Neue"/>
              <a:buAutoNum type="arabicPeriod"/>
            </a:pPr>
            <a:r>
              <a:rPr lang="en-US"/>
              <a:t>Посчитать лосс функцию — кросс-энтропию между предсказанием и истинным распределением               . Каждый       является one-hot вектором для </a:t>
            </a:r>
            <a:endParaRPr/>
          </a:p>
          <a:p>
            <a:pPr marL="333375" indent="-333375">
              <a:spcBef>
                <a:spcPts val="1688"/>
              </a:spcBef>
              <a:buSzPts val="4800"/>
              <a:buFont typeface="Helvetica Neue"/>
              <a:buAutoNum type="arabicPeriod"/>
            </a:pPr>
            <a:r>
              <a:rPr lang="en-US"/>
              <a:t>Оптимизировать градиентным спуском</a:t>
            </a:r>
            <a:endParaRPr/>
          </a:p>
        </p:txBody>
      </p:sp>
      <p:pic>
        <p:nvPicPr>
          <p:cNvPr id="168" name="Google Shape;168;g183cf81036b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5594" y="1828870"/>
            <a:ext cx="1032272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183cf81036b_0_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86238" y="2529990"/>
            <a:ext cx="1053703" cy="367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183cf81036b_0_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72950" y="3248972"/>
            <a:ext cx="914919" cy="314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183cf81036b_0_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6972" y="3283121"/>
            <a:ext cx="192881" cy="24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183cf81036b_0_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32809" y="3563738"/>
            <a:ext cx="354615" cy="246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83cf81036b_0_31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178" name="Google Shape;178;g183cf81036b_0_31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179" name="Google Shape;179;g183cf81036b_0_31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180" name="Google Shape;180;g183cf81036b_0_31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181" name="Google Shape;181;g183cf81036b_0_31"/>
          <p:cNvGraphicFramePr/>
          <p:nvPr/>
        </p:nvGraphicFramePr>
        <p:xfrm>
          <a:off x="2928909" y="4412606"/>
          <a:ext cx="2719763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?</a:t>
                      </a:r>
                      <a:endParaRPr sz="1000" b="1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2" name="Google Shape;182;g183cf81036b_0_31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3" name="Google Shape;183;g183cf81036b_0_31"/>
          <p:cNvCxnSpPr>
            <a:stCxn id="178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g183cf81036b_0_31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g183cf81036b_0_31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6" name="Google Shape;186;g183cf81036b_0_31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187" name="Google Shape;187;g183cf81036b_0_31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g183cf81036b_0_31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g183cf81036b_0_31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g183cf81036b_0_31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1" name="Google Shape;191;g183cf81036b_0_31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183cf81036b_0_31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193" name="Google Shape;193;g183cf81036b_0_31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194" name="Google Shape;194;g183cf81036b_0_31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195" name="Google Shape;195;g183cf81036b_0_31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6" name="Google Shape;196;g183cf81036b_0_31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183cf81036b_0_31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g183cf81036b_0_31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83cf81036b_0_307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204" name="Google Shape;204;g183cf81036b_0_307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205" name="Google Shape;205;g183cf81036b_0_307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206" name="Google Shape;206;g183cf81036b_0_307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207" name="Google Shape;207;g183cf81036b_0_307"/>
          <p:cNvGraphicFramePr/>
          <p:nvPr/>
        </p:nvGraphicFramePr>
        <p:xfrm>
          <a:off x="2928909" y="4412606"/>
          <a:ext cx="2719763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?</a:t>
                      </a:r>
                      <a:endParaRPr sz="1000" b="1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8" name="Google Shape;208;g183cf81036b_0_307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9" name="Google Shape;209;g183cf81036b_0_307"/>
          <p:cNvCxnSpPr>
            <a:stCxn id="204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0" name="Google Shape;210;g183cf81036b_0_307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1" name="Google Shape;211;g183cf81036b_0_307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2" name="Google Shape;212;g183cf81036b_0_307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213" name="Google Shape;213;g183cf81036b_0_307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4" name="Google Shape;214;g183cf81036b_0_307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5" name="Google Shape;215;g183cf81036b_0_307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6" name="Google Shape;216;g183cf81036b_0_307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7" name="Google Shape;217;g183cf81036b_0_307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183cf81036b_0_307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219" name="Google Shape;219;g183cf81036b_0_307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220" name="Google Shape;220;g183cf81036b_0_307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221" name="Google Shape;221;g183cf81036b_0_307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2" name="Google Shape;222;g183cf81036b_0_307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183cf81036b_0_307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g183cf81036b_0_307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83cf81036b_0_332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230" name="Google Shape;230;g183cf81036b_0_332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231" name="Google Shape;231;g183cf81036b_0_332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232" name="Google Shape;232;g183cf81036b_0_332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233" name="Google Shape;233;g183cf81036b_0_332"/>
          <p:cNvGraphicFramePr/>
          <p:nvPr/>
        </p:nvGraphicFramePr>
        <p:xfrm>
          <a:off x="2928909" y="4412606"/>
          <a:ext cx="1125000" cy="1125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?</a:t>
                      </a:r>
                      <a:endParaRPr sz="1000" b="1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4" name="Google Shape;234;g183cf81036b_0_332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5" name="Google Shape;235;g183cf81036b_0_332"/>
          <p:cNvCxnSpPr>
            <a:stCxn id="230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6" name="Google Shape;236;g183cf81036b_0_332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7" name="Google Shape;237;g183cf81036b_0_332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8" name="Google Shape;238;g183cf81036b_0_332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239" name="Google Shape;239;g183cf81036b_0_332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0" name="Google Shape;240;g183cf81036b_0_332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1" name="Google Shape;241;g183cf81036b_0_332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2" name="Google Shape;242;g183cf81036b_0_332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3" name="Google Shape;243;g183cf81036b_0_332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g183cf81036b_0_332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245" name="Google Shape;245;g183cf81036b_0_332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246" name="Google Shape;246;g183cf81036b_0_332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247" name="Google Shape;247;g183cf81036b_0_332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8" name="Google Shape;248;g183cf81036b_0_332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g183cf81036b_0_332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g183cf81036b_0_332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83cf81036b_0_170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256" name="Google Shape;256;g183cf81036b_0_170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257" name="Google Shape;257;g183cf81036b_0_170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258" name="Google Shape;258;g183cf81036b_0_170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259" name="Google Shape;259;g183cf81036b_0_170"/>
          <p:cNvGraphicFramePr/>
          <p:nvPr/>
        </p:nvGraphicFramePr>
        <p:xfrm>
          <a:off x="2928909" y="4412606"/>
          <a:ext cx="1125000" cy="1125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?</a:t>
                      </a:r>
                      <a:endParaRPr sz="1000" b="1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0" name="Google Shape;260;g183cf81036b_0_170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1" name="Google Shape;261;g183cf81036b_0_170"/>
          <p:cNvCxnSpPr>
            <a:stCxn id="256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2" name="Google Shape;262;g183cf81036b_0_170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3" name="Google Shape;263;g183cf81036b_0_170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4" name="Google Shape;264;g183cf81036b_0_170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265" name="Google Shape;265;g183cf81036b_0_170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6" name="Google Shape;266;g183cf81036b_0_170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7" name="Google Shape;267;g183cf81036b_0_170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8" name="Google Shape;268;g183cf81036b_0_170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9" name="Google Shape;269;g183cf81036b_0_170"/>
          <p:cNvCxnSpPr/>
          <p:nvPr/>
        </p:nvCxnSpPr>
        <p:spPr>
          <a:xfrm rot="10800000">
            <a:off x="4597257" y="212956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0" name="Google Shape;270;g183cf81036b_0_170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g183cf81036b_0_170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272" name="Google Shape;272;g183cf81036b_0_170"/>
          <p:cNvSpPr/>
          <p:nvPr/>
        </p:nvSpPr>
        <p:spPr>
          <a:xfrm>
            <a:off x="4413090" y="1728132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273" name="Google Shape;273;g183cf81036b_0_170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274" name="Google Shape;274;g183cf81036b_0_170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275" name="Google Shape;275;g183cf81036b_0_170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6" name="Google Shape;276;g183cf81036b_0_170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g183cf81036b_0_170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g183cf81036b_0_170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83cf81036b_0_238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284" name="Google Shape;284;g183cf81036b_0_238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285" name="Google Shape;285;g183cf81036b_0_238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286" name="Google Shape;286;g183cf81036b_0_238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287" name="Google Shape;287;g183cf81036b_0_238"/>
          <p:cNvGraphicFramePr/>
          <p:nvPr/>
        </p:nvGraphicFramePr>
        <p:xfrm>
          <a:off x="2928909" y="4412606"/>
          <a:ext cx="2719763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?</a:t>
                      </a:r>
                      <a:endParaRPr sz="1000" b="1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8" name="Google Shape;288;g183cf81036b_0_238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9" name="Google Shape;289;g183cf81036b_0_238"/>
          <p:cNvCxnSpPr>
            <a:stCxn id="284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0" name="Google Shape;290;g183cf81036b_0_238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1" name="Google Shape;291;g183cf81036b_0_238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2" name="Google Shape;292;g183cf81036b_0_238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293" name="Google Shape;293;g183cf81036b_0_238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4" name="Google Shape;294;g183cf81036b_0_238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5" name="Google Shape;295;g183cf81036b_0_238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6" name="Google Shape;296;g183cf81036b_0_238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7" name="Google Shape;297;g183cf81036b_0_238"/>
          <p:cNvCxnSpPr/>
          <p:nvPr/>
        </p:nvCxnSpPr>
        <p:spPr>
          <a:xfrm rot="10800000">
            <a:off x="4597257" y="212956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8" name="Google Shape;298;g183cf81036b_0_238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g183cf81036b_0_238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00" name="Google Shape;300;g183cf81036b_0_238"/>
          <p:cNvSpPr/>
          <p:nvPr/>
        </p:nvSpPr>
        <p:spPr>
          <a:xfrm>
            <a:off x="4413090" y="1728132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01" name="Google Shape;301;g183cf81036b_0_238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02" name="Google Shape;302;g183cf81036b_0_238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303" name="Google Shape;303;g183cf81036b_0_238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4" name="Google Shape;304;g183cf81036b_0_238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183cf81036b_0_238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6" name="Google Shape;306;g183cf81036b_0_238"/>
          <p:cNvCxnSpPr>
            <a:stCxn id="300" idx="3"/>
          </p:cNvCxnSpPr>
          <p:nvPr/>
        </p:nvCxnSpPr>
        <p:spPr>
          <a:xfrm rot="10800000" flipH="1">
            <a:off x="4765328" y="1521695"/>
            <a:ext cx="1010025" cy="41625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7" name="Google Shape;307;g183cf81036b_0_238"/>
          <p:cNvCxnSpPr>
            <a:stCxn id="300" idx="3"/>
          </p:cNvCxnSpPr>
          <p:nvPr/>
        </p:nvCxnSpPr>
        <p:spPr>
          <a:xfrm rot="10800000" flipH="1">
            <a:off x="4765328" y="1824207"/>
            <a:ext cx="1072238" cy="1137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8" name="Google Shape;308;g183cf81036b_0_238"/>
          <p:cNvCxnSpPr>
            <a:stCxn id="300" idx="3"/>
          </p:cNvCxnSpPr>
          <p:nvPr/>
        </p:nvCxnSpPr>
        <p:spPr>
          <a:xfrm>
            <a:off x="4765328" y="1937945"/>
            <a:ext cx="1054463" cy="18000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9" name="Google Shape;309;g183cf81036b_0_238"/>
          <p:cNvCxnSpPr>
            <a:stCxn id="300" idx="3"/>
          </p:cNvCxnSpPr>
          <p:nvPr/>
        </p:nvCxnSpPr>
        <p:spPr>
          <a:xfrm>
            <a:off x="4765328" y="1937945"/>
            <a:ext cx="1033650" cy="519075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0" name="Google Shape;310;g183cf81036b_0_238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g183cf81036b_0_238"/>
          <p:cNvGraphicFramePr/>
          <p:nvPr/>
        </p:nvGraphicFramePr>
        <p:xfrm>
          <a:off x="5892234" y="1419544"/>
          <a:ext cx="1033650" cy="11631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7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Книги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0.3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Ноутбуки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0.3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Тетради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0.3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Глаза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0.1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3cf81036b_0_273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317" name="Google Shape;317;g183cf81036b_0_273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318" name="Google Shape;318;g183cf81036b_0_273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319" name="Google Shape;319;g183cf81036b_0_273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320" name="Google Shape;320;g183cf81036b_0_273"/>
          <p:cNvGraphicFramePr/>
          <p:nvPr/>
        </p:nvGraphicFramePr>
        <p:xfrm>
          <a:off x="2928909" y="4412606"/>
          <a:ext cx="2719763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?</a:t>
                      </a:r>
                      <a:endParaRPr sz="1000" b="1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1" name="Google Shape;321;g183cf81036b_0_273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2" name="Google Shape;322;g183cf81036b_0_273"/>
          <p:cNvCxnSpPr>
            <a:stCxn id="317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3" name="Google Shape;323;g183cf81036b_0_273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4" name="Google Shape;324;g183cf81036b_0_273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5" name="Google Shape;325;g183cf81036b_0_273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326" name="Google Shape;326;g183cf81036b_0_273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7" name="Google Shape;327;g183cf81036b_0_273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8" name="Google Shape;328;g183cf81036b_0_273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9" name="Google Shape;329;g183cf81036b_0_273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g183cf81036b_0_273"/>
          <p:cNvCxnSpPr/>
          <p:nvPr/>
        </p:nvCxnSpPr>
        <p:spPr>
          <a:xfrm rot="10800000">
            <a:off x="4597257" y="212956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1" name="Google Shape;331;g183cf81036b_0_273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g183cf81036b_0_273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33" name="Google Shape;333;g183cf81036b_0_273"/>
          <p:cNvSpPr/>
          <p:nvPr/>
        </p:nvSpPr>
        <p:spPr>
          <a:xfrm>
            <a:off x="4413090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34" name="Google Shape;334;g183cf81036b_0_273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35" name="Google Shape;335;g183cf81036b_0_273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336" name="Google Shape;336;g183cf81036b_0_273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7" name="Google Shape;337;g183cf81036b_0_273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g183cf81036b_0_273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9" name="Google Shape;339;g183cf81036b_0_273"/>
          <p:cNvCxnSpPr>
            <a:stCxn id="333" idx="3"/>
          </p:cNvCxnSpPr>
          <p:nvPr/>
        </p:nvCxnSpPr>
        <p:spPr>
          <a:xfrm rot="10800000" flipH="1">
            <a:off x="4765328" y="1521695"/>
            <a:ext cx="1010025" cy="41625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0" name="Google Shape;340;g183cf81036b_0_273"/>
          <p:cNvCxnSpPr>
            <a:stCxn id="333" idx="3"/>
          </p:cNvCxnSpPr>
          <p:nvPr/>
        </p:nvCxnSpPr>
        <p:spPr>
          <a:xfrm rot="10800000" flipH="1">
            <a:off x="4765328" y="1824207"/>
            <a:ext cx="1072238" cy="1137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1" name="Google Shape;341;g183cf81036b_0_273"/>
          <p:cNvCxnSpPr>
            <a:stCxn id="333" idx="3"/>
          </p:cNvCxnSpPr>
          <p:nvPr/>
        </p:nvCxnSpPr>
        <p:spPr>
          <a:xfrm>
            <a:off x="4765328" y="1937945"/>
            <a:ext cx="1054463" cy="18000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2" name="Google Shape;342;g183cf81036b_0_273"/>
          <p:cNvCxnSpPr>
            <a:stCxn id="333" idx="3"/>
          </p:cNvCxnSpPr>
          <p:nvPr/>
        </p:nvCxnSpPr>
        <p:spPr>
          <a:xfrm>
            <a:off x="4765328" y="1937945"/>
            <a:ext cx="1033650" cy="519075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3" name="Google Shape;343;g183cf81036b_0_273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44" name="Google Shape;344;g183cf81036b_0_273"/>
          <p:cNvGraphicFramePr/>
          <p:nvPr/>
        </p:nvGraphicFramePr>
        <p:xfrm>
          <a:off x="5892234" y="1419544"/>
          <a:ext cx="1033650" cy="11631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7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Книги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0.3</a:t>
                      </a:r>
                      <a:endParaRPr sz="1000" u="none" strike="noStrike" cap="none"/>
                    </a:p>
                  </a:txBody>
                  <a:tcPr marL="34284" marR="34284" marT="34284" marB="34284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Ноутбуки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0.3</a:t>
                      </a:r>
                      <a:endParaRPr sz="1000" u="none" strike="noStrike" cap="none"/>
                    </a:p>
                  </a:txBody>
                  <a:tcPr marL="34284" marR="34284" marT="34284" marB="34284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Тетради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0.3</a:t>
                      </a:r>
                      <a:endParaRPr sz="1000" u="none" strike="noStrike" cap="none"/>
                    </a:p>
                  </a:txBody>
                  <a:tcPr marL="34284" marR="34284" marT="34284" marB="34284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Глаза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0.1</a:t>
                      </a:r>
                      <a:endParaRPr sz="1000" u="none" strike="noStrike" cap="none"/>
                    </a:p>
                  </a:txBody>
                  <a:tcPr marL="34284" marR="34284" marT="34284" marB="34284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5" name="Google Shape;345;g183cf81036b_0_273"/>
          <p:cNvGraphicFramePr/>
          <p:nvPr/>
        </p:nvGraphicFramePr>
        <p:xfrm>
          <a:off x="7042763" y="1419544"/>
          <a:ext cx="360113" cy="11631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34284" marR="34284" marT="34284" marB="34284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34284" marR="34284" marT="34284" marB="34284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34284" marR="34284" marT="34284" marB="34284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34284" marR="34284" marT="34284" marB="34284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6" name="Google Shape;346;g183cf81036b_0_273"/>
          <p:cNvSpPr/>
          <p:nvPr/>
        </p:nvSpPr>
        <p:spPr>
          <a:xfrm>
            <a:off x="6238059" y="2963287"/>
            <a:ext cx="1511888" cy="268538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2600"/>
            </a:pPr>
            <a:r>
              <a:rPr lang="en-US" sz="975" b="1"/>
              <a:t>CE Loss</a:t>
            </a:r>
            <a:endParaRPr sz="975" b="1"/>
          </a:p>
        </p:txBody>
      </p:sp>
      <p:cxnSp>
        <p:nvCxnSpPr>
          <p:cNvPr id="347" name="Google Shape;347;g183cf81036b_0_273"/>
          <p:cNvCxnSpPr/>
          <p:nvPr/>
        </p:nvCxnSpPr>
        <p:spPr>
          <a:xfrm flipH="1">
            <a:off x="6789787" y="2571750"/>
            <a:ext cx="8888" cy="409275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8" name="Google Shape;348;g183cf81036b_0_273"/>
          <p:cNvCxnSpPr/>
          <p:nvPr/>
        </p:nvCxnSpPr>
        <p:spPr>
          <a:xfrm flipH="1">
            <a:off x="7218375" y="2571750"/>
            <a:ext cx="8888" cy="409275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49" name="Google Shape;349;g183cf81036b_0_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028" y="3383464"/>
            <a:ext cx="4246972" cy="5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2D64859-4EE0-408E-B0A1-4587ED5DBB57}"/>
              </a:ext>
            </a:extLst>
          </p:cNvPr>
          <p:cNvSpPr/>
          <p:nvPr/>
        </p:nvSpPr>
        <p:spPr>
          <a:xfrm>
            <a:off x="7281778" y="3487608"/>
            <a:ext cx="285750" cy="24938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F6928-6B60-4545-8EC0-8ABE587354CA}"/>
              </a:ext>
            </a:extLst>
          </p:cNvPr>
          <p:cNvSpPr txBox="1"/>
          <p:nvPr/>
        </p:nvSpPr>
        <p:spPr>
          <a:xfrm>
            <a:off x="6452106" y="3196250"/>
            <a:ext cx="2380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Истинное распределение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446D872-2FB0-4796-9C0F-573A5DF2C7BC}"/>
              </a:ext>
            </a:extLst>
          </p:cNvPr>
          <p:cNvSpPr/>
          <p:nvPr/>
        </p:nvSpPr>
        <p:spPr>
          <a:xfrm>
            <a:off x="7793697" y="3476721"/>
            <a:ext cx="285750" cy="2493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937A1F-1568-4AE2-8112-E7152C26D4DD}"/>
              </a:ext>
            </a:extLst>
          </p:cNvPr>
          <p:cNvSpPr txBox="1"/>
          <p:nvPr/>
        </p:nvSpPr>
        <p:spPr>
          <a:xfrm>
            <a:off x="6958122" y="3865078"/>
            <a:ext cx="23801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Предсказанная вероятность слова</a:t>
            </a:r>
            <a:r>
              <a:rPr lang="en-US" dirty="0">
                <a:solidFill>
                  <a:srgbClr val="0070C0"/>
                </a:solidFill>
              </a:rPr>
              <a:t> w </a:t>
            </a:r>
            <a:r>
              <a:rPr lang="ru-RU" dirty="0">
                <a:solidFill>
                  <a:srgbClr val="0070C0"/>
                </a:solidFill>
              </a:rPr>
              <a:t>на шаге 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ru-RU" dirty="0">
                <a:solidFill>
                  <a:srgbClr val="0070C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83cf81036b_0_393"/>
          <p:cNvSpPr txBox="1">
            <a:spLocks noGrp="1"/>
          </p:cNvSpPr>
          <p:nvPr>
            <p:ph type="title"/>
          </p:nvPr>
        </p:nvSpPr>
        <p:spPr>
          <a:xfrm>
            <a:off x="452438" y="404812"/>
            <a:ext cx="1487475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355" name="Google Shape;355;g183cf81036b_0_393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356" name="Google Shape;356;g183cf81036b_0_393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357" name="Google Shape;357;g183cf81036b_0_393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358" name="Google Shape;358;g183cf81036b_0_393"/>
          <p:cNvGraphicFramePr/>
          <p:nvPr/>
        </p:nvGraphicFramePr>
        <p:xfrm>
          <a:off x="2928909" y="4412606"/>
          <a:ext cx="3258132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57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книги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утром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9" name="Google Shape;359;g183cf81036b_0_393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0" name="Google Shape;360;g183cf81036b_0_393"/>
          <p:cNvCxnSpPr>
            <a:stCxn id="355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1" name="Google Shape;361;g183cf81036b_0_393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2" name="Google Shape;362;g183cf81036b_0_393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3" name="Google Shape;363;g183cf81036b_0_393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364" name="Google Shape;364;g183cf81036b_0_393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5" name="Google Shape;365;g183cf81036b_0_393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6" name="Google Shape;366;g183cf81036b_0_393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7" name="Google Shape;367;g183cf81036b_0_393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8" name="Google Shape;368;g183cf81036b_0_393"/>
          <p:cNvCxnSpPr/>
          <p:nvPr/>
        </p:nvCxnSpPr>
        <p:spPr>
          <a:xfrm rot="10800000">
            <a:off x="4597257" y="212956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9" name="Google Shape;369;g183cf81036b_0_393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g183cf81036b_0_393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71" name="Google Shape;371;g183cf81036b_0_393"/>
          <p:cNvSpPr/>
          <p:nvPr/>
        </p:nvSpPr>
        <p:spPr>
          <a:xfrm>
            <a:off x="4413090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72" name="Google Shape;372;g183cf81036b_0_393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73" name="Google Shape;373;g183cf81036b_0_393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374" name="Google Shape;374;g183cf81036b_0_393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5" name="Google Shape;375;g183cf81036b_0_393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g183cf81036b_0_393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g183cf81036b_0_393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g183cf81036b_0_393"/>
          <p:cNvSpPr/>
          <p:nvPr/>
        </p:nvSpPr>
        <p:spPr>
          <a:xfrm>
            <a:off x="5161780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379" name="Google Shape;379;g183cf81036b_0_393"/>
          <p:cNvCxnSpPr/>
          <p:nvPr/>
        </p:nvCxnSpPr>
        <p:spPr>
          <a:xfrm rot="10800000">
            <a:off x="5285634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0" name="Google Shape;380;g183cf81036b_0_393"/>
          <p:cNvCxnSpPr/>
          <p:nvPr/>
        </p:nvCxnSpPr>
        <p:spPr>
          <a:xfrm>
            <a:off x="4761222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1" name="Google Shape;381;g183cf81036b_0_393"/>
          <p:cNvCxnSpPr/>
          <p:nvPr/>
        </p:nvCxnSpPr>
        <p:spPr>
          <a:xfrm rot="10800000">
            <a:off x="5286067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2" name="Google Shape;382;g183cf81036b_0_393"/>
          <p:cNvSpPr/>
          <p:nvPr/>
        </p:nvSpPr>
        <p:spPr>
          <a:xfrm>
            <a:off x="5101900" y="1728357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83" name="Google Shape;383;g183cf81036b_0_393"/>
          <p:cNvSpPr/>
          <p:nvPr/>
        </p:nvSpPr>
        <p:spPr>
          <a:xfrm>
            <a:off x="5101900" y="238157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84" name="Google Shape;384;g183cf81036b_0_393"/>
          <p:cNvSpPr/>
          <p:nvPr/>
        </p:nvSpPr>
        <p:spPr>
          <a:xfrm>
            <a:off x="5854696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385" name="Google Shape;385;g183cf81036b_0_393"/>
          <p:cNvCxnSpPr/>
          <p:nvPr/>
        </p:nvCxnSpPr>
        <p:spPr>
          <a:xfrm rot="10800000">
            <a:off x="5978550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6" name="Google Shape;386;g183cf81036b_0_393"/>
          <p:cNvCxnSpPr/>
          <p:nvPr/>
        </p:nvCxnSpPr>
        <p:spPr>
          <a:xfrm>
            <a:off x="5454137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7" name="Google Shape;387;g183cf81036b_0_393"/>
          <p:cNvCxnSpPr/>
          <p:nvPr/>
        </p:nvCxnSpPr>
        <p:spPr>
          <a:xfrm rot="10800000">
            <a:off x="5978982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8" name="Google Shape;388;g183cf81036b_0_393"/>
          <p:cNvSpPr/>
          <p:nvPr/>
        </p:nvSpPr>
        <p:spPr>
          <a:xfrm>
            <a:off x="5794815" y="1728357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389" name="Google Shape;389;g183cf81036b_0_393"/>
          <p:cNvSpPr/>
          <p:nvPr/>
        </p:nvSpPr>
        <p:spPr>
          <a:xfrm>
            <a:off x="5794816" y="238157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390" name="Google Shape;390;g183cf81036b_0_393"/>
          <p:cNvCxnSpPr/>
          <p:nvPr/>
        </p:nvCxnSpPr>
        <p:spPr>
          <a:xfrm rot="10800000">
            <a:off x="3246848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1" name="Google Shape;391;g183cf81036b_0_393"/>
          <p:cNvCxnSpPr/>
          <p:nvPr/>
        </p:nvCxnSpPr>
        <p:spPr>
          <a:xfrm rot="10800000">
            <a:off x="3920052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2" name="Google Shape;392;g183cf81036b_0_393"/>
          <p:cNvCxnSpPr/>
          <p:nvPr/>
        </p:nvCxnSpPr>
        <p:spPr>
          <a:xfrm rot="10800000">
            <a:off x="4600670" y="1478841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3" name="Google Shape;393;g183cf81036b_0_393"/>
          <p:cNvCxnSpPr/>
          <p:nvPr/>
        </p:nvCxnSpPr>
        <p:spPr>
          <a:xfrm rot="10800000">
            <a:off x="5289479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4" name="Google Shape;394;g183cf81036b_0_393"/>
          <p:cNvCxnSpPr/>
          <p:nvPr/>
        </p:nvCxnSpPr>
        <p:spPr>
          <a:xfrm rot="10800000">
            <a:off x="5982395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5" name="Google Shape;395;g183cf81036b_0_393"/>
          <p:cNvCxnSpPr/>
          <p:nvPr/>
        </p:nvCxnSpPr>
        <p:spPr>
          <a:xfrm rot="10800000">
            <a:off x="3234806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6" name="Google Shape;396;g183cf81036b_0_393"/>
          <p:cNvCxnSpPr/>
          <p:nvPr/>
        </p:nvCxnSpPr>
        <p:spPr>
          <a:xfrm rot="10800000">
            <a:off x="3908010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7" name="Google Shape;397;g183cf81036b_0_393"/>
          <p:cNvCxnSpPr/>
          <p:nvPr/>
        </p:nvCxnSpPr>
        <p:spPr>
          <a:xfrm rot="10800000">
            <a:off x="4588628" y="793313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8" name="Google Shape;398;g183cf81036b_0_393"/>
          <p:cNvCxnSpPr/>
          <p:nvPr/>
        </p:nvCxnSpPr>
        <p:spPr>
          <a:xfrm rot="10800000">
            <a:off x="5277437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9" name="Google Shape;399;g183cf81036b_0_393"/>
          <p:cNvCxnSpPr/>
          <p:nvPr/>
        </p:nvCxnSpPr>
        <p:spPr>
          <a:xfrm rot="10800000">
            <a:off x="5970353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0" name="Google Shape;400;g183cf81036b_0_393"/>
          <p:cNvSpPr/>
          <p:nvPr/>
        </p:nvSpPr>
        <p:spPr>
          <a:xfrm>
            <a:off x="3049441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g183cf81036b_0_393"/>
          <p:cNvSpPr/>
          <p:nvPr/>
        </p:nvSpPr>
        <p:spPr>
          <a:xfrm>
            <a:off x="3722148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02" name="Google Shape;402;g183cf81036b_0_393"/>
          <p:cNvSpPr/>
          <p:nvPr/>
        </p:nvSpPr>
        <p:spPr>
          <a:xfrm>
            <a:off x="4394856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03" name="Google Shape;403;g183cf81036b_0_393"/>
          <p:cNvSpPr/>
          <p:nvPr/>
        </p:nvSpPr>
        <p:spPr>
          <a:xfrm>
            <a:off x="5083665" y="36773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04" name="Google Shape;404;g183cf81036b_0_393"/>
          <p:cNvSpPr/>
          <p:nvPr/>
        </p:nvSpPr>
        <p:spPr>
          <a:xfrm>
            <a:off x="5776581" y="36773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05" name="Google Shape;405;g183cf81036b_0_393"/>
          <p:cNvSpPr/>
          <p:nvPr/>
        </p:nvSpPr>
        <p:spPr>
          <a:xfrm>
            <a:off x="3070394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183cf81036b_0_393"/>
          <p:cNvSpPr/>
          <p:nvPr/>
        </p:nvSpPr>
        <p:spPr>
          <a:xfrm>
            <a:off x="3743101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07" name="Google Shape;407;g183cf81036b_0_393"/>
          <p:cNvSpPr/>
          <p:nvPr/>
        </p:nvSpPr>
        <p:spPr>
          <a:xfrm>
            <a:off x="4415809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08" name="Google Shape;408;g183cf81036b_0_393"/>
          <p:cNvSpPr/>
          <p:nvPr/>
        </p:nvSpPr>
        <p:spPr>
          <a:xfrm>
            <a:off x="5104618" y="10480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09" name="Google Shape;409;g183cf81036b_0_393"/>
          <p:cNvSpPr/>
          <p:nvPr/>
        </p:nvSpPr>
        <p:spPr>
          <a:xfrm>
            <a:off x="5797534" y="10480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83cf81036b_0_442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415" name="Google Shape;415;g183cf81036b_0_442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416" name="Google Shape;416;g183cf81036b_0_442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417" name="Google Shape;417;g183cf81036b_0_442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418" name="Google Shape;418;g183cf81036b_0_442"/>
          <p:cNvGraphicFramePr/>
          <p:nvPr/>
        </p:nvGraphicFramePr>
        <p:xfrm>
          <a:off x="2928909" y="4412606"/>
          <a:ext cx="3258132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57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книги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утром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" name="Google Shape;419;g183cf81036b_0_442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0" name="Google Shape;420;g183cf81036b_0_442"/>
          <p:cNvCxnSpPr>
            <a:stCxn id="415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1" name="Google Shape;421;g183cf81036b_0_442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2" name="Google Shape;422;g183cf81036b_0_442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3" name="Google Shape;423;g183cf81036b_0_442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424" name="Google Shape;424;g183cf81036b_0_442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5" name="Google Shape;425;g183cf81036b_0_442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6" name="Google Shape;426;g183cf81036b_0_442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7" name="Google Shape;427;g183cf81036b_0_442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8" name="Google Shape;428;g183cf81036b_0_442"/>
          <p:cNvCxnSpPr/>
          <p:nvPr/>
        </p:nvCxnSpPr>
        <p:spPr>
          <a:xfrm rot="10800000">
            <a:off x="4597257" y="212956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9" name="Google Shape;429;g183cf81036b_0_442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g183cf81036b_0_442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31" name="Google Shape;431;g183cf81036b_0_442"/>
          <p:cNvSpPr/>
          <p:nvPr/>
        </p:nvSpPr>
        <p:spPr>
          <a:xfrm>
            <a:off x="4413090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32" name="Google Shape;432;g183cf81036b_0_442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33" name="Google Shape;433;g183cf81036b_0_442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434" name="Google Shape;434;g183cf81036b_0_442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5" name="Google Shape;435;g183cf81036b_0_442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g183cf81036b_0_442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g183cf81036b_0_442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g183cf81036b_0_442"/>
          <p:cNvSpPr/>
          <p:nvPr/>
        </p:nvSpPr>
        <p:spPr>
          <a:xfrm>
            <a:off x="5161780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439" name="Google Shape;439;g183cf81036b_0_442"/>
          <p:cNvCxnSpPr/>
          <p:nvPr/>
        </p:nvCxnSpPr>
        <p:spPr>
          <a:xfrm rot="10800000">
            <a:off x="5285634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0" name="Google Shape;440;g183cf81036b_0_442"/>
          <p:cNvCxnSpPr/>
          <p:nvPr/>
        </p:nvCxnSpPr>
        <p:spPr>
          <a:xfrm>
            <a:off x="4761222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1" name="Google Shape;441;g183cf81036b_0_442"/>
          <p:cNvCxnSpPr/>
          <p:nvPr/>
        </p:nvCxnSpPr>
        <p:spPr>
          <a:xfrm rot="10800000">
            <a:off x="5286067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2" name="Google Shape;442;g183cf81036b_0_442"/>
          <p:cNvSpPr/>
          <p:nvPr/>
        </p:nvSpPr>
        <p:spPr>
          <a:xfrm>
            <a:off x="5101900" y="1728357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43" name="Google Shape;443;g183cf81036b_0_442"/>
          <p:cNvSpPr/>
          <p:nvPr/>
        </p:nvSpPr>
        <p:spPr>
          <a:xfrm>
            <a:off x="5101900" y="2381571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44" name="Google Shape;444;g183cf81036b_0_442"/>
          <p:cNvSpPr/>
          <p:nvPr/>
        </p:nvSpPr>
        <p:spPr>
          <a:xfrm>
            <a:off x="5854696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445" name="Google Shape;445;g183cf81036b_0_442"/>
          <p:cNvCxnSpPr/>
          <p:nvPr/>
        </p:nvCxnSpPr>
        <p:spPr>
          <a:xfrm rot="10800000">
            <a:off x="5978550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6" name="Google Shape;446;g183cf81036b_0_442"/>
          <p:cNvCxnSpPr/>
          <p:nvPr/>
        </p:nvCxnSpPr>
        <p:spPr>
          <a:xfrm>
            <a:off x="5454137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7" name="Google Shape;447;g183cf81036b_0_442"/>
          <p:cNvCxnSpPr/>
          <p:nvPr/>
        </p:nvCxnSpPr>
        <p:spPr>
          <a:xfrm rot="10800000">
            <a:off x="5978982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8" name="Google Shape;448;g183cf81036b_0_442"/>
          <p:cNvSpPr/>
          <p:nvPr/>
        </p:nvSpPr>
        <p:spPr>
          <a:xfrm>
            <a:off x="5794815" y="1728357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49" name="Google Shape;449;g183cf81036b_0_442"/>
          <p:cNvSpPr/>
          <p:nvPr/>
        </p:nvSpPr>
        <p:spPr>
          <a:xfrm>
            <a:off x="5794816" y="2381571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450" name="Google Shape;450;g183cf81036b_0_442"/>
          <p:cNvCxnSpPr/>
          <p:nvPr/>
        </p:nvCxnSpPr>
        <p:spPr>
          <a:xfrm rot="10800000">
            <a:off x="3246848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1" name="Google Shape;451;g183cf81036b_0_442"/>
          <p:cNvCxnSpPr/>
          <p:nvPr/>
        </p:nvCxnSpPr>
        <p:spPr>
          <a:xfrm rot="10800000">
            <a:off x="3920052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2" name="Google Shape;452;g183cf81036b_0_442"/>
          <p:cNvCxnSpPr/>
          <p:nvPr/>
        </p:nvCxnSpPr>
        <p:spPr>
          <a:xfrm rot="10800000">
            <a:off x="4600670" y="1478841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3" name="Google Shape;453;g183cf81036b_0_442"/>
          <p:cNvCxnSpPr/>
          <p:nvPr/>
        </p:nvCxnSpPr>
        <p:spPr>
          <a:xfrm rot="10800000">
            <a:off x="5289479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4" name="Google Shape;454;g183cf81036b_0_442"/>
          <p:cNvCxnSpPr/>
          <p:nvPr/>
        </p:nvCxnSpPr>
        <p:spPr>
          <a:xfrm rot="10800000">
            <a:off x="5982395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5" name="Google Shape;455;g183cf81036b_0_442"/>
          <p:cNvCxnSpPr/>
          <p:nvPr/>
        </p:nvCxnSpPr>
        <p:spPr>
          <a:xfrm rot="10800000">
            <a:off x="3234806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6" name="Google Shape;456;g183cf81036b_0_442"/>
          <p:cNvCxnSpPr/>
          <p:nvPr/>
        </p:nvCxnSpPr>
        <p:spPr>
          <a:xfrm rot="10800000">
            <a:off x="3908010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7" name="Google Shape;457;g183cf81036b_0_442"/>
          <p:cNvCxnSpPr/>
          <p:nvPr/>
        </p:nvCxnSpPr>
        <p:spPr>
          <a:xfrm rot="10800000">
            <a:off x="4588628" y="793313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8" name="Google Shape;458;g183cf81036b_0_442"/>
          <p:cNvCxnSpPr/>
          <p:nvPr/>
        </p:nvCxnSpPr>
        <p:spPr>
          <a:xfrm rot="10800000">
            <a:off x="5277437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9" name="Google Shape;459;g183cf81036b_0_442"/>
          <p:cNvCxnSpPr/>
          <p:nvPr/>
        </p:nvCxnSpPr>
        <p:spPr>
          <a:xfrm rot="10800000">
            <a:off x="5970353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0" name="Google Shape;460;g183cf81036b_0_442"/>
          <p:cNvSpPr/>
          <p:nvPr/>
        </p:nvSpPr>
        <p:spPr>
          <a:xfrm>
            <a:off x="3049441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183cf81036b_0_442"/>
          <p:cNvSpPr/>
          <p:nvPr/>
        </p:nvSpPr>
        <p:spPr>
          <a:xfrm>
            <a:off x="3722148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62" name="Google Shape;462;g183cf81036b_0_442"/>
          <p:cNvSpPr/>
          <p:nvPr/>
        </p:nvSpPr>
        <p:spPr>
          <a:xfrm>
            <a:off x="4394856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63" name="Google Shape;463;g183cf81036b_0_442"/>
          <p:cNvSpPr/>
          <p:nvPr/>
        </p:nvSpPr>
        <p:spPr>
          <a:xfrm>
            <a:off x="5083665" y="36773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64" name="Google Shape;464;g183cf81036b_0_442"/>
          <p:cNvSpPr/>
          <p:nvPr/>
        </p:nvSpPr>
        <p:spPr>
          <a:xfrm>
            <a:off x="5776581" y="36773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65" name="Google Shape;465;g183cf81036b_0_442"/>
          <p:cNvSpPr/>
          <p:nvPr/>
        </p:nvSpPr>
        <p:spPr>
          <a:xfrm>
            <a:off x="3070394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g183cf81036b_0_442"/>
          <p:cNvSpPr/>
          <p:nvPr/>
        </p:nvSpPr>
        <p:spPr>
          <a:xfrm>
            <a:off x="3743101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67" name="Google Shape;467;g183cf81036b_0_442"/>
          <p:cNvSpPr/>
          <p:nvPr/>
        </p:nvSpPr>
        <p:spPr>
          <a:xfrm>
            <a:off x="4415809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68" name="Google Shape;468;g183cf81036b_0_442"/>
          <p:cNvSpPr/>
          <p:nvPr/>
        </p:nvSpPr>
        <p:spPr>
          <a:xfrm>
            <a:off x="5104618" y="10480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69" name="Google Shape;469;g183cf81036b_0_442"/>
          <p:cNvSpPr/>
          <p:nvPr/>
        </p:nvSpPr>
        <p:spPr>
          <a:xfrm>
            <a:off x="5797534" y="10480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83cf81036b_0_491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475" name="Google Shape;475;g183cf81036b_0_491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476" name="Google Shape;476;g183cf81036b_0_491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477" name="Google Shape;477;g183cf81036b_0_491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478" name="Google Shape;478;g183cf81036b_0_491"/>
          <p:cNvGraphicFramePr/>
          <p:nvPr/>
        </p:nvGraphicFramePr>
        <p:xfrm>
          <a:off x="2928909" y="4412606"/>
          <a:ext cx="3258132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57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книги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утром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9" name="Google Shape;479;g183cf81036b_0_491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0" name="Google Shape;480;g183cf81036b_0_491"/>
          <p:cNvCxnSpPr>
            <a:stCxn id="475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1" name="Google Shape;481;g183cf81036b_0_491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2" name="Google Shape;482;g183cf81036b_0_491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3" name="Google Shape;483;g183cf81036b_0_491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484" name="Google Shape;484;g183cf81036b_0_491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5" name="Google Shape;485;g183cf81036b_0_491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6" name="Google Shape;486;g183cf81036b_0_491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7" name="Google Shape;487;g183cf81036b_0_491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8" name="Google Shape;488;g183cf81036b_0_491"/>
          <p:cNvCxnSpPr/>
          <p:nvPr/>
        </p:nvCxnSpPr>
        <p:spPr>
          <a:xfrm rot="10800000">
            <a:off x="4597257" y="212956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9" name="Google Shape;489;g183cf81036b_0_491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g183cf81036b_0_491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91" name="Google Shape;491;g183cf81036b_0_491"/>
          <p:cNvSpPr/>
          <p:nvPr/>
        </p:nvSpPr>
        <p:spPr>
          <a:xfrm>
            <a:off x="4413090" y="1728132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92" name="Google Shape;492;g183cf81036b_0_491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493" name="Google Shape;493;g183cf81036b_0_491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494" name="Google Shape;494;g183cf81036b_0_491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5" name="Google Shape;495;g183cf81036b_0_491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g183cf81036b_0_491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g183cf81036b_0_491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g183cf81036b_0_491"/>
          <p:cNvSpPr/>
          <p:nvPr/>
        </p:nvSpPr>
        <p:spPr>
          <a:xfrm>
            <a:off x="5161780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499" name="Google Shape;499;g183cf81036b_0_491"/>
          <p:cNvCxnSpPr/>
          <p:nvPr/>
        </p:nvCxnSpPr>
        <p:spPr>
          <a:xfrm rot="10800000">
            <a:off x="5285634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0" name="Google Shape;500;g183cf81036b_0_491"/>
          <p:cNvCxnSpPr/>
          <p:nvPr/>
        </p:nvCxnSpPr>
        <p:spPr>
          <a:xfrm>
            <a:off x="4761222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1" name="Google Shape;501;g183cf81036b_0_491"/>
          <p:cNvCxnSpPr/>
          <p:nvPr/>
        </p:nvCxnSpPr>
        <p:spPr>
          <a:xfrm rot="10800000">
            <a:off x="5286067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2" name="Google Shape;502;g183cf81036b_0_491"/>
          <p:cNvSpPr/>
          <p:nvPr/>
        </p:nvSpPr>
        <p:spPr>
          <a:xfrm>
            <a:off x="5101900" y="1728357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03" name="Google Shape;503;g183cf81036b_0_491"/>
          <p:cNvSpPr/>
          <p:nvPr/>
        </p:nvSpPr>
        <p:spPr>
          <a:xfrm>
            <a:off x="5101900" y="238157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04" name="Google Shape;504;g183cf81036b_0_491"/>
          <p:cNvSpPr/>
          <p:nvPr/>
        </p:nvSpPr>
        <p:spPr>
          <a:xfrm>
            <a:off x="5854696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505" name="Google Shape;505;g183cf81036b_0_491"/>
          <p:cNvCxnSpPr/>
          <p:nvPr/>
        </p:nvCxnSpPr>
        <p:spPr>
          <a:xfrm rot="10800000">
            <a:off x="5978550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6" name="Google Shape;506;g183cf81036b_0_491"/>
          <p:cNvCxnSpPr/>
          <p:nvPr/>
        </p:nvCxnSpPr>
        <p:spPr>
          <a:xfrm>
            <a:off x="5454137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7" name="Google Shape;507;g183cf81036b_0_491"/>
          <p:cNvCxnSpPr/>
          <p:nvPr/>
        </p:nvCxnSpPr>
        <p:spPr>
          <a:xfrm rot="10800000">
            <a:off x="5978982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8" name="Google Shape;508;g183cf81036b_0_491"/>
          <p:cNvSpPr/>
          <p:nvPr/>
        </p:nvSpPr>
        <p:spPr>
          <a:xfrm>
            <a:off x="5794815" y="1728357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09" name="Google Shape;509;g183cf81036b_0_491"/>
          <p:cNvSpPr/>
          <p:nvPr/>
        </p:nvSpPr>
        <p:spPr>
          <a:xfrm>
            <a:off x="5794816" y="238157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510" name="Google Shape;510;g183cf81036b_0_491"/>
          <p:cNvCxnSpPr/>
          <p:nvPr/>
        </p:nvCxnSpPr>
        <p:spPr>
          <a:xfrm rot="10800000">
            <a:off x="3246848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1" name="Google Shape;511;g183cf81036b_0_491"/>
          <p:cNvCxnSpPr/>
          <p:nvPr/>
        </p:nvCxnSpPr>
        <p:spPr>
          <a:xfrm rot="10800000">
            <a:off x="3920052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2" name="Google Shape;512;g183cf81036b_0_491"/>
          <p:cNvCxnSpPr/>
          <p:nvPr/>
        </p:nvCxnSpPr>
        <p:spPr>
          <a:xfrm rot="10800000">
            <a:off x="4600670" y="1478841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3" name="Google Shape;513;g183cf81036b_0_491"/>
          <p:cNvCxnSpPr/>
          <p:nvPr/>
        </p:nvCxnSpPr>
        <p:spPr>
          <a:xfrm rot="10800000">
            <a:off x="5289479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4" name="Google Shape;514;g183cf81036b_0_491"/>
          <p:cNvCxnSpPr/>
          <p:nvPr/>
        </p:nvCxnSpPr>
        <p:spPr>
          <a:xfrm rot="10800000">
            <a:off x="5982395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5" name="Google Shape;515;g183cf81036b_0_491"/>
          <p:cNvCxnSpPr/>
          <p:nvPr/>
        </p:nvCxnSpPr>
        <p:spPr>
          <a:xfrm rot="10800000">
            <a:off x="3234806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6" name="Google Shape;516;g183cf81036b_0_491"/>
          <p:cNvCxnSpPr/>
          <p:nvPr/>
        </p:nvCxnSpPr>
        <p:spPr>
          <a:xfrm rot="10800000">
            <a:off x="3908010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7" name="Google Shape;517;g183cf81036b_0_491"/>
          <p:cNvCxnSpPr/>
          <p:nvPr/>
        </p:nvCxnSpPr>
        <p:spPr>
          <a:xfrm rot="10800000">
            <a:off x="4588628" y="793313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8" name="Google Shape;518;g183cf81036b_0_491"/>
          <p:cNvCxnSpPr/>
          <p:nvPr/>
        </p:nvCxnSpPr>
        <p:spPr>
          <a:xfrm rot="10800000">
            <a:off x="5277437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9" name="Google Shape;519;g183cf81036b_0_491"/>
          <p:cNvCxnSpPr/>
          <p:nvPr/>
        </p:nvCxnSpPr>
        <p:spPr>
          <a:xfrm rot="10800000">
            <a:off x="5970353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0" name="Google Shape;520;g183cf81036b_0_491"/>
          <p:cNvSpPr/>
          <p:nvPr/>
        </p:nvSpPr>
        <p:spPr>
          <a:xfrm>
            <a:off x="3049441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g183cf81036b_0_491"/>
          <p:cNvSpPr/>
          <p:nvPr/>
        </p:nvSpPr>
        <p:spPr>
          <a:xfrm>
            <a:off x="3722148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22" name="Google Shape;522;g183cf81036b_0_491"/>
          <p:cNvSpPr/>
          <p:nvPr/>
        </p:nvSpPr>
        <p:spPr>
          <a:xfrm>
            <a:off x="4394856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23" name="Google Shape;523;g183cf81036b_0_491"/>
          <p:cNvSpPr/>
          <p:nvPr/>
        </p:nvSpPr>
        <p:spPr>
          <a:xfrm>
            <a:off x="5083665" y="36773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24" name="Google Shape;524;g183cf81036b_0_491"/>
          <p:cNvSpPr/>
          <p:nvPr/>
        </p:nvSpPr>
        <p:spPr>
          <a:xfrm>
            <a:off x="5776581" y="36773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25" name="Google Shape;525;g183cf81036b_0_491"/>
          <p:cNvSpPr/>
          <p:nvPr/>
        </p:nvSpPr>
        <p:spPr>
          <a:xfrm>
            <a:off x="3070394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g183cf81036b_0_491"/>
          <p:cNvSpPr/>
          <p:nvPr/>
        </p:nvSpPr>
        <p:spPr>
          <a:xfrm>
            <a:off x="3743101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27" name="Google Shape;527;g183cf81036b_0_491"/>
          <p:cNvSpPr/>
          <p:nvPr/>
        </p:nvSpPr>
        <p:spPr>
          <a:xfrm>
            <a:off x="4415809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28" name="Google Shape;528;g183cf81036b_0_491"/>
          <p:cNvSpPr/>
          <p:nvPr/>
        </p:nvSpPr>
        <p:spPr>
          <a:xfrm>
            <a:off x="5104618" y="10480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29" name="Google Shape;529;g183cf81036b_0_491"/>
          <p:cNvSpPr/>
          <p:nvPr/>
        </p:nvSpPr>
        <p:spPr>
          <a:xfrm>
            <a:off x="5797534" y="10480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83cf81036b_0_540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535" name="Google Shape;535;g183cf81036b_0_540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536" name="Google Shape;536;g183cf81036b_0_540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537" name="Google Shape;537;g183cf81036b_0_540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538" name="Google Shape;538;g183cf81036b_0_540"/>
          <p:cNvGraphicFramePr/>
          <p:nvPr/>
        </p:nvGraphicFramePr>
        <p:xfrm>
          <a:off x="2928909" y="4412606"/>
          <a:ext cx="3258132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57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книги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утром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9" name="Google Shape;539;g183cf81036b_0_540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0" name="Google Shape;540;g183cf81036b_0_540"/>
          <p:cNvCxnSpPr>
            <a:stCxn id="535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1" name="Google Shape;541;g183cf81036b_0_540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2" name="Google Shape;542;g183cf81036b_0_540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3" name="Google Shape;543;g183cf81036b_0_540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544" name="Google Shape;544;g183cf81036b_0_540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5" name="Google Shape;545;g183cf81036b_0_540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6" name="Google Shape;546;g183cf81036b_0_540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7" name="Google Shape;547;g183cf81036b_0_540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8" name="Google Shape;548;g183cf81036b_0_540"/>
          <p:cNvCxnSpPr/>
          <p:nvPr/>
        </p:nvCxnSpPr>
        <p:spPr>
          <a:xfrm rot="10800000">
            <a:off x="4597257" y="212956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9" name="Google Shape;549;g183cf81036b_0_540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g183cf81036b_0_540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51" name="Google Shape;551;g183cf81036b_0_540"/>
          <p:cNvSpPr/>
          <p:nvPr/>
        </p:nvSpPr>
        <p:spPr>
          <a:xfrm>
            <a:off x="4413090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52" name="Google Shape;552;g183cf81036b_0_540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53" name="Google Shape;553;g183cf81036b_0_540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554" name="Google Shape;554;g183cf81036b_0_540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5" name="Google Shape;555;g183cf81036b_0_540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g183cf81036b_0_540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g183cf81036b_0_540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g183cf81036b_0_540"/>
          <p:cNvSpPr/>
          <p:nvPr/>
        </p:nvSpPr>
        <p:spPr>
          <a:xfrm>
            <a:off x="5161780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559" name="Google Shape;559;g183cf81036b_0_540"/>
          <p:cNvCxnSpPr/>
          <p:nvPr/>
        </p:nvCxnSpPr>
        <p:spPr>
          <a:xfrm rot="10800000">
            <a:off x="5285634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0" name="Google Shape;560;g183cf81036b_0_540"/>
          <p:cNvCxnSpPr/>
          <p:nvPr/>
        </p:nvCxnSpPr>
        <p:spPr>
          <a:xfrm>
            <a:off x="4761222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1" name="Google Shape;561;g183cf81036b_0_540"/>
          <p:cNvCxnSpPr/>
          <p:nvPr/>
        </p:nvCxnSpPr>
        <p:spPr>
          <a:xfrm rot="10800000">
            <a:off x="5286067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2" name="Google Shape;562;g183cf81036b_0_540"/>
          <p:cNvSpPr/>
          <p:nvPr/>
        </p:nvSpPr>
        <p:spPr>
          <a:xfrm>
            <a:off x="5101900" y="1728357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63" name="Google Shape;563;g183cf81036b_0_540"/>
          <p:cNvSpPr/>
          <p:nvPr/>
        </p:nvSpPr>
        <p:spPr>
          <a:xfrm>
            <a:off x="5101900" y="238157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64" name="Google Shape;564;g183cf81036b_0_540"/>
          <p:cNvSpPr/>
          <p:nvPr/>
        </p:nvSpPr>
        <p:spPr>
          <a:xfrm>
            <a:off x="5854696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565" name="Google Shape;565;g183cf81036b_0_540"/>
          <p:cNvCxnSpPr/>
          <p:nvPr/>
        </p:nvCxnSpPr>
        <p:spPr>
          <a:xfrm rot="10800000">
            <a:off x="5978550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6" name="Google Shape;566;g183cf81036b_0_540"/>
          <p:cNvCxnSpPr/>
          <p:nvPr/>
        </p:nvCxnSpPr>
        <p:spPr>
          <a:xfrm>
            <a:off x="5454137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7" name="Google Shape;567;g183cf81036b_0_540"/>
          <p:cNvCxnSpPr/>
          <p:nvPr/>
        </p:nvCxnSpPr>
        <p:spPr>
          <a:xfrm rot="10800000">
            <a:off x="5978982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8" name="Google Shape;568;g183cf81036b_0_540"/>
          <p:cNvSpPr/>
          <p:nvPr/>
        </p:nvSpPr>
        <p:spPr>
          <a:xfrm>
            <a:off x="5794815" y="1728357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69" name="Google Shape;569;g183cf81036b_0_540"/>
          <p:cNvSpPr/>
          <p:nvPr/>
        </p:nvSpPr>
        <p:spPr>
          <a:xfrm>
            <a:off x="5794816" y="238157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570" name="Google Shape;570;g183cf81036b_0_540"/>
          <p:cNvCxnSpPr/>
          <p:nvPr/>
        </p:nvCxnSpPr>
        <p:spPr>
          <a:xfrm rot="10800000">
            <a:off x="3246848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1" name="Google Shape;571;g183cf81036b_0_540"/>
          <p:cNvCxnSpPr/>
          <p:nvPr/>
        </p:nvCxnSpPr>
        <p:spPr>
          <a:xfrm rot="10800000">
            <a:off x="3920052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2" name="Google Shape;572;g183cf81036b_0_540"/>
          <p:cNvCxnSpPr/>
          <p:nvPr/>
        </p:nvCxnSpPr>
        <p:spPr>
          <a:xfrm rot="10800000">
            <a:off x="4600670" y="1478841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3" name="Google Shape;573;g183cf81036b_0_540"/>
          <p:cNvCxnSpPr/>
          <p:nvPr/>
        </p:nvCxnSpPr>
        <p:spPr>
          <a:xfrm rot="10800000">
            <a:off x="5289479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4" name="Google Shape;574;g183cf81036b_0_540"/>
          <p:cNvCxnSpPr/>
          <p:nvPr/>
        </p:nvCxnSpPr>
        <p:spPr>
          <a:xfrm rot="10800000">
            <a:off x="5982395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5" name="Google Shape;575;g183cf81036b_0_540"/>
          <p:cNvSpPr/>
          <p:nvPr/>
        </p:nvSpPr>
        <p:spPr>
          <a:xfrm>
            <a:off x="3061483" y="1053039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g183cf81036b_0_540"/>
          <p:cNvSpPr/>
          <p:nvPr/>
        </p:nvSpPr>
        <p:spPr>
          <a:xfrm>
            <a:off x="3734191" y="1053039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77" name="Google Shape;577;g183cf81036b_0_540"/>
          <p:cNvSpPr/>
          <p:nvPr/>
        </p:nvSpPr>
        <p:spPr>
          <a:xfrm>
            <a:off x="4406898" y="1053039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78" name="Google Shape;578;g183cf81036b_0_540"/>
          <p:cNvSpPr/>
          <p:nvPr/>
        </p:nvSpPr>
        <p:spPr>
          <a:xfrm>
            <a:off x="5095708" y="1053264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79" name="Google Shape;579;g183cf81036b_0_540"/>
          <p:cNvSpPr/>
          <p:nvPr/>
        </p:nvSpPr>
        <p:spPr>
          <a:xfrm>
            <a:off x="5788623" y="1053264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580" name="Google Shape;580;g183cf81036b_0_540"/>
          <p:cNvCxnSpPr/>
          <p:nvPr/>
        </p:nvCxnSpPr>
        <p:spPr>
          <a:xfrm rot="10800000">
            <a:off x="3234806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1" name="Google Shape;581;g183cf81036b_0_540"/>
          <p:cNvCxnSpPr/>
          <p:nvPr/>
        </p:nvCxnSpPr>
        <p:spPr>
          <a:xfrm rot="10800000">
            <a:off x="3908010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2" name="Google Shape;582;g183cf81036b_0_540"/>
          <p:cNvCxnSpPr/>
          <p:nvPr/>
        </p:nvCxnSpPr>
        <p:spPr>
          <a:xfrm rot="10800000">
            <a:off x="4588628" y="793313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3" name="Google Shape;583;g183cf81036b_0_540"/>
          <p:cNvCxnSpPr/>
          <p:nvPr/>
        </p:nvCxnSpPr>
        <p:spPr>
          <a:xfrm rot="10800000">
            <a:off x="5277437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4" name="Google Shape;584;g183cf81036b_0_540"/>
          <p:cNvCxnSpPr/>
          <p:nvPr/>
        </p:nvCxnSpPr>
        <p:spPr>
          <a:xfrm rot="10800000">
            <a:off x="5970353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5" name="Google Shape;585;g183cf81036b_0_540"/>
          <p:cNvSpPr/>
          <p:nvPr/>
        </p:nvSpPr>
        <p:spPr>
          <a:xfrm>
            <a:off x="3049441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g183cf81036b_0_540"/>
          <p:cNvSpPr/>
          <p:nvPr/>
        </p:nvSpPr>
        <p:spPr>
          <a:xfrm>
            <a:off x="3722148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87" name="Google Shape;587;g183cf81036b_0_540"/>
          <p:cNvSpPr/>
          <p:nvPr/>
        </p:nvSpPr>
        <p:spPr>
          <a:xfrm>
            <a:off x="4394856" y="36751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88" name="Google Shape;588;g183cf81036b_0_540"/>
          <p:cNvSpPr/>
          <p:nvPr/>
        </p:nvSpPr>
        <p:spPr>
          <a:xfrm>
            <a:off x="5083665" y="36773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89" name="Google Shape;589;g183cf81036b_0_540"/>
          <p:cNvSpPr/>
          <p:nvPr/>
        </p:nvSpPr>
        <p:spPr>
          <a:xfrm>
            <a:off x="5776581" y="36773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90" name="Google Shape;590;g183cf81036b_0_540"/>
          <p:cNvSpPr/>
          <p:nvPr/>
        </p:nvSpPr>
        <p:spPr>
          <a:xfrm>
            <a:off x="3070394" y="1047821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1" name="Google Shape;591;g183cf81036b_0_540"/>
          <p:cNvSpPr/>
          <p:nvPr/>
        </p:nvSpPr>
        <p:spPr>
          <a:xfrm>
            <a:off x="3743101" y="1047821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92" name="Google Shape;592;g183cf81036b_0_540"/>
          <p:cNvSpPr/>
          <p:nvPr/>
        </p:nvSpPr>
        <p:spPr>
          <a:xfrm>
            <a:off x="4415809" y="1047821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93" name="Google Shape;593;g183cf81036b_0_540"/>
          <p:cNvSpPr/>
          <p:nvPr/>
        </p:nvSpPr>
        <p:spPr>
          <a:xfrm>
            <a:off x="5104618" y="1048046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594" name="Google Shape;594;g183cf81036b_0_540"/>
          <p:cNvSpPr/>
          <p:nvPr/>
        </p:nvSpPr>
        <p:spPr>
          <a:xfrm>
            <a:off x="5797534" y="1048046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83cf81036b_0_654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Пример</a:t>
            </a:r>
            <a:endParaRPr/>
          </a:p>
        </p:txBody>
      </p:sp>
      <p:sp>
        <p:nvSpPr>
          <p:cNvPr id="600" name="Google Shape;600;g183cf81036b_0_654"/>
          <p:cNvSpPr/>
          <p:nvPr/>
        </p:nvSpPr>
        <p:spPr>
          <a:xfrm>
            <a:off x="3127545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601" name="Google Shape;601;g183cf81036b_0_654"/>
          <p:cNvSpPr/>
          <p:nvPr/>
        </p:nvSpPr>
        <p:spPr>
          <a:xfrm>
            <a:off x="3800258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sp>
        <p:nvSpPr>
          <p:cNvPr id="602" name="Google Shape;602;g183cf81036b_0_654"/>
          <p:cNvSpPr/>
          <p:nvPr/>
        </p:nvSpPr>
        <p:spPr>
          <a:xfrm>
            <a:off x="4472971" y="3062623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graphicFrame>
        <p:nvGraphicFramePr>
          <p:cNvPr id="603" name="Google Shape;603;g183cf81036b_0_654"/>
          <p:cNvGraphicFramePr/>
          <p:nvPr/>
        </p:nvGraphicFramePr>
        <p:xfrm>
          <a:off x="2928909" y="4412606"/>
          <a:ext cx="3258132" cy="220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57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715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Студенты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открыли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свои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книги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000" u="none" strike="noStrike" cap="none"/>
                        <a:t>утром</a:t>
                      </a:r>
                      <a:endParaRPr sz="1000" u="none" strike="noStrike" cap="none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4" name="Google Shape;604;g183cf81036b_0_654"/>
          <p:cNvSpPr txBox="1"/>
          <p:nvPr/>
        </p:nvSpPr>
        <p:spPr>
          <a:xfrm>
            <a:off x="752841" y="3577491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Эмбеддинги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5" name="Google Shape;605;g183cf81036b_0_654"/>
          <p:cNvCxnSpPr>
            <a:stCxn id="600" idx="0"/>
          </p:cNvCxnSpPr>
          <p:nvPr/>
        </p:nvCxnSpPr>
        <p:spPr>
          <a:xfrm rot="10800000">
            <a:off x="3242689" y="279408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" name="Google Shape;606;g183cf81036b_0_654"/>
          <p:cNvCxnSpPr/>
          <p:nvPr/>
        </p:nvCxnSpPr>
        <p:spPr>
          <a:xfrm rot="10800000">
            <a:off x="3916207" y="2794617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7" name="Google Shape;607;g183cf81036b_0_654"/>
          <p:cNvCxnSpPr/>
          <p:nvPr/>
        </p:nvCxnSpPr>
        <p:spPr>
          <a:xfrm rot="10800000">
            <a:off x="4596825" y="28093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8" name="Google Shape;608;g183cf81036b_0_654"/>
          <p:cNvSpPr/>
          <p:nvPr/>
        </p:nvSpPr>
        <p:spPr>
          <a:xfrm>
            <a:off x="3067675" y="239754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</a:rPr>
              <a:t>f</a:t>
            </a:r>
            <a:endParaRPr sz="1275">
              <a:solidFill>
                <a:srgbClr val="292929"/>
              </a:solidFill>
            </a:endParaRPr>
          </a:p>
        </p:txBody>
      </p:sp>
      <p:cxnSp>
        <p:nvCxnSpPr>
          <p:cNvPr id="609" name="Google Shape;609;g183cf81036b_0_654"/>
          <p:cNvCxnSpPr/>
          <p:nvPr/>
        </p:nvCxnSpPr>
        <p:spPr>
          <a:xfrm>
            <a:off x="4072412" y="2605173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0" name="Google Shape;610;g183cf81036b_0_654"/>
          <p:cNvCxnSpPr/>
          <p:nvPr/>
        </p:nvCxnSpPr>
        <p:spPr>
          <a:xfrm>
            <a:off x="3399489" y="2607344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1" name="Google Shape;611;g183cf81036b_0_654"/>
          <p:cNvCxnSpPr/>
          <p:nvPr/>
        </p:nvCxnSpPr>
        <p:spPr>
          <a:xfrm rot="10800000">
            <a:off x="3243436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2" name="Google Shape;612;g183cf81036b_0_654"/>
          <p:cNvCxnSpPr/>
          <p:nvPr/>
        </p:nvCxnSpPr>
        <p:spPr>
          <a:xfrm rot="10800000">
            <a:off x="3916640" y="2114792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3" name="Google Shape;613;g183cf81036b_0_654"/>
          <p:cNvCxnSpPr/>
          <p:nvPr/>
        </p:nvCxnSpPr>
        <p:spPr>
          <a:xfrm rot="10800000">
            <a:off x="4597257" y="212956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14" name="Google Shape;614;g183cf81036b_0_654"/>
          <p:cNvSpPr/>
          <p:nvPr/>
        </p:nvSpPr>
        <p:spPr>
          <a:xfrm>
            <a:off x="3067675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g183cf81036b_0_654"/>
          <p:cNvSpPr/>
          <p:nvPr/>
        </p:nvSpPr>
        <p:spPr>
          <a:xfrm>
            <a:off x="3740383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16" name="Google Shape;616;g183cf81036b_0_654"/>
          <p:cNvSpPr/>
          <p:nvPr/>
        </p:nvSpPr>
        <p:spPr>
          <a:xfrm>
            <a:off x="4413090" y="1728132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17" name="Google Shape;617;g183cf81036b_0_654"/>
          <p:cNvSpPr/>
          <p:nvPr/>
        </p:nvSpPr>
        <p:spPr>
          <a:xfrm>
            <a:off x="3740376" y="2372890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18" name="Google Shape;618;g183cf81036b_0_654"/>
          <p:cNvSpPr/>
          <p:nvPr/>
        </p:nvSpPr>
        <p:spPr>
          <a:xfrm>
            <a:off x="4413091" y="23813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619" name="Google Shape;619;g183cf81036b_0_654"/>
          <p:cNvCxnSpPr/>
          <p:nvPr/>
        </p:nvCxnSpPr>
        <p:spPr>
          <a:xfrm>
            <a:off x="2711640" y="2582685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0" name="Google Shape;620;g183cf81036b_0_654"/>
          <p:cNvSpPr/>
          <p:nvPr/>
        </p:nvSpPr>
        <p:spPr>
          <a:xfrm>
            <a:off x="2394974" y="2372899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g183cf81036b_0_654"/>
          <p:cNvSpPr txBox="1"/>
          <p:nvPr/>
        </p:nvSpPr>
        <p:spPr>
          <a:xfrm>
            <a:off x="88097" y="1728356"/>
            <a:ext cx="1925663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Скрытые состояния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g183cf81036b_0_654"/>
          <p:cNvSpPr txBox="1"/>
          <p:nvPr/>
        </p:nvSpPr>
        <p:spPr>
          <a:xfrm>
            <a:off x="752841" y="4373288"/>
            <a:ext cx="1261575" cy="29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noAutofit/>
          </a:bodyPr>
          <a:lstStyle/>
          <a:p>
            <a:pPr algn="r">
              <a:buSzPts val="3600"/>
            </a:pPr>
            <a:r>
              <a:rPr lang="en-US" sz="1350">
                <a:latin typeface="Montserrat"/>
                <a:ea typeface="Montserrat"/>
                <a:cs typeface="Montserrat"/>
                <a:sym typeface="Montserrat"/>
              </a:rPr>
              <a:t>Слова</a:t>
            </a:r>
            <a:endParaRPr sz="13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g183cf81036b_0_654"/>
          <p:cNvSpPr/>
          <p:nvPr/>
        </p:nvSpPr>
        <p:spPr>
          <a:xfrm>
            <a:off x="5161780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624" name="Google Shape;624;g183cf81036b_0_654"/>
          <p:cNvCxnSpPr/>
          <p:nvPr/>
        </p:nvCxnSpPr>
        <p:spPr>
          <a:xfrm rot="10800000">
            <a:off x="5285634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5" name="Google Shape;625;g183cf81036b_0_654"/>
          <p:cNvCxnSpPr/>
          <p:nvPr/>
        </p:nvCxnSpPr>
        <p:spPr>
          <a:xfrm>
            <a:off x="4761222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6" name="Google Shape;626;g183cf81036b_0_654"/>
          <p:cNvCxnSpPr/>
          <p:nvPr/>
        </p:nvCxnSpPr>
        <p:spPr>
          <a:xfrm rot="10800000">
            <a:off x="5286067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7" name="Google Shape;627;g183cf81036b_0_654"/>
          <p:cNvSpPr/>
          <p:nvPr/>
        </p:nvSpPr>
        <p:spPr>
          <a:xfrm>
            <a:off x="5101900" y="1728357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28" name="Google Shape;628;g183cf81036b_0_654"/>
          <p:cNvSpPr/>
          <p:nvPr/>
        </p:nvSpPr>
        <p:spPr>
          <a:xfrm>
            <a:off x="5101900" y="238157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29" name="Google Shape;629;g183cf81036b_0_654"/>
          <p:cNvSpPr/>
          <p:nvPr/>
        </p:nvSpPr>
        <p:spPr>
          <a:xfrm>
            <a:off x="5854696" y="3062848"/>
            <a:ext cx="232313" cy="1163138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>
              <a:buSzPts val="1400"/>
            </a:pPr>
            <a:endParaRPr sz="525"/>
          </a:p>
        </p:txBody>
      </p:sp>
      <p:cxnSp>
        <p:nvCxnSpPr>
          <p:cNvPr id="630" name="Google Shape;630;g183cf81036b_0_654"/>
          <p:cNvCxnSpPr/>
          <p:nvPr/>
        </p:nvCxnSpPr>
        <p:spPr>
          <a:xfrm rot="10800000">
            <a:off x="5978550" y="2809610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1" name="Google Shape;631;g183cf81036b_0_654"/>
          <p:cNvCxnSpPr/>
          <p:nvPr/>
        </p:nvCxnSpPr>
        <p:spPr>
          <a:xfrm>
            <a:off x="5454137" y="2605398"/>
            <a:ext cx="360113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2" name="Google Shape;632;g183cf81036b_0_654"/>
          <p:cNvCxnSpPr/>
          <p:nvPr/>
        </p:nvCxnSpPr>
        <p:spPr>
          <a:xfrm rot="10800000">
            <a:off x="5978982" y="2129785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3" name="Google Shape;633;g183cf81036b_0_654"/>
          <p:cNvSpPr/>
          <p:nvPr/>
        </p:nvSpPr>
        <p:spPr>
          <a:xfrm>
            <a:off x="5794815" y="1728357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34" name="Google Shape;634;g183cf81036b_0_654"/>
          <p:cNvSpPr/>
          <p:nvPr/>
        </p:nvSpPr>
        <p:spPr>
          <a:xfrm>
            <a:off x="5794816" y="238157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</a:rPr>
              <a:t>f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635" name="Google Shape;635;g183cf81036b_0_654"/>
          <p:cNvCxnSpPr/>
          <p:nvPr/>
        </p:nvCxnSpPr>
        <p:spPr>
          <a:xfrm rot="10800000">
            <a:off x="3246848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6" name="Google Shape;636;g183cf81036b_0_654"/>
          <p:cNvCxnSpPr/>
          <p:nvPr/>
        </p:nvCxnSpPr>
        <p:spPr>
          <a:xfrm rot="10800000">
            <a:off x="3920052" y="1464073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7" name="Google Shape;637;g183cf81036b_0_654"/>
          <p:cNvCxnSpPr/>
          <p:nvPr/>
        </p:nvCxnSpPr>
        <p:spPr>
          <a:xfrm rot="10800000">
            <a:off x="4600670" y="1478841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8" name="Google Shape;638;g183cf81036b_0_654"/>
          <p:cNvCxnSpPr/>
          <p:nvPr/>
        </p:nvCxnSpPr>
        <p:spPr>
          <a:xfrm rot="10800000">
            <a:off x="5289479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39" name="Google Shape;639;g183cf81036b_0_654"/>
          <p:cNvCxnSpPr/>
          <p:nvPr/>
        </p:nvCxnSpPr>
        <p:spPr>
          <a:xfrm rot="10800000">
            <a:off x="5982395" y="1479066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0" name="Google Shape;640;g183cf81036b_0_654"/>
          <p:cNvSpPr/>
          <p:nvPr/>
        </p:nvSpPr>
        <p:spPr>
          <a:xfrm>
            <a:off x="3061483" y="1053039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g183cf81036b_0_654"/>
          <p:cNvSpPr/>
          <p:nvPr/>
        </p:nvSpPr>
        <p:spPr>
          <a:xfrm>
            <a:off x="3734191" y="1053039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42" name="Google Shape;642;g183cf81036b_0_654"/>
          <p:cNvSpPr/>
          <p:nvPr/>
        </p:nvSpPr>
        <p:spPr>
          <a:xfrm>
            <a:off x="4406898" y="1053039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43" name="Google Shape;643;g183cf81036b_0_654"/>
          <p:cNvSpPr/>
          <p:nvPr/>
        </p:nvSpPr>
        <p:spPr>
          <a:xfrm>
            <a:off x="5095708" y="1053264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44" name="Google Shape;644;g183cf81036b_0_654"/>
          <p:cNvSpPr/>
          <p:nvPr/>
        </p:nvSpPr>
        <p:spPr>
          <a:xfrm>
            <a:off x="5788623" y="1053264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645" name="Google Shape;645;g183cf81036b_0_654"/>
          <p:cNvCxnSpPr/>
          <p:nvPr/>
        </p:nvCxnSpPr>
        <p:spPr>
          <a:xfrm rot="10800000">
            <a:off x="3234806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6" name="Google Shape;646;g183cf81036b_0_654"/>
          <p:cNvCxnSpPr/>
          <p:nvPr/>
        </p:nvCxnSpPr>
        <p:spPr>
          <a:xfrm rot="10800000">
            <a:off x="3908010" y="778545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7" name="Google Shape;647;g183cf81036b_0_654"/>
          <p:cNvCxnSpPr/>
          <p:nvPr/>
        </p:nvCxnSpPr>
        <p:spPr>
          <a:xfrm rot="10800000">
            <a:off x="4588628" y="793313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8" name="Google Shape;648;g183cf81036b_0_654"/>
          <p:cNvCxnSpPr/>
          <p:nvPr/>
        </p:nvCxnSpPr>
        <p:spPr>
          <a:xfrm rot="10800000">
            <a:off x="5277437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9" name="Google Shape;649;g183cf81036b_0_654"/>
          <p:cNvCxnSpPr/>
          <p:nvPr/>
        </p:nvCxnSpPr>
        <p:spPr>
          <a:xfrm rot="10800000">
            <a:off x="5970353" y="793538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0" name="Google Shape;650;g183cf81036b_0_654"/>
          <p:cNvSpPr/>
          <p:nvPr/>
        </p:nvSpPr>
        <p:spPr>
          <a:xfrm>
            <a:off x="3049441" y="367511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g183cf81036b_0_654"/>
          <p:cNvSpPr/>
          <p:nvPr/>
        </p:nvSpPr>
        <p:spPr>
          <a:xfrm>
            <a:off x="3722148" y="367511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52" name="Google Shape;652;g183cf81036b_0_654"/>
          <p:cNvSpPr/>
          <p:nvPr/>
        </p:nvSpPr>
        <p:spPr>
          <a:xfrm>
            <a:off x="4394856" y="367511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53" name="Google Shape;653;g183cf81036b_0_654"/>
          <p:cNvSpPr/>
          <p:nvPr/>
        </p:nvSpPr>
        <p:spPr>
          <a:xfrm>
            <a:off x="5083665" y="367736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54" name="Google Shape;654;g183cf81036b_0_654"/>
          <p:cNvSpPr/>
          <p:nvPr/>
        </p:nvSpPr>
        <p:spPr>
          <a:xfrm>
            <a:off x="5776581" y="367736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55" name="Google Shape;655;g183cf81036b_0_654"/>
          <p:cNvSpPr/>
          <p:nvPr/>
        </p:nvSpPr>
        <p:spPr>
          <a:xfrm>
            <a:off x="3070394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g183cf81036b_0_654"/>
          <p:cNvSpPr/>
          <p:nvPr/>
        </p:nvSpPr>
        <p:spPr>
          <a:xfrm>
            <a:off x="3743101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57" name="Google Shape;657;g183cf81036b_0_654"/>
          <p:cNvSpPr/>
          <p:nvPr/>
        </p:nvSpPr>
        <p:spPr>
          <a:xfrm>
            <a:off x="4415809" y="1047821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58" name="Google Shape;658;g183cf81036b_0_654"/>
          <p:cNvSpPr/>
          <p:nvPr/>
        </p:nvSpPr>
        <p:spPr>
          <a:xfrm>
            <a:off x="5104618" y="10480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59" name="Google Shape;659;g183cf81036b_0_654"/>
          <p:cNvSpPr/>
          <p:nvPr/>
        </p:nvSpPr>
        <p:spPr>
          <a:xfrm>
            <a:off x="5797534" y="1048046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0a1292b4eb_0_112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2827238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7480"/>
            </a:pPr>
            <a:r>
              <a:rPr lang="en-US" sz="2805"/>
              <a:t>Расчет лосса</a:t>
            </a:r>
            <a:endParaRPr/>
          </a:p>
        </p:txBody>
      </p:sp>
      <p:sp>
        <p:nvSpPr>
          <p:cNvPr id="665" name="Google Shape;665;g20a1292b4eb_0_112"/>
          <p:cNvSpPr/>
          <p:nvPr/>
        </p:nvSpPr>
        <p:spPr>
          <a:xfrm>
            <a:off x="2027247" y="3351620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g20a1292b4eb_0_112"/>
          <p:cNvSpPr/>
          <p:nvPr/>
        </p:nvSpPr>
        <p:spPr>
          <a:xfrm>
            <a:off x="2699955" y="3351620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67" name="Google Shape;667;g20a1292b4eb_0_112"/>
          <p:cNvSpPr/>
          <p:nvPr/>
        </p:nvSpPr>
        <p:spPr>
          <a:xfrm>
            <a:off x="3372662" y="3351620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68" name="Google Shape;668;g20a1292b4eb_0_112"/>
          <p:cNvSpPr/>
          <p:nvPr/>
        </p:nvSpPr>
        <p:spPr>
          <a:xfrm>
            <a:off x="4061472" y="3351845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69" name="Google Shape;669;g20a1292b4eb_0_112"/>
          <p:cNvSpPr/>
          <p:nvPr/>
        </p:nvSpPr>
        <p:spPr>
          <a:xfrm>
            <a:off x="4754387" y="3351845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cxnSp>
        <p:nvCxnSpPr>
          <p:cNvPr id="670" name="Google Shape;670;g20a1292b4eb_0_112"/>
          <p:cNvCxnSpPr/>
          <p:nvPr/>
        </p:nvCxnSpPr>
        <p:spPr>
          <a:xfrm rot="10800000">
            <a:off x="2200570" y="307712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1" name="Google Shape;671;g20a1292b4eb_0_112"/>
          <p:cNvCxnSpPr/>
          <p:nvPr/>
        </p:nvCxnSpPr>
        <p:spPr>
          <a:xfrm rot="10800000">
            <a:off x="2873774" y="3077126"/>
            <a:ext cx="1013" cy="2685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2" name="Google Shape;672;g20a1292b4eb_0_112"/>
          <p:cNvCxnSpPr/>
          <p:nvPr/>
        </p:nvCxnSpPr>
        <p:spPr>
          <a:xfrm rot="10800000">
            <a:off x="3554392" y="3091894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3" name="Google Shape;673;g20a1292b4eb_0_112"/>
          <p:cNvCxnSpPr/>
          <p:nvPr/>
        </p:nvCxnSpPr>
        <p:spPr>
          <a:xfrm rot="10800000">
            <a:off x="4243201" y="3092119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74" name="Google Shape;674;g20a1292b4eb_0_112"/>
          <p:cNvCxnSpPr/>
          <p:nvPr/>
        </p:nvCxnSpPr>
        <p:spPr>
          <a:xfrm rot="10800000">
            <a:off x="4936117" y="3092119"/>
            <a:ext cx="1013" cy="243338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75" name="Google Shape;675;g20a1292b4eb_0_112"/>
          <p:cNvSpPr/>
          <p:nvPr/>
        </p:nvSpPr>
        <p:spPr>
          <a:xfrm>
            <a:off x="2015205" y="2666092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g20a1292b4eb_0_112"/>
          <p:cNvSpPr/>
          <p:nvPr/>
        </p:nvSpPr>
        <p:spPr>
          <a:xfrm>
            <a:off x="2687912" y="2666092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77" name="Google Shape;677;g20a1292b4eb_0_112"/>
          <p:cNvSpPr/>
          <p:nvPr/>
        </p:nvSpPr>
        <p:spPr>
          <a:xfrm>
            <a:off x="3360620" y="2666092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78" name="Google Shape;678;g20a1292b4eb_0_112"/>
          <p:cNvSpPr/>
          <p:nvPr/>
        </p:nvSpPr>
        <p:spPr>
          <a:xfrm>
            <a:off x="4049429" y="2666317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79" name="Google Shape;679;g20a1292b4eb_0_112"/>
          <p:cNvSpPr/>
          <p:nvPr/>
        </p:nvSpPr>
        <p:spPr>
          <a:xfrm>
            <a:off x="4742345" y="2666317"/>
            <a:ext cx="352238" cy="419625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80" name="Google Shape;680;g20a1292b4eb_0_112"/>
          <p:cNvSpPr/>
          <p:nvPr/>
        </p:nvSpPr>
        <p:spPr>
          <a:xfrm>
            <a:off x="2036158" y="3346403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400"/>
            </a:pPr>
            <a:r>
              <a:rPr lang="en-US" sz="1275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275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75" baseline="-25000">
              <a:solidFill>
                <a:srgbClr val="2929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g20a1292b4eb_0_112"/>
          <p:cNvSpPr/>
          <p:nvPr/>
        </p:nvSpPr>
        <p:spPr>
          <a:xfrm>
            <a:off x="2708865" y="3346403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82" name="Google Shape;682;g20a1292b4eb_0_112"/>
          <p:cNvSpPr/>
          <p:nvPr/>
        </p:nvSpPr>
        <p:spPr>
          <a:xfrm>
            <a:off x="3381573" y="3346403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83" name="Google Shape;683;g20a1292b4eb_0_112"/>
          <p:cNvSpPr/>
          <p:nvPr/>
        </p:nvSpPr>
        <p:spPr>
          <a:xfrm>
            <a:off x="4070383" y="334662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50">
              <a:solidFill>
                <a:srgbClr val="292929"/>
              </a:solidFill>
            </a:endParaRPr>
          </a:p>
        </p:txBody>
      </p:sp>
      <p:sp>
        <p:nvSpPr>
          <p:cNvPr id="684" name="Google Shape;684;g20a1292b4eb_0_112"/>
          <p:cNvSpPr/>
          <p:nvPr/>
        </p:nvSpPr>
        <p:spPr>
          <a:xfrm>
            <a:off x="4763298" y="3346628"/>
            <a:ext cx="352238" cy="4196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>
              <a:buSzPts val="3600"/>
            </a:pPr>
            <a:r>
              <a:rPr lang="en-US" sz="135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1350" baseline="-25000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50">
              <a:solidFill>
                <a:srgbClr val="292929"/>
              </a:solidFill>
            </a:endParaRPr>
          </a:p>
        </p:txBody>
      </p:sp>
      <p:pic>
        <p:nvPicPr>
          <p:cNvPr id="685" name="Google Shape;685;g20a1292b4eb_0_112"/>
          <p:cNvPicPr preferRelativeResize="0"/>
          <p:nvPr/>
        </p:nvPicPr>
        <p:blipFill rotWithShape="1">
          <a:blip r:embed="rId3">
            <a:alphaModFix/>
          </a:blip>
          <a:srcRect l="12625"/>
          <a:stretch/>
        </p:blipFill>
        <p:spPr>
          <a:xfrm>
            <a:off x="5329974" y="2457755"/>
            <a:ext cx="3196199" cy="831797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g20a1292b4eb_0_112"/>
          <p:cNvSpPr txBox="1"/>
          <p:nvPr/>
        </p:nvSpPr>
        <p:spPr>
          <a:xfrm>
            <a:off x="2448422" y="2737360"/>
            <a:ext cx="158513" cy="27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1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7" name="Google Shape;687;g20a1292b4eb_0_112"/>
          <p:cNvSpPr txBox="1"/>
          <p:nvPr/>
        </p:nvSpPr>
        <p:spPr>
          <a:xfrm>
            <a:off x="3121125" y="2737585"/>
            <a:ext cx="158513" cy="27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1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8" name="Google Shape;688;g20a1292b4eb_0_112"/>
          <p:cNvSpPr txBox="1"/>
          <p:nvPr/>
        </p:nvSpPr>
        <p:spPr>
          <a:xfrm>
            <a:off x="3801886" y="2737360"/>
            <a:ext cx="158513" cy="27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1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9" name="Google Shape;689;g20a1292b4eb_0_112"/>
          <p:cNvSpPr txBox="1"/>
          <p:nvPr/>
        </p:nvSpPr>
        <p:spPr>
          <a:xfrm>
            <a:off x="4492748" y="2737360"/>
            <a:ext cx="158513" cy="27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1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90" name="Google Shape;690;g20a1292b4eb_0_112"/>
          <p:cNvPicPr preferRelativeResize="0"/>
          <p:nvPr/>
        </p:nvPicPr>
        <p:blipFill rotWithShape="1">
          <a:blip r:embed="rId3">
            <a:alphaModFix/>
          </a:blip>
          <a:srcRect r="74442"/>
          <a:stretch/>
        </p:blipFill>
        <p:spPr>
          <a:xfrm>
            <a:off x="617827" y="2322534"/>
            <a:ext cx="1238868" cy="1102238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g20a1292b4eb_0_112"/>
          <p:cNvSpPr txBox="1"/>
          <p:nvPr/>
        </p:nvSpPr>
        <p:spPr>
          <a:xfrm>
            <a:off x="1856695" y="2666090"/>
            <a:ext cx="158513" cy="41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225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endParaRPr sz="22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2" name="Google Shape;692;g20a1292b4eb_0_112"/>
          <p:cNvSpPr txBox="1"/>
          <p:nvPr/>
        </p:nvSpPr>
        <p:spPr>
          <a:xfrm>
            <a:off x="5171461" y="2665865"/>
            <a:ext cx="158513" cy="41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2250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2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F99295-20B0-49E6-82FE-80D868683DA0}"/>
              </a:ext>
            </a:extLst>
          </p:cNvPr>
          <p:cNvSpPr txBox="1"/>
          <p:nvPr/>
        </p:nvSpPr>
        <p:spPr>
          <a:xfrm>
            <a:off x="779318" y="4145973"/>
            <a:ext cx="2701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–</a:t>
            </a:r>
            <a:r>
              <a:rPr lang="ru-RU" dirty="0"/>
              <a:t> количество документов</a:t>
            </a:r>
          </a:p>
          <a:p>
            <a:r>
              <a:rPr lang="en-US" dirty="0"/>
              <a:t> t – </a:t>
            </a:r>
            <a:r>
              <a:rPr lang="ru-RU" dirty="0"/>
              <a:t>шаг (временной момент)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0a1292b4eb_0_105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r>
              <a:rPr lang="en-US"/>
              <a:t>Плюсы и минусы RNN для решения задачи языкового моделирования</a:t>
            </a:r>
            <a:endParaRPr/>
          </a:p>
        </p:txBody>
      </p:sp>
      <p:sp>
        <p:nvSpPr>
          <p:cNvPr id="698" name="Google Shape;698;g20a1292b4eb_0_105"/>
          <p:cNvSpPr txBox="1">
            <a:spLocks noGrp="1"/>
          </p:cNvSpPr>
          <p:nvPr>
            <p:ph type="body" idx="2"/>
          </p:nvPr>
        </p:nvSpPr>
        <p:spPr>
          <a:xfrm>
            <a:off x="597911" y="1591371"/>
            <a:ext cx="3003300" cy="3096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 lnSpcReduction="10000"/>
          </a:bodyPr>
          <a:lstStyle/>
          <a:p>
            <a:pPr marL="0" indent="0">
              <a:spcBef>
                <a:spcPts val="1688"/>
              </a:spcBef>
              <a:buNone/>
            </a:pPr>
            <a:r>
              <a:rPr lang="en-US" dirty="0" err="1">
                <a:solidFill>
                  <a:srgbClr val="38761D"/>
                </a:solidFill>
              </a:rPr>
              <a:t>Плюсы</a:t>
            </a:r>
            <a:r>
              <a:rPr lang="en-US" dirty="0">
                <a:solidFill>
                  <a:srgbClr val="38761D"/>
                </a:solidFill>
              </a:rPr>
              <a:t>:</a:t>
            </a:r>
            <a:endParaRPr dirty="0">
              <a:solidFill>
                <a:srgbClr val="38761D"/>
              </a:solidFill>
            </a:endParaRPr>
          </a:p>
          <a:p>
            <a:pPr marL="0" indent="0">
              <a:spcBef>
                <a:spcPts val="1688"/>
              </a:spcBef>
              <a:buClr>
                <a:srgbClr val="38761D"/>
              </a:buClr>
              <a:buSzPts val="4800"/>
              <a:buNone/>
            </a:pPr>
            <a:r>
              <a:rPr lang="ru-RU" dirty="0">
                <a:solidFill>
                  <a:srgbClr val="38761D"/>
                </a:solidFill>
              </a:rPr>
              <a:t>1. </a:t>
            </a:r>
            <a:r>
              <a:rPr lang="en-US" dirty="0" err="1">
                <a:solidFill>
                  <a:srgbClr val="38761D"/>
                </a:solidFill>
              </a:rPr>
              <a:t>Обрабатывают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гораздо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больший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контекст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по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сравнению</a:t>
            </a:r>
            <a:r>
              <a:rPr lang="en-US" dirty="0">
                <a:solidFill>
                  <a:srgbClr val="38761D"/>
                </a:solidFill>
              </a:rPr>
              <a:t> с N-</a:t>
            </a:r>
            <a:r>
              <a:rPr lang="en-US" dirty="0" err="1">
                <a:solidFill>
                  <a:srgbClr val="38761D"/>
                </a:solidFill>
              </a:rPr>
              <a:t>граммными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моделями</a:t>
            </a:r>
            <a:endParaRPr lang="ru-RU" dirty="0">
              <a:solidFill>
                <a:srgbClr val="38761D"/>
              </a:solidFill>
            </a:endParaRPr>
          </a:p>
          <a:p>
            <a:pPr marL="0" indent="0">
              <a:spcBef>
                <a:spcPts val="1688"/>
              </a:spcBef>
              <a:buClr>
                <a:srgbClr val="38761D"/>
              </a:buClr>
              <a:buSzPts val="4800"/>
              <a:buNone/>
            </a:pPr>
            <a:endParaRPr dirty="0">
              <a:solidFill>
                <a:srgbClr val="38761D"/>
              </a:solidFill>
            </a:endParaRPr>
          </a:p>
          <a:p>
            <a:pPr marL="0" indent="0">
              <a:spcBef>
                <a:spcPts val="0"/>
              </a:spcBef>
              <a:buClr>
                <a:srgbClr val="38761D"/>
              </a:buClr>
              <a:buSzPts val="4800"/>
              <a:buNone/>
            </a:pPr>
            <a:r>
              <a:rPr lang="ru-RU" dirty="0">
                <a:solidFill>
                  <a:srgbClr val="38761D"/>
                </a:solidFill>
              </a:rPr>
              <a:t>2. </a:t>
            </a:r>
            <a:r>
              <a:rPr lang="en-US" dirty="0" err="1">
                <a:solidFill>
                  <a:srgbClr val="38761D"/>
                </a:solidFill>
              </a:rPr>
              <a:t>Модель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не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требует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больше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памяти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для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улавливания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более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длинного</a:t>
            </a:r>
            <a:r>
              <a:rPr lang="en-US" dirty="0">
                <a:solidFill>
                  <a:srgbClr val="38761D"/>
                </a:solidFill>
              </a:rPr>
              <a:t> </a:t>
            </a:r>
            <a:r>
              <a:rPr lang="en-US" dirty="0" err="1">
                <a:solidFill>
                  <a:srgbClr val="38761D"/>
                </a:solidFill>
              </a:rPr>
              <a:t>контекста</a:t>
            </a:r>
            <a:endParaRPr dirty="0">
              <a:solidFill>
                <a:srgbClr val="38761D"/>
              </a:solidFill>
            </a:endParaRPr>
          </a:p>
        </p:txBody>
      </p:sp>
      <p:sp>
        <p:nvSpPr>
          <p:cNvPr id="699" name="Google Shape;699;g20a1292b4eb_0_105"/>
          <p:cNvSpPr txBox="1">
            <a:spLocks noGrp="1"/>
          </p:cNvSpPr>
          <p:nvPr>
            <p:ph type="body" idx="2"/>
          </p:nvPr>
        </p:nvSpPr>
        <p:spPr>
          <a:xfrm>
            <a:off x="4590253" y="1593188"/>
            <a:ext cx="3003300" cy="3096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 fontScale="92500" lnSpcReduction="10000"/>
          </a:bodyPr>
          <a:lstStyle/>
          <a:p>
            <a:pPr marL="0" indent="0">
              <a:spcBef>
                <a:spcPts val="1688"/>
              </a:spcBef>
              <a:buNone/>
            </a:pPr>
            <a:r>
              <a:rPr lang="en-US" dirty="0" err="1">
                <a:solidFill>
                  <a:srgbClr val="990000"/>
                </a:solidFill>
              </a:rPr>
              <a:t>Минусы</a:t>
            </a:r>
            <a:r>
              <a:rPr lang="en-US" dirty="0">
                <a:solidFill>
                  <a:srgbClr val="990000"/>
                </a:solidFill>
              </a:rPr>
              <a:t>:</a:t>
            </a:r>
            <a:endParaRPr dirty="0">
              <a:solidFill>
                <a:srgbClr val="990000"/>
              </a:solidFill>
            </a:endParaRPr>
          </a:p>
          <a:p>
            <a:pPr marL="0" indent="0">
              <a:spcBef>
                <a:spcPts val="1688"/>
              </a:spcBef>
              <a:buClr>
                <a:srgbClr val="990000"/>
              </a:buClr>
              <a:buSzPts val="4800"/>
              <a:buNone/>
            </a:pPr>
            <a:r>
              <a:rPr lang="ru-RU" dirty="0">
                <a:solidFill>
                  <a:srgbClr val="990000"/>
                </a:solidFill>
              </a:rPr>
              <a:t>1. </a:t>
            </a:r>
            <a:r>
              <a:rPr lang="en-US" dirty="0" err="1">
                <a:solidFill>
                  <a:srgbClr val="990000"/>
                </a:solidFill>
              </a:rPr>
              <a:t>Медленно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вычисляют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предсказание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из-за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рекуррентной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природы</a:t>
            </a:r>
            <a:endParaRPr lang="ru-RU" dirty="0">
              <a:solidFill>
                <a:srgbClr val="990000"/>
              </a:solidFill>
            </a:endParaRPr>
          </a:p>
          <a:p>
            <a:pPr marL="0" indent="0">
              <a:spcBef>
                <a:spcPts val="1688"/>
              </a:spcBef>
              <a:buClr>
                <a:srgbClr val="990000"/>
              </a:buClr>
              <a:buSzPts val="4800"/>
              <a:buNone/>
            </a:pPr>
            <a:endParaRPr lang="ru-RU" dirty="0">
              <a:solidFill>
                <a:srgbClr val="990000"/>
              </a:solidFill>
            </a:endParaRPr>
          </a:p>
          <a:p>
            <a:pPr marL="0" indent="0">
              <a:spcBef>
                <a:spcPts val="1688"/>
              </a:spcBef>
              <a:buClr>
                <a:srgbClr val="990000"/>
              </a:buClr>
              <a:buSzPts val="4800"/>
              <a:buNone/>
            </a:pPr>
            <a:r>
              <a:rPr lang="ru-RU" dirty="0">
                <a:solidFill>
                  <a:srgbClr val="990000"/>
                </a:solidFill>
              </a:rPr>
              <a:t>2. </a:t>
            </a:r>
            <a:r>
              <a:rPr lang="en-US" dirty="0" err="1">
                <a:solidFill>
                  <a:srgbClr val="990000"/>
                </a:solidFill>
              </a:rPr>
              <a:t>Взрывающиеся</a:t>
            </a:r>
            <a:r>
              <a:rPr lang="en-US" dirty="0">
                <a:solidFill>
                  <a:srgbClr val="990000"/>
                </a:solidFill>
              </a:rPr>
              <a:t> и </a:t>
            </a:r>
            <a:r>
              <a:rPr lang="en-US" dirty="0" err="1">
                <a:solidFill>
                  <a:srgbClr val="990000"/>
                </a:solidFill>
              </a:rPr>
              <a:t>затухающие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градиенты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требуют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архитектурных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улучшений</a:t>
            </a:r>
            <a:r>
              <a:rPr lang="en-US" dirty="0">
                <a:solidFill>
                  <a:srgbClr val="990000"/>
                </a:solidFill>
              </a:rPr>
              <a:t> в </a:t>
            </a:r>
            <a:r>
              <a:rPr lang="en-US" dirty="0" err="1">
                <a:solidFill>
                  <a:srgbClr val="990000"/>
                </a:solidFill>
              </a:rPr>
              <a:t>виде</a:t>
            </a:r>
            <a:r>
              <a:rPr lang="en-US" dirty="0">
                <a:solidFill>
                  <a:srgbClr val="990000"/>
                </a:solidFill>
              </a:rPr>
              <a:t> LSTM и GRU</a:t>
            </a:r>
            <a:endParaRPr dirty="0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36F7643-F9BD-4013-8236-411223537B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8F5A582D-E9FA-4B0F-88E9-2D1DAF5DA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2333" y="2697753"/>
            <a:ext cx="6428192" cy="45038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4. Алгоритмы генерации</a:t>
            </a:r>
          </a:p>
        </p:txBody>
      </p:sp>
    </p:spTree>
    <p:extLst>
      <p:ext uri="{BB962C8B-B14F-4D97-AF65-F5344CB8AC3E}">
        <p14:creationId xmlns:p14="http://schemas.microsoft.com/office/powerpoint/2010/main" val="12045132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0a13254c08_0_101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454"/>
              <a:t>Как генерировать текст с помощью языковой модели</a:t>
            </a:r>
            <a:endParaRPr/>
          </a:p>
        </p:txBody>
      </p:sp>
      <p:sp>
        <p:nvSpPr>
          <p:cNvPr id="134" name="Google Shape;134;g20a13254c08_0_101"/>
          <p:cNvSpPr/>
          <p:nvPr/>
        </p:nvSpPr>
        <p:spPr>
          <a:xfrm>
            <a:off x="2167959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/>
              <a:t>MODEL</a:t>
            </a:r>
            <a:endParaRPr sz="1050" b="1"/>
          </a:p>
        </p:txBody>
      </p:sp>
      <p:graphicFrame>
        <p:nvGraphicFramePr>
          <p:cNvPr id="135" name="Google Shape;135;g20a13254c08_0_101"/>
          <p:cNvGraphicFramePr/>
          <p:nvPr/>
        </p:nvGraphicFramePr>
        <p:xfrm>
          <a:off x="2092397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0.2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0.3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0.4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6" name="Google Shape;136;g20a13254c08_0_101"/>
          <p:cNvCxnSpPr>
            <a:stCxn id="137" idx="0"/>
            <a:endCxn id="134" idx="2"/>
          </p:cNvCxnSpPr>
          <p:nvPr/>
        </p:nvCxnSpPr>
        <p:spPr>
          <a:xfrm rot="10800000">
            <a:off x="2586853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" name="Google Shape;137;g20a13254c08_0_101"/>
          <p:cNvSpPr/>
          <p:nvPr/>
        </p:nvSpPr>
        <p:spPr>
          <a:xfrm>
            <a:off x="2499328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a</a:t>
            </a:r>
            <a:endParaRPr sz="900" b="1"/>
          </a:p>
        </p:txBody>
      </p:sp>
      <p:cxnSp>
        <p:nvCxnSpPr>
          <p:cNvPr id="138" name="Google Shape;138;g20a13254c08_0_101"/>
          <p:cNvCxnSpPr/>
          <p:nvPr/>
        </p:nvCxnSpPr>
        <p:spPr>
          <a:xfrm rot="10800000">
            <a:off x="2581059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0a13254c08_0_142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454"/>
              <a:t>Как генерировать текст с помощью языковой модели</a:t>
            </a:r>
            <a:endParaRPr/>
          </a:p>
        </p:txBody>
      </p:sp>
      <p:sp>
        <p:nvSpPr>
          <p:cNvPr id="144" name="Google Shape;144;g20a13254c08_0_142"/>
          <p:cNvSpPr/>
          <p:nvPr/>
        </p:nvSpPr>
        <p:spPr>
          <a:xfrm>
            <a:off x="2167959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/>
              <a:t>MODEL</a:t>
            </a:r>
            <a:endParaRPr sz="1050" b="1"/>
          </a:p>
        </p:txBody>
      </p:sp>
      <p:graphicFrame>
        <p:nvGraphicFramePr>
          <p:cNvPr id="145" name="Google Shape;145;g20a13254c08_0_142"/>
          <p:cNvGraphicFramePr/>
          <p:nvPr/>
        </p:nvGraphicFramePr>
        <p:xfrm>
          <a:off x="2092397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0.2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0.3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0.4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6" name="Google Shape;146;g20a13254c08_0_142"/>
          <p:cNvCxnSpPr>
            <a:stCxn id="147" idx="0"/>
            <a:endCxn id="144" idx="2"/>
          </p:cNvCxnSpPr>
          <p:nvPr/>
        </p:nvCxnSpPr>
        <p:spPr>
          <a:xfrm rot="10800000">
            <a:off x="2586853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Google Shape;147;g20a13254c08_0_142"/>
          <p:cNvSpPr/>
          <p:nvPr/>
        </p:nvSpPr>
        <p:spPr>
          <a:xfrm>
            <a:off x="2499328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a</a:t>
            </a:r>
            <a:endParaRPr sz="900" b="1"/>
          </a:p>
        </p:txBody>
      </p:sp>
      <p:sp>
        <p:nvSpPr>
          <p:cNvPr id="148" name="Google Shape;148;g20a13254c08_0_142"/>
          <p:cNvSpPr/>
          <p:nvPr/>
        </p:nvSpPr>
        <p:spPr>
          <a:xfrm>
            <a:off x="2491566" y="1323713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b</a:t>
            </a:r>
            <a:endParaRPr sz="900" b="1"/>
          </a:p>
        </p:txBody>
      </p:sp>
      <p:cxnSp>
        <p:nvCxnSpPr>
          <p:cNvPr id="149" name="Google Shape;149;g20a13254c08_0_142"/>
          <p:cNvCxnSpPr/>
          <p:nvPr/>
        </p:nvCxnSpPr>
        <p:spPr>
          <a:xfrm rot="10800000">
            <a:off x="2581059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50;g20a13254c08_0_142"/>
          <p:cNvCxnSpPr>
            <a:endCxn id="148" idx="2"/>
          </p:cNvCxnSpPr>
          <p:nvPr/>
        </p:nvCxnSpPr>
        <p:spPr>
          <a:xfrm rot="10800000">
            <a:off x="2583028" y="1506637"/>
            <a:ext cx="1913" cy="38148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Google Shape;151;g20a13254c08_0_142"/>
          <p:cNvSpPr/>
          <p:nvPr/>
        </p:nvSpPr>
        <p:spPr>
          <a:xfrm>
            <a:off x="3722391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/>
              <a:t>MODEL</a:t>
            </a:r>
            <a:endParaRPr sz="1050" b="1"/>
          </a:p>
        </p:txBody>
      </p:sp>
      <p:graphicFrame>
        <p:nvGraphicFramePr>
          <p:cNvPr id="152" name="Google Shape;152;g20a13254c08_0_142"/>
          <p:cNvGraphicFramePr/>
          <p:nvPr/>
        </p:nvGraphicFramePr>
        <p:xfrm>
          <a:off x="3646828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0.2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0.4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0.3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3" name="Google Shape;153;g20a13254c08_0_142"/>
          <p:cNvCxnSpPr>
            <a:stCxn id="154" idx="0"/>
            <a:endCxn id="151" idx="2"/>
          </p:cNvCxnSpPr>
          <p:nvPr/>
        </p:nvCxnSpPr>
        <p:spPr>
          <a:xfrm rot="10800000">
            <a:off x="4141284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" name="Google Shape;154;g20a13254c08_0_142"/>
          <p:cNvSpPr/>
          <p:nvPr/>
        </p:nvSpPr>
        <p:spPr>
          <a:xfrm>
            <a:off x="4053759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b</a:t>
            </a:r>
            <a:endParaRPr sz="900" b="1"/>
          </a:p>
        </p:txBody>
      </p:sp>
      <p:cxnSp>
        <p:nvCxnSpPr>
          <p:cNvPr id="155" name="Google Shape;155;g20a13254c08_0_142"/>
          <p:cNvCxnSpPr/>
          <p:nvPr/>
        </p:nvCxnSpPr>
        <p:spPr>
          <a:xfrm rot="10800000">
            <a:off x="4135490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g20a13254c08_0_142"/>
          <p:cNvCxnSpPr>
            <a:stCxn id="148" idx="3"/>
            <a:endCxn id="154" idx="1"/>
          </p:cNvCxnSpPr>
          <p:nvPr/>
        </p:nvCxnSpPr>
        <p:spPr>
          <a:xfrm>
            <a:off x="2674491" y="1415175"/>
            <a:ext cx="1379250" cy="1748700"/>
          </a:xfrm>
          <a:prstGeom prst="bentConnector3">
            <a:avLst>
              <a:gd name="adj1" fmla="val 50001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g20a13254c08_0_142"/>
          <p:cNvCxnSpPr>
            <a:stCxn id="144" idx="3"/>
            <a:endCxn id="151" idx="1"/>
          </p:cNvCxnSpPr>
          <p:nvPr/>
        </p:nvCxnSpPr>
        <p:spPr>
          <a:xfrm>
            <a:off x="3005859" y="2571722"/>
            <a:ext cx="716513" cy="0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a13254c08_0_204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454"/>
              <a:t>Как генерировать текст с помощью языковой модели</a:t>
            </a:r>
            <a:endParaRPr/>
          </a:p>
        </p:txBody>
      </p:sp>
      <p:sp>
        <p:nvSpPr>
          <p:cNvPr id="191" name="Google Shape;191;g20a13254c08_0_204"/>
          <p:cNvSpPr/>
          <p:nvPr/>
        </p:nvSpPr>
        <p:spPr>
          <a:xfrm>
            <a:off x="2167959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 dirty="0">
                <a:solidFill>
                  <a:schemeClr val="lt1"/>
                </a:solidFill>
              </a:rPr>
              <a:t>MODEL</a:t>
            </a:r>
            <a:endParaRPr sz="1050" b="1" dirty="0">
              <a:solidFill>
                <a:schemeClr val="lt1"/>
              </a:solidFill>
            </a:endParaRPr>
          </a:p>
        </p:txBody>
      </p:sp>
      <p:graphicFrame>
        <p:nvGraphicFramePr>
          <p:cNvPr id="192" name="Google Shape;192;g20a13254c08_0_204"/>
          <p:cNvGraphicFramePr/>
          <p:nvPr/>
        </p:nvGraphicFramePr>
        <p:xfrm>
          <a:off x="2092397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0.2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0.3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0.4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3" name="Google Shape;193;g20a13254c08_0_204"/>
          <p:cNvCxnSpPr>
            <a:stCxn id="194" idx="0"/>
            <a:endCxn id="191" idx="2"/>
          </p:cNvCxnSpPr>
          <p:nvPr/>
        </p:nvCxnSpPr>
        <p:spPr>
          <a:xfrm rot="10800000">
            <a:off x="2586853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" name="Google Shape;194;g20a13254c08_0_204"/>
          <p:cNvSpPr/>
          <p:nvPr/>
        </p:nvSpPr>
        <p:spPr>
          <a:xfrm>
            <a:off x="2499328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a</a:t>
            </a:r>
            <a:endParaRPr sz="900" b="1"/>
          </a:p>
        </p:txBody>
      </p:sp>
      <p:sp>
        <p:nvSpPr>
          <p:cNvPr id="195" name="Google Shape;195;g20a13254c08_0_204"/>
          <p:cNvSpPr/>
          <p:nvPr/>
        </p:nvSpPr>
        <p:spPr>
          <a:xfrm>
            <a:off x="2491566" y="1323713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b</a:t>
            </a:r>
            <a:endParaRPr sz="900" b="1"/>
          </a:p>
        </p:txBody>
      </p:sp>
      <p:cxnSp>
        <p:nvCxnSpPr>
          <p:cNvPr id="196" name="Google Shape;196;g20a13254c08_0_204"/>
          <p:cNvCxnSpPr/>
          <p:nvPr/>
        </p:nvCxnSpPr>
        <p:spPr>
          <a:xfrm rot="10800000">
            <a:off x="2581059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g20a13254c08_0_204"/>
          <p:cNvCxnSpPr>
            <a:endCxn id="195" idx="2"/>
          </p:cNvCxnSpPr>
          <p:nvPr/>
        </p:nvCxnSpPr>
        <p:spPr>
          <a:xfrm rot="10800000">
            <a:off x="2583028" y="1506637"/>
            <a:ext cx="1913" cy="38148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g20a13254c08_0_204"/>
          <p:cNvSpPr/>
          <p:nvPr/>
        </p:nvSpPr>
        <p:spPr>
          <a:xfrm>
            <a:off x="3722391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>
                <a:solidFill>
                  <a:schemeClr val="lt1"/>
                </a:solidFill>
              </a:rPr>
              <a:t>MODEL</a:t>
            </a:r>
            <a:endParaRPr sz="1050" b="1">
              <a:solidFill>
                <a:schemeClr val="lt1"/>
              </a:solidFill>
            </a:endParaRPr>
          </a:p>
        </p:txBody>
      </p:sp>
      <p:graphicFrame>
        <p:nvGraphicFramePr>
          <p:cNvPr id="199" name="Google Shape;199;g20a13254c08_0_204"/>
          <p:cNvGraphicFramePr/>
          <p:nvPr/>
        </p:nvGraphicFramePr>
        <p:xfrm>
          <a:off x="3646828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0.2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0.4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0.3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0" name="Google Shape;200;g20a13254c08_0_204"/>
          <p:cNvCxnSpPr>
            <a:stCxn id="201" idx="0"/>
            <a:endCxn id="198" idx="2"/>
          </p:cNvCxnSpPr>
          <p:nvPr/>
        </p:nvCxnSpPr>
        <p:spPr>
          <a:xfrm rot="10800000">
            <a:off x="4141284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g20a13254c08_0_204"/>
          <p:cNvSpPr/>
          <p:nvPr/>
        </p:nvSpPr>
        <p:spPr>
          <a:xfrm>
            <a:off x="4053759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b</a:t>
            </a:r>
            <a:endParaRPr sz="900" b="1"/>
          </a:p>
        </p:txBody>
      </p:sp>
      <p:sp>
        <p:nvSpPr>
          <p:cNvPr id="202" name="Google Shape;202;g20a13254c08_0_204"/>
          <p:cNvSpPr/>
          <p:nvPr/>
        </p:nvSpPr>
        <p:spPr>
          <a:xfrm>
            <a:off x="4045997" y="1323713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c</a:t>
            </a:r>
            <a:endParaRPr sz="900" b="1"/>
          </a:p>
        </p:txBody>
      </p:sp>
      <p:cxnSp>
        <p:nvCxnSpPr>
          <p:cNvPr id="203" name="Google Shape;203;g20a13254c08_0_204"/>
          <p:cNvCxnSpPr/>
          <p:nvPr/>
        </p:nvCxnSpPr>
        <p:spPr>
          <a:xfrm rot="10800000">
            <a:off x="4135490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" name="Google Shape;204;g20a13254c08_0_204"/>
          <p:cNvCxnSpPr>
            <a:endCxn id="202" idx="2"/>
          </p:cNvCxnSpPr>
          <p:nvPr/>
        </p:nvCxnSpPr>
        <p:spPr>
          <a:xfrm rot="10800000">
            <a:off x="4137459" y="1506637"/>
            <a:ext cx="1913" cy="38148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5" name="Google Shape;205;g20a13254c08_0_204"/>
          <p:cNvSpPr/>
          <p:nvPr/>
        </p:nvSpPr>
        <p:spPr>
          <a:xfrm>
            <a:off x="5276822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MODEL</a:t>
            </a:r>
            <a:endParaRPr sz="1050" b="1">
              <a:solidFill>
                <a:srgbClr val="FFFFFF"/>
              </a:solidFill>
            </a:endParaRPr>
          </a:p>
        </p:txBody>
      </p:sp>
      <p:graphicFrame>
        <p:nvGraphicFramePr>
          <p:cNvPr id="206" name="Google Shape;206;g20a13254c08_0_204"/>
          <p:cNvGraphicFramePr/>
          <p:nvPr/>
        </p:nvGraphicFramePr>
        <p:xfrm>
          <a:off x="5201259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0.7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7" name="Google Shape;207;g20a13254c08_0_204"/>
          <p:cNvCxnSpPr>
            <a:stCxn id="208" idx="0"/>
            <a:endCxn id="205" idx="2"/>
          </p:cNvCxnSpPr>
          <p:nvPr/>
        </p:nvCxnSpPr>
        <p:spPr>
          <a:xfrm rot="10800000">
            <a:off x="5695715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8" name="Google Shape;208;g20a13254c08_0_204"/>
          <p:cNvSpPr/>
          <p:nvPr/>
        </p:nvSpPr>
        <p:spPr>
          <a:xfrm>
            <a:off x="5608191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c</a:t>
            </a:r>
            <a:endParaRPr sz="900" b="1"/>
          </a:p>
        </p:txBody>
      </p:sp>
      <p:cxnSp>
        <p:nvCxnSpPr>
          <p:cNvPr id="209" name="Google Shape;209;g20a13254c08_0_204"/>
          <p:cNvCxnSpPr/>
          <p:nvPr/>
        </p:nvCxnSpPr>
        <p:spPr>
          <a:xfrm rot="10800000">
            <a:off x="5689922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10;g20a13254c08_0_204"/>
          <p:cNvCxnSpPr>
            <a:stCxn id="195" idx="3"/>
            <a:endCxn id="201" idx="1"/>
          </p:cNvCxnSpPr>
          <p:nvPr/>
        </p:nvCxnSpPr>
        <p:spPr>
          <a:xfrm>
            <a:off x="2674491" y="1415175"/>
            <a:ext cx="1379250" cy="1748700"/>
          </a:xfrm>
          <a:prstGeom prst="bentConnector3">
            <a:avLst>
              <a:gd name="adj1" fmla="val 50001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g20a13254c08_0_204"/>
          <p:cNvCxnSpPr/>
          <p:nvPr/>
        </p:nvCxnSpPr>
        <p:spPr>
          <a:xfrm>
            <a:off x="4227947" y="1415175"/>
            <a:ext cx="1379250" cy="1748700"/>
          </a:xfrm>
          <a:prstGeom prst="bentConnector3">
            <a:avLst>
              <a:gd name="adj1" fmla="val 50001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12" name="Google Shape;212;g20a13254c08_0_204"/>
          <p:cNvCxnSpPr>
            <a:stCxn id="191" idx="3"/>
            <a:endCxn id="198" idx="1"/>
          </p:cNvCxnSpPr>
          <p:nvPr/>
        </p:nvCxnSpPr>
        <p:spPr>
          <a:xfrm>
            <a:off x="3005859" y="2571722"/>
            <a:ext cx="716513" cy="0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g20a13254c08_0_204"/>
          <p:cNvCxnSpPr/>
          <p:nvPr/>
        </p:nvCxnSpPr>
        <p:spPr>
          <a:xfrm>
            <a:off x="4559315" y="2571722"/>
            <a:ext cx="716513" cy="0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" name="Google Shape;214;g20a13254c08_0_204"/>
          <p:cNvSpPr/>
          <p:nvPr/>
        </p:nvSpPr>
        <p:spPr>
          <a:xfrm>
            <a:off x="5600428" y="1323713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d</a:t>
            </a:r>
            <a:endParaRPr sz="900" b="1"/>
          </a:p>
        </p:txBody>
      </p:sp>
      <p:cxnSp>
        <p:nvCxnSpPr>
          <p:cNvPr id="215" name="Google Shape;215;g20a13254c08_0_204"/>
          <p:cNvCxnSpPr>
            <a:endCxn id="214" idx="2"/>
          </p:cNvCxnSpPr>
          <p:nvPr/>
        </p:nvCxnSpPr>
        <p:spPr>
          <a:xfrm rot="10800000">
            <a:off x="5691890" y="1506637"/>
            <a:ext cx="1913" cy="38148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0a13254c08_0_235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454"/>
              <a:t>Как генерировать текст с помощью языковой модели</a:t>
            </a:r>
            <a:endParaRPr/>
          </a:p>
        </p:txBody>
      </p:sp>
      <p:sp>
        <p:nvSpPr>
          <p:cNvPr id="221" name="Google Shape;221;g20a13254c08_0_235"/>
          <p:cNvSpPr txBox="1">
            <a:spLocks noGrp="1"/>
          </p:cNvSpPr>
          <p:nvPr>
            <p:ph type="body" idx="2"/>
          </p:nvPr>
        </p:nvSpPr>
        <p:spPr>
          <a:xfrm>
            <a:off x="452437" y="3597141"/>
            <a:ext cx="8239163" cy="136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indent="0">
              <a:spcBef>
                <a:spcPts val="0"/>
              </a:spcBef>
              <a:buSzPts val="4224"/>
              <a:buNone/>
            </a:pPr>
            <a:r>
              <a:rPr lang="en-US" sz="1584"/>
              <a:t>Проблема: </a:t>
            </a:r>
            <a:endParaRPr/>
          </a:p>
          <a:p>
            <a:pPr marL="0" indent="0">
              <a:spcBef>
                <a:spcPts val="1463"/>
              </a:spcBef>
              <a:buSzPts val="4224"/>
              <a:buNone/>
            </a:pPr>
            <a:r>
              <a:rPr lang="en-US" sz="1584"/>
              <a:t>Расчет вероятностей всех возможных вариантов генерации              слишком долгий.</a:t>
            </a:r>
            <a:endParaRPr/>
          </a:p>
          <a:p>
            <a:pPr marL="0" indent="0">
              <a:spcBef>
                <a:spcPts val="1463"/>
              </a:spcBef>
              <a:buSzPts val="4224"/>
              <a:buNone/>
            </a:pPr>
            <a:r>
              <a:rPr lang="en-US" sz="1584"/>
              <a:t>V —размер словаря, n — длина генерируемой последовательности</a:t>
            </a:r>
            <a:endParaRPr/>
          </a:p>
        </p:txBody>
      </p:sp>
      <p:pic>
        <p:nvPicPr>
          <p:cNvPr id="222" name="Google Shape;222;g20a13254c08_0_2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1900" y="3974831"/>
            <a:ext cx="574669" cy="30996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20a13254c08_0_235"/>
          <p:cNvSpPr/>
          <p:nvPr/>
        </p:nvSpPr>
        <p:spPr>
          <a:xfrm>
            <a:off x="2167959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/>
              <a:t>MODEL</a:t>
            </a:r>
            <a:endParaRPr sz="1050" b="1"/>
          </a:p>
        </p:txBody>
      </p:sp>
      <p:graphicFrame>
        <p:nvGraphicFramePr>
          <p:cNvPr id="224" name="Google Shape;224;g20a13254c08_0_235"/>
          <p:cNvGraphicFramePr/>
          <p:nvPr/>
        </p:nvGraphicFramePr>
        <p:xfrm>
          <a:off x="2092397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0.2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0.3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0.4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5" name="Google Shape;225;g20a13254c08_0_235"/>
          <p:cNvCxnSpPr>
            <a:stCxn id="226" idx="0"/>
            <a:endCxn id="223" idx="2"/>
          </p:cNvCxnSpPr>
          <p:nvPr/>
        </p:nvCxnSpPr>
        <p:spPr>
          <a:xfrm rot="10800000">
            <a:off x="2586853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6" name="Google Shape;226;g20a13254c08_0_235"/>
          <p:cNvSpPr/>
          <p:nvPr/>
        </p:nvSpPr>
        <p:spPr>
          <a:xfrm>
            <a:off x="2499328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a</a:t>
            </a:r>
            <a:endParaRPr sz="900" b="1"/>
          </a:p>
        </p:txBody>
      </p:sp>
      <p:sp>
        <p:nvSpPr>
          <p:cNvPr id="227" name="Google Shape;227;g20a13254c08_0_235"/>
          <p:cNvSpPr/>
          <p:nvPr/>
        </p:nvSpPr>
        <p:spPr>
          <a:xfrm>
            <a:off x="2491566" y="1323713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b</a:t>
            </a:r>
            <a:endParaRPr sz="900" b="1"/>
          </a:p>
        </p:txBody>
      </p:sp>
      <p:cxnSp>
        <p:nvCxnSpPr>
          <p:cNvPr id="228" name="Google Shape;228;g20a13254c08_0_235"/>
          <p:cNvCxnSpPr/>
          <p:nvPr/>
        </p:nvCxnSpPr>
        <p:spPr>
          <a:xfrm rot="10800000">
            <a:off x="2581059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9" name="Google Shape;229;g20a13254c08_0_235"/>
          <p:cNvCxnSpPr>
            <a:endCxn id="227" idx="2"/>
          </p:cNvCxnSpPr>
          <p:nvPr/>
        </p:nvCxnSpPr>
        <p:spPr>
          <a:xfrm rot="10800000">
            <a:off x="2583028" y="1506637"/>
            <a:ext cx="1913" cy="38148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0" name="Google Shape;230;g20a13254c08_0_235"/>
          <p:cNvSpPr/>
          <p:nvPr/>
        </p:nvSpPr>
        <p:spPr>
          <a:xfrm>
            <a:off x="3722391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/>
              <a:t>MODEL</a:t>
            </a:r>
            <a:endParaRPr sz="1050" b="1"/>
          </a:p>
        </p:txBody>
      </p:sp>
      <p:graphicFrame>
        <p:nvGraphicFramePr>
          <p:cNvPr id="231" name="Google Shape;231;g20a13254c08_0_235"/>
          <p:cNvGraphicFramePr/>
          <p:nvPr/>
        </p:nvGraphicFramePr>
        <p:xfrm>
          <a:off x="3646828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0.2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0.4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0.3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2" name="Google Shape;232;g20a13254c08_0_235"/>
          <p:cNvCxnSpPr>
            <a:stCxn id="233" idx="0"/>
            <a:endCxn id="230" idx="2"/>
          </p:cNvCxnSpPr>
          <p:nvPr/>
        </p:nvCxnSpPr>
        <p:spPr>
          <a:xfrm rot="10800000">
            <a:off x="4141284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3" name="Google Shape;233;g20a13254c08_0_235"/>
          <p:cNvSpPr/>
          <p:nvPr/>
        </p:nvSpPr>
        <p:spPr>
          <a:xfrm>
            <a:off x="4053759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b</a:t>
            </a:r>
            <a:endParaRPr sz="900" b="1"/>
          </a:p>
        </p:txBody>
      </p:sp>
      <p:sp>
        <p:nvSpPr>
          <p:cNvPr id="234" name="Google Shape;234;g20a13254c08_0_235"/>
          <p:cNvSpPr/>
          <p:nvPr/>
        </p:nvSpPr>
        <p:spPr>
          <a:xfrm>
            <a:off x="4045997" y="1323713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c</a:t>
            </a:r>
            <a:endParaRPr sz="900" b="1"/>
          </a:p>
        </p:txBody>
      </p:sp>
      <p:cxnSp>
        <p:nvCxnSpPr>
          <p:cNvPr id="235" name="Google Shape;235;g20a13254c08_0_235"/>
          <p:cNvCxnSpPr/>
          <p:nvPr/>
        </p:nvCxnSpPr>
        <p:spPr>
          <a:xfrm rot="10800000">
            <a:off x="4135490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" name="Google Shape;236;g20a13254c08_0_235"/>
          <p:cNvCxnSpPr>
            <a:endCxn id="234" idx="2"/>
          </p:cNvCxnSpPr>
          <p:nvPr/>
        </p:nvCxnSpPr>
        <p:spPr>
          <a:xfrm rot="10800000">
            <a:off x="4137459" y="1506637"/>
            <a:ext cx="1913" cy="38148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g20a13254c08_0_235"/>
          <p:cNvSpPr/>
          <p:nvPr/>
        </p:nvSpPr>
        <p:spPr>
          <a:xfrm>
            <a:off x="5276822" y="2358365"/>
            <a:ext cx="837900" cy="426713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050" b="1"/>
              <a:t>MODEL</a:t>
            </a:r>
            <a:endParaRPr sz="1050" b="1"/>
          </a:p>
        </p:txBody>
      </p:sp>
      <p:graphicFrame>
        <p:nvGraphicFramePr>
          <p:cNvPr id="238" name="Google Shape;238;g20a13254c08_0_235"/>
          <p:cNvGraphicFramePr/>
          <p:nvPr/>
        </p:nvGraphicFramePr>
        <p:xfrm>
          <a:off x="5201259" y="1888125"/>
          <a:ext cx="989024" cy="190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0.1</a:t>
                      </a:r>
                      <a:endParaRPr sz="800" b="1"/>
                    </a:p>
                  </a:txBody>
                  <a:tcPr marL="34284" marR="34284" marT="34284" marB="34284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/>
                        <a:t>0.7</a:t>
                      </a:r>
                      <a:endParaRPr sz="800" b="1"/>
                    </a:p>
                  </a:txBody>
                  <a:tcPr marL="34284" marR="34284" marT="34284" marB="342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9" name="Google Shape;239;g20a13254c08_0_235"/>
          <p:cNvCxnSpPr>
            <a:stCxn id="240" idx="0"/>
            <a:endCxn id="237" idx="2"/>
          </p:cNvCxnSpPr>
          <p:nvPr/>
        </p:nvCxnSpPr>
        <p:spPr>
          <a:xfrm rot="10800000">
            <a:off x="5695715" y="2785125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g20a13254c08_0_235"/>
          <p:cNvSpPr/>
          <p:nvPr/>
        </p:nvSpPr>
        <p:spPr>
          <a:xfrm>
            <a:off x="5608191" y="3072450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c</a:t>
            </a:r>
            <a:endParaRPr sz="900" b="1"/>
          </a:p>
        </p:txBody>
      </p:sp>
      <p:cxnSp>
        <p:nvCxnSpPr>
          <p:cNvPr id="241" name="Google Shape;241;g20a13254c08_0_235"/>
          <p:cNvCxnSpPr/>
          <p:nvPr/>
        </p:nvCxnSpPr>
        <p:spPr>
          <a:xfrm rot="10800000">
            <a:off x="5689922" y="2070994"/>
            <a:ext cx="3938" cy="28732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g20a13254c08_0_235"/>
          <p:cNvCxnSpPr>
            <a:stCxn id="227" idx="3"/>
            <a:endCxn id="233" idx="1"/>
          </p:cNvCxnSpPr>
          <p:nvPr/>
        </p:nvCxnSpPr>
        <p:spPr>
          <a:xfrm>
            <a:off x="2674491" y="1415175"/>
            <a:ext cx="1379250" cy="1748700"/>
          </a:xfrm>
          <a:prstGeom prst="bentConnector3">
            <a:avLst>
              <a:gd name="adj1" fmla="val 50001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3" name="Google Shape;243;g20a13254c08_0_235"/>
          <p:cNvCxnSpPr/>
          <p:nvPr/>
        </p:nvCxnSpPr>
        <p:spPr>
          <a:xfrm>
            <a:off x="4227947" y="1415175"/>
            <a:ext cx="1379250" cy="1748700"/>
          </a:xfrm>
          <a:prstGeom prst="bentConnector3">
            <a:avLst>
              <a:gd name="adj1" fmla="val 50001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g20a13254c08_0_235"/>
          <p:cNvCxnSpPr>
            <a:stCxn id="223" idx="3"/>
            <a:endCxn id="230" idx="1"/>
          </p:cNvCxnSpPr>
          <p:nvPr/>
        </p:nvCxnSpPr>
        <p:spPr>
          <a:xfrm>
            <a:off x="3005859" y="2571722"/>
            <a:ext cx="716513" cy="0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g20a13254c08_0_235"/>
          <p:cNvCxnSpPr/>
          <p:nvPr/>
        </p:nvCxnSpPr>
        <p:spPr>
          <a:xfrm>
            <a:off x="4559315" y="2571722"/>
            <a:ext cx="716513" cy="0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" name="Google Shape;246;g20a13254c08_0_235"/>
          <p:cNvSpPr/>
          <p:nvPr/>
        </p:nvSpPr>
        <p:spPr>
          <a:xfrm>
            <a:off x="5600428" y="1323713"/>
            <a:ext cx="182925" cy="182925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d</a:t>
            </a:r>
            <a:endParaRPr sz="900" b="1"/>
          </a:p>
        </p:txBody>
      </p:sp>
      <p:cxnSp>
        <p:nvCxnSpPr>
          <p:cNvPr id="247" name="Google Shape;247;g20a13254c08_0_235"/>
          <p:cNvCxnSpPr>
            <a:endCxn id="246" idx="2"/>
          </p:cNvCxnSpPr>
          <p:nvPr/>
        </p:nvCxnSpPr>
        <p:spPr>
          <a:xfrm rot="10800000">
            <a:off x="5691890" y="1506637"/>
            <a:ext cx="1913" cy="38148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 txBox="1"/>
          <p:nvPr/>
        </p:nvSpPr>
        <p:spPr>
          <a:xfrm>
            <a:off x="452438" y="1427543"/>
            <a:ext cx="8239125" cy="136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lnSpc>
                <a:spcPct val="90000"/>
              </a:lnSpc>
              <a:buSzPts val="4800"/>
            </a:pP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Алгоритм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на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каждом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шаге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выбираем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самый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вероятный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токен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525" dirty="0"/>
          </a:p>
          <a:p>
            <a:pPr>
              <a:lnSpc>
                <a:spcPct val="90000"/>
              </a:lnSpc>
              <a:spcBef>
                <a:spcPts val="1688"/>
              </a:spcBef>
              <a:buSzPts val="4800"/>
            </a:pPr>
            <a:r>
              <a:rPr lang="en-US" sz="1800" dirty="0" err="1">
                <a:latin typeface="Helvetica Neue"/>
                <a:ea typeface="Helvetica Neue"/>
                <a:cs typeface="Helvetica Neue"/>
                <a:sym typeface="Helvetica Neue"/>
              </a:rPr>
              <a:t>Сложность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ru-RU" sz="1800" dirty="0">
                <a:latin typeface="Helvetica Neue"/>
                <a:ea typeface="Helvetica Neue"/>
                <a:cs typeface="Helvetica Neue"/>
                <a:sym typeface="Helvetica Neue"/>
              </a:rPr>
              <a:t>           где </a:t>
            </a:r>
            <a:r>
              <a:rPr lang="en-US" sz="1800" dirty="0">
                <a:latin typeface="Helvetica Neue"/>
                <a:ea typeface="Helvetica Neue"/>
                <a:cs typeface="Helvetica Neue"/>
                <a:sym typeface="Helvetica Neue"/>
              </a:rPr>
              <a:t>n – </a:t>
            </a:r>
            <a:r>
              <a:rPr lang="ru-RU" sz="1800" dirty="0">
                <a:latin typeface="Helvetica Neue"/>
                <a:ea typeface="Helvetica Neue"/>
                <a:cs typeface="Helvetica Neue"/>
                <a:sym typeface="Helvetica Neue"/>
              </a:rPr>
              <a:t>длина сгенерированного текста.</a:t>
            </a:r>
            <a:endParaRPr sz="525" dirty="0"/>
          </a:p>
        </p:txBody>
      </p:sp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3938" y="1776137"/>
            <a:ext cx="703074" cy="46187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231"/>
              <a:t>Greedy — простейшая стратегия выбора следующего слова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0a13254c08_0_0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231"/>
              <a:t>Greedy — простейшая стратегия выбора следующего слова</a:t>
            </a:r>
            <a:endParaRPr/>
          </a:p>
        </p:txBody>
      </p:sp>
      <p:sp>
        <p:nvSpPr>
          <p:cNvPr id="260" name="Google Shape;260;g20a13254c08_0_0"/>
          <p:cNvSpPr txBox="1"/>
          <p:nvPr/>
        </p:nvSpPr>
        <p:spPr>
          <a:xfrm>
            <a:off x="452437" y="1427543"/>
            <a:ext cx="8239163" cy="136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lnSpc>
                <a:spcPct val="90000"/>
              </a:lnSpc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Алгоритм: на каждом шаге выбираем самый вероятный токен.</a:t>
            </a:r>
            <a:endParaRPr sz="525"/>
          </a:p>
          <a:p>
            <a:pPr>
              <a:lnSpc>
                <a:spcPct val="90000"/>
              </a:lnSpc>
              <a:spcBef>
                <a:spcPts val="1688"/>
              </a:spcBef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Сложность:  </a:t>
            </a:r>
            <a:endParaRPr sz="525"/>
          </a:p>
        </p:txBody>
      </p:sp>
      <p:graphicFrame>
        <p:nvGraphicFramePr>
          <p:cNvPr id="261" name="Google Shape;261;g20a13254c08_0_0"/>
          <p:cNvGraphicFramePr/>
          <p:nvPr/>
        </p:nvGraphicFramePr>
        <p:xfrm>
          <a:off x="1462092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0.4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62" name="Google Shape;262;g20a13254c08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3938" y="1776137"/>
            <a:ext cx="703074" cy="4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0a13254c08_0_15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231"/>
              <a:t>Greedy — простейшая стратегия выбора следующего слова</a:t>
            </a:r>
            <a:endParaRPr/>
          </a:p>
        </p:txBody>
      </p:sp>
      <p:sp>
        <p:nvSpPr>
          <p:cNvPr id="268" name="Google Shape;268;g20a13254c08_0_15"/>
          <p:cNvSpPr txBox="1"/>
          <p:nvPr/>
        </p:nvSpPr>
        <p:spPr>
          <a:xfrm>
            <a:off x="452437" y="1427543"/>
            <a:ext cx="8239163" cy="136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lnSpc>
                <a:spcPct val="90000"/>
              </a:lnSpc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Алгоритм: на каждом шаге выбираем самый вероятный токен.</a:t>
            </a:r>
            <a:endParaRPr sz="525"/>
          </a:p>
          <a:p>
            <a:pPr>
              <a:lnSpc>
                <a:spcPct val="90000"/>
              </a:lnSpc>
              <a:spcBef>
                <a:spcPts val="1688"/>
              </a:spcBef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Сложность:  </a:t>
            </a:r>
            <a:endParaRPr sz="525"/>
          </a:p>
        </p:txBody>
      </p:sp>
      <p:graphicFrame>
        <p:nvGraphicFramePr>
          <p:cNvPr id="269" name="Google Shape;269;g20a13254c08_0_15"/>
          <p:cNvGraphicFramePr/>
          <p:nvPr/>
        </p:nvGraphicFramePr>
        <p:xfrm>
          <a:off x="1462092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0.4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0" name="Google Shape;270;g20a13254c08_0_15"/>
          <p:cNvGraphicFramePr/>
          <p:nvPr/>
        </p:nvGraphicFramePr>
        <p:xfrm>
          <a:off x="2851548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0.9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71" name="Google Shape;271;g20a13254c08_0_15"/>
          <p:cNvCxnSpPr/>
          <p:nvPr/>
        </p:nvCxnSpPr>
        <p:spPr>
          <a:xfrm>
            <a:off x="1991071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pic>
        <p:nvPicPr>
          <p:cNvPr id="272" name="Google Shape;272;g20a13254c08_0_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3938" y="1776137"/>
            <a:ext cx="703074" cy="4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0a13254c08_0_30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231"/>
              <a:t>Greedy — простейшая стратегия выбора следующего слова</a:t>
            </a:r>
            <a:endParaRPr/>
          </a:p>
        </p:txBody>
      </p:sp>
      <p:sp>
        <p:nvSpPr>
          <p:cNvPr id="278" name="Google Shape;278;g20a13254c08_0_30"/>
          <p:cNvSpPr txBox="1"/>
          <p:nvPr/>
        </p:nvSpPr>
        <p:spPr>
          <a:xfrm>
            <a:off x="452437" y="1427543"/>
            <a:ext cx="8239163" cy="136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lnSpc>
                <a:spcPct val="90000"/>
              </a:lnSpc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Алгоритм: на каждом шаге выбираем самый вероятный токен.</a:t>
            </a:r>
            <a:endParaRPr sz="525"/>
          </a:p>
          <a:p>
            <a:pPr>
              <a:lnSpc>
                <a:spcPct val="90000"/>
              </a:lnSpc>
              <a:spcBef>
                <a:spcPts val="1688"/>
              </a:spcBef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Сложность:  </a:t>
            </a:r>
            <a:endParaRPr sz="525"/>
          </a:p>
        </p:txBody>
      </p:sp>
      <p:graphicFrame>
        <p:nvGraphicFramePr>
          <p:cNvPr id="279" name="Google Shape;279;g20a13254c08_0_30"/>
          <p:cNvGraphicFramePr/>
          <p:nvPr/>
        </p:nvGraphicFramePr>
        <p:xfrm>
          <a:off x="1462092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0.4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0" name="Google Shape;280;g20a13254c08_0_30"/>
          <p:cNvGraphicFramePr/>
          <p:nvPr/>
        </p:nvGraphicFramePr>
        <p:xfrm>
          <a:off x="2851548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0.9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81" name="Google Shape;281;g20a13254c08_0_30"/>
          <p:cNvCxnSpPr/>
          <p:nvPr/>
        </p:nvCxnSpPr>
        <p:spPr>
          <a:xfrm>
            <a:off x="1991071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graphicFrame>
        <p:nvGraphicFramePr>
          <p:cNvPr id="282" name="Google Shape;282;g20a13254c08_0_30"/>
          <p:cNvGraphicFramePr/>
          <p:nvPr/>
        </p:nvGraphicFramePr>
        <p:xfrm>
          <a:off x="4241004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0.5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83" name="Google Shape;283;g20a13254c08_0_30"/>
          <p:cNvCxnSpPr/>
          <p:nvPr/>
        </p:nvCxnSpPr>
        <p:spPr>
          <a:xfrm>
            <a:off x="3380527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pic>
        <p:nvPicPr>
          <p:cNvPr id="284" name="Google Shape;284;g20a13254c08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3938" y="1776137"/>
            <a:ext cx="703074" cy="4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0a13254c08_0_59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231"/>
              <a:t>Greedy — простейшая стратегия выбора следующего слова</a:t>
            </a:r>
            <a:endParaRPr/>
          </a:p>
        </p:txBody>
      </p:sp>
      <p:sp>
        <p:nvSpPr>
          <p:cNvPr id="290" name="Google Shape;290;g20a13254c08_0_59"/>
          <p:cNvSpPr txBox="1"/>
          <p:nvPr/>
        </p:nvSpPr>
        <p:spPr>
          <a:xfrm>
            <a:off x="452437" y="1427543"/>
            <a:ext cx="8239163" cy="136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lnSpc>
                <a:spcPct val="90000"/>
              </a:lnSpc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Алгоритм: на каждом шаге выбираем самый вероятный токен.</a:t>
            </a:r>
            <a:endParaRPr sz="525"/>
          </a:p>
          <a:p>
            <a:pPr>
              <a:lnSpc>
                <a:spcPct val="90000"/>
              </a:lnSpc>
              <a:spcBef>
                <a:spcPts val="1688"/>
              </a:spcBef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Сложность:  </a:t>
            </a:r>
            <a:endParaRPr sz="525"/>
          </a:p>
        </p:txBody>
      </p:sp>
      <p:graphicFrame>
        <p:nvGraphicFramePr>
          <p:cNvPr id="291" name="Google Shape;291;g20a13254c08_0_59"/>
          <p:cNvGraphicFramePr/>
          <p:nvPr/>
        </p:nvGraphicFramePr>
        <p:xfrm>
          <a:off x="1462092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0.4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2" name="Google Shape;292;g20a13254c08_0_59"/>
          <p:cNvGraphicFramePr/>
          <p:nvPr/>
        </p:nvGraphicFramePr>
        <p:xfrm>
          <a:off x="2851548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0.9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93" name="Google Shape;293;g20a13254c08_0_59"/>
          <p:cNvCxnSpPr/>
          <p:nvPr/>
        </p:nvCxnSpPr>
        <p:spPr>
          <a:xfrm>
            <a:off x="1991071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graphicFrame>
        <p:nvGraphicFramePr>
          <p:cNvPr id="294" name="Google Shape;294;g20a13254c08_0_59"/>
          <p:cNvGraphicFramePr/>
          <p:nvPr/>
        </p:nvGraphicFramePr>
        <p:xfrm>
          <a:off x="4241004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0.5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95" name="Google Shape;295;g20a13254c08_0_59"/>
          <p:cNvCxnSpPr/>
          <p:nvPr/>
        </p:nvCxnSpPr>
        <p:spPr>
          <a:xfrm>
            <a:off x="3380527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graphicFrame>
        <p:nvGraphicFramePr>
          <p:cNvPr id="296" name="Google Shape;296;g20a13254c08_0_59"/>
          <p:cNvGraphicFramePr/>
          <p:nvPr/>
        </p:nvGraphicFramePr>
        <p:xfrm>
          <a:off x="5698356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0.7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97" name="Google Shape;297;g20a13254c08_0_59"/>
          <p:cNvCxnSpPr/>
          <p:nvPr/>
        </p:nvCxnSpPr>
        <p:spPr>
          <a:xfrm>
            <a:off x="4837880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pic>
        <p:nvPicPr>
          <p:cNvPr id="298" name="Google Shape;298;g20a13254c08_0_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3938" y="1776137"/>
            <a:ext cx="703074" cy="4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0a13254c08_0_74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2231"/>
              <a:t>Greedy — простейшая стратегия выбора следующего слова</a:t>
            </a:r>
            <a:endParaRPr/>
          </a:p>
        </p:txBody>
      </p:sp>
      <p:sp>
        <p:nvSpPr>
          <p:cNvPr id="304" name="Google Shape;304;g20a13254c08_0_74"/>
          <p:cNvSpPr txBox="1"/>
          <p:nvPr/>
        </p:nvSpPr>
        <p:spPr>
          <a:xfrm>
            <a:off x="452437" y="1427543"/>
            <a:ext cx="8239163" cy="136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lnSpc>
                <a:spcPct val="90000"/>
              </a:lnSpc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Алгоритм: на каждом шаге выбираем самый вероятный токен.</a:t>
            </a:r>
            <a:endParaRPr sz="525"/>
          </a:p>
          <a:p>
            <a:pPr>
              <a:lnSpc>
                <a:spcPct val="90000"/>
              </a:lnSpc>
              <a:spcBef>
                <a:spcPts val="1688"/>
              </a:spcBef>
              <a:buSzPts val="4800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Сложность:  </a:t>
            </a:r>
            <a:endParaRPr sz="525"/>
          </a:p>
        </p:txBody>
      </p:sp>
      <p:graphicFrame>
        <p:nvGraphicFramePr>
          <p:cNvPr id="305" name="Google Shape;305;g20a13254c08_0_74"/>
          <p:cNvGraphicFramePr/>
          <p:nvPr/>
        </p:nvGraphicFramePr>
        <p:xfrm>
          <a:off x="1462092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0.4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6" name="Google Shape;306;g20a13254c08_0_74"/>
          <p:cNvGraphicFramePr/>
          <p:nvPr/>
        </p:nvGraphicFramePr>
        <p:xfrm>
          <a:off x="2851548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0.9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07" name="Google Shape;307;g20a13254c08_0_74"/>
          <p:cNvCxnSpPr/>
          <p:nvPr/>
        </p:nvCxnSpPr>
        <p:spPr>
          <a:xfrm>
            <a:off x="1991071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graphicFrame>
        <p:nvGraphicFramePr>
          <p:cNvPr id="308" name="Google Shape;308;g20a13254c08_0_74"/>
          <p:cNvGraphicFramePr/>
          <p:nvPr/>
        </p:nvGraphicFramePr>
        <p:xfrm>
          <a:off x="4241004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0.5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09" name="Google Shape;309;g20a13254c08_0_74"/>
          <p:cNvCxnSpPr/>
          <p:nvPr/>
        </p:nvCxnSpPr>
        <p:spPr>
          <a:xfrm>
            <a:off x="3380527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graphicFrame>
        <p:nvGraphicFramePr>
          <p:cNvPr id="310" name="Google Shape;310;g20a13254c08_0_74"/>
          <p:cNvGraphicFramePr/>
          <p:nvPr/>
        </p:nvGraphicFramePr>
        <p:xfrm>
          <a:off x="5698356" y="296915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0.7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11" name="Google Shape;311;g20a13254c08_0_74"/>
          <p:cNvCxnSpPr/>
          <p:nvPr/>
        </p:nvCxnSpPr>
        <p:spPr>
          <a:xfrm>
            <a:off x="4837880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12" name="Google Shape;312;g20a13254c08_0_74"/>
          <p:cNvCxnSpPr/>
          <p:nvPr/>
        </p:nvCxnSpPr>
        <p:spPr>
          <a:xfrm>
            <a:off x="6295233" y="3566990"/>
            <a:ext cx="786713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313" name="Google Shape;313;g20a13254c08_0_74"/>
          <p:cNvSpPr txBox="1"/>
          <p:nvPr/>
        </p:nvSpPr>
        <p:spPr>
          <a:xfrm>
            <a:off x="7153328" y="3447968"/>
            <a:ext cx="5285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BCCD</a:t>
            </a:r>
            <a:endParaRPr sz="525"/>
          </a:p>
        </p:txBody>
      </p:sp>
      <p:pic>
        <p:nvPicPr>
          <p:cNvPr id="314" name="Google Shape;314;g20a13254c08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3938" y="1776137"/>
            <a:ext cx="703074" cy="4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125" cy="5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pPr>
              <a:buSzPct val="100000"/>
            </a:pPr>
            <a:r>
              <a:rPr lang="en-US" sz="3060"/>
              <a:t>Beam search — ещё один способ генерации</a:t>
            </a:r>
            <a:endParaRPr/>
          </a:p>
        </p:txBody>
      </p:sp>
      <p:sp>
        <p:nvSpPr>
          <p:cNvPr id="320" name="Google Shape;320;p15"/>
          <p:cNvSpPr txBox="1">
            <a:spLocks noGrp="1"/>
          </p:cNvSpPr>
          <p:nvPr>
            <p:ph type="body" idx="2"/>
          </p:nvPr>
        </p:nvSpPr>
        <p:spPr>
          <a:xfrm>
            <a:off x="452438" y="1593189"/>
            <a:ext cx="8239125" cy="2420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indent="0">
              <a:spcBef>
                <a:spcPts val="0"/>
              </a:spcBef>
              <a:buSzPts val="4800"/>
              <a:buNone/>
            </a:pPr>
            <a:r>
              <a:rPr lang="en-US"/>
              <a:t>Основная идея: на каждом шаге поддерживать несколько самых вероятных гипотез. </a:t>
            </a:r>
            <a:endParaRPr/>
          </a:p>
          <a:p>
            <a:pPr marL="0" indent="0">
              <a:spcBef>
                <a:spcPts val="1688"/>
              </a:spcBef>
              <a:buSzPts val="4800"/>
              <a:buNone/>
            </a:pPr>
            <a:r>
              <a:rPr lang="en-US"/>
              <a:t>Сложность:          , где n — длина последовательности, k — количество гипотез.</a:t>
            </a:r>
            <a:endParaRPr/>
          </a:p>
          <a:p>
            <a:pPr marL="0" indent="0">
              <a:spcBef>
                <a:spcPts val="1688"/>
              </a:spcBef>
              <a:buSzPts val="4800"/>
              <a:buNone/>
            </a:pPr>
            <a:r>
              <a:rPr lang="en-US"/>
              <a:t>На практике параметр k не превышает шести.</a:t>
            </a:r>
            <a:endParaRPr/>
          </a:p>
        </p:txBody>
      </p:sp>
      <p:pic>
        <p:nvPicPr>
          <p:cNvPr id="321" name="Google Shape;32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6810" y="2251763"/>
            <a:ext cx="619172" cy="335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125" cy="5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8500"/>
            </a:pPr>
            <a:r>
              <a:rPr lang="en-US" sz="3188"/>
              <a:t>Пример работы </a:t>
            </a:r>
            <a:r>
              <a:rPr lang="en-US"/>
              <a:t>b</a:t>
            </a:r>
            <a:r>
              <a:rPr lang="en-US" sz="3188"/>
              <a:t>eam search</a:t>
            </a:r>
            <a:endParaRPr/>
          </a:p>
        </p:txBody>
      </p:sp>
      <p:graphicFrame>
        <p:nvGraphicFramePr>
          <p:cNvPr id="327" name="Google Shape;327;p16"/>
          <p:cNvGraphicFramePr/>
          <p:nvPr/>
        </p:nvGraphicFramePr>
        <p:xfrm>
          <a:off x="887597" y="2960264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0.4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8" name="Google Shape;328;p16"/>
          <p:cNvSpPr txBox="1"/>
          <p:nvPr/>
        </p:nvSpPr>
        <p:spPr>
          <a:xfrm>
            <a:off x="443240" y="1632318"/>
            <a:ext cx="13439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Параметр k=2 </a:t>
            </a:r>
            <a:endParaRPr sz="525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125" cy="5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8500"/>
            </a:pPr>
            <a:r>
              <a:rPr lang="en-US" sz="3188"/>
              <a:t>Пример работы </a:t>
            </a:r>
            <a:r>
              <a:rPr lang="en-US"/>
              <a:t>b</a:t>
            </a:r>
            <a:r>
              <a:rPr lang="en-US" sz="3188"/>
              <a:t>eam search</a:t>
            </a:r>
            <a:endParaRPr/>
          </a:p>
        </p:txBody>
      </p:sp>
      <p:graphicFrame>
        <p:nvGraphicFramePr>
          <p:cNvPr id="334" name="Google Shape;334;p17"/>
          <p:cNvGraphicFramePr/>
          <p:nvPr/>
        </p:nvGraphicFramePr>
        <p:xfrm>
          <a:off x="887597" y="2960264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0.4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5" name="Google Shape;335;p17"/>
          <p:cNvGraphicFramePr/>
          <p:nvPr/>
        </p:nvGraphicFramePr>
        <p:xfrm>
          <a:off x="2704782" y="2065942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0.5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0.5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6" name="Google Shape;336;p17"/>
          <p:cNvGraphicFramePr/>
          <p:nvPr/>
        </p:nvGraphicFramePr>
        <p:xfrm>
          <a:off x="2704782" y="365738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37" name="Google Shape;337;p17"/>
          <p:cNvCxnSpPr/>
          <p:nvPr/>
        </p:nvCxnSpPr>
        <p:spPr>
          <a:xfrm rot="10800000" flipH="1">
            <a:off x="1543577" y="2826193"/>
            <a:ext cx="1026941" cy="622753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38" name="Google Shape;338;p17"/>
          <p:cNvCxnSpPr/>
          <p:nvPr/>
        </p:nvCxnSpPr>
        <p:spPr>
          <a:xfrm>
            <a:off x="1546945" y="3443252"/>
            <a:ext cx="980691" cy="525128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339" name="Google Shape;339;p17"/>
          <p:cNvSpPr txBox="1"/>
          <p:nvPr/>
        </p:nvSpPr>
        <p:spPr>
          <a:xfrm rot="-1860000">
            <a:off x="1688810" y="2924377"/>
            <a:ext cx="4949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A=0.3</a:t>
            </a:r>
            <a:endParaRPr sz="525"/>
          </a:p>
        </p:txBody>
      </p:sp>
      <p:sp>
        <p:nvSpPr>
          <p:cNvPr id="340" name="Google Shape;340;p17"/>
          <p:cNvSpPr txBox="1"/>
          <p:nvPr/>
        </p:nvSpPr>
        <p:spPr>
          <a:xfrm rot="1680000">
            <a:off x="1536507" y="3653983"/>
            <a:ext cx="7995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B=0.4</a:t>
            </a:r>
            <a:endParaRPr sz="525"/>
          </a:p>
        </p:txBody>
      </p:sp>
      <p:sp>
        <p:nvSpPr>
          <p:cNvPr id="341" name="Google Shape;341;p17"/>
          <p:cNvSpPr txBox="1"/>
          <p:nvPr/>
        </p:nvSpPr>
        <p:spPr>
          <a:xfrm>
            <a:off x="443240" y="1632318"/>
            <a:ext cx="13439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Параметр k=2 </a:t>
            </a:r>
            <a:endParaRPr sz="525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"/>
          <p:cNvSpPr txBox="1">
            <a:spLocks noGrp="1"/>
          </p:cNvSpPr>
          <p:nvPr>
            <p:ph type="title"/>
          </p:nvPr>
        </p:nvSpPr>
        <p:spPr>
          <a:xfrm>
            <a:off x="452438" y="404813"/>
            <a:ext cx="8239125" cy="5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>
              <a:buSzPts val="8500"/>
            </a:pPr>
            <a:r>
              <a:rPr lang="en-US" sz="3188"/>
              <a:t>Пример работы </a:t>
            </a:r>
            <a:r>
              <a:rPr lang="en-US"/>
              <a:t>b</a:t>
            </a:r>
            <a:r>
              <a:rPr lang="en-US" sz="3188"/>
              <a:t>eam search</a:t>
            </a:r>
            <a:endParaRPr/>
          </a:p>
        </p:txBody>
      </p:sp>
      <p:graphicFrame>
        <p:nvGraphicFramePr>
          <p:cNvPr id="347" name="Google Shape;347;p18"/>
          <p:cNvGraphicFramePr/>
          <p:nvPr/>
        </p:nvGraphicFramePr>
        <p:xfrm>
          <a:off x="887597" y="2960264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0.4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8" name="Google Shape;348;p18"/>
          <p:cNvGraphicFramePr/>
          <p:nvPr/>
        </p:nvGraphicFramePr>
        <p:xfrm>
          <a:off x="2704782" y="2065942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0.5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0.5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9" name="Google Shape;349;p18"/>
          <p:cNvGraphicFramePr/>
          <p:nvPr/>
        </p:nvGraphicFramePr>
        <p:xfrm>
          <a:off x="2704782" y="365738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0.2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0.3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50" name="Google Shape;350;p18"/>
          <p:cNvCxnSpPr/>
          <p:nvPr/>
        </p:nvCxnSpPr>
        <p:spPr>
          <a:xfrm rot="10800000" flipH="1">
            <a:off x="1543577" y="2826193"/>
            <a:ext cx="1026941" cy="622753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51" name="Google Shape;351;p18"/>
          <p:cNvCxnSpPr/>
          <p:nvPr/>
        </p:nvCxnSpPr>
        <p:spPr>
          <a:xfrm>
            <a:off x="1546945" y="3443252"/>
            <a:ext cx="980691" cy="525128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graphicFrame>
        <p:nvGraphicFramePr>
          <p:cNvPr id="352" name="Google Shape;352;p18"/>
          <p:cNvGraphicFramePr/>
          <p:nvPr/>
        </p:nvGraphicFramePr>
        <p:xfrm>
          <a:off x="4521966" y="1270222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0.7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3" name="Google Shape;353;p18"/>
          <p:cNvGraphicFramePr/>
          <p:nvPr/>
        </p:nvGraphicFramePr>
        <p:xfrm>
          <a:off x="4521966" y="2861661"/>
          <a:ext cx="455268" cy="11956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А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B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C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1600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B41600"/>
                          </a:solidFill>
                        </a:rPr>
                        <a:t>0.1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D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16D01"/>
                        </a:buClr>
                        <a:buSzPts val="2100"/>
                        <a:buFont typeface="Helvetica Neue"/>
                        <a:buNone/>
                      </a:pPr>
                      <a:r>
                        <a:rPr lang="en-US" sz="800" b="1" u="none" strike="noStrike" cap="none">
                          <a:solidFill>
                            <a:srgbClr val="016D01"/>
                          </a:solidFill>
                        </a:rPr>
                        <a:t>0.9</a:t>
                      </a:r>
                      <a:endParaRPr sz="500" u="none" strike="noStrike" cap="none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54" name="Google Shape;354;p18"/>
          <p:cNvCxnSpPr/>
          <p:nvPr/>
        </p:nvCxnSpPr>
        <p:spPr>
          <a:xfrm rot="10800000" flipH="1">
            <a:off x="3341081" y="2030473"/>
            <a:ext cx="1026941" cy="622753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55" name="Google Shape;355;p18"/>
          <p:cNvCxnSpPr/>
          <p:nvPr/>
        </p:nvCxnSpPr>
        <p:spPr>
          <a:xfrm>
            <a:off x="3344449" y="2647533"/>
            <a:ext cx="980690" cy="525128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356" name="Google Shape;356;p18"/>
          <p:cNvSpPr txBox="1"/>
          <p:nvPr/>
        </p:nvSpPr>
        <p:spPr>
          <a:xfrm rot="-1860000">
            <a:off x="1688810" y="2924377"/>
            <a:ext cx="4949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A=0.3</a:t>
            </a:r>
            <a:endParaRPr sz="525"/>
          </a:p>
        </p:txBody>
      </p:sp>
      <p:sp>
        <p:nvSpPr>
          <p:cNvPr id="357" name="Google Shape;357;p18"/>
          <p:cNvSpPr txBox="1"/>
          <p:nvPr/>
        </p:nvSpPr>
        <p:spPr>
          <a:xfrm rot="-1860000">
            <a:off x="3388769" y="2114374"/>
            <a:ext cx="7995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AB=0.15</a:t>
            </a:r>
            <a:endParaRPr sz="525"/>
          </a:p>
        </p:txBody>
      </p:sp>
      <p:sp>
        <p:nvSpPr>
          <p:cNvPr id="358" name="Google Shape;358;p18"/>
          <p:cNvSpPr txBox="1"/>
          <p:nvPr/>
        </p:nvSpPr>
        <p:spPr>
          <a:xfrm rot="1740000">
            <a:off x="3345292" y="2858687"/>
            <a:ext cx="7995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AC=0.15</a:t>
            </a:r>
            <a:endParaRPr sz="525"/>
          </a:p>
        </p:txBody>
      </p:sp>
      <p:sp>
        <p:nvSpPr>
          <p:cNvPr id="359" name="Google Shape;359;p18"/>
          <p:cNvSpPr txBox="1"/>
          <p:nvPr/>
        </p:nvSpPr>
        <p:spPr>
          <a:xfrm rot="1680000">
            <a:off x="1536507" y="3653983"/>
            <a:ext cx="7995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B=0.4</a:t>
            </a:r>
            <a:endParaRPr sz="525"/>
          </a:p>
        </p:txBody>
      </p:sp>
      <p:cxnSp>
        <p:nvCxnSpPr>
          <p:cNvPr id="360" name="Google Shape;360;p18"/>
          <p:cNvCxnSpPr/>
          <p:nvPr/>
        </p:nvCxnSpPr>
        <p:spPr>
          <a:xfrm>
            <a:off x="5131178" y="1412338"/>
            <a:ext cx="786762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61" name="Google Shape;361;p18"/>
          <p:cNvCxnSpPr/>
          <p:nvPr/>
        </p:nvCxnSpPr>
        <p:spPr>
          <a:xfrm>
            <a:off x="5174060" y="3886044"/>
            <a:ext cx="786762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362" name="Google Shape;362;p18"/>
          <p:cNvSpPr txBox="1"/>
          <p:nvPr/>
        </p:nvSpPr>
        <p:spPr>
          <a:xfrm>
            <a:off x="5993114" y="1289228"/>
            <a:ext cx="91434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ABA=0.105</a:t>
            </a:r>
            <a:endParaRPr sz="525"/>
          </a:p>
        </p:txBody>
      </p:sp>
      <p:sp>
        <p:nvSpPr>
          <p:cNvPr id="363" name="Google Shape;363;p18"/>
          <p:cNvSpPr txBox="1"/>
          <p:nvPr/>
        </p:nvSpPr>
        <p:spPr>
          <a:xfrm>
            <a:off x="5985141" y="3762933"/>
            <a:ext cx="93028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ACD=0.135</a:t>
            </a:r>
            <a:endParaRPr sz="525"/>
          </a:p>
        </p:txBody>
      </p:sp>
      <p:sp>
        <p:nvSpPr>
          <p:cNvPr id="364" name="Google Shape;364;p18"/>
          <p:cNvSpPr txBox="1"/>
          <p:nvPr/>
        </p:nvSpPr>
        <p:spPr>
          <a:xfrm>
            <a:off x="443240" y="1632318"/>
            <a:ext cx="13439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algn="ctr">
              <a:buSzPts val="3600"/>
            </a:pPr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Параметр k=2 </a:t>
            </a:r>
            <a:endParaRPr sz="525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0a13254c08_0_416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Наивное сэмплирование</a:t>
            </a:r>
            <a:endParaRPr/>
          </a:p>
        </p:txBody>
      </p:sp>
      <p:sp>
        <p:nvSpPr>
          <p:cNvPr id="370" name="Google Shape;370;g20a13254c08_0_416"/>
          <p:cNvSpPr txBox="1"/>
          <p:nvPr/>
        </p:nvSpPr>
        <p:spPr>
          <a:xfrm>
            <a:off x="1454231" y="2652478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g20a13254c08_0_416"/>
          <p:cNvSpPr/>
          <p:nvPr/>
        </p:nvSpPr>
        <p:spPr>
          <a:xfrm>
            <a:off x="3083390" y="2378541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372" name="Google Shape;372;g20a13254c08_0_416"/>
          <p:cNvCxnSpPr>
            <a:stCxn id="370" idx="3"/>
            <a:endCxn id="371" idx="1"/>
          </p:cNvCxnSpPr>
          <p:nvPr/>
        </p:nvCxnSpPr>
        <p:spPr>
          <a:xfrm>
            <a:off x="2773069" y="2767888"/>
            <a:ext cx="310321" cy="1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73" name="Google Shape;373;g20a13254c08_0_416"/>
          <p:cNvGraphicFramePr/>
          <p:nvPr/>
        </p:nvGraphicFramePr>
        <p:xfrm>
          <a:off x="6725691" y="1966749"/>
          <a:ext cx="853313" cy="14211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5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Встречу</a:t>
                      </a:r>
                      <a:endParaRPr sz="1100" b="1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Учебу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Работу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На пляж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74" name="Google Shape;374;g20a13254c08_0_416"/>
          <p:cNvCxnSpPr>
            <a:stCxn id="371" idx="3"/>
          </p:cNvCxnSpPr>
          <p:nvPr/>
        </p:nvCxnSpPr>
        <p:spPr>
          <a:xfrm rot="10800000" flipH="1">
            <a:off x="4510903" y="2365490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" name="Google Shape;375;g20a13254c08_0_416"/>
          <p:cNvCxnSpPr/>
          <p:nvPr/>
        </p:nvCxnSpPr>
        <p:spPr>
          <a:xfrm>
            <a:off x="4510903" y="2772956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6" name="Google Shape;376;g20a13254c08_0_416"/>
          <p:cNvSpPr/>
          <p:nvPr/>
        </p:nvSpPr>
        <p:spPr>
          <a:xfrm>
            <a:off x="5939831" y="2056678"/>
            <a:ext cx="698175" cy="116325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377" name="Google Shape;377;g20a13254c08_0_416"/>
          <p:cNvSpPr/>
          <p:nvPr/>
        </p:nvSpPr>
        <p:spPr>
          <a:xfrm>
            <a:off x="6203531" y="2415600"/>
            <a:ext cx="434475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378" name="Google Shape;378;g20a13254c08_0_416"/>
          <p:cNvSpPr/>
          <p:nvPr/>
        </p:nvSpPr>
        <p:spPr>
          <a:xfrm>
            <a:off x="6361594" y="2767580"/>
            <a:ext cx="276413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379" name="Google Shape;379;g20a13254c08_0_416"/>
          <p:cNvSpPr/>
          <p:nvPr/>
        </p:nvSpPr>
        <p:spPr>
          <a:xfrm>
            <a:off x="5659031" y="3119559"/>
            <a:ext cx="978975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0a13254c08_0_89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Наивное сэмплирование</a:t>
            </a:r>
            <a:endParaRPr/>
          </a:p>
        </p:txBody>
      </p:sp>
      <p:sp>
        <p:nvSpPr>
          <p:cNvPr id="385" name="Google Shape;385;g20a13254c08_0_89"/>
          <p:cNvSpPr txBox="1"/>
          <p:nvPr/>
        </p:nvSpPr>
        <p:spPr>
          <a:xfrm>
            <a:off x="1454231" y="2652478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g20a13254c08_0_89"/>
          <p:cNvSpPr/>
          <p:nvPr/>
        </p:nvSpPr>
        <p:spPr>
          <a:xfrm>
            <a:off x="3083390" y="2378541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387" name="Google Shape;387;g20a13254c08_0_89"/>
          <p:cNvCxnSpPr>
            <a:stCxn id="385" idx="3"/>
            <a:endCxn id="386" idx="1"/>
          </p:cNvCxnSpPr>
          <p:nvPr/>
        </p:nvCxnSpPr>
        <p:spPr>
          <a:xfrm>
            <a:off x="2773069" y="2767888"/>
            <a:ext cx="310321" cy="1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88" name="Google Shape;388;g20a13254c08_0_89"/>
          <p:cNvGraphicFramePr/>
          <p:nvPr/>
        </p:nvGraphicFramePr>
        <p:xfrm>
          <a:off x="6725691" y="1966749"/>
          <a:ext cx="853313" cy="14211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5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Встречу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Учебу</a:t>
                      </a:r>
                      <a:endParaRPr sz="1100" b="1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Работу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На пляж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89" name="Google Shape;389;g20a13254c08_0_89"/>
          <p:cNvCxnSpPr>
            <a:stCxn id="386" idx="3"/>
          </p:cNvCxnSpPr>
          <p:nvPr/>
        </p:nvCxnSpPr>
        <p:spPr>
          <a:xfrm rot="10800000" flipH="1">
            <a:off x="4510903" y="2365490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0" name="Google Shape;390;g20a13254c08_0_89"/>
          <p:cNvCxnSpPr/>
          <p:nvPr/>
        </p:nvCxnSpPr>
        <p:spPr>
          <a:xfrm>
            <a:off x="4510903" y="2772956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" name="Google Shape;391;g20a13254c08_0_89"/>
          <p:cNvSpPr/>
          <p:nvPr/>
        </p:nvSpPr>
        <p:spPr>
          <a:xfrm>
            <a:off x="5939831" y="2056678"/>
            <a:ext cx="698175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392" name="Google Shape;392;g20a13254c08_0_89"/>
          <p:cNvSpPr/>
          <p:nvPr/>
        </p:nvSpPr>
        <p:spPr>
          <a:xfrm>
            <a:off x="6203531" y="2415600"/>
            <a:ext cx="434475" cy="1163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393" name="Google Shape;393;g20a13254c08_0_89"/>
          <p:cNvSpPr/>
          <p:nvPr/>
        </p:nvSpPr>
        <p:spPr>
          <a:xfrm>
            <a:off x="6361594" y="2767580"/>
            <a:ext cx="276413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394" name="Google Shape;394;g20a13254c08_0_89"/>
          <p:cNvSpPr/>
          <p:nvPr/>
        </p:nvSpPr>
        <p:spPr>
          <a:xfrm>
            <a:off x="5659031" y="3119559"/>
            <a:ext cx="978975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0a13254c08_0_430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Проблема наивного сэмплирования</a:t>
            </a:r>
            <a:endParaRPr/>
          </a:p>
        </p:txBody>
      </p:sp>
      <p:sp>
        <p:nvSpPr>
          <p:cNvPr id="400" name="Google Shape;400;g20a13254c08_0_430"/>
          <p:cNvSpPr txBox="1"/>
          <p:nvPr/>
        </p:nvSpPr>
        <p:spPr>
          <a:xfrm>
            <a:off x="1454231" y="2652478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g20a13254c08_0_430"/>
          <p:cNvSpPr/>
          <p:nvPr/>
        </p:nvSpPr>
        <p:spPr>
          <a:xfrm>
            <a:off x="3083390" y="2378541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402" name="Google Shape;402;g20a13254c08_0_430"/>
          <p:cNvCxnSpPr>
            <a:stCxn id="400" idx="3"/>
            <a:endCxn id="401" idx="1"/>
          </p:cNvCxnSpPr>
          <p:nvPr/>
        </p:nvCxnSpPr>
        <p:spPr>
          <a:xfrm>
            <a:off x="2773069" y="2767888"/>
            <a:ext cx="310321" cy="1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03" name="Google Shape;403;g20a13254c08_0_430"/>
          <p:cNvGraphicFramePr/>
          <p:nvPr/>
        </p:nvGraphicFramePr>
        <p:xfrm>
          <a:off x="6725691" y="1966749"/>
          <a:ext cx="853313" cy="14211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5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Встречу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Учебу</a:t>
                      </a:r>
                      <a:endParaRPr sz="1100" b="1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Работу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На пляж</a:t>
                      </a:r>
                      <a:endParaRPr sz="1100"/>
                    </a:p>
                  </a:txBody>
                  <a:tcPr marL="34284" marR="34284" marT="34284" marB="3428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04" name="Google Shape;404;g20a13254c08_0_430"/>
          <p:cNvCxnSpPr>
            <a:stCxn id="401" idx="3"/>
          </p:cNvCxnSpPr>
          <p:nvPr/>
        </p:nvCxnSpPr>
        <p:spPr>
          <a:xfrm rot="10800000" flipH="1">
            <a:off x="4510903" y="2365490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" name="Google Shape;405;g20a13254c08_0_430"/>
          <p:cNvCxnSpPr/>
          <p:nvPr/>
        </p:nvCxnSpPr>
        <p:spPr>
          <a:xfrm>
            <a:off x="4510903" y="2772956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6" name="Google Shape;406;g20a13254c08_0_430"/>
          <p:cNvSpPr/>
          <p:nvPr/>
        </p:nvSpPr>
        <p:spPr>
          <a:xfrm>
            <a:off x="5939831" y="2056678"/>
            <a:ext cx="698175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07" name="Google Shape;407;g20a13254c08_0_430"/>
          <p:cNvSpPr/>
          <p:nvPr/>
        </p:nvSpPr>
        <p:spPr>
          <a:xfrm>
            <a:off x="6203531" y="2415600"/>
            <a:ext cx="434475" cy="1163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08" name="Google Shape;408;g20a13254c08_0_430"/>
          <p:cNvSpPr/>
          <p:nvPr/>
        </p:nvSpPr>
        <p:spPr>
          <a:xfrm>
            <a:off x="6361594" y="2767580"/>
            <a:ext cx="276413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09" name="Google Shape;409;g20a13254c08_0_430"/>
          <p:cNvSpPr/>
          <p:nvPr/>
        </p:nvSpPr>
        <p:spPr>
          <a:xfrm>
            <a:off x="5659031" y="3119559"/>
            <a:ext cx="978975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graphicFrame>
        <p:nvGraphicFramePr>
          <p:cNvPr id="410" name="Google Shape;410;g20a13254c08_0_430"/>
          <p:cNvGraphicFramePr/>
          <p:nvPr/>
        </p:nvGraphicFramePr>
        <p:xfrm>
          <a:off x="6725691" y="3482387"/>
          <a:ext cx="853313" cy="14211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5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вчера</a:t>
                      </a:r>
                      <a:endParaRPr sz="1100"/>
                    </a:p>
                  </a:txBody>
                  <a:tcPr marL="34284" marR="34284" marT="34284" marB="34284" anchor="ctr">
                    <a:lnL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машина</a:t>
                      </a:r>
                      <a:endParaRPr sz="1100"/>
                    </a:p>
                  </a:txBody>
                  <a:tcPr marL="34284" marR="34284" marT="34284" marB="34284" anchor="ctr">
                    <a:lnL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хорошо</a:t>
                      </a:r>
                      <a:endParaRPr sz="1100"/>
                    </a:p>
                  </a:txBody>
                  <a:tcPr marL="34284" marR="34284" marT="34284" marB="34284" anchor="ctr">
                    <a:lnL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…</a:t>
                      </a:r>
                      <a:endParaRPr sz="1100"/>
                    </a:p>
                  </a:txBody>
                  <a:tcPr marL="34284" marR="34284" marT="34284" marB="34284" anchor="ctr">
                    <a:lnL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A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1" name="Google Shape;411;g20a13254c08_0_430"/>
          <p:cNvSpPr/>
          <p:nvPr/>
        </p:nvSpPr>
        <p:spPr>
          <a:xfrm>
            <a:off x="6551184" y="3585009"/>
            <a:ext cx="86850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12" name="Google Shape;412;g20a13254c08_0_430"/>
          <p:cNvSpPr/>
          <p:nvPr/>
        </p:nvSpPr>
        <p:spPr>
          <a:xfrm>
            <a:off x="6473606" y="3913688"/>
            <a:ext cx="164363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13" name="Google Shape;413;g20a13254c08_0_430"/>
          <p:cNvSpPr/>
          <p:nvPr/>
        </p:nvSpPr>
        <p:spPr>
          <a:xfrm>
            <a:off x="6551119" y="4288913"/>
            <a:ext cx="86850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14" name="Google Shape;414;g20a13254c08_0_430"/>
          <p:cNvSpPr/>
          <p:nvPr/>
        </p:nvSpPr>
        <p:spPr>
          <a:xfrm>
            <a:off x="6551119" y="4609828"/>
            <a:ext cx="86850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15" name="Google Shape;415;g20a13254c08_0_430"/>
          <p:cNvSpPr txBox="1"/>
          <p:nvPr/>
        </p:nvSpPr>
        <p:spPr>
          <a:xfrm rot="5400000">
            <a:off x="7334737" y="4077545"/>
            <a:ext cx="1171463" cy="2308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Длинный хвост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0a13254c08_0_451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Top-k сэмплирование</a:t>
            </a:r>
            <a:endParaRPr/>
          </a:p>
        </p:txBody>
      </p:sp>
      <p:sp>
        <p:nvSpPr>
          <p:cNvPr id="421" name="Google Shape;421;g20a13254c08_0_451"/>
          <p:cNvSpPr txBox="1"/>
          <p:nvPr/>
        </p:nvSpPr>
        <p:spPr>
          <a:xfrm>
            <a:off x="934453" y="2675756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2" name="Google Shape;422;g20a13254c08_0_451"/>
          <p:cNvSpPr/>
          <p:nvPr/>
        </p:nvSpPr>
        <p:spPr>
          <a:xfrm>
            <a:off x="2563612" y="2401819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423" name="Google Shape;423;g20a13254c08_0_451"/>
          <p:cNvCxnSpPr>
            <a:stCxn id="421" idx="3"/>
            <a:endCxn id="422" idx="1"/>
          </p:cNvCxnSpPr>
          <p:nvPr/>
        </p:nvCxnSpPr>
        <p:spPr>
          <a:xfrm>
            <a:off x="2253291" y="2791166"/>
            <a:ext cx="310321" cy="1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" name="Google Shape;424;g20a13254c08_0_451"/>
          <p:cNvCxnSpPr>
            <a:stCxn id="422" idx="3"/>
          </p:cNvCxnSpPr>
          <p:nvPr/>
        </p:nvCxnSpPr>
        <p:spPr>
          <a:xfrm rot="10800000" flipH="1">
            <a:off x="3991125" y="2388769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5" name="Google Shape;425;g20a13254c08_0_451"/>
          <p:cNvCxnSpPr/>
          <p:nvPr/>
        </p:nvCxnSpPr>
        <p:spPr>
          <a:xfrm>
            <a:off x="3991125" y="2796234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6" name="Google Shape;426;g20a13254c08_0_451"/>
          <p:cNvSpPr/>
          <p:nvPr/>
        </p:nvSpPr>
        <p:spPr>
          <a:xfrm>
            <a:off x="5420053" y="2079956"/>
            <a:ext cx="698175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27" name="Google Shape;427;g20a13254c08_0_451"/>
          <p:cNvSpPr/>
          <p:nvPr/>
        </p:nvSpPr>
        <p:spPr>
          <a:xfrm>
            <a:off x="5683753" y="2438878"/>
            <a:ext cx="434475" cy="116325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28" name="Google Shape;428;g20a13254c08_0_451"/>
          <p:cNvSpPr/>
          <p:nvPr/>
        </p:nvSpPr>
        <p:spPr>
          <a:xfrm>
            <a:off x="5841815" y="2790858"/>
            <a:ext cx="276413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29" name="Google Shape;429;g20a13254c08_0_451"/>
          <p:cNvSpPr/>
          <p:nvPr/>
        </p:nvSpPr>
        <p:spPr>
          <a:xfrm>
            <a:off x="5139253" y="3142838"/>
            <a:ext cx="978975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graphicFrame>
        <p:nvGraphicFramePr>
          <p:cNvPr id="430" name="Google Shape;430;g20a13254c08_0_451"/>
          <p:cNvGraphicFramePr/>
          <p:nvPr/>
        </p:nvGraphicFramePr>
        <p:xfrm>
          <a:off x="6208950" y="1922681"/>
          <a:ext cx="785400" cy="274424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8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30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Встречу</a:t>
                      </a:r>
                      <a:endParaRPr sz="1100"/>
                    </a:p>
                  </a:txBody>
                  <a:tcPr marL="34284" marR="34284" marT="34284" marB="34284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Учебу</a:t>
                      </a:r>
                      <a:endParaRPr sz="1100" b="1"/>
                    </a:p>
                  </a:txBody>
                  <a:tcPr marL="34284" marR="34284" marT="34284" marB="34284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Работу</a:t>
                      </a:r>
                      <a:endParaRPr sz="1100"/>
                    </a:p>
                  </a:txBody>
                  <a:tcPr marL="34284" marR="34284" marT="34284" marB="34284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0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На пляж</a:t>
                      </a:r>
                      <a:endParaRPr sz="1100"/>
                    </a:p>
                  </a:txBody>
                  <a:tcPr marL="34284" marR="34284" marT="34284" marB="34284" anchor="ctr">
                    <a:lnL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0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вчера</a:t>
                      </a:r>
                      <a:endParaRPr sz="1100"/>
                    </a:p>
                  </a:txBody>
                  <a:tcPr marL="34284" marR="34284" marT="34284" marB="34284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0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машина</a:t>
                      </a:r>
                      <a:endParaRPr sz="1100"/>
                    </a:p>
                  </a:txBody>
                  <a:tcPr marL="34284" marR="34284" marT="34284" marB="34284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0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хорошо</a:t>
                      </a:r>
                      <a:endParaRPr sz="1100"/>
                    </a:p>
                  </a:txBody>
                  <a:tcPr marL="34284" marR="34284" marT="34284" marB="34284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03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…</a:t>
                      </a:r>
                      <a:endParaRPr sz="1100"/>
                    </a:p>
                  </a:txBody>
                  <a:tcPr marL="34284" marR="34284" marT="34284" marB="34284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31" name="Google Shape;431;g20a13254c08_0_451"/>
          <p:cNvSpPr/>
          <p:nvPr/>
        </p:nvSpPr>
        <p:spPr>
          <a:xfrm>
            <a:off x="6031378" y="3429863"/>
            <a:ext cx="86850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32" name="Google Shape;432;g20a13254c08_0_451"/>
          <p:cNvSpPr/>
          <p:nvPr/>
        </p:nvSpPr>
        <p:spPr>
          <a:xfrm>
            <a:off x="5953800" y="3758541"/>
            <a:ext cx="164363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33" name="Google Shape;433;g20a13254c08_0_451"/>
          <p:cNvSpPr/>
          <p:nvPr/>
        </p:nvSpPr>
        <p:spPr>
          <a:xfrm>
            <a:off x="6031313" y="4133766"/>
            <a:ext cx="86850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34" name="Google Shape;434;g20a13254c08_0_451"/>
          <p:cNvSpPr/>
          <p:nvPr/>
        </p:nvSpPr>
        <p:spPr>
          <a:xfrm>
            <a:off x="6031313" y="4454681"/>
            <a:ext cx="86850" cy="11632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35" name="Google Shape;435;g20a13254c08_0_451"/>
          <p:cNvSpPr txBox="1"/>
          <p:nvPr/>
        </p:nvSpPr>
        <p:spPr>
          <a:xfrm>
            <a:off x="452437" y="1161872"/>
            <a:ext cx="6773738" cy="27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350">
                <a:latin typeface="Helvetica Neue"/>
                <a:ea typeface="Helvetica Neue"/>
                <a:cs typeface="Helvetica Neue"/>
                <a:sym typeface="Helvetica Neue"/>
              </a:rPr>
              <a:t>Возьмем K наиболее вероятных токенов, где K — фиксированный гиперпараметр</a:t>
            </a:r>
            <a:endParaRPr sz="13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6" name="Google Shape;436;g20a13254c08_0_451"/>
          <p:cNvSpPr txBox="1"/>
          <p:nvPr/>
        </p:nvSpPr>
        <p:spPr>
          <a:xfrm>
            <a:off x="3665241" y="4571006"/>
            <a:ext cx="1055025" cy="20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900" u="sng">
                <a:latin typeface="Helvetica Neue"/>
                <a:ea typeface="Helvetica Neue"/>
                <a:cs typeface="Helvetica Neue"/>
                <a:sym typeface="Helvetica Neue"/>
              </a:rPr>
              <a:t>Пример для k=4</a:t>
            </a:r>
            <a:endParaRPr sz="900" u="sng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0a13254c08_0_477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Проблемы top-k сэмплирования</a:t>
            </a:r>
            <a:endParaRPr/>
          </a:p>
        </p:txBody>
      </p:sp>
      <p:sp>
        <p:nvSpPr>
          <p:cNvPr id="442" name="Google Shape;442;g20a13254c08_0_477"/>
          <p:cNvSpPr txBox="1"/>
          <p:nvPr/>
        </p:nvSpPr>
        <p:spPr>
          <a:xfrm>
            <a:off x="452437" y="1934091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g20a13254c08_0_477"/>
          <p:cNvSpPr/>
          <p:nvPr/>
        </p:nvSpPr>
        <p:spPr>
          <a:xfrm>
            <a:off x="2081597" y="1660153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444" name="Google Shape;444;g20a13254c08_0_477"/>
          <p:cNvCxnSpPr>
            <a:stCxn id="442" idx="3"/>
            <a:endCxn id="443" idx="1"/>
          </p:cNvCxnSpPr>
          <p:nvPr/>
        </p:nvCxnSpPr>
        <p:spPr>
          <a:xfrm>
            <a:off x="1771275" y="2049501"/>
            <a:ext cx="310322" cy="1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5" name="Google Shape;445;g20a13254c08_0_477"/>
          <p:cNvCxnSpPr>
            <a:stCxn id="443" idx="3"/>
          </p:cNvCxnSpPr>
          <p:nvPr/>
        </p:nvCxnSpPr>
        <p:spPr>
          <a:xfrm rot="10800000" flipH="1">
            <a:off x="3509109" y="1647103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g20a13254c08_0_477"/>
          <p:cNvCxnSpPr/>
          <p:nvPr/>
        </p:nvCxnSpPr>
        <p:spPr>
          <a:xfrm>
            <a:off x="3509109" y="2054569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7" name="Google Shape;447;g20a13254c08_0_477"/>
          <p:cNvSpPr/>
          <p:nvPr/>
        </p:nvSpPr>
        <p:spPr>
          <a:xfrm>
            <a:off x="4394494" y="1280447"/>
            <a:ext cx="1427513" cy="116325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48" name="Google Shape;448;g20a13254c08_0_477"/>
          <p:cNvSpPr/>
          <p:nvPr/>
        </p:nvSpPr>
        <p:spPr>
          <a:xfrm>
            <a:off x="4394494" y="1849172"/>
            <a:ext cx="139613" cy="116325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49" name="Google Shape;449;g20a13254c08_0_477"/>
          <p:cNvSpPr/>
          <p:nvPr/>
        </p:nvSpPr>
        <p:spPr>
          <a:xfrm>
            <a:off x="4394494" y="2417897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50" name="Google Shape;450;g20a13254c08_0_477"/>
          <p:cNvSpPr/>
          <p:nvPr/>
        </p:nvSpPr>
        <p:spPr>
          <a:xfrm>
            <a:off x="4394494" y="1564809"/>
            <a:ext cx="232763" cy="116325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51" name="Google Shape;451;g20a13254c08_0_477"/>
          <p:cNvSpPr/>
          <p:nvPr/>
        </p:nvSpPr>
        <p:spPr>
          <a:xfrm>
            <a:off x="4394494" y="2133534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52" name="Google Shape;452;g20a13254c08_0_477"/>
          <p:cNvSpPr/>
          <p:nvPr/>
        </p:nvSpPr>
        <p:spPr>
          <a:xfrm>
            <a:off x="4394494" y="2702259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53" name="Google Shape;453;g20a13254c08_0_477"/>
          <p:cNvSpPr txBox="1"/>
          <p:nvPr/>
        </p:nvSpPr>
        <p:spPr>
          <a:xfrm>
            <a:off x="6403791" y="1720510"/>
            <a:ext cx="1830825" cy="65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275">
                <a:latin typeface="Helvetica Neue"/>
                <a:ea typeface="Helvetica Neue"/>
                <a:cs typeface="Helvetica Neue"/>
                <a:sym typeface="Helvetica Neue"/>
              </a:rPr>
              <a:t>Top-k сэмплирование оставляет слишком много слов</a:t>
            </a:r>
            <a:endParaRPr sz="127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54" name="Google Shape;454;g20a13254c08_0_477"/>
          <p:cNvCxnSpPr/>
          <p:nvPr/>
        </p:nvCxnSpPr>
        <p:spPr>
          <a:xfrm>
            <a:off x="4394494" y="2057672"/>
            <a:ext cx="1598175" cy="1293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0a13254c08_0_513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Проблемы top-k сэмплирования</a:t>
            </a:r>
            <a:endParaRPr/>
          </a:p>
        </p:txBody>
      </p:sp>
      <p:sp>
        <p:nvSpPr>
          <p:cNvPr id="460" name="Google Shape;460;g20a13254c08_0_513"/>
          <p:cNvSpPr txBox="1"/>
          <p:nvPr/>
        </p:nvSpPr>
        <p:spPr>
          <a:xfrm>
            <a:off x="452437" y="1934091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1" name="Google Shape;461;g20a13254c08_0_513"/>
          <p:cNvSpPr/>
          <p:nvPr/>
        </p:nvSpPr>
        <p:spPr>
          <a:xfrm>
            <a:off x="2081597" y="1660153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462" name="Google Shape;462;g20a13254c08_0_513"/>
          <p:cNvCxnSpPr>
            <a:stCxn id="460" idx="3"/>
            <a:endCxn id="461" idx="1"/>
          </p:cNvCxnSpPr>
          <p:nvPr/>
        </p:nvCxnSpPr>
        <p:spPr>
          <a:xfrm>
            <a:off x="1771275" y="2049501"/>
            <a:ext cx="310322" cy="1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3" name="Google Shape;463;g20a13254c08_0_513"/>
          <p:cNvCxnSpPr>
            <a:stCxn id="461" idx="3"/>
          </p:cNvCxnSpPr>
          <p:nvPr/>
        </p:nvCxnSpPr>
        <p:spPr>
          <a:xfrm rot="10800000" flipH="1">
            <a:off x="3509109" y="1647103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4" name="Google Shape;464;g20a13254c08_0_513"/>
          <p:cNvCxnSpPr/>
          <p:nvPr/>
        </p:nvCxnSpPr>
        <p:spPr>
          <a:xfrm>
            <a:off x="3509109" y="2054569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5" name="Google Shape;465;g20a13254c08_0_513"/>
          <p:cNvSpPr/>
          <p:nvPr/>
        </p:nvSpPr>
        <p:spPr>
          <a:xfrm>
            <a:off x="4394494" y="1280447"/>
            <a:ext cx="1427513" cy="116325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66" name="Google Shape;466;g20a13254c08_0_513"/>
          <p:cNvSpPr/>
          <p:nvPr/>
        </p:nvSpPr>
        <p:spPr>
          <a:xfrm>
            <a:off x="4394494" y="1849172"/>
            <a:ext cx="139613" cy="116325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67" name="Google Shape;467;g20a13254c08_0_513"/>
          <p:cNvSpPr/>
          <p:nvPr/>
        </p:nvSpPr>
        <p:spPr>
          <a:xfrm>
            <a:off x="4394494" y="2417897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68" name="Google Shape;468;g20a13254c08_0_513"/>
          <p:cNvSpPr/>
          <p:nvPr/>
        </p:nvSpPr>
        <p:spPr>
          <a:xfrm>
            <a:off x="4394494" y="1564809"/>
            <a:ext cx="232763" cy="116325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69" name="Google Shape;469;g20a13254c08_0_513"/>
          <p:cNvSpPr/>
          <p:nvPr/>
        </p:nvSpPr>
        <p:spPr>
          <a:xfrm>
            <a:off x="4394494" y="2133534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70" name="Google Shape;470;g20a13254c08_0_513"/>
          <p:cNvSpPr/>
          <p:nvPr/>
        </p:nvSpPr>
        <p:spPr>
          <a:xfrm>
            <a:off x="4394494" y="2702259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71" name="Google Shape;471;g20a13254c08_0_513"/>
          <p:cNvSpPr txBox="1"/>
          <p:nvPr/>
        </p:nvSpPr>
        <p:spPr>
          <a:xfrm>
            <a:off x="452437" y="3884175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2" name="Google Shape;472;g20a13254c08_0_513"/>
          <p:cNvSpPr/>
          <p:nvPr/>
        </p:nvSpPr>
        <p:spPr>
          <a:xfrm>
            <a:off x="2081597" y="3610238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473" name="Google Shape;473;g20a13254c08_0_513"/>
          <p:cNvCxnSpPr>
            <a:stCxn id="471" idx="3"/>
            <a:endCxn id="472" idx="1"/>
          </p:cNvCxnSpPr>
          <p:nvPr/>
        </p:nvCxnSpPr>
        <p:spPr>
          <a:xfrm>
            <a:off x="1771275" y="3999585"/>
            <a:ext cx="310322" cy="1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4" name="Google Shape;474;g20a13254c08_0_513"/>
          <p:cNvCxnSpPr>
            <a:stCxn id="472" idx="3"/>
          </p:cNvCxnSpPr>
          <p:nvPr/>
        </p:nvCxnSpPr>
        <p:spPr>
          <a:xfrm rot="10800000" flipH="1">
            <a:off x="3509109" y="3597187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" name="Google Shape;475;g20a13254c08_0_513"/>
          <p:cNvCxnSpPr/>
          <p:nvPr/>
        </p:nvCxnSpPr>
        <p:spPr>
          <a:xfrm>
            <a:off x="3509109" y="4004653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6" name="Google Shape;476;g20a13254c08_0_513"/>
          <p:cNvSpPr/>
          <p:nvPr/>
        </p:nvSpPr>
        <p:spPr>
          <a:xfrm>
            <a:off x="4394494" y="3230531"/>
            <a:ext cx="628425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77" name="Google Shape;477;g20a13254c08_0_513"/>
          <p:cNvSpPr/>
          <p:nvPr/>
        </p:nvSpPr>
        <p:spPr>
          <a:xfrm>
            <a:off x="4394494" y="3799256"/>
            <a:ext cx="496463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78" name="Google Shape;478;g20a13254c08_0_513"/>
          <p:cNvSpPr/>
          <p:nvPr/>
        </p:nvSpPr>
        <p:spPr>
          <a:xfrm>
            <a:off x="4394494" y="4367981"/>
            <a:ext cx="387900" cy="116325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79" name="Google Shape;479;g20a13254c08_0_513"/>
          <p:cNvSpPr/>
          <p:nvPr/>
        </p:nvSpPr>
        <p:spPr>
          <a:xfrm>
            <a:off x="4394494" y="3514894"/>
            <a:ext cx="558563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80" name="Google Shape;480;g20a13254c08_0_513"/>
          <p:cNvSpPr/>
          <p:nvPr/>
        </p:nvSpPr>
        <p:spPr>
          <a:xfrm>
            <a:off x="4394494" y="4083619"/>
            <a:ext cx="434475" cy="116325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81" name="Google Shape;481;g20a13254c08_0_513"/>
          <p:cNvSpPr/>
          <p:nvPr/>
        </p:nvSpPr>
        <p:spPr>
          <a:xfrm>
            <a:off x="4394494" y="4652344"/>
            <a:ext cx="310275" cy="116325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482" name="Google Shape;482;g20a13254c08_0_513"/>
          <p:cNvSpPr txBox="1"/>
          <p:nvPr/>
        </p:nvSpPr>
        <p:spPr>
          <a:xfrm>
            <a:off x="6403791" y="1720510"/>
            <a:ext cx="1830825" cy="65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275">
                <a:latin typeface="Helvetica Neue"/>
                <a:ea typeface="Helvetica Neue"/>
                <a:cs typeface="Helvetica Neue"/>
                <a:sym typeface="Helvetica Neue"/>
              </a:rPr>
              <a:t>Top-k сэмплирование оставляет слишком много слов</a:t>
            </a:r>
            <a:endParaRPr sz="127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3" name="Google Shape;483;g20a13254c08_0_513"/>
          <p:cNvSpPr txBox="1"/>
          <p:nvPr/>
        </p:nvSpPr>
        <p:spPr>
          <a:xfrm>
            <a:off x="6437672" y="3597188"/>
            <a:ext cx="1830825" cy="65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275">
                <a:latin typeface="Helvetica Neue"/>
                <a:ea typeface="Helvetica Neue"/>
                <a:cs typeface="Helvetica Neue"/>
                <a:sym typeface="Helvetica Neue"/>
              </a:rPr>
              <a:t>Top-k сэмплирование оставляет слишком мало слов</a:t>
            </a:r>
            <a:endParaRPr sz="127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84" name="Google Shape;484;g20a13254c08_0_513"/>
          <p:cNvCxnSpPr/>
          <p:nvPr/>
        </p:nvCxnSpPr>
        <p:spPr>
          <a:xfrm>
            <a:off x="4394494" y="2057672"/>
            <a:ext cx="1598175" cy="1293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85" name="Google Shape;485;g20a13254c08_0_513"/>
          <p:cNvCxnSpPr/>
          <p:nvPr/>
        </p:nvCxnSpPr>
        <p:spPr>
          <a:xfrm>
            <a:off x="4394494" y="3993131"/>
            <a:ext cx="1598175" cy="1293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0a13254c08_0_543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Top-p (nucleus) сэмплирование</a:t>
            </a:r>
            <a:endParaRPr/>
          </a:p>
        </p:txBody>
      </p:sp>
      <p:sp>
        <p:nvSpPr>
          <p:cNvPr id="491" name="Google Shape;491;g20a13254c08_0_543"/>
          <p:cNvSpPr txBox="1"/>
          <p:nvPr/>
        </p:nvSpPr>
        <p:spPr>
          <a:xfrm>
            <a:off x="452438" y="1216238"/>
            <a:ext cx="7720200" cy="461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275">
                <a:latin typeface="Helvetica Neue"/>
                <a:ea typeface="Helvetica Neue"/>
                <a:cs typeface="Helvetica Neue"/>
                <a:sym typeface="Helvetica Neue"/>
              </a:rPr>
              <a:t>Параметр k подбирается динамически так, чтобы суммарная вероятность k наиболее вероятных токенов была выше некоторого порога p. P является фиксированным гиперпараметром. </a:t>
            </a:r>
            <a:endParaRPr sz="127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0a13254c08_0_585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Top-p (nucleus) сэмплирование</a:t>
            </a:r>
            <a:endParaRPr/>
          </a:p>
        </p:txBody>
      </p:sp>
      <p:sp>
        <p:nvSpPr>
          <p:cNvPr id="497" name="Google Shape;497;g20a13254c08_0_585"/>
          <p:cNvSpPr txBox="1"/>
          <p:nvPr/>
        </p:nvSpPr>
        <p:spPr>
          <a:xfrm>
            <a:off x="452437" y="2456325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8" name="Google Shape;498;g20a13254c08_0_585"/>
          <p:cNvSpPr/>
          <p:nvPr/>
        </p:nvSpPr>
        <p:spPr>
          <a:xfrm>
            <a:off x="2081597" y="2182388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499" name="Google Shape;499;g20a13254c08_0_585"/>
          <p:cNvCxnSpPr>
            <a:stCxn id="497" idx="3"/>
            <a:endCxn id="498" idx="1"/>
          </p:cNvCxnSpPr>
          <p:nvPr/>
        </p:nvCxnSpPr>
        <p:spPr>
          <a:xfrm>
            <a:off x="1771275" y="2571735"/>
            <a:ext cx="310322" cy="1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0" name="Google Shape;500;g20a13254c08_0_585"/>
          <p:cNvCxnSpPr>
            <a:stCxn id="498" idx="3"/>
          </p:cNvCxnSpPr>
          <p:nvPr/>
        </p:nvCxnSpPr>
        <p:spPr>
          <a:xfrm rot="10800000" flipH="1">
            <a:off x="3509109" y="2169337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1" name="Google Shape;501;g20a13254c08_0_585"/>
          <p:cNvCxnSpPr/>
          <p:nvPr/>
        </p:nvCxnSpPr>
        <p:spPr>
          <a:xfrm>
            <a:off x="3509109" y="2576803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2" name="Google Shape;502;g20a13254c08_0_585"/>
          <p:cNvSpPr/>
          <p:nvPr/>
        </p:nvSpPr>
        <p:spPr>
          <a:xfrm>
            <a:off x="4394494" y="1802681"/>
            <a:ext cx="1427513" cy="116325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0.9</a:t>
            </a:r>
            <a:endParaRPr sz="900" b="1"/>
          </a:p>
        </p:txBody>
      </p:sp>
      <p:sp>
        <p:nvSpPr>
          <p:cNvPr id="503" name="Google Shape;503;g20a13254c08_0_585"/>
          <p:cNvSpPr/>
          <p:nvPr/>
        </p:nvSpPr>
        <p:spPr>
          <a:xfrm>
            <a:off x="4394494" y="2371406"/>
            <a:ext cx="139613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504" name="Google Shape;504;g20a13254c08_0_585"/>
          <p:cNvSpPr/>
          <p:nvPr/>
        </p:nvSpPr>
        <p:spPr>
          <a:xfrm>
            <a:off x="4394494" y="2940131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505" name="Google Shape;505;g20a13254c08_0_585"/>
          <p:cNvSpPr/>
          <p:nvPr/>
        </p:nvSpPr>
        <p:spPr>
          <a:xfrm>
            <a:off x="4394494" y="2087044"/>
            <a:ext cx="232763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506" name="Google Shape;506;g20a13254c08_0_585"/>
          <p:cNvSpPr/>
          <p:nvPr/>
        </p:nvSpPr>
        <p:spPr>
          <a:xfrm>
            <a:off x="4394494" y="2655769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507" name="Google Shape;507;g20a13254c08_0_585"/>
          <p:cNvSpPr txBox="1"/>
          <p:nvPr/>
        </p:nvSpPr>
        <p:spPr>
          <a:xfrm>
            <a:off x="452438" y="1216238"/>
            <a:ext cx="7720200" cy="461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275">
                <a:latin typeface="Helvetica Neue"/>
                <a:ea typeface="Helvetica Neue"/>
                <a:cs typeface="Helvetica Neue"/>
                <a:sym typeface="Helvetica Neue"/>
              </a:rPr>
              <a:t>Параметр k подбирается динамически так, чтобы суммарная вероятность k наиболее вероятных токенов была выше некоторого порога p. P является фиксированным гиперпараметром. </a:t>
            </a:r>
            <a:endParaRPr sz="127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08" name="Google Shape;508;g20a13254c08_0_585"/>
          <p:cNvCxnSpPr/>
          <p:nvPr/>
        </p:nvCxnSpPr>
        <p:spPr>
          <a:xfrm>
            <a:off x="4394494" y="1996556"/>
            <a:ext cx="1598175" cy="1293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0a13254c08_0_613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/>
          </a:bodyPr>
          <a:lstStyle/>
          <a:p>
            <a:r>
              <a:rPr lang="en-US"/>
              <a:t>Top-p (nucleus) сэмплирование</a:t>
            </a:r>
            <a:endParaRPr/>
          </a:p>
        </p:txBody>
      </p:sp>
      <p:sp>
        <p:nvSpPr>
          <p:cNvPr id="514" name="Google Shape;514;g20a13254c08_0_613"/>
          <p:cNvSpPr txBox="1"/>
          <p:nvPr/>
        </p:nvSpPr>
        <p:spPr>
          <a:xfrm>
            <a:off x="452437" y="2456325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5" name="Google Shape;515;g20a13254c08_0_613"/>
          <p:cNvSpPr/>
          <p:nvPr/>
        </p:nvSpPr>
        <p:spPr>
          <a:xfrm>
            <a:off x="2081597" y="2182388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516" name="Google Shape;516;g20a13254c08_0_613"/>
          <p:cNvCxnSpPr>
            <a:stCxn id="514" idx="3"/>
            <a:endCxn id="515" idx="1"/>
          </p:cNvCxnSpPr>
          <p:nvPr/>
        </p:nvCxnSpPr>
        <p:spPr>
          <a:xfrm>
            <a:off x="1771275" y="2571735"/>
            <a:ext cx="310322" cy="1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" name="Google Shape;517;g20a13254c08_0_613"/>
          <p:cNvCxnSpPr>
            <a:stCxn id="515" idx="3"/>
          </p:cNvCxnSpPr>
          <p:nvPr/>
        </p:nvCxnSpPr>
        <p:spPr>
          <a:xfrm rot="10800000" flipH="1">
            <a:off x="3509109" y="2169337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" name="Google Shape;518;g20a13254c08_0_613"/>
          <p:cNvCxnSpPr/>
          <p:nvPr/>
        </p:nvCxnSpPr>
        <p:spPr>
          <a:xfrm>
            <a:off x="3509109" y="2576803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9" name="Google Shape;519;g20a13254c08_0_613"/>
          <p:cNvSpPr/>
          <p:nvPr/>
        </p:nvSpPr>
        <p:spPr>
          <a:xfrm>
            <a:off x="4394494" y="1802681"/>
            <a:ext cx="1427513" cy="116325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0.9</a:t>
            </a:r>
            <a:endParaRPr sz="900" b="1"/>
          </a:p>
        </p:txBody>
      </p:sp>
      <p:sp>
        <p:nvSpPr>
          <p:cNvPr id="520" name="Google Shape;520;g20a13254c08_0_613"/>
          <p:cNvSpPr/>
          <p:nvPr/>
        </p:nvSpPr>
        <p:spPr>
          <a:xfrm>
            <a:off x="4394494" y="2371406"/>
            <a:ext cx="139613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521" name="Google Shape;521;g20a13254c08_0_613"/>
          <p:cNvSpPr/>
          <p:nvPr/>
        </p:nvSpPr>
        <p:spPr>
          <a:xfrm>
            <a:off x="4394494" y="2940131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522" name="Google Shape;522;g20a13254c08_0_613"/>
          <p:cNvSpPr/>
          <p:nvPr/>
        </p:nvSpPr>
        <p:spPr>
          <a:xfrm>
            <a:off x="4394494" y="2087044"/>
            <a:ext cx="232763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523" name="Google Shape;523;g20a13254c08_0_613"/>
          <p:cNvSpPr/>
          <p:nvPr/>
        </p:nvSpPr>
        <p:spPr>
          <a:xfrm>
            <a:off x="4394494" y="2655769"/>
            <a:ext cx="86850" cy="1163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endParaRPr sz="525"/>
          </a:p>
        </p:txBody>
      </p:sp>
      <p:sp>
        <p:nvSpPr>
          <p:cNvPr id="524" name="Google Shape;524;g20a13254c08_0_613"/>
          <p:cNvSpPr txBox="1"/>
          <p:nvPr/>
        </p:nvSpPr>
        <p:spPr>
          <a:xfrm>
            <a:off x="452438" y="1216238"/>
            <a:ext cx="7720200" cy="461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275">
                <a:latin typeface="Helvetica Neue"/>
                <a:ea typeface="Helvetica Neue"/>
                <a:cs typeface="Helvetica Neue"/>
                <a:sym typeface="Helvetica Neue"/>
              </a:rPr>
              <a:t>Параметр k подбирается динамически так, чтобы суммарная вероятность k наиболее вероятных токенов была выше некоторого порога p. P является фиксированным гиперпараметром. </a:t>
            </a:r>
            <a:endParaRPr sz="127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25" name="Google Shape;525;g20a13254c08_0_613"/>
          <p:cNvCxnSpPr/>
          <p:nvPr/>
        </p:nvCxnSpPr>
        <p:spPr>
          <a:xfrm>
            <a:off x="4394494" y="1996556"/>
            <a:ext cx="1598175" cy="1293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26" name="Google Shape;526;g20a13254c08_0_613"/>
          <p:cNvSpPr txBox="1"/>
          <p:nvPr/>
        </p:nvSpPr>
        <p:spPr>
          <a:xfrm>
            <a:off x="452437" y="4001831"/>
            <a:ext cx="1318838" cy="2308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r>
              <a:rPr lang="en-US" sz="1050">
                <a:latin typeface="Helvetica Neue"/>
                <a:ea typeface="Helvetica Neue"/>
                <a:cs typeface="Helvetica Neue"/>
                <a:sym typeface="Helvetica Neue"/>
              </a:rPr>
              <a:t>Они сейчас едут на</a:t>
            </a:r>
            <a:endParaRPr sz="10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7" name="Google Shape;527;g20a13254c08_0_613"/>
          <p:cNvSpPr/>
          <p:nvPr/>
        </p:nvSpPr>
        <p:spPr>
          <a:xfrm>
            <a:off x="2081597" y="3727894"/>
            <a:ext cx="1427513" cy="778725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</a:rPr>
              <a:t>Языковая модель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528" name="Google Shape;528;g20a13254c08_0_613"/>
          <p:cNvCxnSpPr>
            <a:stCxn id="526" idx="3"/>
            <a:endCxn id="527" idx="1"/>
          </p:cNvCxnSpPr>
          <p:nvPr/>
        </p:nvCxnSpPr>
        <p:spPr>
          <a:xfrm>
            <a:off x="1771275" y="4117241"/>
            <a:ext cx="310322" cy="1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9" name="Google Shape;529;g20a13254c08_0_613"/>
          <p:cNvCxnSpPr>
            <a:stCxn id="527" idx="3"/>
          </p:cNvCxnSpPr>
          <p:nvPr/>
        </p:nvCxnSpPr>
        <p:spPr>
          <a:xfrm rot="10800000" flipH="1">
            <a:off x="3509109" y="3714844"/>
            <a:ext cx="853313" cy="4024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0" name="Google Shape;530;g20a13254c08_0_613"/>
          <p:cNvCxnSpPr/>
          <p:nvPr/>
        </p:nvCxnSpPr>
        <p:spPr>
          <a:xfrm>
            <a:off x="3509109" y="4122309"/>
            <a:ext cx="845550" cy="345038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1" name="Google Shape;531;g20a13254c08_0_613"/>
          <p:cNvSpPr/>
          <p:nvPr/>
        </p:nvSpPr>
        <p:spPr>
          <a:xfrm>
            <a:off x="4394494" y="3348188"/>
            <a:ext cx="628425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/>
              <a:t>0.2</a:t>
            </a:r>
            <a:endParaRPr sz="900" b="1"/>
          </a:p>
        </p:txBody>
      </p:sp>
      <p:sp>
        <p:nvSpPr>
          <p:cNvPr id="532" name="Google Shape;532;g20a13254c08_0_613"/>
          <p:cNvSpPr/>
          <p:nvPr/>
        </p:nvSpPr>
        <p:spPr>
          <a:xfrm>
            <a:off x="4394494" y="3916913"/>
            <a:ext cx="496463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</a:rPr>
              <a:t>0.14</a:t>
            </a:r>
            <a:endParaRPr sz="525"/>
          </a:p>
        </p:txBody>
      </p:sp>
      <p:sp>
        <p:nvSpPr>
          <p:cNvPr id="533" name="Google Shape;533;g20a13254c08_0_613"/>
          <p:cNvSpPr/>
          <p:nvPr/>
        </p:nvSpPr>
        <p:spPr>
          <a:xfrm>
            <a:off x="4394494" y="4485638"/>
            <a:ext cx="387900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</a:rPr>
              <a:t>0.1</a:t>
            </a:r>
            <a:endParaRPr sz="525"/>
          </a:p>
        </p:txBody>
      </p:sp>
      <p:sp>
        <p:nvSpPr>
          <p:cNvPr id="534" name="Google Shape;534;g20a13254c08_0_613"/>
          <p:cNvSpPr/>
          <p:nvPr/>
        </p:nvSpPr>
        <p:spPr>
          <a:xfrm>
            <a:off x="4394494" y="3632550"/>
            <a:ext cx="558563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</a:rPr>
              <a:t>0.16</a:t>
            </a:r>
            <a:endParaRPr sz="525"/>
          </a:p>
        </p:txBody>
      </p:sp>
      <p:sp>
        <p:nvSpPr>
          <p:cNvPr id="535" name="Google Shape;535;g20a13254c08_0_613"/>
          <p:cNvSpPr/>
          <p:nvPr/>
        </p:nvSpPr>
        <p:spPr>
          <a:xfrm>
            <a:off x="4394494" y="4201275"/>
            <a:ext cx="434475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</a:rPr>
              <a:t>0.12</a:t>
            </a:r>
            <a:endParaRPr sz="525"/>
          </a:p>
        </p:txBody>
      </p:sp>
      <p:sp>
        <p:nvSpPr>
          <p:cNvPr id="536" name="Google Shape;536;g20a13254c08_0_613"/>
          <p:cNvSpPr/>
          <p:nvPr/>
        </p:nvSpPr>
        <p:spPr>
          <a:xfrm>
            <a:off x="4394494" y="4770000"/>
            <a:ext cx="310275" cy="116325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34284" tIns="34284" rIns="34284" bIns="34284" anchor="ctr" anchorCtr="0">
            <a:no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</a:rPr>
              <a:t>0.08</a:t>
            </a:r>
            <a:endParaRPr sz="525"/>
          </a:p>
        </p:txBody>
      </p:sp>
      <p:cxnSp>
        <p:nvCxnSpPr>
          <p:cNvPr id="537" name="Google Shape;537;g20a13254c08_0_613"/>
          <p:cNvCxnSpPr/>
          <p:nvPr/>
        </p:nvCxnSpPr>
        <p:spPr>
          <a:xfrm>
            <a:off x="4394494" y="4979681"/>
            <a:ext cx="1598175" cy="12938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0a13254c08_0_641"/>
          <p:cNvSpPr txBox="1">
            <a:spLocks noGrp="1"/>
          </p:cNvSpPr>
          <p:nvPr>
            <p:ph type="title"/>
          </p:nvPr>
        </p:nvSpPr>
        <p:spPr>
          <a:xfrm>
            <a:off x="452437" y="404812"/>
            <a:ext cx="8239163" cy="537413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normAutofit fontScale="90000"/>
          </a:bodyPr>
          <a:lstStyle/>
          <a:p>
            <a:r>
              <a:rPr lang="en-US"/>
              <a:t>Зачем нужны различные методы генерации</a:t>
            </a:r>
            <a:endParaRPr/>
          </a:p>
        </p:txBody>
      </p:sp>
      <p:cxnSp>
        <p:nvCxnSpPr>
          <p:cNvPr id="543" name="Google Shape;543;g20a13254c08_0_641"/>
          <p:cNvCxnSpPr/>
          <p:nvPr/>
        </p:nvCxnSpPr>
        <p:spPr>
          <a:xfrm rot="10800000" flipH="1">
            <a:off x="871481" y="2241309"/>
            <a:ext cx="7401038" cy="7763"/>
          </a:xfrm>
          <a:prstGeom prst="straightConnector1">
            <a:avLst/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44" name="Google Shape;544;g20a13254c08_0_641"/>
          <p:cNvSpPr txBox="1"/>
          <p:nvPr/>
        </p:nvSpPr>
        <p:spPr>
          <a:xfrm>
            <a:off x="3447113" y="1892222"/>
            <a:ext cx="2249775" cy="23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1050" b="1">
                <a:latin typeface="Helvetica Neue"/>
                <a:ea typeface="Helvetica Neue"/>
                <a:cs typeface="Helvetica Neue"/>
                <a:sym typeface="Helvetica Neue"/>
              </a:rPr>
              <a:t>Генеративные задачи в NLP</a:t>
            </a:r>
            <a:endParaRPr sz="105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g20a13254c08_0_641"/>
          <p:cNvSpPr txBox="1"/>
          <p:nvPr/>
        </p:nvSpPr>
        <p:spPr>
          <a:xfrm>
            <a:off x="686203" y="1707497"/>
            <a:ext cx="768038" cy="41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750">
                <a:latin typeface="Helvetica Neue"/>
                <a:ea typeface="Helvetica Neue"/>
                <a:cs typeface="Helvetica Neue"/>
                <a:sym typeface="Helvetica Neue"/>
              </a:rPr>
              <a:t>Менее разнообразная генерация</a:t>
            </a:r>
            <a:endParaRPr sz="7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g20a13254c08_0_641"/>
          <p:cNvSpPr txBox="1"/>
          <p:nvPr/>
        </p:nvSpPr>
        <p:spPr>
          <a:xfrm>
            <a:off x="7689759" y="1671553"/>
            <a:ext cx="768038" cy="41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750">
                <a:latin typeface="Helvetica Neue"/>
                <a:ea typeface="Helvetica Neue"/>
                <a:cs typeface="Helvetica Neue"/>
                <a:sym typeface="Helvetica Neue"/>
              </a:rPr>
              <a:t>Более разнообразная генерация</a:t>
            </a:r>
            <a:endParaRPr sz="7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7" name="Google Shape;547;g20a13254c08_0_641"/>
          <p:cNvSpPr txBox="1"/>
          <p:nvPr/>
        </p:nvSpPr>
        <p:spPr>
          <a:xfrm>
            <a:off x="1244775" y="2483681"/>
            <a:ext cx="1055025" cy="4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Машинный перевод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8" name="Google Shape;548;g20a13254c08_0_641"/>
          <p:cNvSpPr txBox="1"/>
          <p:nvPr/>
        </p:nvSpPr>
        <p:spPr>
          <a:xfrm>
            <a:off x="2442328" y="2576044"/>
            <a:ext cx="1222875" cy="253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Суммаризация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9" name="Google Shape;549;g20a13254c08_0_641"/>
          <p:cNvSpPr txBox="1"/>
          <p:nvPr/>
        </p:nvSpPr>
        <p:spPr>
          <a:xfrm>
            <a:off x="4322597" y="2483681"/>
            <a:ext cx="1222875" cy="4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Диалоговое моделирование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g20a13254c08_0_641"/>
          <p:cNvSpPr txBox="1"/>
          <p:nvPr/>
        </p:nvSpPr>
        <p:spPr>
          <a:xfrm>
            <a:off x="6536456" y="2483681"/>
            <a:ext cx="1222875" cy="4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Генерация историй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51" name="Google Shape;551;g20a13254c08_0_641"/>
          <p:cNvCxnSpPr/>
          <p:nvPr/>
        </p:nvCxnSpPr>
        <p:spPr>
          <a:xfrm rot="10800000" flipH="1">
            <a:off x="871481" y="3548156"/>
            <a:ext cx="7401038" cy="7763"/>
          </a:xfrm>
          <a:prstGeom prst="straightConnector1">
            <a:avLst/>
          </a:prstGeom>
          <a:noFill/>
          <a:ln w="114300" cap="flat" cmpd="sng">
            <a:solidFill>
              <a:srgbClr val="E06666"/>
            </a:solidFill>
            <a:prstDash val="dot"/>
            <a:round/>
            <a:headEnd type="stealth" w="med" len="med"/>
            <a:tailEnd type="stealth" w="med" len="med"/>
          </a:ln>
        </p:spPr>
      </p:cxnSp>
      <p:sp>
        <p:nvSpPr>
          <p:cNvPr id="552" name="Google Shape;552;g20a13254c08_0_641"/>
          <p:cNvSpPr txBox="1"/>
          <p:nvPr/>
        </p:nvSpPr>
        <p:spPr>
          <a:xfrm>
            <a:off x="1782909" y="3797222"/>
            <a:ext cx="1129838" cy="323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825">
                <a:latin typeface="Helvetica Neue"/>
                <a:ea typeface="Helvetica Neue"/>
                <a:cs typeface="Helvetica Neue"/>
                <a:sym typeface="Helvetica Neue"/>
              </a:rPr>
              <a:t>Детерминированные алгоритмы</a:t>
            </a:r>
            <a:endParaRPr sz="82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3" name="Google Shape;553;g20a13254c08_0_641"/>
          <p:cNvSpPr txBox="1"/>
          <p:nvPr/>
        </p:nvSpPr>
        <p:spPr>
          <a:xfrm>
            <a:off x="5696887" y="3797222"/>
            <a:ext cx="1129838" cy="19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84" tIns="34284" rIns="34284" bIns="34284" anchor="t" anchorCtr="0">
            <a:spAutoFit/>
          </a:bodyPr>
          <a:lstStyle/>
          <a:p>
            <a:pPr algn="ctr"/>
            <a:r>
              <a:rPr lang="en-US" sz="825">
                <a:latin typeface="Helvetica Neue"/>
                <a:ea typeface="Helvetica Neue"/>
                <a:cs typeface="Helvetica Neue"/>
                <a:sym typeface="Helvetica Neue"/>
              </a:rPr>
              <a:t>Сэмплирование</a:t>
            </a:r>
            <a:endParaRPr sz="82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r>
              <a:rPr lang="ru"/>
              <a:t>Спасибо </a:t>
            </a:r>
            <a:endParaRPr/>
          </a:p>
          <a:p>
            <a:r>
              <a:rPr lang="ru"/>
              <a:t>за внимание!</a:t>
            </a: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550ACE-0CEE-44E2-9107-E3C511DB23D2}"/>
              </a:ext>
            </a:extLst>
          </p:cNvPr>
          <p:cNvSpPr/>
          <p:nvPr/>
        </p:nvSpPr>
        <p:spPr>
          <a:xfrm>
            <a:off x="6129338" y="246460"/>
            <a:ext cx="1210866" cy="503634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167096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2367</Words>
  <Application>Microsoft Office PowerPoint</Application>
  <PresentationFormat>Экран (16:9)</PresentationFormat>
  <Paragraphs>857</Paragraphs>
  <Slides>80</Slides>
  <Notes>76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80</vt:i4>
      </vt:variant>
    </vt:vector>
  </HeadingPairs>
  <TitlesOfParts>
    <vt:vector size="88" baseType="lpstr">
      <vt:lpstr>Verdana</vt:lpstr>
      <vt:lpstr>Calibri</vt:lpstr>
      <vt:lpstr>Arial</vt:lpstr>
      <vt:lpstr>Cambria Math</vt:lpstr>
      <vt:lpstr>Times New Roman</vt:lpstr>
      <vt:lpstr>Montserrat</vt:lpstr>
      <vt:lpstr>Helvetica Neue</vt:lpstr>
      <vt:lpstr>21_BasicWhite</vt:lpstr>
      <vt:lpstr>Введение в глубокое обучение</vt:lpstr>
      <vt:lpstr>План занятия</vt:lpstr>
      <vt:lpstr>1. Понятие языкового моделирования</vt:lpstr>
      <vt:lpstr>Понятие языкового моделирования</vt:lpstr>
      <vt:lpstr>Понятие языкового моделирования</vt:lpstr>
      <vt:lpstr>Понятие языкового моделирования</vt:lpstr>
      <vt:lpstr>Тест Тьюринга</vt:lpstr>
      <vt:lpstr>Языковые модели вокруг нас</vt:lpstr>
      <vt:lpstr>ChatGPT тоже является языковой моделью </vt:lpstr>
      <vt:lpstr>Формальная постановка</vt:lpstr>
      <vt:lpstr>Формальная постановка</vt:lpstr>
      <vt:lpstr>Формальная постановка</vt:lpstr>
      <vt:lpstr>Посчитаем вероятность текста</vt:lpstr>
      <vt:lpstr>Посчитаем вероятность текста</vt:lpstr>
      <vt:lpstr>Пример подсчёта вероятности текста</vt:lpstr>
      <vt:lpstr>Пример подсчёта вероятности текста</vt:lpstr>
      <vt:lpstr>Пример подсчёта вероятности текста</vt:lpstr>
      <vt:lpstr>Пример подсчёта вероятности текста</vt:lpstr>
      <vt:lpstr>Пример подсчёта вероятности текста</vt:lpstr>
      <vt:lpstr>Пример подсчёта вероятности текста</vt:lpstr>
      <vt:lpstr>Формула перплексии</vt:lpstr>
      <vt:lpstr>Формула перплексии</vt:lpstr>
      <vt:lpstr>Почему языковое моделирование — важная задача?</vt:lpstr>
      <vt:lpstr>2. N-граммы</vt:lpstr>
      <vt:lpstr>С помощью чего можем решить эту задачу?</vt:lpstr>
      <vt:lpstr>С помощью чего можем решить эту задачу?</vt:lpstr>
      <vt:lpstr>С помощью чего можем решить эту задачу?</vt:lpstr>
      <vt:lpstr>С помощью чего можем решить эту задачу?</vt:lpstr>
      <vt:lpstr>N-граммная модель</vt:lpstr>
      <vt:lpstr>Пример расчета вероятности </vt:lpstr>
      <vt:lpstr>N-граммные модели на практике</vt:lpstr>
      <vt:lpstr>N-граммные модели на практике</vt:lpstr>
      <vt:lpstr>N-граммные модели на практике</vt:lpstr>
      <vt:lpstr>N-граммные модели на практике</vt:lpstr>
      <vt:lpstr>Плюсы и минусы N-граммных моделей</vt:lpstr>
      <vt:lpstr>3. Обучение RNN для решения задачи языкового моделирования</vt:lpstr>
      <vt:lpstr>RNN</vt:lpstr>
      <vt:lpstr>Как обучить языковую модель с помощью RNN</vt:lpstr>
      <vt:lpstr>Как обучить языковую модель с помощью RNN</vt:lpstr>
      <vt:lpstr>Как обучить языковую модель с помощью RNN</vt:lpstr>
      <vt:lpstr>Как обучить языковую модель с помощью RNN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Расчет лосса</vt:lpstr>
      <vt:lpstr>Плюсы и минусы RNN для решения задачи языкового моделирования</vt:lpstr>
      <vt:lpstr>4. Алгоритмы генерации</vt:lpstr>
      <vt:lpstr>Как генерировать текст с помощью языковой модели</vt:lpstr>
      <vt:lpstr>Как генерировать текст с помощью языковой модели</vt:lpstr>
      <vt:lpstr>Как генерировать текст с помощью языковой модели</vt:lpstr>
      <vt:lpstr>Как генерировать текст с помощью языковой модели</vt:lpstr>
      <vt:lpstr>Greedy — простейшая стратегия выбора следующего слова</vt:lpstr>
      <vt:lpstr>Greedy — простейшая стратегия выбора следующего слова</vt:lpstr>
      <vt:lpstr>Greedy — простейшая стратегия выбора следующего слова</vt:lpstr>
      <vt:lpstr>Greedy — простейшая стратегия выбора следующего слова</vt:lpstr>
      <vt:lpstr>Greedy — простейшая стратегия выбора следующего слова</vt:lpstr>
      <vt:lpstr>Greedy — простейшая стратегия выбора следующего слова</vt:lpstr>
      <vt:lpstr>Beam search — ещё один способ генерации</vt:lpstr>
      <vt:lpstr>Пример работы beam search</vt:lpstr>
      <vt:lpstr>Пример работы beam search</vt:lpstr>
      <vt:lpstr>Пример работы beam search</vt:lpstr>
      <vt:lpstr>Наивное сэмплирование</vt:lpstr>
      <vt:lpstr>Наивное сэмплирование</vt:lpstr>
      <vt:lpstr>Проблема наивного сэмплирования</vt:lpstr>
      <vt:lpstr>Top-k сэмплирование</vt:lpstr>
      <vt:lpstr>Проблемы top-k сэмплирования</vt:lpstr>
      <vt:lpstr>Проблемы top-k сэмплирования</vt:lpstr>
      <vt:lpstr>Top-p (nucleus) сэмплирование</vt:lpstr>
      <vt:lpstr>Top-p (nucleus) сэмплирование</vt:lpstr>
      <vt:lpstr>Top-p (nucleus) сэмплирование</vt:lpstr>
      <vt:lpstr>Зачем нужны различные методы генерации</vt:lpstr>
      <vt:lpstr>Спасибо 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глубокое обучение</dc:title>
  <cp:lastModifiedBy>Константин Некрасов</cp:lastModifiedBy>
  <cp:revision>13</cp:revision>
  <dcterms:modified xsi:type="dcterms:W3CDTF">2025-05-30T13:40:06Z</dcterms:modified>
</cp:coreProperties>
</file>