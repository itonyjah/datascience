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4"/>
  </p:notesMasterIdLst>
  <p:sldIdLst>
    <p:sldId id="256" r:id="rId2"/>
    <p:sldId id="316" r:id="rId3"/>
    <p:sldId id="317" r:id="rId4"/>
    <p:sldId id="318" r:id="rId5"/>
    <p:sldId id="319" r:id="rId6"/>
    <p:sldId id="320" r:id="rId7"/>
    <p:sldId id="321" r:id="rId8"/>
    <p:sldId id="322" r:id="rId9"/>
    <p:sldId id="323" r:id="rId10"/>
    <p:sldId id="324" r:id="rId11"/>
    <p:sldId id="356" r:id="rId12"/>
    <p:sldId id="325" r:id="rId13"/>
    <p:sldId id="326" r:id="rId14"/>
    <p:sldId id="327" r:id="rId15"/>
    <p:sldId id="328" r:id="rId16"/>
    <p:sldId id="329" r:id="rId17"/>
    <p:sldId id="330" r:id="rId18"/>
    <p:sldId id="331" r:id="rId19"/>
    <p:sldId id="332" r:id="rId20"/>
    <p:sldId id="333" r:id="rId21"/>
    <p:sldId id="334" r:id="rId22"/>
    <p:sldId id="335" r:id="rId23"/>
    <p:sldId id="336" r:id="rId24"/>
    <p:sldId id="337" r:id="rId25"/>
    <p:sldId id="338" r:id="rId26"/>
    <p:sldId id="339" r:id="rId27"/>
    <p:sldId id="340" r:id="rId28"/>
    <p:sldId id="341" r:id="rId29"/>
    <p:sldId id="342" r:id="rId30"/>
    <p:sldId id="343" r:id="rId31"/>
    <p:sldId id="344" r:id="rId32"/>
    <p:sldId id="345" r:id="rId33"/>
    <p:sldId id="346" r:id="rId34"/>
    <p:sldId id="347" r:id="rId35"/>
    <p:sldId id="348" r:id="rId36"/>
    <p:sldId id="349" r:id="rId37"/>
    <p:sldId id="350" r:id="rId38"/>
    <p:sldId id="351" r:id="rId39"/>
    <p:sldId id="352" r:id="rId40"/>
    <p:sldId id="353" r:id="rId41"/>
    <p:sldId id="354" r:id="rId42"/>
    <p:sldId id="355" r:id="rId43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49" d="100"/>
          <a:sy n="149" d="100"/>
        </p:scale>
        <p:origin x="612" y="12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308A18-61CD-4C50-AC76-D258B703E89A}" type="datetimeFigureOut">
              <a:rPr lang="ru-RU" smtClean="0"/>
              <a:t>06.06.2025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2DA8BC-9430-403B-AD69-2A65F5CB62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40913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25317fca73c_0_3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25317fca73c_0_3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029548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2528d50a88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4" name="Google Shape;774;g2528d50a88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627893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7460" y="613867"/>
            <a:ext cx="9551670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 5">
  <p:cSld name="Титульный слайд 5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ctrTitle"/>
          </p:nvPr>
        </p:nvSpPr>
        <p:spPr>
          <a:xfrm>
            <a:off x="279233" y="240000"/>
            <a:ext cx="7485600" cy="273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4000"/>
              <a:buFont typeface="Montserrat"/>
              <a:buNone/>
              <a:defRPr sz="5333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21" name="Google Shape;21;p4" descr="Название курса" title="Название курса"/>
          <p:cNvSpPr txBox="1">
            <a:spLocks noGrp="1"/>
          </p:cNvSpPr>
          <p:nvPr>
            <p:ph type="subTitle" idx="1"/>
          </p:nvPr>
        </p:nvSpPr>
        <p:spPr>
          <a:xfrm>
            <a:off x="306500" y="2415400"/>
            <a:ext cx="65484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400"/>
              <a:buFont typeface="Montserrat"/>
              <a:buNone/>
              <a:defRPr sz="32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2" name="Google Shape;22;p4" descr="Название курса" title="Название курса"/>
          <p:cNvSpPr txBox="1">
            <a:spLocks noGrp="1"/>
          </p:cNvSpPr>
          <p:nvPr>
            <p:ph type="subTitle" idx="2"/>
          </p:nvPr>
        </p:nvSpPr>
        <p:spPr>
          <a:xfrm>
            <a:off x="333767" y="5510233"/>
            <a:ext cx="6548400" cy="108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1800"/>
              <a:buFont typeface="Montserrat"/>
              <a:buNone/>
              <a:defRPr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pic>
        <p:nvPicPr>
          <p:cNvPr id="23" name="Google Shape;23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99268" y="398402"/>
            <a:ext cx="3612733" cy="529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89369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пасибо 2">
  <p:cSld name="Спасибо 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43"/>
          <p:cNvSpPr txBox="1">
            <a:spLocks noGrp="1"/>
          </p:cNvSpPr>
          <p:nvPr>
            <p:ph type="title"/>
          </p:nvPr>
        </p:nvSpPr>
        <p:spPr>
          <a:xfrm>
            <a:off x="279267" y="234300"/>
            <a:ext cx="8240000" cy="257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Font typeface="Montserrat"/>
              <a:buNone/>
              <a:defRPr sz="5333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4800"/>
              <a:buNone/>
              <a:defRPr sz="6400">
                <a:solidFill>
                  <a:srgbClr val="181818"/>
                </a:solidFill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4800"/>
              <a:buNone/>
              <a:defRPr sz="6400">
                <a:solidFill>
                  <a:srgbClr val="181818"/>
                </a:solidFill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4800"/>
              <a:buNone/>
              <a:defRPr sz="6400">
                <a:solidFill>
                  <a:srgbClr val="181818"/>
                </a:solidFill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4800"/>
              <a:buNone/>
              <a:defRPr sz="6400">
                <a:solidFill>
                  <a:srgbClr val="181818"/>
                </a:solidFill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4800"/>
              <a:buNone/>
              <a:defRPr sz="6400">
                <a:solidFill>
                  <a:srgbClr val="181818"/>
                </a:solidFill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4800"/>
              <a:buNone/>
              <a:defRPr sz="6400">
                <a:solidFill>
                  <a:srgbClr val="181818"/>
                </a:solidFill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4800"/>
              <a:buNone/>
              <a:defRPr sz="6400">
                <a:solidFill>
                  <a:srgbClr val="181818"/>
                </a:solidFill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4800"/>
              <a:buNone/>
              <a:defRPr sz="6400">
                <a:solidFill>
                  <a:srgbClr val="181818"/>
                </a:solidFill>
              </a:defRPr>
            </a:lvl9pPr>
          </a:lstStyle>
          <a:p>
            <a:endParaRPr/>
          </a:p>
        </p:txBody>
      </p:sp>
      <p:pic>
        <p:nvPicPr>
          <p:cNvPr id="194" name="Google Shape;194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35269" y="403201"/>
            <a:ext cx="3578367" cy="5244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8770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21208" y="613867"/>
            <a:ext cx="11149583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402328" y="1354772"/>
            <a:ext cx="4995545" cy="16738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t.me/+TGTG6GhUh5M0NTEy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6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jpg"/><Relationship Id="rId5" Type="http://schemas.openxmlformats.org/officeDocument/2006/relationships/image" Target="../media/image7.jp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g"/><Relationship Id="rId5" Type="http://schemas.openxmlformats.org/officeDocument/2006/relationships/image" Target="../media/image15.png"/><Relationship Id="rId4" Type="http://schemas.openxmlformats.org/officeDocument/2006/relationships/image" Target="../media/image14.jp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jpg"/><Relationship Id="rId3" Type="http://schemas.openxmlformats.org/officeDocument/2006/relationships/image" Target="../media/image18.png"/><Relationship Id="rId7" Type="http://schemas.openxmlformats.org/officeDocument/2006/relationships/image" Target="../media/image22.jp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jp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jpg"/><Relationship Id="rId4" Type="http://schemas.openxmlformats.org/officeDocument/2006/relationships/image" Target="../media/image22.jp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jpg"/><Relationship Id="rId3" Type="http://schemas.openxmlformats.org/officeDocument/2006/relationships/image" Target="../media/image24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jpg"/><Relationship Id="rId5" Type="http://schemas.openxmlformats.org/officeDocument/2006/relationships/image" Target="../media/image22.jpg"/><Relationship Id="rId4" Type="http://schemas.openxmlformats.org/officeDocument/2006/relationships/image" Target="../media/image21.jp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0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0.png"/><Relationship Id="rId7" Type="http://schemas.openxmlformats.org/officeDocument/2006/relationships/image" Target="../media/image31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5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hyperlink" Target="https://arxiv.org/abs/2001.04451" TargetMode="External"/><Relationship Id="rId7" Type="http://schemas.openxmlformats.org/officeDocument/2006/relationships/image" Target="../media/image36.png"/><Relationship Id="rId2" Type="http://schemas.openxmlformats.org/officeDocument/2006/relationships/hyperlink" Target="https://arxiv.org/abs/1904.10509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xiv.org/abs/2009.14794" TargetMode="External"/><Relationship Id="rId5" Type="http://schemas.openxmlformats.org/officeDocument/2006/relationships/hyperlink" Target="https://arxiv.org/abs/2006.04768" TargetMode="External"/><Relationship Id="rId10" Type="http://schemas.openxmlformats.org/officeDocument/2006/relationships/image" Target="../media/image39.jpg"/><Relationship Id="rId4" Type="http://schemas.openxmlformats.org/officeDocument/2006/relationships/hyperlink" Target="https://arxiv.org/abs/2004.05150" TargetMode="External"/><Relationship Id="rId9" Type="http://schemas.openxmlformats.org/officeDocument/2006/relationships/image" Target="../media/image3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3.jpg"/><Relationship Id="rId4" Type="http://schemas.openxmlformats.org/officeDocument/2006/relationships/image" Target="../media/image42.jp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4.jpg"/><Relationship Id="rId5" Type="http://schemas.openxmlformats.org/officeDocument/2006/relationships/image" Target="../media/image42.jpg"/><Relationship Id="rId4" Type="http://schemas.openxmlformats.org/officeDocument/2006/relationships/image" Target="../media/image41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68"/>
          <p:cNvSpPr txBox="1">
            <a:spLocks noGrp="1"/>
          </p:cNvSpPr>
          <p:nvPr>
            <p:ph type="ctrTitle"/>
          </p:nvPr>
        </p:nvSpPr>
        <p:spPr>
          <a:xfrm>
            <a:off x="279232" y="240000"/>
            <a:ext cx="7956717" cy="2736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ru-RU" dirty="0">
                <a:solidFill>
                  <a:srgbClr val="FEFAEE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Введение в глубокое обучение</a:t>
            </a:r>
            <a:endParaRPr dirty="0">
              <a:solidFill>
                <a:srgbClr val="FEFAEE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Google Shape;326;p68">
            <a:extLst>
              <a:ext uri="{FF2B5EF4-FFF2-40B4-BE49-F238E27FC236}">
                <a16:creationId xmlns:a16="http://schemas.microsoft.com/office/drawing/2014/main" id="{EB927237-F683-4A70-9044-2467C97BE202}"/>
              </a:ext>
            </a:extLst>
          </p:cNvPr>
          <p:cNvSpPr txBox="1">
            <a:spLocks/>
          </p:cNvSpPr>
          <p:nvPr/>
        </p:nvSpPr>
        <p:spPr>
          <a:xfrm>
            <a:off x="203200" y="5043977"/>
            <a:ext cx="6548400" cy="164387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lnSpcReduction="10000"/>
          </a:bodyPr>
          <a:lstStyle>
            <a:lvl1pPr marL="228600" lvl="0" indent="-22860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400"/>
              <a:buFont typeface="Montserrat"/>
              <a:buNone/>
              <a:defRPr sz="3200" kern="12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685800" lvl="1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 kern="12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143000" lvl="2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 kern="12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600200" lvl="3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 kern="12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057400" lvl="4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 kern="12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514600" lvl="5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 kern="12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2971800" lvl="6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 kern="12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429000" lvl="7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 kern="12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3886200" lvl="8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 kern="12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/>
            <a:r>
              <a:rPr lang="ru-RU" sz="2000" b="1" dirty="0">
                <a:latin typeface="Verdana" panose="020B0604030504040204" pitchFamily="34" charset="0"/>
                <a:ea typeface="Verdana" panose="020B0604030504040204" pitchFamily="34" charset="0"/>
              </a:rPr>
              <a:t>Некрасов Константин Олегович</a:t>
            </a:r>
          </a:p>
          <a:p>
            <a:pPr marL="0" indent="0"/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</a:rPr>
              <a:t>Директор по разработке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ML-</a:t>
            </a: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</a:rPr>
              <a:t>моделей  </a:t>
            </a:r>
          </a:p>
          <a:p>
            <a:pPr marL="0" indent="0"/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</a:rPr>
              <a:t>АО «Газпромбанк»</a:t>
            </a:r>
          </a:p>
          <a:p>
            <a:pPr marL="0" indent="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t.me/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algolab</a:t>
            </a:r>
            <a:endParaRPr lang="ru-RU" sz="2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8DDAEA7-D3EE-480A-BC7F-A3AC7A236D4D}"/>
              </a:ext>
            </a:extLst>
          </p:cNvPr>
          <p:cNvSpPr/>
          <p:nvPr/>
        </p:nvSpPr>
        <p:spPr>
          <a:xfrm>
            <a:off x="8036719" y="175707"/>
            <a:ext cx="1728787" cy="910144"/>
          </a:xfrm>
          <a:prstGeom prst="rect">
            <a:avLst/>
          </a:prstGeom>
          <a:solidFill>
            <a:srgbClr val="143091"/>
          </a:solidFill>
          <a:ln>
            <a:solidFill>
              <a:srgbClr val="14309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16924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8940">
              <a:lnSpc>
                <a:spcPct val="100000"/>
              </a:lnSpc>
              <a:spcBef>
                <a:spcPts val="100"/>
              </a:spcBef>
            </a:pPr>
            <a:r>
              <a:rPr spc="-10" dirty="0" err="1"/>
              <a:t>План</a:t>
            </a:r>
            <a:r>
              <a:rPr spc="-10" dirty="0"/>
              <a:t>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460" y="1713433"/>
            <a:ext cx="8728075" cy="206756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spc="-10" dirty="0">
                <a:latin typeface="Calibri"/>
                <a:cs typeface="Calibri"/>
              </a:rPr>
              <a:t>Характеристики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GPT-</a:t>
            </a:r>
            <a:r>
              <a:rPr sz="2800" spc="-50" dirty="0">
                <a:latin typeface="Calibri"/>
                <a:cs typeface="Calibri"/>
              </a:rPr>
              <a:t>3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Соревнование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по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размерам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GPU-</a:t>
            </a:r>
            <a:r>
              <a:rPr sz="2800" spc="-10" dirty="0">
                <a:latin typeface="Calibri"/>
                <a:cs typeface="Calibri"/>
              </a:rPr>
              <a:t>кластера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80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spc="-35" dirty="0">
                <a:latin typeface="Calibri"/>
                <a:cs typeface="Calibri"/>
              </a:rPr>
              <a:t>Тонкости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сбора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датасета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0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Sparse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Attention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для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уменьшения</a:t>
            </a:r>
            <a:r>
              <a:rPr sz="2800" spc="-1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потребляемой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памяти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894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GPT-</a:t>
            </a:r>
            <a:r>
              <a:rPr dirty="0"/>
              <a:t>3:</a:t>
            </a:r>
            <a:r>
              <a:rPr spc="-65" dirty="0"/>
              <a:t> </a:t>
            </a:r>
            <a:r>
              <a:rPr dirty="0"/>
              <a:t>Больше,</a:t>
            </a:r>
            <a:r>
              <a:rPr spc="-55" dirty="0"/>
              <a:t> </a:t>
            </a:r>
            <a:r>
              <a:rPr dirty="0"/>
              <a:t>выше,</a:t>
            </a:r>
            <a:r>
              <a:rPr spc="-120" dirty="0"/>
              <a:t> </a:t>
            </a:r>
            <a:r>
              <a:rPr spc="-10" dirty="0"/>
              <a:t>толще</a:t>
            </a:r>
          </a:p>
        </p:txBody>
      </p:sp>
      <p:sp>
        <p:nvSpPr>
          <p:cNvPr id="3" name="object 3"/>
          <p:cNvSpPr/>
          <p:nvPr/>
        </p:nvSpPr>
        <p:spPr>
          <a:xfrm>
            <a:off x="832269" y="2482342"/>
            <a:ext cx="10525760" cy="0"/>
          </a:xfrm>
          <a:custGeom>
            <a:avLst/>
            <a:gdLst/>
            <a:ahLst/>
            <a:cxnLst/>
            <a:rect l="l" t="t" r="r" b="b"/>
            <a:pathLst>
              <a:path w="10525760">
                <a:moveTo>
                  <a:pt x="0" y="0"/>
                </a:moveTo>
                <a:lnTo>
                  <a:pt x="10525721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32269" y="1363472"/>
          <a:ext cx="10511788" cy="25990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917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5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76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484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GPT-</a:t>
                      </a:r>
                      <a:r>
                        <a:rPr sz="18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GPT-</a:t>
                      </a:r>
                      <a:r>
                        <a:rPr sz="18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GPT-</a:t>
                      </a:r>
                      <a:r>
                        <a:rPr sz="18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R="87630" algn="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Количество параметров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117M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1.5B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175B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6395">
                <a:tc>
                  <a:txBody>
                    <a:bodyPr/>
                    <a:lstStyle/>
                    <a:p>
                      <a:pPr marR="81915" algn="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Количество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слоёв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12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1587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48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96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1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1928114" y="2524299"/>
            <a:ext cx="8434705" cy="13944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80"/>
              </a:lnSpc>
              <a:tabLst>
                <a:tab pos="2529205" algn="l"/>
                <a:tab pos="4408805" algn="l"/>
                <a:tab pos="7324090" algn="l"/>
              </a:tabLst>
            </a:pPr>
            <a:r>
              <a:rPr sz="1800" dirty="0">
                <a:latin typeface="Calibri"/>
                <a:cs typeface="Calibri"/>
              </a:rPr>
              <a:t>Размер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контекста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25" dirty="0">
                <a:latin typeface="Calibri"/>
                <a:cs typeface="Calibri"/>
              </a:rPr>
              <a:t>512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20" dirty="0">
                <a:latin typeface="Calibri"/>
                <a:cs typeface="Calibri"/>
              </a:rPr>
              <a:t>1024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20" dirty="0">
                <a:latin typeface="Calibri"/>
                <a:cs typeface="Calibri"/>
              </a:rPr>
              <a:t>2048</a:t>
            </a:r>
            <a:endParaRPr sz="1800">
              <a:latin typeface="Calibri"/>
              <a:cs typeface="Calibri"/>
            </a:endParaRPr>
          </a:p>
          <a:p>
            <a:pPr marL="1197610">
              <a:lnSpc>
                <a:spcPct val="100000"/>
              </a:lnSpc>
              <a:spcBef>
                <a:spcPts val="765"/>
              </a:spcBef>
              <a:tabLst>
                <a:tab pos="2529205" algn="l"/>
                <a:tab pos="4408805" algn="l"/>
                <a:tab pos="7265670" algn="l"/>
              </a:tabLst>
            </a:pPr>
            <a:r>
              <a:rPr sz="1800" spc="-10" dirty="0">
                <a:latin typeface="Calibri"/>
                <a:cs typeface="Calibri"/>
              </a:rPr>
              <a:t>d</a:t>
            </a:r>
            <a:r>
              <a:rPr sz="1800" spc="-15" baseline="-16203" dirty="0">
                <a:latin typeface="Calibri"/>
                <a:cs typeface="Calibri"/>
              </a:rPr>
              <a:t>model</a:t>
            </a:r>
            <a:r>
              <a:rPr sz="1800" baseline="-16203" dirty="0">
                <a:latin typeface="Calibri"/>
                <a:cs typeface="Calibri"/>
              </a:rPr>
              <a:t>	</a:t>
            </a:r>
            <a:r>
              <a:rPr sz="1800" spc="-25" dirty="0">
                <a:latin typeface="Calibri"/>
                <a:cs typeface="Calibri"/>
              </a:rPr>
              <a:t>768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20" dirty="0">
                <a:latin typeface="Calibri"/>
                <a:cs typeface="Calibri"/>
              </a:rPr>
              <a:t>1600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10" dirty="0">
                <a:latin typeface="Calibri"/>
                <a:cs typeface="Calibri"/>
              </a:rPr>
              <a:t>12288</a:t>
            </a:r>
            <a:endParaRPr sz="1800">
              <a:latin typeface="Calibri"/>
              <a:cs typeface="Calibri"/>
            </a:endParaRPr>
          </a:p>
          <a:p>
            <a:pPr marL="1223010">
              <a:lnSpc>
                <a:spcPct val="100000"/>
              </a:lnSpc>
              <a:spcBef>
                <a:spcPts val="760"/>
              </a:spcBef>
              <a:tabLst>
                <a:tab pos="2059939" algn="l"/>
                <a:tab pos="4053840" algn="l"/>
                <a:tab pos="6910705" algn="l"/>
              </a:tabLst>
            </a:pPr>
            <a:r>
              <a:rPr sz="1800" spc="-10" dirty="0">
                <a:latin typeface="Calibri"/>
                <a:cs typeface="Calibri"/>
              </a:rPr>
              <a:t>n</a:t>
            </a:r>
            <a:r>
              <a:rPr sz="1800" spc="-15" baseline="-16203" dirty="0">
                <a:latin typeface="Calibri"/>
                <a:cs typeface="Calibri"/>
              </a:rPr>
              <a:t>heads</a:t>
            </a:r>
            <a:r>
              <a:rPr sz="1800" baseline="-16203" dirty="0">
                <a:latin typeface="Calibri"/>
                <a:cs typeface="Calibri"/>
              </a:rPr>
              <a:t>	</a:t>
            </a:r>
            <a:r>
              <a:rPr sz="1800" dirty="0">
                <a:latin typeface="Calibri"/>
                <a:cs typeface="Calibri"/>
              </a:rPr>
              <a:t>12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(d</a:t>
            </a:r>
            <a:r>
              <a:rPr sz="1800" baseline="-16203" dirty="0">
                <a:latin typeface="Calibri"/>
                <a:cs typeface="Calibri"/>
              </a:rPr>
              <a:t>head</a:t>
            </a:r>
            <a:r>
              <a:rPr sz="1800" spc="-22" baseline="-16203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64)</a:t>
            </a:r>
            <a:r>
              <a:rPr sz="1800" dirty="0">
                <a:latin typeface="Calibri"/>
                <a:cs typeface="Calibri"/>
              </a:rPr>
              <a:t>	25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(d</a:t>
            </a:r>
            <a:r>
              <a:rPr sz="1200" baseline="-13888" dirty="0">
                <a:latin typeface="Calibri"/>
                <a:cs typeface="Calibri"/>
              </a:rPr>
              <a:t>head</a:t>
            </a:r>
            <a:r>
              <a:rPr sz="1200" spc="-15" baseline="-13888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25" dirty="0">
                <a:latin typeface="Calibri"/>
                <a:cs typeface="Calibri"/>
              </a:rPr>
              <a:t> 64)</a:t>
            </a:r>
            <a:r>
              <a:rPr sz="1800" dirty="0">
                <a:latin typeface="Calibri"/>
                <a:cs typeface="Calibri"/>
              </a:rPr>
              <a:t>	96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(d</a:t>
            </a:r>
            <a:r>
              <a:rPr sz="1200" baseline="-13888" dirty="0">
                <a:latin typeface="Calibri"/>
                <a:cs typeface="Calibri"/>
              </a:rPr>
              <a:t>head</a:t>
            </a:r>
            <a:r>
              <a:rPr sz="1200" spc="-15" baseline="-13888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128)</a:t>
            </a:r>
            <a:endParaRPr sz="1800">
              <a:latin typeface="Calibri"/>
              <a:cs typeface="Calibri"/>
            </a:endParaRPr>
          </a:p>
          <a:p>
            <a:pPr marL="408940">
              <a:lnSpc>
                <a:spcPct val="100000"/>
              </a:lnSpc>
              <a:spcBef>
                <a:spcPts val="765"/>
              </a:spcBef>
              <a:tabLst>
                <a:tab pos="2157730" algn="l"/>
                <a:tab pos="2914015" algn="l"/>
                <a:tab pos="3978910" algn="l"/>
                <a:tab pos="4851400" algn="l"/>
                <a:tab pos="6678930" algn="l"/>
                <a:tab pos="7781290" algn="l"/>
              </a:tabLst>
            </a:pPr>
            <a:r>
              <a:rPr sz="1800" dirty="0">
                <a:latin typeface="Calibri"/>
                <a:cs typeface="Calibri"/>
              </a:rPr>
              <a:t>Размер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батча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25" dirty="0">
                <a:latin typeface="Calibri"/>
                <a:cs typeface="Calibri"/>
              </a:rPr>
              <a:t>64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25" dirty="0">
                <a:latin typeface="Calibri"/>
                <a:cs typeface="Calibri"/>
              </a:rPr>
              <a:t>32k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25" dirty="0">
                <a:latin typeface="Calibri"/>
                <a:cs typeface="Calibri"/>
              </a:rPr>
              <a:t>512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20" dirty="0">
                <a:latin typeface="Calibri"/>
                <a:cs typeface="Calibri"/>
              </a:rPr>
              <a:t>524k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10" dirty="0">
                <a:latin typeface="Calibri"/>
                <a:cs typeface="Calibri"/>
              </a:rPr>
              <a:t>~1536</a:t>
            </a:r>
            <a:r>
              <a:rPr sz="1800" dirty="0">
                <a:latin typeface="Calibri"/>
                <a:cs typeface="Calibri"/>
              </a:rPr>
              <a:t>	~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3.2M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31519" y="2478532"/>
            <a:ext cx="10881360" cy="2341880"/>
          </a:xfrm>
          <a:custGeom>
            <a:avLst/>
            <a:gdLst/>
            <a:ahLst/>
            <a:cxnLst/>
            <a:rect l="l" t="t" r="r" b="b"/>
            <a:pathLst>
              <a:path w="10881360" h="2341879">
                <a:moveTo>
                  <a:pt x="10881360" y="0"/>
                </a:moveTo>
                <a:lnTo>
                  <a:pt x="0" y="0"/>
                </a:lnTo>
                <a:lnTo>
                  <a:pt x="0" y="2341499"/>
                </a:lnTo>
                <a:lnTo>
                  <a:pt x="10881360" y="2341499"/>
                </a:lnTo>
                <a:lnTo>
                  <a:pt x="1088136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894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GPT-</a:t>
            </a:r>
            <a:r>
              <a:rPr dirty="0"/>
              <a:t>3:</a:t>
            </a:r>
            <a:r>
              <a:rPr spc="-65" dirty="0"/>
              <a:t> </a:t>
            </a:r>
            <a:r>
              <a:rPr dirty="0"/>
              <a:t>Больше,</a:t>
            </a:r>
            <a:r>
              <a:rPr spc="-55" dirty="0"/>
              <a:t> </a:t>
            </a:r>
            <a:r>
              <a:rPr dirty="0"/>
              <a:t>выше,</a:t>
            </a:r>
            <a:r>
              <a:rPr spc="-120" dirty="0"/>
              <a:t> </a:t>
            </a:r>
            <a:r>
              <a:rPr spc="-10" dirty="0"/>
              <a:t>толще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32269" y="1363472"/>
          <a:ext cx="10511788" cy="25996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917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5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76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484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GPT-</a:t>
                      </a:r>
                      <a:r>
                        <a:rPr sz="18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GPT-</a:t>
                      </a:r>
                      <a:r>
                        <a:rPr sz="18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GPT-</a:t>
                      </a:r>
                      <a:r>
                        <a:rPr sz="18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R="87630" algn="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Количество параметров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117M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1.5B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175B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R="81915" algn="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Количество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слоёв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12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87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48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96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Размер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контекста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512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1024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2048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2337054" y="2895774"/>
            <a:ext cx="8025765" cy="10229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88035">
              <a:lnSpc>
                <a:spcPts val="2080"/>
              </a:lnSpc>
              <a:tabLst>
                <a:tab pos="2120265" algn="l"/>
                <a:tab pos="3999865" algn="l"/>
                <a:tab pos="6856730" algn="l"/>
              </a:tabLst>
            </a:pPr>
            <a:r>
              <a:rPr sz="1800" spc="-10" dirty="0">
                <a:latin typeface="Calibri"/>
                <a:cs typeface="Calibri"/>
              </a:rPr>
              <a:t>d</a:t>
            </a:r>
            <a:r>
              <a:rPr sz="1800" spc="-15" baseline="-16203" dirty="0">
                <a:latin typeface="Calibri"/>
                <a:cs typeface="Calibri"/>
              </a:rPr>
              <a:t>model</a:t>
            </a:r>
            <a:r>
              <a:rPr sz="1800" baseline="-16203" dirty="0">
                <a:latin typeface="Calibri"/>
                <a:cs typeface="Calibri"/>
              </a:rPr>
              <a:t>	</a:t>
            </a:r>
            <a:r>
              <a:rPr sz="1800" spc="-25" dirty="0">
                <a:latin typeface="Calibri"/>
                <a:cs typeface="Calibri"/>
              </a:rPr>
              <a:t>768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20" dirty="0">
                <a:latin typeface="Calibri"/>
                <a:cs typeface="Calibri"/>
              </a:rPr>
              <a:t>1600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10" dirty="0">
                <a:latin typeface="Calibri"/>
                <a:cs typeface="Calibri"/>
              </a:rPr>
              <a:t>12288</a:t>
            </a:r>
            <a:endParaRPr sz="1800">
              <a:latin typeface="Calibri"/>
              <a:cs typeface="Calibri"/>
            </a:endParaRPr>
          </a:p>
          <a:p>
            <a:pPr marL="814069">
              <a:lnSpc>
                <a:spcPct val="100000"/>
              </a:lnSpc>
              <a:spcBef>
                <a:spcPts val="760"/>
              </a:spcBef>
              <a:tabLst>
                <a:tab pos="1651000" algn="l"/>
                <a:tab pos="3644900" algn="l"/>
                <a:tab pos="6501765" algn="l"/>
              </a:tabLst>
            </a:pPr>
            <a:r>
              <a:rPr sz="1800" spc="-10" dirty="0">
                <a:latin typeface="Calibri"/>
                <a:cs typeface="Calibri"/>
              </a:rPr>
              <a:t>n</a:t>
            </a:r>
            <a:r>
              <a:rPr sz="1800" spc="-15" baseline="-16203" dirty="0">
                <a:latin typeface="Calibri"/>
                <a:cs typeface="Calibri"/>
              </a:rPr>
              <a:t>heads</a:t>
            </a:r>
            <a:r>
              <a:rPr sz="1800" baseline="-16203" dirty="0">
                <a:latin typeface="Calibri"/>
                <a:cs typeface="Calibri"/>
              </a:rPr>
              <a:t>	</a:t>
            </a:r>
            <a:r>
              <a:rPr sz="1800" dirty="0">
                <a:latin typeface="Calibri"/>
                <a:cs typeface="Calibri"/>
              </a:rPr>
              <a:t>12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(d</a:t>
            </a:r>
            <a:r>
              <a:rPr sz="1800" baseline="-16203" dirty="0">
                <a:latin typeface="Calibri"/>
                <a:cs typeface="Calibri"/>
              </a:rPr>
              <a:t>head</a:t>
            </a:r>
            <a:r>
              <a:rPr sz="1800" spc="-22" baseline="-16203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64)</a:t>
            </a:r>
            <a:r>
              <a:rPr sz="1800" dirty="0">
                <a:latin typeface="Calibri"/>
                <a:cs typeface="Calibri"/>
              </a:rPr>
              <a:t>	25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(d</a:t>
            </a:r>
            <a:r>
              <a:rPr sz="1200" baseline="-13888" dirty="0">
                <a:latin typeface="Calibri"/>
                <a:cs typeface="Calibri"/>
              </a:rPr>
              <a:t>head</a:t>
            </a:r>
            <a:r>
              <a:rPr sz="1200" spc="-15" baseline="-13888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25" dirty="0">
                <a:latin typeface="Calibri"/>
                <a:cs typeface="Calibri"/>
              </a:rPr>
              <a:t> 64)</a:t>
            </a:r>
            <a:r>
              <a:rPr sz="1800" dirty="0">
                <a:latin typeface="Calibri"/>
                <a:cs typeface="Calibri"/>
              </a:rPr>
              <a:t>	96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(d</a:t>
            </a:r>
            <a:r>
              <a:rPr sz="1200" baseline="-13888" dirty="0">
                <a:latin typeface="Calibri"/>
                <a:cs typeface="Calibri"/>
              </a:rPr>
              <a:t>head</a:t>
            </a:r>
            <a:r>
              <a:rPr sz="1200" spc="-15" baseline="-13888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128)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65"/>
              </a:spcBef>
              <a:tabLst>
                <a:tab pos="1748789" algn="l"/>
                <a:tab pos="2505075" algn="l"/>
                <a:tab pos="3569970" algn="l"/>
                <a:tab pos="4442460" algn="l"/>
                <a:tab pos="6269990" algn="l"/>
                <a:tab pos="7372350" algn="l"/>
              </a:tabLst>
            </a:pPr>
            <a:r>
              <a:rPr sz="1800" dirty="0">
                <a:latin typeface="Calibri"/>
                <a:cs typeface="Calibri"/>
              </a:rPr>
              <a:t>Размер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батча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25" dirty="0">
                <a:latin typeface="Calibri"/>
                <a:cs typeface="Calibri"/>
              </a:rPr>
              <a:t>64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25" dirty="0">
                <a:latin typeface="Calibri"/>
                <a:cs typeface="Calibri"/>
              </a:rPr>
              <a:t>32k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25" dirty="0">
                <a:latin typeface="Calibri"/>
                <a:cs typeface="Calibri"/>
              </a:rPr>
              <a:t>512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20" dirty="0">
                <a:latin typeface="Calibri"/>
                <a:cs typeface="Calibri"/>
              </a:rPr>
              <a:t>524k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10" dirty="0">
                <a:latin typeface="Calibri"/>
                <a:cs typeface="Calibri"/>
              </a:rPr>
              <a:t>~1536</a:t>
            </a:r>
            <a:r>
              <a:rPr sz="1800" dirty="0">
                <a:latin typeface="Calibri"/>
                <a:cs typeface="Calibri"/>
              </a:rPr>
              <a:t>	~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3.2M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31519" y="2853563"/>
            <a:ext cx="10881360" cy="2341880"/>
          </a:xfrm>
          <a:custGeom>
            <a:avLst/>
            <a:gdLst/>
            <a:ahLst/>
            <a:cxnLst/>
            <a:rect l="l" t="t" r="r" b="b"/>
            <a:pathLst>
              <a:path w="10881360" h="2341879">
                <a:moveTo>
                  <a:pt x="10881360" y="0"/>
                </a:moveTo>
                <a:lnTo>
                  <a:pt x="0" y="0"/>
                </a:lnTo>
                <a:lnTo>
                  <a:pt x="0" y="2341499"/>
                </a:lnTo>
                <a:lnTo>
                  <a:pt x="10881360" y="2341499"/>
                </a:lnTo>
                <a:lnTo>
                  <a:pt x="1088136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30936" y="1746948"/>
            <a:ext cx="10799445" cy="750570"/>
          </a:xfrm>
          <a:custGeom>
            <a:avLst/>
            <a:gdLst/>
            <a:ahLst/>
            <a:cxnLst/>
            <a:rect l="l" t="t" r="r" b="b"/>
            <a:pathLst>
              <a:path w="10799445" h="750569">
                <a:moveTo>
                  <a:pt x="10799064" y="0"/>
                </a:moveTo>
                <a:lnTo>
                  <a:pt x="0" y="0"/>
                </a:lnTo>
                <a:lnTo>
                  <a:pt x="0" y="749998"/>
                </a:lnTo>
                <a:lnTo>
                  <a:pt x="10799064" y="749998"/>
                </a:lnTo>
                <a:lnTo>
                  <a:pt x="10799064" y="0"/>
                </a:lnTo>
                <a:close/>
              </a:path>
            </a:pathLst>
          </a:custGeom>
          <a:solidFill>
            <a:srgbClr val="FFFFFF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894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GPT-</a:t>
            </a:r>
            <a:r>
              <a:rPr dirty="0"/>
              <a:t>3:</a:t>
            </a:r>
            <a:r>
              <a:rPr spc="-65" dirty="0"/>
              <a:t> </a:t>
            </a:r>
            <a:r>
              <a:rPr dirty="0"/>
              <a:t>Больше,</a:t>
            </a:r>
            <a:r>
              <a:rPr spc="-55" dirty="0"/>
              <a:t> </a:t>
            </a:r>
            <a:r>
              <a:rPr dirty="0"/>
              <a:t>выше,</a:t>
            </a:r>
            <a:r>
              <a:rPr spc="-120" dirty="0"/>
              <a:t> </a:t>
            </a:r>
            <a:r>
              <a:rPr spc="-10" dirty="0"/>
              <a:t>толще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32269" y="1363472"/>
          <a:ext cx="10601960" cy="25996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917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5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76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484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GPT-</a:t>
                      </a:r>
                      <a:r>
                        <a:rPr sz="18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GPT-</a:t>
                      </a:r>
                      <a:r>
                        <a:rPr sz="18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GPT-</a:t>
                      </a:r>
                      <a:r>
                        <a:rPr sz="18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R="87630" algn="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Количество параметров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117M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1.5B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175B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R="81915" algn="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Количество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слоёв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12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87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48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96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Размер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контекста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512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1024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2048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3540"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700" spc="-15" baseline="10802" dirty="0">
                          <a:latin typeface="Calibri"/>
                          <a:cs typeface="Calibri"/>
                        </a:rPr>
                        <a:t>d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model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781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CFD4EA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768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CFD4EA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1600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CFD4EA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12288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CFD4EA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89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57150" cap="flat" cmpd="sng" algn="ctr">
                      <a:solidFill>
                        <a:srgbClr val="CF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57150" cap="flat" cmpd="sng" algn="ctr">
                      <a:solidFill>
                        <a:srgbClr val="CF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57150" cap="flat" cmpd="sng" algn="ctr">
                      <a:solidFill>
                        <a:srgbClr val="CF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57150" cap="flat" cmpd="sng" algn="ctr">
                      <a:solidFill>
                        <a:srgbClr val="CF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2337054" y="3267122"/>
            <a:ext cx="8025765" cy="651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4069">
              <a:lnSpc>
                <a:spcPts val="2080"/>
              </a:lnSpc>
              <a:tabLst>
                <a:tab pos="1651000" algn="l"/>
                <a:tab pos="3644900" algn="l"/>
                <a:tab pos="6501765" algn="l"/>
              </a:tabLst>
            </a:pPr>
            <a:r>
              <a:rPr sz="1800" spc="-10" dirty="0">
                <a:latin typeface="Calibri"/>
                <a:cs typeface="Calibri"/>
              </a:rPr>
              <a:t>n</a:t>
            </a:r>
            <a:r>
              <a:rPr sz="1800" spc="-15" baseline="-16203" dirty="0">
                <a:latin typeface="Calibri"/>
                <a:cs typeface="Calibri"/>
              </a:rPr>
              <a:t>heads</a:t>
            </a:r>
            <a:r>
              <a:rPr sz="1800" baseline="-16203" dirty="0">
                <a:latin typeface="Calibri"/>
                <a:cs typeface="Calibri"/>
              </a:rPr>
              <a:t>	</a:t>
            </a:r>
            <a:r>
              <a:rPr sz="1800" dirty="0">
                <a:latin typeface="Calibri"/>
                <a:cs typeface="Calibri"/>
              </a:rPr>
              <a:t>12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(d</a:t>
            </a:r>
            <a:r>
              <a:rPr sz="1800" baseline="-16203" dirty="0">
                <a:latin typeface="Calibri"/>
                <a:cs typeface="Calibri"/>
              </a:rPr>
              <a:t>head</a:t>
            </a:r>
            <a:r>
              <a:rPr sz="1800" spc="-22" baseline="-16203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64)</a:t>
            </a:r>
            <a:r>
              <a:rPr sz="1800" dirty="0">
                <a:latin typeface="Calibri"/>
                <a:cs typeface="Calibri"/>
              </a:rPr>
              <a:t>	25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(d</a:t>
            </a:r>
            <a:r>
              <a:rPr sz="1200" baseline="-13888" dirty="0">
                <a:latin typeface="Calibri"/>
                <a:cs typeface="Calibri"/>
              </a:rPr>
              <a:t>head</a:t>
            </a:r>
            <a:r>
              <a:rPr sz="1200" spc="-15" baseline="-13888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25" dirty="0">
                <a:latin typeface="Calibri"/>
                <a:cs typeface="Calibri"/>
              </a:rPr>
              <a:t> 64)</a:t>
            </a:r>
            <a:r>
              <a:rPr sz="1800" dirty="0">
                <a:latin typeface="Calibri"/>
                <a:cs typeface="Calibri"/>
              </a:rPr>
              <a:t>	96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(d</a:t>
            </a:r>
            <a:r>
              <a:rPr sz="1200" baseline="-13888" dirty="0">
                <a:latin typeface="Calibri"/>
                <a:cs typeface="Calibri"/>
              </a:rPr>
              <a:t>head</a:t>
            </a:r>
            <a:r>
              <a:rPr sz="1200" spc="-15" baseline="-13888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128)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65"/>
              </a:spcBef>
              <a:tabLst>
                <a:tab pos="1748789" algn="l"/>
                <a:tab pos="2505075" algn="l"/>
                <a:tab pos="3569970" algn="l"/>
                <a:tab pos="4442460" algn="l"/>
                <a:tab pos="6269990" algn="l"/>
                <a:tab pos="7372350" algn="l"/>
              </a:tabLst>
            </a:pPr>
            <a:r>
              <a:rPr sz="1800" dirty="0">
                <a:latin typeface="Calibri"/>
                <a:cs typeface="Calibri"/>
              </a:rPr>
              <a:t>Размер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батча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25" dirty="0">
                <a:latin typeface="Calibri"/>
                <a:cs typeface="Calibri"/>
              </a:rPr>
              <a:t>64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25" dirty="0">
                <a:latin typeface="Calibri"/>
                <a:cs typeface="Calibri"/>
              </a:rPr>
              <a:t>32k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25" dirty="0">
                <a:latin typeface="Calibri"/>
                <a:cs typeface="Calibri"/>
              </a:rPr>
              <a:t>512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20" dirty="0">
                <a:latin typeface="Calibri"/>
                <a:cs typeface="Calibri"/>
              </a:rPr>
              <a:t>524k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10" dirty="0">
                <a:latin typeface="Calibri"/>
                <a:cs typeface="Calibri"/>
              </a:rPr>
              <a:t>~1536</a:t>
            </a:r>
            <a:r>
              <a:rPr sz="1800" dirty="0">
                <a:latin typeface="Calibri"/>
                <a:cs typeface="Calibri"/>
              </a:rPr>
              <a:t>	~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3.2M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22376" y="3256026"/>
            <a:ext cx="10881360" cy="2341880"/>
          </a:xfrm>
          <a:custGeom>
            <a:avLst/>
            <a:gdLst/>
            <a:ahLst/>
            <a:cxnLst/>
            <a:rect l="l" t="t" r="r" b="b"/>
            <a:pathLst>
              <a:path w="10881360" h="2341879">
                <a:moveTo>
                  <a:pt x="10881360" y="0"/>
                </a:moveTo>
                <a:lnTo>
                  <a:pt x="0" y="0"/>
                </a:lnTo>
                <a:lnTo>
                  <a:pt x="0" y="2341499"/>
                </a:lnTo>
                <a:lnTo>
                  <a:pt x="10881360" y="2341499"/>
                </a:lnTo>
                <a:lnTo>
                  <a:pt x="1088136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30936" y="1746986"/>
            <a:ext cx="10799445" cy="1106805"/>
          </a:xfrm>
          <a:custGeom>
            <a:avLst/>
            <a:gdLst/>
            <a:ahLst/>
            <a:cxnLst/>
            <a:rect l="l" t="t" r="r" b="b"/>
            <a:pathLst>
              <a:path w="10799445" h="1106805">
                <a:moveTo>
                  <a:pt x="10799064" y="0"/>
                </a:moveTo>
                <a:lnTo>
                  <a:pt x="0" y="0"/>
                </a:lnTo>
                <a:lnTo>
                  <a:pt x="0" y="1106703"/>
                </a:lnTo>
                <a:lnTo>
                  <a:pt x="10799064" y="1106703"/>
                </a:lnTo>
                <a:lnTo>
                  <a:pt x="10799064" y="0"/>
                </a:lnTo>
                <a:close/>
              </a:path>
            </a:pathLst>
          </a:custGeom>
          <a:solidFill>
            <a:srgbClr val="FFFFFF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894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GPT-</a:t>
            </a:r>
            <a:r>
              <a:rPr dirty="0"/>
              <a:t>3:</a:t>
            </a:r>
            <a:r>
              <a:rPr spc="-65" dirty="0"/>
              <a:t> </a:t>
            </a:r>
            <a:r>
              <a:rPr dirty="0"/>
              <a:t>Больше,</a:t>
            </a:r>
            <a:r>
              <a:rPr spc="-55" dirty="0"/>
              <a:t> </a:t>
            </a:r>
            <a:r>
              <a:rPr dirty="0"/>
              <a:t>выше,</a:t>
            </a:r>
            <a:r>
              <a:rPr spc="-120" dirty="0"/>
              <a:t> </a:t>
            </a:r>
            <a:r>
              <a:rPr spc="-10" dirty="0"/>
              <a:t>толще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32269" y="1363472"/>
          <a:ext cx="10511788" cy="25990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917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5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76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484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GPT-</a:t>
                      </a:r>
                      <a:r>
                        <a:rPr sz="18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GPT-</a:t>
                      </a:r>
                      <a:r>
                        <a:rPr sz="18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GPT-</a:t>
                      </a:r>
                      <a:r>
                        <a:rPr sz="18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R="87630" algn="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Количество параметров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117M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1.5B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175B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R="81915" algn="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Количество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слоёв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12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87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48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96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Размер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контекста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512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1024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2048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700" spc="-15" baseline="10802" dirty="0">
                          <a:latin typeface="Calibri"/>
                          <a:cs typeface="Calibri"/>
                        </a:rPr>
                        <a:t>d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model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781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768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1600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12288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4335">
                <a:tc>
                  <a:txBody>
                    <a:bodyPr/>
                    <a:lstStyle/>
                    <a:p>
                      <a:pPr marR="79375" algn="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700" spc="-15" baseline="10802" dirty="0">
                          <a:latin typeface="Calibri"/>
                          <a:cs typeface="Calibri"/>
                        </a:rPr>
                        <a:t>n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heads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787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E9EBF5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12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(d</a:t>
                      </a:r>
                      <a:r>
                        <a:rPr sz="1800" baseline="-16203" dirty="0">
                          <a:latin typeface="Calibri"/>
                          <a:cs typeface="Calibri"/>
                        </a:rPr>
                        <a:t>head</a:t>
                      </a:r>
                      <a:r>
                        <a:rPr sz="1800" spc="-22" baseline="-16203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64)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E9EBF5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25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(d</a:t>
                      </a:r>
                      <a:r>
                        <a:rPr sz="1200" baseline="-13888" dirty="0">
                          <a:latin typeface="Calibri"/>
                          <a:cs typeface="Calibri"/>
                        </a:rPr>
                        <a:t>head</a:t>
                      </a:r>
                      <a:r>
                        <a:rPr sz="1200" spc="-15" baseline="-13888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64)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E9EBF5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96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(d</a:t>
                      </a:r>
                      <a:r>
                        <a:rPr sz="1200" baseline="-13888" dirty="0">
                          <a:latin typeface="Calibri"/>
                          <a:cs typeface="Calibri"/>
                        </a:rPr>
                        <a:t>head</a:t>
                      </a:r>
                      <a:r>
                        <a:rPr sz="1200" spc="-15" baseline="-13888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128)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E9EBF5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30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76200" cap="flat" cmpd="sng" algn="ctr">
                      <a:solidFill>
                        <a:srgbClr val="E9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76200" cap="flat" cmpd="sng" algn="ctr">
                      <a:solidFill>
                        <a:srgbClr val="E9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76200" cap="flat" cmpd="sng" algn="ctr">
                      <a:solidFill>
                        <a:srgbClr val="E9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76200" cap="flat" cmpd="sng" algn="ctr">
                      <a:solidFill>
                        <a:srgbClr val="E9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2337054" y="3638597"/>
            <a:ext cx="8025765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80"/>
              </a:lnSpc>
              <a:tabLst>
                <a:tab pos="1748789" algn="l"/>
                <a:tab pos="2505075" algn="l"/>
                <a:tab pos="3569970" algn="l"/>
                <a:tab pos="4442460" algn="l"/>
                <a:tab pos="6269990" algn="l"/>
                <a:tab pos="7372350" algn="l"/>
              </a:tabLst>
            </a:pPr>
            <a:r>
              <a:rPr sz="1800" dirty="0">
                <a:latin typeface="Calibri"/>
                <a:cs typeface="Calibri"/>
              </a:rPr>
              <a:t>Размер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батча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25" dirty="0">
                <a:latin typeface="Calibri"/>
                <a:cs typeface="Calibri"/>
              </a:rPr>
              <a:t>64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25" dirty="0">
                <a:latin typeface="Calibri"/>
                <a:cs typeface="Calibri"/>
              </a:rPr>
              <a:t>32k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25" dirty="0">
                <a:latin typeface="Calibri"/>
                <a:cs typeface="Calibri"/>
              </a:rPr>
              <a:t>512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20" dirty="0">
                <a:latin typeface="Calibri"/>
                <a:cs typeface="Calibri"/>
              </a:rPr>
              <a:t>524k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10" dirty="0">
                <a:latin typeface="Calibri"/>
                <a:cs typeface="Calibri"/>
              </a:rPr>
              <a:t>~1536</a:t>
            </a:r>
            <a:r>
              <a:rPr sz="1800" dirty="0">
                <a:latin typeface="Calibri"/>
                <a:cs typeface="Calibri"/>
              </a:rPr>
              <a:t>	~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3.2M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13231" y="3649319"/>
            <a:ext cx="10881360" cy="2341880"/>
          </a:xfrm>
          <a:custGeom>
            <a:avLst/>
            <a:gdLst/>
            <a:ahLst/>
            <a:cxnLst/>
            <a:rect l="l" t="t" r="r" b="b"/>
            <a:pathLst>
              <a:path w="10881360" h="2341879">
                <a:moveTo>
                  <a:pt x="10881360" y="0"/>
                </a:moveTo>
                <a:lnTo>
                  <a:pt x="0" y="0"/>
                </a:lnTo>
                <a:lnTo>
                  <a:pt x="0" y="2341499"/>
                </a:lnTo>
                <a:lnTo>
                  <a:pt x="10881360" y="2341499"/>
                </a:lnTo>
                <a:lnTo>
                  <a:pt x="1088136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30936" y="1746986"/>
            <a:ext cx="10799445" cy="1097915"/>
          </a:xfrm>
          <a:custGeom>
            <a:avLst/>
            <a:gdLst/>
            <a:ahLst/>
            <a:cxnLst/>
            <a:rect l="l" t="t" r="r" b="b"/>
            <a:pathLst>
              <a:path w="10799445" h="1097914">
                <a:moveTo>
                  <a:pt x="10799064" y="0"/>
                </a:moveTo>
                <a:lnTo>
                  <a:pt x="0" y="0"/>
                </a:lnTo>
                <a:lnTo>
                  <a:pt x="0" y="1097559"/>
                </a:lnTo>
                <a:lnTo>
                  <a:pt x="10799064" y="1097559"/>
                </a:lnTo>
                <a:lnTo>
                  <a:pt x="10799064" y="0"/>
                </a:lnTo>
                <a:close/>
              </a:path>
            </a:pathLst>
          </a:custGeom>
          <a:solidFill>
            <a:srgbClr val="FFFFFF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894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GPT-</a:t>
            </a:r>
            <a:r>
              <a:rPr dirty="0"/>
              <a:t>3:</a:t>
            </a:r>
            <a:r>
              <a:rPr spc="-65" dirty="0"/>
              <a:t> </a:t>
            </a:r>
            <a:r>
              <a:rPr dirty="0"/>
              <a:t>Больше,</a:t>
            </a:r>
            <a:r>
              <a:rPr spc="-55" dirty="0"/>
              <a:t> </a:t>
            </a:r>
            <a:r>
              <a:rPr dirty="0"/>
              <a:t>выше,</a:t>
            </a:r>
            <a:r>
              <a:rPr spc="-120" dirty="0"/>
              <a:t> </a:t>
            </a:r>
            <a:r>
              <a:rPr spc="-10" dirty="0"/>
              <a:t>толще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32269" y="1363472"/>
          <a:ext cx="10601960" cy="25920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917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5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76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484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GPT-</a:t>
                      </a:r>
                      <a:r>
                        <a:rPr sz="18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GPT-</a:t>
                      </a:r>
                      <a:r>
                        <a:rPr sz="18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GPT-</a:t>
                      </a:r>
                      <a:r>
                        <a:rPr sz="18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R="87630" algn="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Количество параметров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117M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1.5B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175B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R="81915" algn="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Количество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слоёв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12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87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48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96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Размер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контекста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512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1024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2048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700" spc="-15" baseline="10802" dirty="0">
                          <a:latin typeface="Calibri"/>
                          <a:cs typeface="Calibri"/>
                        </a:rPr>
                        <a:t>d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model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781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768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1600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12288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R="79375" algn="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700" spc="-15" baseline="10802" dirty="0">
                          <a:latin typeface="Calibri"/>
                          <a:cs typeface="Calibri"/>
                        </a:rPr>
                        <a:t>n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heads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787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5717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12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(d</a:t>
                      </a:r>
                      <a:r>
                        <a:rPr sz="1800" baseline="-16203" dirty="0">
                          <a:latin typeface="Calibri"/>
                          <a:cs typeface="Calibri"/>
                        </a:rPr>
                        <a:t>head</a:t>
                      </a:r>
                      <a:r>
                        <a:rPr sz="1800" spc="-22" baseline="-16203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64)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45593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25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(d</a:t>
                      </a:r>
                      <a:r>
                        <a:rPr sz="1200" baseline="-13888" dirty="0">
                          <a:latin typeface="Calibri"/>
                          <a:cs typeface="Calibri"/>
                        </a:rPr>
                        <a:t>head</a:t>
                      </a:r>
                      <a:r>
                        <a:rPr sz="1200" spc="-15" baseline="-13888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64)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3634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96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(d</a:t>
                      </a:r>
                      <a:r>
                        <a:rPr sz="1200" baseline="-13888" dirty="0">
                          <a:latin typeface="Calibri"/>
                          <a:cs typeface="Calibri"/>
                        </a:rPr>
                        <a:t>head</a:t>
                      </a:r>
                      <a:r>
                        <a:rPr sz="1200" spc="-15" baseline="-13888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128)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R="80645" algn="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Размер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батча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33972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64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44958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512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84836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~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3.2M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630936" y="1746885"/>
            <a:ext cx="10799445" cy="1902460"/>
          </a:xfrm>
          <a:custGeom>
            <a:avLst/>
            <a:gdLst/>
            <a:ahLst/>
            <a:cxnLst/>
            <a:rect l="l" t="t" r="r" b="b"/>
            <a:pathLst>
              <a:path w="10799445" h="1902460">
                <a:moveTo>
                  <a:pt x="10799064" y="0"/>
                </a:moveTo>
                <a:lnTo>
                  <a:pt x="0" y="0"/>
                </a:lnTo>
                <a:lnTo>
                  <a:pt x="0" y="1902460"/>
                </a:lnTo>
                <a:lnTo>
                  <a:pt x="10799064" y="1902460"/>
                </a:lnTo>
                <a:lnTo>
                  <a:pt x="10799064" y="0"/>
                </a:lnTo>
                <a:close/>
              </a:path>
            </a:pathLst>
          </a:custGeom>
          <a:solidFill>
            <a:srgbClr val="FFFFFF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894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GPT-</a:t>
            </a:r>
            <a:r>
              <a:rPr dirty="0"/>
              <a:t>3:</a:t>
            </a:r>
            <a:r>
              <a:rPr spc="-65" dirty="0"/>
              <a:t> </a:t>
            </a:r>
            <a:r>
              <a:rPr dirty="0"/>
              <a:t>Больше,</a:t>
            </a:r>
            <a:r>
              <a:rPr spc="-55" dirty="0"/>
              <a:t> </a:t>
            </a:r>
            <a:r>
              <a:rPr dirty="0"/>
              <a:t>выше,</a:t>
            </a:r>
            <a:r>
              <a:rPr spc="-120" dirty="0"/>
              <a:t> </a:t>
            </a:r>
            <a:r>
              <a:rPr spc="-10" dirty="0"/>
              <a:t>толще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32269" y="1363472"/>
          <a:ext cx="10511788" cy="25920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917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5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76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484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GPT-</a:t>
                      </a:r>
                      <a:r>
                        <a:rPr sz="18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GPT-</a:t>
                      </a:r>
                      <a:r>
                        <a:rPr sz="18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GPT-</a:t>
                      </a:r>
                      <a:r>
                        <a:rPr sz="18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R="87630" algn="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Количество параметров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117M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1.5B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175B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R="81915" algn="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Количество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слоёв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12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87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48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96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Размер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контекста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512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1024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2048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700" spc="-15" baseline="10802" dirty="0">
                          <a:latin typeface="Calibri"/>
                          <a:cs typeface="Calibri"/>
                        </a:rPr>
                        <a:t>d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model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781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768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1600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12288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R="79375" algn="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700" spc="-15" baseline="10802" dirty="0">
                          <a:latin typeface="Calibri"/>
                          <a:cs typeface="Calibri"/>
                        </a:rPr>
                        <a:t>n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heads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787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5717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12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(d</a:t>
                      </a:r>
                      <a:r>
                        <a:rPr sz="1800" baseline="-16203" dirty="0">
                          <a:latin typeface="Calibri"/>
                          <a:cs typeface="Calibri"/>
                        </a:rPr>
                        <a:t>head</a:t>
                      </a:r>
                      <a:r>
                        <a:rPr sz="1800" spc="-22" baseline="-16203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64)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45593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25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(d</a:t>
                      </a:r>
                      <a:r>
                        <a:rPr sz="1200" baseline="-13888" dirty="0">
                          <a:latin typeface="Calibri"/>
                          <a:cs typeface="Calibri"/>
                        </a:rPr>
                        <a:t>head</a:t>
                      </a:r>
                      <a:r>
                        <a:rPr sz="1200" spc="-15" baseline="-13888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64)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3634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96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(d</a:t>
                      </a:r>
                      <a:r>
                        <a:rPr sz="1200" baseline="-13888" dirty="0">
                          <a:latin typeface="Calibri"/>
                          <a:cs typeface="Calibri"/>
                        </a:rPr>
                        <a:t>head</a:t>
                      </a:r>
                      <a:r>
                        <a:rPr sz="1200" spc="-15" baseline="-13888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128)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R="80645" algn="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Размер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батча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33972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64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44958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512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84836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~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3.2M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4" name="object 4"/>
          <p:cNvGrpSpPr/>
          <p:nvPr/>
        </p:nvGrpSpPr>
        <p:grpSpPr>
          <a:xfrm>
            <a:off x="813816" y="4284384"/>
            <a:ext cx="9949180" cy="2265680"/>
            <a:chOff x="813816" y="4284384"/>
            <a:chExt cx="9949180" cy="226568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92644" y="4284384"/>
              <a:ext cx="8514454" cy="226559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13816" y="4307903"/>
              <a:ext cx="9949180" cy="2223135"/>
            </a:xfrm>
            <a:custGeom>
              <a:avLst/>
              <a:gdLst/>
              <a:ahLst/>
              <a:cxnLst/>
              <a:rect l="l" t="t" r="r" b="b"/>
              <a:pathLst>
                <a:path w="9949180" h="2223134">
                  <a:moveTo>
                    <a:pt x="7004304" y="45732"/>
                  </a:moveTo>
                  <a:lnTo>
                    <a:pt x="1042416" y="45732"/>
                  </a:lnTo>
                  <a:lnTo>
                    <a:pt x="1042416" y="256095"/>
                  </a:lnTo>
                  <a:lnTo>
                    <a:pt x="7004304" y="256095"/>
                  </a:lnTo>
                  <a:lnTo>
                    <a:pt x="7004304" y="45732"/>
                  </a:lnTo>
                  <a:close/>
                </a:path>
                <a:path w="9949180" h="2223134">
                  <a:moveTo>
                    <a:pt x="9802368" y="1929866"/>
                  </a:moveTo>
                  <a:lnTo>
                    <a:pt x="9720072" y="1929866"/>
                  </a:lnTo>
                  <a:lnTo>
                    <a:pt x="9720072" y="347573"/>
                  </a:lnTo>
                  <a:lnTo>
                    <a:pt x="0" y="347573"/>
                  </a:lnTo>
                  <a:lnTo>
                    <a:pt x="0" y="1929866"/>
                  </a:lnTo>
                  <a:lnTo>
                    <a:pt x="3291840" y="1929866"/>
                  </a:lnTo>
                  <a:lnTo>
                    <a:pt x="3291840" y="2222550"/>
                  </a:lnTo>
                  <a:lnTo>
                    <a:pt x="7260336" y="2222550"/>
                  </a:lnTo>
                  <a:lnTo>
                    <a:pt x="7260336" y="1929866"/>
                  </a:lnTo>
                  <a:lnTo>
                    <a:pt x="8055864" y="1929866"/>
                  </a:lnTo>
                  <a:lnTo>
                    <a:pt x="8055864" y="2222550"/>
                  </a:lnTo>
                  <a:lnTo>
                    <a:pt x="9802368" y="2222550"/>
                  </a:lnTo>
                  <a:lnTo>
                    <a:pt x="9802368" y="1929866"/>
                  </a:lnTo>
                  <a:close/>
                </a:path>
                <a:path w="9949180" h="2223134">
                  <a:moveTo>
                    <a:pt x="9948659" y="0"/>
                  </a:moveTo>
                  <a:lnTo>
                    <a:pt x="8202168" y="0"/>
                  </a:lnTo>
                  <a:lnTo>
                    <a:pt x="8202168" y="265239"/>
                  </a:lnTo>
                  <a:lnTo>
                    <a:pt x="9948659" y="265239"/>
                  </a:lnTo>
                  <a:lnTo>
                    <a:pt x="9948659" y="0"/>
                  </a:lnTo>
                  <a:close/>
                </a:path>
              </a:pathLst>
            </a:custGeom>
            <a:solidFill>
              <a:srgbClr val="FFFFFF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630936" y="1746885"/>
            <a:ext cx="10799445" cy="1893570"/>
          </a:xfrm>
          <a:custGeom>
            <a:avLst/>
            <a:gdLst/>
            <a:ahLst/>
            <a:cxnLst/>
            <a:rect l="l" t="t" r="r" b="b"/>
            <a:pathLst>
              <a:path w="10799445" h="1893570">
                <a:moveTo>
                  <a:pt x="10799064" y="0"/>
                </a:moveTo>
                <a:lnTo>
                  <a:pt x="0" y="0"/>
                </a:lnTo>
                <a:lnTo>
                  <a:pt x="0" y="1893316"/>
                </a:lnTo>
                <a:lnTo>
                  <a:pt x="10799064" y="1893316"/>
                </a:lnTo>
                <a:lnTo>
                  <a:pt x="10799064" y="0"/>
                </a:lnTo>
                <a:close/>
              </a:path>
            </a:pathLst>
          </a:custGeom>
          <a:solidFill>
            <a:srgbClr val="FFFFFF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894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GPT-</a:t>
            </a:r>
            <a:r>
              <a:rPr dirty="0"/>
              <a:t>3:</a:t>
            </a:r>
            <a:r>
              <a:rPr spc="-65" dirty="0"/>
              <a:t> </a:t>
            </a:r>
            <a:r>
              <a:rPr dirty="0"/>
              <a:t>Больше,</a:t>
            </a:r>
            <a:r>
              <a:rPr spc="-55" dirty="0"/>
              <a:t> </a:t>
            </a:r>
            <a:r>
              <a:rPr dirty="0"/>
              <a:t>выше,</a:t>
            </a:r>
            <a:r>
              <a:rPr spc="-120" dirty="0"/>
              <a:t> </a:t>
            </a:r>
            <a:r>
              <a:rPr spc="-10" dirty="0"/>
              <a:t>толще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32269" y="1363472"/>
          <a:ext cx="10511788" cy="25920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917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5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76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484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GPT-</a:t>
                      </a:r>
                      <a:r>
                        <a:rPr sz="18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GPT-</a:t>
                      </a:r>
                      <a:r>
                        <a:rPr sz="18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GPT-</a:t>
                      </a:r>
                      <a:r>
                        <a:rPr sz="18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R="87630" algn="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Количество параметров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117M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1.5B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175B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R="81915" algn="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Количество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слоёв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12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87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48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96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Размер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контекста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512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1024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2048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700" spc="-15" baseline="10802" dirty="0">
                          <a:latin typeface="Calibri"/>
                          <a:cs typeface="Calibri"/>
                        </a:rPr>
                        <a:t>d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model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781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768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1600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12288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R="79375" algn="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700" spc="-15" baseline="10802" dirty="0">
                          <a:latin typeface="Calibri"/>
                          <a:cs typeface="Calibri"/>
                        </a:rPr>
                        <a:t>n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heads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787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12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(d</a:t>
                      </a:r>
                      <a:r>
                        <a:rPr sz="1800" baseline="-16203" dirty="0">
                          <a:latin typeface="Calibri"/>
                          <a:cs typeface="Calibri"/>
                        </a:rPr>
                        <a:t>head</a:t>
                      </a:r>
                      <a:r>
                        <a:rPr sz="1800" spc="-22" baseline="-16203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64)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25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(d</a:t>
                      </a:r>
                      <a:r>
                        <a:rPr sz="1200" baseline="-13888" dirty="0">
                          <a:latin typeface="Calibri"/>
                          <a:cs typeface="Calibri"/>
                        </a:rPr>
                        <a:t>head</a:t>
                      </a:r>
                      <a:r>
                        <a:rPr sz="1200" spc="-15" baseline="-13888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64)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96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(d</a:t>
                      </a:r>
                      <a:r>
                        <a:rPr sz="1200" baseline="-13888" dirty="0">
                          <a:latin typeface="Calibri"/>
                          <a:cs typeface="Calibri"/>
                        </a:rPr>
                        <a:t>head</a:t>
                      </a:r>
                      <a:r>
                        <a:rPr sz="1200" spc="-15" baseline="-13888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128)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R="80645" algn="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Размер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батча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354965">
                        <a:lnSpc>
                          <a:spcPct val="100000"/>
                        </a:lnSpc>
                        <a:spcBef>
                          <a:spcPts val="260"/>
                        </a:spcBef>
                        <a:tabLst>
                          <a:tab pos="1111250" algn="l"/>
                        </a:tabLst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64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32k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381635">
                        <a:lnSpc>
                          <a:spcPct val="100000"/>
                        </a:lnSpc>
                        <a:spcBef>
                          <a:spcPts val="260"/>
                        </a:spcBef>
                        <a:tabLst>
                          <a:tab pos="1253490" algn="l"/>
                        </a:tabLst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512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524k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15875" algn="ctr">
                        <a:lnSpc>
                          <a:spcPct val="100000"/>
                        </a:lnSpc>
                        <a:spcBef>
                          <a:spcPts val="260"/>
                        </a:spcBef>
                        <a:tabLst>
                          <a:tab pos="1118235" algn="l"/>
                        </a:tabLst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~1536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	~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3.2M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4" name="object 4"/>
          <p:cNvGrpSpPr/>
          <p:nvPr/>
        </p:nvGrpSpPr>
        <p:grpSpPr>
          <a:xfrm>
            <a:off x="813816" y="4284384"/>
            <a:ext cx="9949180" cy="2265680"/>
            <a:chOff x="813816" y="4284384"/>
            <a:chExt cx="9949180" cy="226568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92644" y="4284384"/>
              <a:ext cx="8514454" cy="226559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13816" y="4307903"/>
              <a:ext cx="9949180" cy="2223135"/>
            </a:xfrm>
            <a:custGeom>
              <a:avLst/>
              <a:gdLst/>
              <a:ahLst/>
              <a:cxnLst/>
              <a:rect l="l" t="t" r="r" b="b"/>
              <a:pathLst>
                <a:path w="9949180" h="2223134">
                  <a:moveTo>
                    <a:pt x="7004304" y="45732"/>
                  </a:moveTo>
                  <a:lnTo>
                    <a:pt x="1042416" y="45732"/>
                  </a:lnTo>
                  <a:lnTo>
                    <a:pt x="1042416" y="256095"/>
                  </a:lnTo>
                  <a:lnTo>
                    <a:pt x="7004304" y="256095"/>
                  </a:lnTo>
                  <a:lnTo>
                    <a:pt x="7004304" y="45732"/>
                  </a:lnTo>
                  <a:close/>
                </a:path>
                <a:path w="9949180" h="2223134">
                  <a:moveTo>
                    <a:pt x="9802368" y="1929866"/>
                  </a:moveTo>
                  <a:lnTo>
                    <a:pt x="9720072" y="1929866"/>
                  </a:lnTo>
                  <a:lnTo>
                    <a:pt x="9720072" y="347573"/>
                  </a:lnTo>
                  <a:lnTo>
                    <a:pt x="0" y="347573"/>
                  </a:lnTo>
                  <a:lnTo>
                    <a:pt x="0" y="1929866"/>
                  </a:lnTo>
                  <a:lnTo>
                    <a:pt x="3291840" y="1929866"/>
                  </a:lnTo>
                  <a:lnTo>
                    <a:pt x="3291840" y="2222550"/>
                  </a:lnTo>
                  <a:lnTo>
                    <a:pt x="7260336" y="2222550"/>
                  </a:lnTo>
                  <a:lnTo>
                    <a:pt x="7260336" y="1929866"/>
                  </a:lnTo>
                  <a:lnTo>
                    <a:pt x="8055864" y="1929866"/>
                  </a:lnTo>
                  <a:lnTo>
                    <a:pt x="8055864" y="2222550"/>
                  </a:lnTo>
                  <a:lnTo>
                    <a:pt x="9802368" y="2222550"/>
                  </a:lnTo>
                  <a:lnTo>
                    <a:pt x="9802368" y="1929866"/>
                  </a:lnTo>
                  <a:close/>
                </a:path>
                <a:path w="9949180" h="2223134">
                  <a:moveTo>
                    <a:pt x="9948659" y="0"/>
                  </a:moveTo>
                  <a:lnTo>
                    <a:pt x="8202168" y="0"/>
                  </a:lnTo>
                  <a:lnTo>
                    <a:pt x="8202168" y="265239"/>
                  </a:lnTo>
                  <a:lnTo>
                    <a:pt x="9948659" y="265239"/>
                  </a:lnTo>
                  <a:lnTo>
                    <a:pt x="9948659" y="0"/>
                  </a:lnTo>
                  <a:close/>
                </a:path>
              </a:pathLst>
            </a:custGeom>
            <a:solidFill>
              <a:srgbClr val="FFFFFF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630936" y="1746885"/>
            <a:ext cx="10799445" cy="1893570"/>
          </a:xfrm>
          <a:custGeom>
            <a:avLst/>
            <a:gdLst/>
            <a:ahLst/>
            <a:cxnLst/>
            <a:rect l="l" t="t" r="r" b="b"/>
            <a:pathLst>
              <a:path w="10799445" h="1893570">
                <a:moveTo>
                  <a:pt x="10799064" y="0"/>
                </a:moveTo>
                <a:lnTo>
                  <a:pt x="0" y="0"/>
                </a:lnTo>
                <a:lnTo>
                  <a:pt x="0" y="1893316"/>
                </a:lnTo>
                <a:lnTo>
                  <a:pt x="10799064" y="1893316"/>
                </a:lnTo>
                <a:lnTo>
                  <a:pt x="10799064" y="0"/>
                </a:lnTo>
                <a:close/>
              </a:path>
            </a:pathLst>
          </a:custGeom>
          <a:solidFill>
            <a:srgbClr val="FFFFFF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894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GPT-</a:t>
            </a:r>
            <a:r>
              <a:rPr dirty="0"/>
              <a:t>3:</a:t>
            </a:r>
            <a:r>
              <a:rPr spc="-65" dirty="0"/>
              <a:t> </a:t>
            </a:r>
            <a:r>
              <a:rPr dirty="0"/>
              <a:t>Больше,</a:t>
            </a:r>
            <a:r>
              <a:rPr spc="-55" dirty="0"/>
              <a:t> </a:t>
            </a:r>
            <a:r>
              <a:rPr dirty="0"/>
              <a:t>выше,</a:t>
            </a:r>
            <a:r>
              <a:rPr spc="-120" dirty="0"/>
              <a:t> </a:t>
            </a:r>
            <a:r>
              <a:rPr spc="-10" dirty="0"/>
              <a:t>толще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32269" y="1363472"/>
          <a:ext cx="10511788" cy="25920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917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5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76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484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GPT-</a:t>
                      </a:r>
                      <a:r>
                        <a:rPr sz="18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GPT-</a:t>
                      </a:r>
                      <a:r>
                        <a:rPr sz="18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GPT-</a:t>
                      </a:r>
                      <a:r>
                        <a:rPr sz="18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R="87630" algn="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Количество параметров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117M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1.5B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175B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R="81915" algn="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Количество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слоёв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12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87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48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96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Размер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контекста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512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1024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2048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700" spc="-15" baseline="10802" dirty="0">
                          <a:latin typeface="Calibri"/>
                          <a:cs typeface="Calibri"/>
                        </a:rPr>
                        <a:t>d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model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781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768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1600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12288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R="79375" algn="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700" spc="-15" baseline="10802" dirty="0">
                          <a:latin typeface="Calibri"/>
                          <a:cs typeface="Calibri"/>
                        </a:rPr>
                        <a:t>n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heads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787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12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(d</a:t>
                      </a:r>
                      <a:r>
                        <a:rPr sz="1800" baseline="-16203" dirty="0">
                          <a:latin typeface="Calibri"/>
                          <a:cs typeface="Calibri"/>
                        </a:rPr>
                        <a:t>head</a:t>
                      </a:r>
                      <a:r>
                        <a:rPr sz="1800" spc="-22" baseline="-16203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64)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25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(d</a:t>
                      </a:r>
                      <a:r>
                        <a:rPr sz="1200" baseline="-13888" dirty="0">
                          <a:latin typeface="Calibri"/>
                          <a:cs typeface="Calibri"/>
                        </a:rPr>
                        <a:t>head</a:t>
                      </a:r>
                      <a:r>
                        <a:rPr sz="1200" spc="-15" baseline="-13888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64)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96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(d</a:t>
                      </a:r>
                      <a:r>
                        <a:rPr sz="1200" baseline="-13888" dirty="0">
                          <a:latin typeface="Calibri"/>
                          <a:cs typeface="Calibri"/>
                        </a:rPr>
                        <a:t>head</a:t>
                      </a:r>
                      <a:r>
                        <a:rPr sz="1200" spc="-15" baseline="-13888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128)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R="80645" algn="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Размер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батча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354965">
                        <a:lnSpc>
                          <a:spcPct val="100000"/>
                        </a:lnSpc>
                        <a:spcBef>
                          <a:spcPts val="260"/>
                        </a:spcBef>
                        <a:tabLst>
                          <a:tab pos="1111250" algn="l"/>
                        </a:tabLst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64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32k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381635">
                        <a:lnSpc>
                          <a:spcPct val="100000"/>
                        </a:lnSpc>
                        <a:spcBef>
                          <a:spcPts val="260"/>
                        </a:spcBef>
                        <a:tabLst>
                          <a:tab pos="1253490" algn="l"/>
                        </a:tabLst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512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524k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15875" algn="ctr">
                        <a:lnSpc>
                          <a:spcPct val="100000"/>
                        </a:lnSpc>
                        <a:spcBef>
                          <a:spcPts val="260"/>
                        </a:spcBef>
                        <a:tabLst>
                          <a:tab pos="1118235" algn="l"/>
                        </a:tabLst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~1536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	~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3.2M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674495" y="4983479"/>
          <a:ext cx="8832846" cy="14827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832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32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32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32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32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832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32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8328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8328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8328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50" spc="-20" dirty="0">
                          <a:latin typeface="Calibri"/>
                          <a:cs typeface="Calibri"/>
                        </a:rPr>
                        <a:t>4342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50" spc="-25" dirty="0">
                          <a:latin typeface="Calibri"/>
                          <a:cs typeface="Calibri"/>
                        </a:rPr>
                        <a:t>318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50" spc="-25" dirty="0">
                          <a:latin typeface="Calibri"/>
                          <a:cs typeface="Calibri"/>
                        </a:rPr>
                        <a:t>281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50" spc="-20" dirty="0">
                          <a:latin typeface="Calibri"/>
                          <a:cs typeface="Calibri"/>
                        </a:rPr>
                        <a:t>1672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50" spc="-20" dirty="0">
                          <a:latin typeface="Calibri"/>
                          <a:cs typeface="Calibri"/>
                        </a:rPr>
                        <a:t>3188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50" spc="-25" dirty="0">
                          <a:latin typeface="Calibri"/>
                          <a:cs typeface="Calibri"/>
                        </a:rPr>
                        <a:t>352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50" spc="-20" dirty="0">
                          <a:latin typeface="Calibri"/>
                          <a:cs typeface="Calibri"/>
                        </a:rPr>
                        <a:t>4478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50" spc="-25" dirty="0">
                          <a:latin typeface="Calibri"/>
                          <a:cs typeface="Calibri"/>
                        </a:rPr>
                        <a:t>617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50" spc="-10" dirty="0">
                          <a:latin typeface="Calibri"/>
                          <a:cs typeface="Calibri"/>
                        </a:rPr>
                        <a:t>16326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50" spc="-25" dirty="0">
                          <a:latin typeface="Calibri"/>
                          <a:cs typeface="Calibri"/>
                        </a:rPr>
                        <a:t>13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550" spc="-10" dirty="0">
                          <a:latin typeface="Calibri"/>
                          <a:cs typeface="Calibri"/>
                        </a:rPr>
                        <a:t>16281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95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550" spc="-20" dirty="0">
                          <a:latin typeface="Calibri"/>
                          <a:cs typeface="Calibri"/>
                        </a:rPr>
                        <a:t>3188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95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550" spc="-25" dirty="0">
                          <a:latin typeface="Calibri"/>
                          <a:cs typeface="Calibri"/>
                        </a:rPr>
                        <a:t>362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95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550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50256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95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550" spc="-10" dirty="0">
                          <a:latin typeface="Calibri"/>
                          <a:cs typeface="Calibri"/>
                        </a:rPr>
                        <a:t>16281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95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550" spc="-20" dirty="0">
                          <a:latin typeface="Calibri"/>
                          <a:cs typeface="Calibri"/>
                        </a:rPr>
                        <a:t>3188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95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550" spc="-25" dirty="0">
                          <a:latin typeface="Calibri"/>
                          <a:cs typeface="Calibri"/>
                        </a:rPr>
                        <a:t>513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95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550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50256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95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550" spc="-10" dirty="0">
                          <a:latin typeface="Calibri"/>
                          <a:cs typeface="Calibri"/>
                        </a:rPr>
                        <a:t>16281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95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550" spc="-20" dirty="0">
                          <a:latin typeface="Calibri"/>
                          <a:cs typeface="Calibri"/>
                        </a:rPr>
                        <a:t>3188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95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550" spc="-20" dirty="0">
                          <a:latin typeface="Calibri"/>
                          <a:cs typeface="Calibri"/>
                        </a:rPr>
                        <a:t>1212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501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550" spc="-25" dirty="0">
                          <a:latin typeface="Calibri"/>
                          <a:cs typeface="Calibri"/>
                        </a:rPr>
                        <a:t>318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501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550" spc="-25" dirty="0">
                          <a:latin typeface="Calibri"/>
                          <a:cs typeface="Calibri"/>
                        </a:rPr>
                        <a:t>617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501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550" spc="-20" dirty="0">
                          <a:latin typeface="Calibri"/>
                          <a:cs typeface="Calibri"/>
                        </a:rPr>
                        <a:t>4738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501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550" spc="-20" dirty="0">
                          <a:latin typeface="Calibri"/>
                          <a:cs typeface="Calibri"/>
                        </a:rPr>
                        <a:t>2420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501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550" spc="-25" dirty="0">
                          <a:latin typeface="Calibri"/>
                          <a:cs typeface="Calibri"/>
                        </a:rPr>
                        <a:t>655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501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550" spc="-25" dirty="0">
                          <a:latin typeface="Calibri"/>
                          <a:cs typeface="Calibri"/>
                        </a:rPr>
                        <a:t>329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501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550" spc="-20" dirty="0">
                          <a:latin typeface="Calibri"/>
                          <a:cs typeface="Calibri"/>
                        </a:rPr>
                        <a:t>1672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501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550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50256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501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550" spc="-20" dirty="0">
                          <a:latin typeface="Calibri"/>
                          <a:cs typeface="Calibri"/>
                        </a:rPr>
                        <a:t>1212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501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550" spc="-25" dirty="0">
                          <a:latin typeface="Calibri"/>
                          <a:cs typeface="Calibri"/>
                        </a:rPr>
                        <a:t>16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550" spc="-25" dirty="0">
                          <a:latin typeface="Calibri"/>
                          <a:cs typeface="Calibri"/>
                        </a:rPr>
                        <a:t>11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550" spc="-25" dirty="0">
                          <a:latin typeface="Calibri"/>
                          <a:cs typeface="Calibri"/>
                        </a:rPr>
                        <a:t>17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550" spc="-25" dirty="0">
                          <a:latin typeface="Calibri"/>
                          <a:cs typeface="Calibri"/>
                        </a:rPr>
                        <a:t>11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550" spc="-25" dirty="0">
                          <a:latin typeface="Calibri"/>
                          <a:cs typeface="Calibri"/>
                        </a:rPr>
                        <a:t>18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550" spc="-25" dirty="0">
                          <a:latin typeface="Calibri"/>
                          <a:cs typeface="Calibri"/>
                        </a:rPr>
                        <a:t>11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550" spc="-25" dirty="0">
                          <a:latin typeface="Calibri"/>
                          <a:cs typeface="Calibri"/>
                        </a:rPr>
                        <a:t>19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550" spc="-25" dirty="0">
                          <a:latin typeface="Calibri"/>
                          <a:cs typeface="Calibri"/>
                        </a:rPr>
                        <a:t>11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550" spc="-25" dirty="0">
                          <a:latin typeface="Calibri"/>
                          <a:cs typeface="Calibri"/>
                        </a:rPr>
                        <a:t>20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550" spc="-25" dirty="0">
                          <a:latin typeface="Calibri"/>
                          <a:cs typeface="Calibri"/>
                        </a:rPr>
                        <a:t>11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1687067" y="4722114"/>
            <a:ext cx="9854565" cy="132715"/>
          </a:xfrm>
          <a:custGeom>
            <a:avLst/>
            <a:gdLst/>
            <a:ahLst/>
            <a:cxnLst/>
            <a:rect l="l" t="t" r="r" b="b"/>
            <a:pathLst>
              <a:path w="9854565" h="132714">
                <a:moveTo>
                  <a:pt x="9830213" y="51816"/>
                </a:moveTo>
                <a:lnTo>
                  <a:pt x="9826243" y="51816"/>
                </a:lnTo>
                <a:lnTo>
                  <a:pt x="9826243" y="80391"/>
                </a:lnTo>
                <a:lnTo>
                  <a:pt x="9773297" y="80540"/>
                </a:lnTo>
                <a:lnTo>
                  <a:pt x="9733407" y="104012"/>
                </a:lnTo>
                <a:lnTo>
                  <a:pt x="9726549" y="107950"/>
                </a:lnTo>
                <a:lnTo>
                  <a:pt x="9724263" y="116712"/>
                </a:lnTo>
                <a:lnTo>
                  <a:pt x="9728327" y="123571"/>
                </a:lnTo>
                <a:lnTo>
                  <a:pt x="9732264" y="130302"/>
                </a:lnTo>
                <a:lnTo>
                  <a:pt x="9741027" y="132587"/>
                </a:lnTo>
                <a:lnTo>
                  <a:pt x="9747885" y="128650"/>
                </a:lnTo>
                <a:lnTo>
                  <a:pt x="9854565" y="65912"/>
                </a:lnTo>
                <a:lnTo>
                  <a:pt x="9830213" y="51816"/>
                </a:lnTo>
                <a:close/>
              </a:path>
              <a:path w="9854565" h="132714">
                <a:moveTo>
                  <a:pt x="9773373" y="51965"/>
                </a:moveTo>
                <a:lnTo>
                  <a:pt x="0" y="79629"/>
                </a:lnTo>
                <a:lnTo>
                  <a:pt x="0" y="108204"/>
                </a:lnTo>
                <a:lnTo>
                  <a:pt x="9773297" y="80540"/>
                </a:lnTo>
                <a:lnTo>
                  <a:pt x="9797825" y="66108"/>
                </a:lnTo>
                <a:lnTo>
                  <a:pt x="9773373" y="51965"/>
                </a:lnTo>
                <a:close/>
              </a:path>
              <a:path w="9854565" h="132714">
                <a:moveTo>
                  <a:pt x="9797825" y="66108"/>
                </a:moveTo>
                <a:lnTo>
                  <a:pt x="9773297" y="80540"/>
                </a:lnTo>
                <a:lnTo>
                  <a:pt x="9826243" y="80391"/>
                </a:lnTo>
                <a:lnTo>
                  <a:pt x="9826243" y="78359"/>
                </a:lnTo>
                <a:lnTo>
                  <a:pt x="9819005" y="78359"/>
                </a:lnTo>
                <a:lnTo>
                  <a:pt x="9797825" y="66108"/>
                </a:lnTo>
                <a:close/>
              </a:path>
              <a:path w="9854565" h="132714">
                <a:moveTo>
                  <a:pt x="9818878" y="53721"/>
                </a:moveTo>
                <a:lnTo>
                  <a:pt x="9797825" y="66108"/>
                </a:lnTo>
                <a:lnTo>
                  <a:pt x="9819005" y="78359"/>
                </a:lnTo>
                <a:lnTo>
                  <a:pt x="9818878" y="53721"/>
                </a:lnTo>
                <a:close/>
              </a:path>
              <a:path w="9854565" h="132714">
                <a:moveTo>
                  <a:pt x="9826243" y="53721"/>
                </a:moveTo>
                <a:lnTo>
                  <a:pt x="9818878" y="53721"/>
                </a:lnTo>
                <a:lnTo>
                  <a:pt x="9819005" y="78359"/>
                </a:lnTo>
                <a:lnTo>
                  <a:pt x="9826243" y="78359"/>
                </a:lnTo>
                <a:lnTo>
                  <a:pt x="9826243" y="53721"/>
                </a:lnTo>
                <a:close/>
              </a:path>
              <a:path w="9854565" h="132714">
                <a:moveTo>
                  <a:pt x="9826243" y="51816"/>
                </a:moveTo>
                <a:lnTo>
                  <a:pt x="9773373" y="51965"/>
                </a:lnTo>
                <a:lnTo>
                  <a:pt x="9797825" y="66108"/>
                </a:lnTo>
                <a:lnTo>
                  <a:pt x="9818878" y="53721"/>
                </a:lnTo>
                <a:lnTo>
                  <a:pt x="9826243" y="53721"/>
                </a:lnTo>
                <a:lnTo>
                  <a:pt x="9826243" y="51816"/>
                </a:lnTo>
                <a:close/>
              </a:path>
              <a:path w="9854565" h="132714">
                <a:moveTo>
                  <a:pt x="9740646" y="0"/>
                </a:moveTo>
                <a:lnTo>
                  <a:pt x="9731883" y="2286"/>
                </a:lnTo>
                <a:lnTo>
                  <a:pt x="9724009" y="16002"/>
                </a:lnTo>
                <a:lnTo>
                  <a:pt x="9726295" y="24637"/>
                </a:lnTo>
                <a:lnTo>
                  <a:pt x="9733153" y="28702"/>
                </a:lnTo>
                <a:lnTo>
                  <a:pt x="9773373" y="51965"/>
                </a:lnTo>
                <a:lnTo>
                  <a:pt x="9830213" y="51816"/>
                </a:lnTo>
                <a:lnTo>
                  <a:pt x="974064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410969" y="4998339"/>
            <a:ext cx="132715" cy="1714500"/>
          </a:xfrm>
          <a:custGeom>
            <a:avLst/>
            <a:gdLst/>
            <a:ahLst/>
            <a:cxnLst/>
            <a:rect l="l" t="t" r="r" b="b"/>
            <a:pathLst>
              <a:path w="132715" h="1714500">
                <a:moveTo>
                  <a:pt x="16002" y="1583867"/>
                </a:moveTo>
                <a:lnTo>
                  <a:pt x="2286" y="1591767"/>
                </a:lnTo>
                <a:lnTo>
                  <a:pt x="0" y="1600504"/>
                </a:lnTo>
                <a:lnTo>
                  <a:pt x="65786" y="1714500"/>
                </a:lnTo>
                <a:lnTo>
                  <a:pt x="82464" y="1686217"/>
                </a:lnTo>
                <a:lnTo>
                  <a:pt x="51688" y="1686217"/>
                </a:lnTo>
                <a:lnTo>
                  <a:pt x="51721" y="1679003"/>
                </a:lnTo>
                <a:lnTo>
                  <a:pt x="51816" y="1657814"/>
                </a:lnTo>
                <a:lnTo>
                  <a:pt x="51926" y="1633475"/>
                </a:lnTo>
                <a:lnTo>
                  <a:pt x="24765" y="1586217"/>
                </a:lnTo>
                <a:lnTo>
                  <a:pt x="16002" y="1583867"/>
                </a:lnTo>
                <a:close/>
              </a:path>
              <a:path w="132715" h="1714500">
                <a:moveTo>
                  <a:pt x="51997" y="1633475"/>
                </a:moveTo>
                <a:lnTo>
                  <a:pt x="51816" y="1657814"/>
                </a:lnTo>
                <a:lnTo>
                  <a:pt x="51721" y="1679003"/>
                </a:lnTo>
                <a:lnTo>
                  <a:pt x="51688" y="1686217"/>
                </a:lnTo>
                <a:lnTo>
                  <a:pt x="80137" y="1686217"/>
                </a:lnTo>
                <a:lnTo>
                  <a:pt x="80169" y="1679003"/>
                </a:lnTo>
                <a:lnTo>
                  <a:pt x="53526" y="1679003"/>
                </a:lnTo>
                <a:lnTo>
                  <a:pt x="66022" y="1657814"/>
                </a:lnTo>
                <a:lnTo>
                  <a:pt x="51997" y="1633475"/>
                </a:lnTo>
                <a:close/>
              </a:path>
              <a:path w="132715" h="1714500">
                <a:moveTo>
                  <a:pt x="116713" y="1584325"/>
                </a:moveTo>
                <a:lnTo>
                  <a:pt x="107950" y="1586598"/>
                </a:lnTo>
                <a:lnTo>
                  <a:pt x="104013" y="1593392"/>
                </a:lnTo>
                <a:lnTo>
                  <a:pt x="80375" y="1633475"/>
                </a:lnTo>
                <a:lnTo>
                  <a:pt x="80265" y="1657814"/>
                </a:lnTo>
                <a:lnTo>
                  <a:pt x="80169" y="1679003"/>
                </a:lnTo>
                <a:lnTo>
                  <a:pt x="80137" y="1686217"/>
                </a:lnTo>
                <a:lnTo>
                  <a:pt x="82464" y="1686217"/>
                </a:lnTo>
                <a:lnTo>
                  <a:pt x="128651" y="1607896"/>
                </a:lnTo>
                <a:lnTo>
                  <a:pt x="132588" y="1601101"/>
                </a:lnTo>
                <a:lnTo>
                  <a:pt x="130302" y="1592338"/>
                </a:lnTo>
                <a:lnTo>
                  <a:pt x="116713" y="1584325"/>
                </a:lnTo>
                <a:close/>
              </a:path>
              <a:path w="132715" h="1714500">
                <a:moveTo>
                  <a:pt x="66022" y="1657814"/>
                </a:moveTo>
                <a:lnTo>
                  <a:pt x="53526" y="1679003"/>
                </a:lnTo>
                <a:lnTo>
                  <a:pt x="78232" y="1679003"/>
                </a:lnTo>
                <a:lnTo>
                  <a:pt x="66022" y="1657814"/>
                </a:lnTo>
                <a:close/>
              </a:path>
              <a:path w="132715" h="1714500">
                <a:moveTo>
                  <a:pt x="80375" y="1633475"/>
                </a:moveTo>
                <a:lnTo>
                  <a:pt x="66022" y="1657814"/>
                </a:lnTo>
                <a:lnTo>
                  <a:pt x="78232" y="1679003"/>
                </a:lnTo>
                <a:lnTo>
                  <a:pt x="80169" y="1679003"/>
                </a:lnTo>
                <a:lnTo>
                  <a:pt x="80265" y="1657814"/>
                </a:lnTo>
                <a:lnTo>
                  <a:pt x="80375" y="1633475"/>
                </a:lnTo>
                <a:close/>
              </a:path>
              <a:path w="132715" h="1714500">
                <a:moveTo>
                  <a:pt x="59309" y="0"/>
                </a:moveTo>
                <a:lnTo>
                  <a:pt x="52150" y="1583867"/>
                </a:lnTo>
                <a:lnTo>
                  <a:pt x="52115" y="1591767"/>
                </a:lnTo>
                <a:lnTo>
                  <a:pt x="51997" y="1633475"/>
                </a:lnTo>
                <a:lnTo>
                  <a:pt x="66022" y="1657814"/>
                </a:lnTo>
                <a:lnTo>
                  <a:pt x="80375" y="1633475"/>
                </a:lnTo>
                <a:lnTo>
                  <a:pt x="87757" y="127"/>
                </a:lnTo>
                <a:lnTo>
                  <a:pt x="5930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663428" y="4907089"/>
            <a:ext cx="117665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8925" marR="5080" indent="-27686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Context</a:t>
            </a:r>
            <a:r>
              <a:rPr sz="1800" spc="-8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Dim </a:t>
            </a:r>
            <a:r>
              <a:rPr sz="1800" spc="-10" dirty="0">
                <a:latin typeface="Calibri"/>
                <a:cs typeface="Calibri"/>
              </a:rPr>
              <a:t>(T=10)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3016" y="6132067"/>
            <a:ext cx="975994" cy="5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Batch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Dim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Calibri"/>
                <a:cs typeface="Calibri"/>
              </a:rPr>
              <a:t>(B=4)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30936" y="1746885"/>
            <a:ext cx="10799445" cy="1893570"/>
          </a:xfrm>
          <a:custGeom>
            <a:avLst/>
            <a:gdLst/>
            <a:ahLst/>
            <a:cxnLst/>
            <a:rect l="l" t="t" r="r" b="b"/>
            <a:pathLst>
              <a:path w="10799445" h="1893570">
                <a:moveTo>
                  <a:pt x="10799064" y="0"/>
                </a:moveTo>
                <a:lnTo>
                  <a:pt x="0" y="0"/>
                </a:lnTo>
                <a:lnTo>
                  <a:pt x="0" y="1893316"/>
                </a:lnTo>
                <a:lnTo>
                  <a:pt x="10799064" y="1893316"/>
                </a:lnTo>
                <a:lnTo>
                  <a:pt x="10799064" y="0"/>
                </a:lnTo>
                <a:close/>
              </a:path>
            </a:pathLst>
          </a:custGeom>
          <a:solidFill>
            <a:srgbClr val="FFFFFF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894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GPT-</a:t>
            </a:r>
            <a:r>
              <a:rPr dirty="0"/>
              <a:t>3:</a:t>
            </a:r>
            <a:r>
              <a:rPr spc="-65" dirty="0"/>
              <a:t> </a:t>
            </a:r>
            <a:r>
              <a:rPr dirty="0"/>
              <a:t>Больше,</a:t>
            </a:r>
            <a:r>
              <a:rPr spc="-55" dirty="0"/>
              <a:t> </a:t>
            </a:r>
            <a:r>
              <a:rPr dirty="0"/>
              <a:t>выше,</a:t>
            </a:r>
            <a:r>
              <a:rPr spc="-120" dirty="0"/>
              <a:t> </a:t>
            </a:r>
            <a:r>
              <a:rPr spc="-10" dirty="0"/>
              <a:t>толще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32269" y="1363472"/>
          <a:ext cx="10511788" cy="25920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917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5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76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484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GPT-</a:t>
                      </a:r>
                      <a:r>
                        <a:rPr sz="18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GPT-</a:t>
                      </a:r>
                      <a:r>
                        <a:rPr sz="18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GPT-</a:t>
                      </a:r>
                      <a:r>
                        <a:rPr sz="18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R="87630" algn="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Количество параметров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117M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1.5B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175B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R="81915" algn="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Количество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слоёв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12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87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48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96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Размер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контекста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512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1024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2048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700" spc="-15" baseline="10802" dirty="0">
                          <a:latin typeface="Calibri"/>
                          <a:cs typeface="Calibri"/>
                        </a:rPr>
                        <a:t>d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model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781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768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1600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12288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R="79375" algn="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700" spc="-15" baseline="10802" dirty="0">
                          <a:latin typeface="Calibri"/>
                          <a:cs typeface="Calibri"/>
                        </a:rPr>
                        <a:t>n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heads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787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12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(d</a:t>
                      </a:r>
                      <a:r>
                        <a:rPr sz="1800" baseline="-16203" dirty="0">
                          <a:latin typeface="Calibri"/>
                          <a:cs typeface="Calibri"/>
                        </a:rPr>
                        <a:t>head</a:t>
                      </a:r>
                      <a:r>
                        <a:rPr sz="1800" spc="-22" baseline="-16203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64)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25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(d</a:t>
                      </a:r>
                      <a:r>
                        <a:rPr sz="1200" baseline="-13888" dirty="0">
                          <a:latin typeface="Calibri"/>
                          <a:cs typeface="Calibri"/>
                        </a:rPr>
                        <a:t>head</a:t>
                      </a:r>
                      <a:r>
                        <a:rPr sz="1200" spc="-15" baseline="-13888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64)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96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(d</a:t>
                      </a:r>
                      <a:r>
                        <a:rPr sz="1200" baseline="-13888" dirty="0">
                          <a:latin typeface="Calibri"/>
                          <a:cs typeface="Calibri"/>
                        </a:rPr>
                        <a:t>head</a:t>
                      </a:r>
                      <a:r>
                        <a:rPr sz="1200" spc="-15" baseline="-13888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128)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R="80645" algn="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Размер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батча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354965">
                        <a:lnSpc>
                          <a:spcPct val="100000"/>
                        </a:lnSpc>
                        <a:spcBef>
                          <a:spcPts val="260"/>
                        </a:spcBef>
                        <a:tabLst>
                          <a:tab pos="1111250" algn="l"/>
                        </a:tabLst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64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32k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381635">
                        <a:lnSpc>
                          <a:spcPct val="100000"/>
                        </a:lnSpc>
                        <a:spcBef>
                          <a:spcPts val="260"/>
                        </a:spcBef>
                        <a:tabLst>
                          <a:tab pos="1253490" algn="l"/>
                        </a:tabLst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512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524k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15875" algn="ctr">
                        <a:lnSpc>
                          <a:spcPct val="100000"/>
                        </a:lnSpc>
                        <a:spcBef>
                          <a:spcPts val="260"/>
                        </a:spcBef>
                        <a:tabLst>
                          <a:tab pos="1118235" algn="l"/>
                        </a:tabLst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~1536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	~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3.2M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674495" y="4983479"/>
          <a:ext cx="8832846" cy="14827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832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32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32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32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32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832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32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8328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8328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8328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50" spc="-20" dirty="0">
                          <a:latin typeface="Calibri"/>
                          <a:cs typeface="Calibri"/>
                        </a:rPr>
                        <a:t>4342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50" spc="-25" dirty="0">
                          <a:latin typeface="Calibri"/>
                          <a:cs typeface="Calibri"/>
                        </a:rPr>
                        <a:t>318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50" spc="-25" dirty="0">
                          <a:latin typeface="Calibri"/>
                          <a:cs typeface="Calibri"/>
                        </a:rPr>
                        <a:t>281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50" spc="-20" dirty="0">
                          <a:latin typeface="Calibri"/>
                          <a:cs typeface="Calibri"/>
                        </a:rPr>
                        <a:t>1672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50" spc="-20" dirty="0">
                          <a:latin typeface="Calibri"/>
                          <a:cs typeface="Calibri"/>
                        </a:rPr>
                        <a:t>3188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50" spc="-25" dirty="0">
                          <a:latin typeface="Calibri"/>
                          <a:cs typeface="Calibri"/>
                        </a:rPr>
                        <a:t>352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50" spc="-20" dirty="0">
                          <a:latin typeface="Calibri"/>
                          <a:cs typeface="Calibri"/>
                        </a:rPr>
                        <a:t>4478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50" spc="-25" dirty="0">
                          <a:latin typeface="Calibri"/>
                          <a:cs typeface="Calibri"/>
                        </a:rPr>
                        <a:t>617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50" spc="-10" dirty="0">
                          <a:latin typeface="Calibri"/>
                          <a:cs typeface="Calibri"/>
                        </a:rPr>
                        <a:t>16326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50" spc="-25" dirty="0">
                          <a:latin typeface="Calibri"/>
                          <a:cs typeface="Calibri"/>
                        </a:rPr>
                        <a:t>13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550" spc="-10" dirty="0">
                          <a:latin typeface="Calibri"/>
                          <a:cs typeface="Calibri"/>
                        </a:rPr>
                        <a:t>16281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95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550" spc="-20" dirty="0">
                          <a:latin typeface="Calibri"/>
                          <a:cs typeface="Calibri"/>
                        </a:rPr>
                        <a:t>3188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95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550" spc="-25" dirty="0">
                          <a:latin typeface="Calibri"/>
                          <a:cs typeface="Calibri"/>
                        </a:rPr>
                        <a:t>362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95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550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50256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95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550" spc="-10" dirty="0">
                          <a:latin typeface="Calibri"/>
                          <a:cs typeface="Calibri"/>
                        </a:rPr>
                        <a:t>16281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95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550" spc="-20" dirty="0">
                          <a:latin typeface="Calibri"/>
                          <a:cs typeface="Calibri"/>
                        </a:rPr>
                        <a:t>3188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95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550" spc="-25" dirty="0">
                          <a:latin typeface="Calibri"/>
                          <a:cs typeface="Calibri"/>
                        </a:rPr>
                        <a:t>513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95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550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50256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95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550" spc="-10" dirty="0">
                          <a:latin typeface="Calibri"/>
                          <a:cs typeface="Calibri"/>
                        </a:rPr>
                        <a:t>16281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95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550" spc="-20" dirty="0">
                          <a:latin typeface="Calibri"/>
                          <a:cs typeface="Calibri"/>
                        </a:rPr>
                        <a:t>3188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95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550" spc="-20" dirty="0">
                          <a:latin typeface="Calibri"/>
                          <a:cs typeface="Calibri"/>
                        </a:rPr>
                        <a:t>1212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501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550" spc="-25" dirty="0">
                          <a:latin typeface="Calibri"/>
                          <a:cs typeface="Calibri"/>
                        </a:rPr>
                        <a:t>318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501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550" spc="-25" dirty="0">
                          <a:latin typeface="Calibri"/>
                          <a:cs typeface="Calibri"/>
                        </a:rPr>
                        <a:t>617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501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550" spc="-20" dirty="0">
                          <a:latin typeface="Calibri"/>
                          <a:cs typeface="Calibri"/>
                        </a:rPr>
                        <a:t>4738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501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550" spc="-20" dirty="0">
                          <a:latin typeface="Calibri"/>
                          <a:cs typeface="Calibri"/>
                        </a:rPr>
                        <a:t>2420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501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550" spc="-25" dirty="0">
                          <a:latin typeface="Calibri"/>
                          <a:cs typeface="Calibri"/>
                        </a:rPr>
                        <a:t>655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501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550" spc="-25" dirty="0">
                          <a:latin typeface="Calibri"/>
                          <a:cs typeface="Calibri"/>
                        </a:rPr>
                        <a:t>329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501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550" spc="-20" dirty="0">
                          <a:latin typeface="Calibri"/>
                          <a:cs typeface="Calibri"/>
                        </a:rPr>
                        <a:t>1672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501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550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50256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501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550" spc="-20" dirty="0">
                          <a:latin typeface="Calibri"/>
                          <a:cs typeface="Calibri"/>
                        </a:rPr>
                        <a:t>1212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501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550" spc="-25" dirty="0">
                          <a:latin typeface="Calibri"/>
                          <a:cs typeface="Calibri"/>
                        </a:rPr>
                        <a:t>16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550" spc="-25" dirty="0">
                          <a:latin typeface="Calibri"/>
                          <a:cs typeface="Calibri"/>
                        </a:rPr>
                        <a:t>11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550" spc="-25" dirty="0">
                          <a:latin typeface="Calibri"/>
                          <a:cs typeface="Calibri"/>
                        </a:rPr>
                        <a:t>17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550" spc="-25" dirty="0">
                          <a:latin typeface="Calibri"/>
                          <a:cs typeface="Calibri"/>
                        </a:rPr>
                        <a:t>11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550" spc="-25" dirty="0">
                          <a:latin typeface="Calibri"/>
                          <a:cs typeface="Calibri"/>
                        </a:rPr>
                        <a:t>18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550" spc="-25" dirty="0">
                          <a:latin typeface="Calibri"/>
                          <a:cs typeface="Calibri"/>
                        </a:rPr>
                        <a:t>11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550" spc="-25" dirty="0">
                          <a:latin typeface="Calibri"/>
                          <a:cs typeface="Calibri"/>
                        </a:rPr>
                        <a:t>19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550" spc="-25" dirty="0">
                          <a:latin typeface="Calibri"/>
                          <a:cs typeface="Calibri"/>
                        </a:rPr>
                        <a:t>11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550" spc="-25" dirty="0">
                          <a:latin typeface="Calibri"/>
                          <a:cs typeface="Calibri"/>
                        </a:rPr>
                        <a:t>20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550" spc="-25" dirty="0">
                          <a:latin typeface="Calibri"/>
                          <a:cs typeface="Calibri"/>
                        </a:rPr>
                        <a:t>11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1687067" y="4722114"/>
            <a:ext cx="9854565" cy="132715"/>
          </a:xfrm>
          <a:custGeom>
            <a:avLst/>
            <a:gdLst/>
            <a:ahLst/>
            <a:cxnLst/>
            <a:rect l="l" t="t" r="r" b="b"/>
            <a:pathLst>
              <a:path w="9854565" h="132714">
                <a:moveTo>
                  <a:pt x="9830213" y="51816"/>
                </a:moveTo>
                <a:lnTo>
                  <a:pt x="9826243" y="51816"/>
                </a:lnTo>
                <a:lnTo>
                  <a:pt x="9826243" y="80391"/>
                </a:lnTo>
                <a:lnTo>
                  <a:pt x="9773297" y="80540"/>
                </a:lnTo>
                <a:lnTo>
                  <a:pt x="9733407" y="104012"/>
                </a:lnTo>
                <a:lnTo>
                  <a:pt x="9726549" y="107950"/>
                </a:lnTo>
                <a:lnTo>
                  <a:pt x="9724263" y="116712"/>
                </a:lnTo>
                <a:lnTo>
                  <a:pt x="9728327" y="123571"/>
                </a:lnTo>
                <a:lnTo>
                  <a:pt x="9732264" y="130302"/>
                </a:lnTo>
                <a:lnTo>
                  <a:pt x="9741027" y="132587"/>
                </a:lnTo>
                <a:lnTo>
                  <a:pt x="9747885" y="128650"/>
                </a:lnTo>
                <a:lnTo>
                  <a:pt x="9854565" y="65912"/>
                </a:lnTo>
                <a:lnTo>
                  <a:pt x="9830213" y="51816"/>
                </a:lnTo>
                <a:close/>
              </a:path>
              <a:path w="9854565" h="132714">
                <a:moveTo>
                  <a:pt x="9773373" y="51965"/>
                </a:moveTo>
                <a:lnTo>
                  <a:pt x="0" y="79629"/>
                </a:lnTo>
                <a:lnTo>
                  <a:pt x="0" y="108204"/>
                </a:lnTo>
                <a:lnTo>
                  <a:pt x="9773297" y="80540"/>
                </a:lnTo>
                <a:lnTo>
                  <a:pt x="9797825" y="66108"/>
                </a:lnTo>
                <a:lnTo>
                  <a:pt x="9773373" y="51965"/>
                </a:lnTo>
                <a:close/>
              </a:path>
              <a:path w="9854565" h="132714">
                <a:moveTo>
                  <a:pt x="9797825" y="66108"/>
                </a:moveTo>
                <a:lnTo>
                  <a:pt x="9773297" y="80540"/>
                </a:lnTo>
                <a:lnTo>
                  <a:pt x="9826243" y="80391"/>
                </a:lnTo>
                <a:lnTo>
                  <a:pt x="9826243" y="78359"/>
                </a:lnTo>
                <a:lnTo>
                  <a:pt x="9819005" y="78359"/>
                </a:lnTo>
                <a:lnTo>
                  <a:pt x="9797825" y="66108"/>
                </a:lnTo>
                <a:close/>
              </a:path>
              <a:path w="9854565" h="132714">
                <a:moveTo>
                  <a:pt x="9818878" y="53721"/>
                </a:moveTo>
                <a:lnTo>
                  <a:pt x="9797825" y="66108"/>
                </a:lnTo>
                <a:lnTo>
                  <a:pt x="9819005" y="78359"/>
                </a:lnTo>
                <a:lnTo>
                  <a:pt x="9818878" y="53721"/>
                </a:lnTo>
                <a:close/>
              </a:path>
              <a:path w="9854565" h="132714">
                <a:moveTo>
                  <a:pt x="9826243" y="53721"/>
                </a:moveTo>
                <a:lnTo>
                  <a:pt x="9818878" y="53721"/>
                </a:lnTo>
                <a:lnTo>
                  <a:pt x="9819005" y="78359"/>
                </a:lnTo>
                <a:lnTo>
                  <a:pt x="9826243" y="78359"/>
                </a:lnTo>
                <a:lnTo>
                  <a:pt x="9826243" y="53721"/>
                </a:lnTo>
                <a:close/>
              </a:path>
              <a:path w="9854565" h="132714">
                <a:moveTo>
                  <a:pt x="9826243" y="51816"/>
                </a:moveTo>
                <a:lnTo>
                  <a:pt x="9773373" y="51965"/>
                </a:lnTo>
                <a:lnTo>
                  <a:pt x="9797825" y="66108"/>
                </a:lnTo>
                <a:lnTo>
                  <a:pt x="9818878" y="53721"/>
                </a:lnTo>
                <a:lnTo>
                  <a:pt x="9826243" y="53721"/>
                </a:lnTo>
                <a:lnTo>
                  <a:pt x="9826243" y="51816"/>
                </a:lnTo>
                <a:close/>
              </a:path>
              <a:path w="9854565" h="132714">
                <a:moveTo>
                  <a:pt x="9740646" y="0"/>
                </a:moveTo>
                <a:lnTo>
                  <a:pt x="9731883" y="2286"/>
                </a:lnTo>
                <a:lnTo>
                  <a:pt x="9724009" y="16002"/>
                </a:lnTo>
                <a:lnTo>
                  <a:pt x="9726295" y="24637"/>
                </a:lnTo>
                <a:lnTo>
                  <a:pt x="9733153" y="28702"/>
                </a:lnTo>
                <a:lnTo>
                  <a:pt x="9773373" y="51965"/>
                </a:lnTo>
                <a:lnTo>
                  <a:pt x="9830213" y="51816"/>
                </a:lnTo>
                <a:lnTo>
                  <a:pt x="974064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410969" y="4998339"/>
            <a:ext cx="132715" cy="1714500"/>
          </a:xfrm>
          <a:custGeom>
            <a:avLst/>
            <a:gdLst/>
            <a:ahLst/>
            <a:cxnLst/>
            <a:rect l="l" t="t" r="r" b="b"/>
            <a:pathLst>
              <a:path w="132715" h="1714500">
                <a:moveTo>
                  <a:pt x="16002" y="1583867"/>
                </a:moveTo>
                <a:lnTo>
                  <a:pt x="2286" y="1591767"/>
                </a:lnTo>
                <a:lnTo>
                  <a:pt x="0" y="1600504"/>
                </a:lnTo>
                <a:lnTo>
                  <a:pt x="65786" y="1714500"/>
                </a:lnTo>
                <a:lnTo>
                  <a:pt x="82464" y="1686217"/>
                </a:lnTo>
                <a:lnTo>
                  <a:pt x="51688" y="1686217"/>
                </a:lnTo>
                <a:lnTo>
                  <a:pt x="51721" y="1679003"/>
                </a:lnTo>
                <a:lnTo>
                  <a:pt x="51816" y="1657814"/>
                </a:lnTo>
                <a:lnTo>
                  <a:pt x="51926" y="1633475"/>
                </a:lnTo>
                <a:lnTo>
                  <a:pt x="24765" y="1586217"/>
                </a:lnTo>
                <a:lnTo>
                  <a:pt x="16002" y="1583867"/>
                </a:lnTo>
                <a:close/>
              </a:path>
              <a:path w="132715" h="1714500">
                <a:moveTo>
                  <a:pt x="51997" y="1633475"/>
                </a:moveTo>
                <a:lnTo>
                  <a:pt x="51816" y="1657814"/>
                </a:lnTo>
                <a:lnTo>
                  <a:pt x="51721" y="1679003"/>
                </a:lnTo>
                <a:lnTo>
                  <a:pt x="51688" y="1686217"/>
                </a:lnTo>
                <a:lnTo>
                  <a:pt x="80137" y="1686217"/>
                </a:lnTo>
                <a:lnTo>
                  <a:pt x="80169" y="1679003"/>
                </a:lnTo>
                <a:lnTo>
                  <a:pt x="53526" y="1679003"/>
                </a:lnTo>
                <a:lnTo>
                  <a:pt x="66022" y="1657814"/>
                </a:lnTo>
                <a:lnTo>
                  <a:pt x="51997" y="1633475"/>
                </a:lnTo>
                <a:close/>
              </a:path>
              <a:path w="132715" h="1714500">
                <a:moveTo>
                  <a:pt x="116713" y="1584325"/>
                </a:moveTo>
                <a:lnTo>
                  <a:pt x="107950" y="1586598"/>
                </a:lnTo>
                <a:lnTo>
                  <a:pt x="104013" y="1593392"/>
                </a:lnTo>
                <a:lnTo>
                  <a:pt x="80375" y="1633475"/>
                </a:lnTo>
                <a:lnTo>
                  <a:pt x="80265" y="1657814"/>
                </a:lnTo>
                <a:lnTo>
                  <a:pt x="80169" y="1679003"/>
                </a:lnTo>
                <a:lnTo>
                  <a:pt x="80137" y="1686217"/>
                </a:lnTo>
                <a:lnTo>
                  <a:pt x="82464" y="1686217"/>
                </a:lnTo>
                <a:lnTo>
                  <a:pt x="128651" y="1607896"/>
                </a:lnTo>
                <a:lnTo>
                  <a:pt x="132588" y="1601101"/>
                </a:lnTo>
                <a:lnTo>
                  <a:pt x="130302" y="1592338"/>
                </a:lnTo>
                <a:lnTo>
                  <a:pt x="116713" y="1584325"/>
                </a:lnTo>
                <a:close/>
              </a:path>
              <a:path w="132715" h="1714500">
                <a:moveTo>
                  <a:pt x="66022" y="1657814"/>
                </a:moveTo>
                <a:lnTo>
                  <a:pt x="53526" y="1679003"/>
                </a:lnTo>
                <a:lnTo>
                  <a:pt x="78232" y="1679003"/>
                </a:lnTo>
                <a:lnTo>
                  <a:pt x="66022" y="1657814"/>
                </a:lnTo>
                <a:close/>
              </a:path>
              <a:path w="132715" h="1714500">
                <a:moveTo>
                  <a:pt x="80375" y="1633475"/>
                </a:moveTo>
                <a:lnTo>
                  <a:pt x="66022" y="1657814"/>
                </a:lnTo>
                <a:lnTo>
                  <a:pt x="78232" y="1679003"/>
                </a:lnTo>
                <a:lnTo>
                  <a:pt x="80169" y="1679003"/>
                </a:lnTo>
                <a:lnTo>
                  <a:pt x="80265" y="1657814"/>
                </a:lnTo>
                <a:lnTo>
                  <a:pt x="80375" y="1633475"/>
                </a:lnTo>
                <a:close/>
              </a:path>
              <a:path w="132715" h="1714500">
                <a:moveTo>
                  <a:pt x="59309" y="0"/>
                </a:moveTo>
                <a:lnTo>
                  <a:pt x="52150" y="1583867"/>
                </a:lnTo>
                <a:lnTo>
                  <a:pt x="52115" y="1591767"/>
                </a:lnTo>
                <a:lnTo>
                  <a:pt x="51997" y="1633475"/>
                </a:lnTo>
                <a:lnTo>
                  <a:pt x="66022" y="1657814"/>
                </a:lnTo>
                <a:lnTo>
                  <a:pt x="80375" y="1633475"/>
                </a:lnTo>
                <a:lnTo>
                  <a:pt x="87757" y="127"/>
                </a:lnTo>
                <a:lnTo>
                  <a:pt x="5930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663428" y="4907089"/>
            <a:ext cx="117665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8925" marR="5080" indent="-27686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Context</a:t>
            </a:r>
            <a:r>
              <a:rPr sz="1800" spc="-8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Dim </a:t>
            </a:r>
            <a:r>
              <a:rPr sz="1800" spc="-10" dirty="0">
                <a:latin typeface="Calibri"/>
                <a:cs typeface="Calibri"/>
              </a:rPr>
              <a:t>(T=10)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3016" y="6132067"/>
            <a:ext cx="975994" cy="5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Batch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Dim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Calibri"/>
                <a:cs typeface="Calibri"/>
              </a:rPr>
              <a:t>(B=4)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30936" y="1746885"/>
            <a:ext cx="10799445" cy="1893570"/>
          </a:xfrm>
          <a:custGeom>
            <a:avLst/>
            <a:gdLst/>
            <a:ahLst/>
            <a:cxnLst/>
            <a:rect l="l" t="t" r="r" b="b"/>
            <a:pathLst>
              <a:path w="10799445" h="1893570">
                <a:moveTo>
                  <a:pt x="10799064" y="0"/>
                </a:moveTo>
                <a:lnTo>
                  <a:pt x="0" y="0"/>
                </a:lnTo>
                <a:lnTo>
                  <a:pt x="0" y="1893316"/>
                </a:lnTo>
                <a:lnTo>
                  <a:pt x="10799064" y="1893316"/>
                </a:lnTo>
                <a:lnTo>
                  <a:pt x="10799064" y="0"/>
                </a:lnTo>
                <a:close/>
              </a:path>
            </a:pathLst>
          </a:custGeom>
          <a:solidFill>
            <a:srgbClr val="FFFFFF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A27DDAA0-A80F-4F4D-9A54-D27FE4B09F69}"/>
              </a:ext>
            </a:extLst>
          </p:cNvPr>
          <p:cNvCxnSpPr/>
          <p:nvPr/>
        </p:nvCxnSpPr>
        <p:spPr>
          <a:xfrm flipH="1">
            <a:off x="10591800" y="6324600"/>
            <a:ext cx="11430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" name="object 7">
            <a:extLst>
              <a:ext uri="{FF2B5EF4-FFF2-40B4-BE49-F238E27FC236}">
                <a16:creationId xmlns:a16="http://schemas.microsoft.com/office/drawing/2014/main" id="{CE54538E-16CC-45BE-AE0A-844CD5B7C6A5}"/>
              </a:ext>
            </a:extLst>
          </p:cNvPr>
          <p:cNvSpPr txBox="1"/>
          <p:nvPr/>
        </p:nvSpPr>
        <p:spPr>
          <a:xfrm>
            <a:off x="10274062" y="5792387"/>
            <a:ext cx="1887032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indent="12700">
              <a:lnSpc>
                <a:spcPct val="100000"/>
              </a:lnSpc>
              <a:spcBef>
                <a:spcPts val="100"/>
              </a:spcBef>
            </a:pPr>
            <a:r>
              <a:rPr lang="ru-RU" sz="1400" dirty="0">
                <a:latin typeface="Calibri"/>
                <a:cs typeface="Calibri"/>
              </a:rPr>
              <a:t>Индексы токенов после </a:t>
            </a:r>
            <a:r>
              <a:rPr lang="ru-RU" sz="1400" dirty="0" err="1">
                <a:latin typeface="Calibri"/>
                <a:cs typeface="Calibri"/>
              </a:rPr>
              <a:t>токенизации</a:t>
            </a:r>
            <a:r>
              <a:rPr lang="ru-RU" sz="1400" dirty="0">
                <a:latin typeface="Calibri"/>
                <a:cs typeface="Calibri"/>
              </a:rPr>
              <a:t> текста</a:t>
            </a:r>
            <a:endParaRPr sz="14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976513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8940">
              <a:lnSpc>
                <a:spcPct val="100000"/>
              </a:lnSpc>
              <a:spcBef>
                <a:spcPts val="100"/>
              </a:spcBef>
            </a:pPr>
            <a:r>
              <a:rPr dirty="0"/>
              <a:t>Компьюта</a:t>
            </a:r>
            <a:r>
              <a:rPr spc="-45" dirty="0"/>
              <a:t> </a:t>
            </a:r>
            <a:r>
              <a:rPr dirty="0"/>
              <a:t>—</a:t>
            </a:r>
            <a:r>
              <a:rPr spc="-85" dirty="0"/>
              <a:t> </a:t>
            </a:r>
            <a:r>
              <a:rPr dirty="0"/>
              <a:t>да</a:t>
            </a:r>
            <a:r>
              <a:rPr spc="-75" dirty="0"/>
              <a:t> </a:t>
            </a:r>
            <a:r>
              <a:rPr spc="-10" dirty="0"/>
              <a:t>побольше!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871" y="1335405"/>
            <a:ext cx="7600709" cy="421521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8940">
              <a:lnSpc>
                <a:spcPct val="100000"/>
              </a:lnSpc>
              <a:spcBef>
                <a:spcPts val="100"/>
              </a:spcBef>
            </a:pPr>
            <a:r>
              <a:rPr dirty="0"/>
              <a:t>Компьюта</a:t>
            </a:r>
            <a:r>
              <a:rPr spc="-45" dirty="0"/>
              <a:t> </a:t>
            </a:r>
            <a:r>
              <a:rPr dirty="0"/>
              <a:t>—</a:t>
            </a:r>
            <a:r>
              <a:rPr spc="-85" dirty="0"/>
              <a:t> </a:t>
            </a:r>
            <a:r>
              <a:rPr dirty="0"/>
              <a:t>да</a:t>
            </a:r>
            <a:r>
              <a:rPr spc="-75" dirty="0"/>
              <a:t> </a:t>
            </a:r>
            <a:r>
              <a:rPr spc="-10" dirty="0"/>
              <a:t>побольше!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1480" y="5782318"/>
            <a:ext cx="5010912" cy="90563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8871" y="1335405"/>
            <a:ext cx="7600709" cy="421521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00800" y="5643257"/>
            <a:ext cx="5440680" cy="103352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8940">
              <a:lnSpc>
                <a:spcPct val="100000"/>
              </a:lnSpc>
              <a:spcBef>
                <a:spcPts val="100"/>
              </a:spcBef>
            </a:pPr>
            <a:r>
              <a:rPr dirty="0"/>
              <a:t>Компьюта</a:t>
            </a:r>
            <a:r>
              <a:rPr spc="-45" dirty="0"/>
              <a:t> </a:t>
            </a:r>
            <a:r>
              <a:rPr dirty="0"/>
              <a:t>—</a:t>
            </a:r>
            <a:r>
              <a:rPr spc="-85" dirty="0"/>
              <a:t> </a:t>
            </a:r>
            <a:r>
              <a:rPr dirty="0"/>
              <a:t>да</a:t>
            </a:r>
            <a:r>
              <a:rPr spc="-75" dirty="0"/>
              <a:t> </a:t>
            </a:r>
            <a:r>
              <a:rPr spc="-10" dirty="0"/>
              <a:t>побольше!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977337" y="2607815"/>
            <a:ext cx="3297554" cy="1473835"/>
            <a:chOff x="7977337" y="2607815"/>
            <a:chExt cx="3297554" cy="147383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77337" y="2607815"/>
              <a:ext cx="3297214" cy="61148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95745" y="3260472"/>
              <a:ext cx="3083168" cy="33008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977337" y="3649584"/>
              <a:ext cx="3297214" cy="43154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9587483" y="3617340"/>
              <a:ext cx="589915" cy="402590"/>
            </a:xfrm>
            <a:custGeom>
              <a:avLst/>
              <a:gdLst/>
              <a:ahLst/>
              <a:cxnLst/>
              <a:rect l="l" t="t" r="r" b="b"/>
              <a:pathLst>
                <a:path w="589915" h="402589">
                  <a:moveTo>
                    <a:pt x="0" y="402462"/>
                  </a:moveTo>
                  <a:lnTo>
                    <a:pt x="589788" y="402462"/>
                  </a:lnTo>
                </a:path>
                <a:path w="589915" h="402589">
                  <a:moveTo>
                    <a:pt x="0" y="0"/>
                  </a:moveTo>
                  <a:lnTo>
                    <a:pt x="589788" y="0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347472" y="5615825"/>
            <a:ext cx="11595100" cy="1189355"/>
            <a:chOff x="347472" y="5615825"/>
            <a:chExt cx="11595100" cy="1189355"/>
          </a:xfrm>
        </p:grpSpPr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11480" y="5782318"/>
              <a:ext cx="5010912" cy="90563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400800" y="5643257"/>
              <a:ext cx="5440680" cy="1033526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47472" y="5615825"/>
              <a:ext cx="11595100" cy="1189355"/>
            </a:xfrm>
            <a:custGeom>
              <a:avLst/>
              <a:gdLst/>
              <a:ahLst/>
              <a:cxnLst/>
              <a:rect l="l" t="t" r="r" b="b"/>
              <a:pathLst>
                <a:path w="11595100" h="1189354">
                  <a:moveTo>
                    <a:pt x="11594592" y="0"/>
                  </a:moveTo>
                  <a:lnTo>
                    <a:pt x="0" y="0"/>
                  </a:lnTo>
                  <a:lnTo>
                    <a:pt x="0" y="1189012"/>
                  </a:lnTo>
                  <a:lnTo>
                    <a:pt x="11594592" y="1189012"/>
                  </a:lnTo>
                  <a:lnTo>
                    <a:pt x="11594592" y="0"/>
                  </a:lnTo>
                  <a:close/>
                </a:path>
              </a:pathLst>
            </a:custGeom>
            <a:solidFill>
              <a:srgbClr val="FFFFFF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8871" y="1335405"/>
            <a:ext cx="7600709" cy="421521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8940">
              <a:lnSpc>
                <a:spcPct val="100000"/>
              </a:lnSpc>
              <a:spcBef>
                <a:spcPts val="100"/>
              </a:spcBef>
            </a:pPr>
            <a:r>
              <a:rPr dirty="0"/>
              <a:t>Но</a:t>
            </a:r>
            <a:r>
              <a:rPr spc="-60" dirty="0"/>
              <a:t> </a:t>
            </a:r>
            <a:r>
              <a:rPr dirty="0"/>
              <a:t>где</a:t>
            </a:r>
            <a:r>
              <a:rPr spc="-70" dirty="0"/>
              <a:t> </a:t>
            </a:r>
            <a:r>
              <a:rPr dirty="0"/>
              <a:t>брать</a:t>
            </a:r>
            <a:r>
              <a:rPr spc="-60" dirty="0"/>
              <a:t> </a:t>
            </a:r>
            <a:r>
              <a:rPr spc="-10" dirty="0"/>
              <a:t>данные?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10801" y="4510402"/>
            <a:ext cx="6730276" cy="174013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8940">
              <a:lnSpc>
                <a:spcPct val="100000"/>
              </a:lnSpc>
              <a:spcBef>
                <a:spcPts val="100"/>
              </a:spcBef>
            </a:pPr>
            <a:r>
              <a:rPr dirty="0"/>
              <a:t>Но</a:t>
            </a:r>
            <a:r>
              <a:rPr spc="-60" dirty="0"/>
              <a:t> </a:t>
            </a:r>
            <a:r>
              <a:rPr dirty="0"/>
              <a:t>где</a:t>
            </a:r>
            <a:r>
              <a:rPr spc="-70" dirty="0"/>
              <a:t> </a:t>
            </a:r>
            <a:r>
              <a:rPr dirty="0"/>
              <a:t>брать</a:t>
            </a:r>
            <a:r>
              <a:rPr spc="-60" dirty="0"/>
              <a:t> </a:t>
            </a:r>
            <a:r>
              <a:rPr spc="-10" dirty="0"/>
              <a:t>данные?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001204" y="4510402"/>
            <a:ext cx="10151745" cy="1771650"/>
            <a:chOff x="1001204" y="4510402"/>
            <a:chExt cx="10151745" cy="17716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10801" y="4510402"/>
              <a:ext cx="6730276" cy="174013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001204" y="5486272"/>
              <a:ext cx="10151745" cy="796290"/>
            </a:xfrm>
            <a:custGeom>
              <a:avLst/>
              <a:gdLst/>
              <a:ahLst/>
              <a:cxnLst/>
              <a:rect l="l" t="t" r="r" b="b"/>
              <a:pathLst>
                <a:path w="10151745" h="796289">
                  <a:moveTo>
                    <a:pt x="2658427" y="742911"/>
                  </a:moveTo>
                  <a:lnTo>
                    <a:pt x="2658300" y="715200"/>
                  </a:lnTo>
                  <a:lnTo>
                    <a:pt x="2658300" y="714336"/>
                  </a:lnTo>
                  <a:lnTo>
                    <a:pt x="81153" y="715187"/>
                  </a:lnTo>
                  <a:lnTo>
                    <a:pt x="128041" y="687806"/>
                  </a:lnTo>
                  <a:lnTo>
                    <a:pt x="130340" y="679069"/>
                  </a:lnTo>
                  <a:lnTo>
                    <a:pt x="122389" y="665429"/>
                  </a:lnTo>
                  <a:lnTo>
                    <a:pt x="113639" y="663130"/>
                  </a:lnTo>
                  <a:lnTo>
                    <a:pt x="56730" y="696379"/>
                  </a:lnTo>
                  <a:lnTo>
                    <a:pt x="56730" y="729500"/>
                  </a:lnTo>
                  <a:lnTo>
                    <a:pt x="35547" y="741819"/>
                  </a:lnTo>
                  <a:lnTo>
                    <a:pt x="56642" y="729500"/>
                  </a:lnTo>
                  <a:lnTo>
                    <a:pt x="35534" y="717143"/>
                  </a:lnTo>
                  <a:lnTo>
                    <a:pt x="56730" y="729500"/>
                  </a:lnTo>
                  <a:lnTo>
                    <a:pt x="56730" y="696379"/>
                  </a:lnTo>
                  <a:lnTo>
                    <a:pt x="0" y="729500"/>
                  </a:lnTo>
                  <a:lnTo>
                    <a:pt x="113690" y="795782"/>
                  </a:lnTo>
                  <a:lnTo>
                    <a:pt x="122428" y="793470"/>
                  </a:lnTo>
                  <a:lnTo>
                    <a:pt x="130378" y="779843"/>
                  </a:lnTo>
                  <a:lnTo>
                    <a:pt x="128079" y="771093"/>
                  </a:lnTo>
                  <a:lnTo>
                    <a:pt x="81216" y="743775"/>
                  </a:lnTo>
                  <a:lnTo>
                    <a:pt x="28346" y="743775"/>
                  </a:lnTo>
                  <a:lnTo>
                    <a:pt x="81178" y="743762"/>
                  </a:lnTo>
                  <a:lnTo>
                    <a:pt x="2658427" y="742911"/>
                  </a:lnTo>
                  <a:close/>
                </a:path>
                <a:path w="10151745" h="796289">
                  <a:moveTo>
                    <a:pt x="10151300" y="42672"/>
                  </a:moveTo>
                  <a:lnTo>
                    <a:pt x="10122764" y="28473"/>
                  </a:lnTo>
                  <a:lnTo>
                    <a:pt x="10065575" y="0"/>
                  </a:lnTo>
                  <a:lnTo>
                    <a:pt x="10065614" y="28473"/>
                  </a:lnTo>
                  <a:lnTo>
                    <a:pt x="3941127" y="38989"/>
                  </a:lnTo>
                  <a:lnTo>
                    <a:pt x="3941127" y="67564"/>
                  </a:lnTo>
                  <a:lnTo>
                    <a:pt x="10065652" y="57048"/>
                  </a:lnTo>
                  <a:lnTo>
                    <a:pt x="10065702" y="85725"/>
                  </a:lnTo>
                  <a:lnTo>
                    <a:pt x="10122713" y="57048"/>
                  </a:lnTo>
                  <a:lnTo>
                    <a:pt x="10151300" y="426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363980" y="6180620"/>
            <a:ext cx="1144905" cy="5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Только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Calibri"/>
                <a:cs typeface="Calibri"/>
              </a:rPr>
              <a:t>английский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807067" y="5485676"/>
            <a:ext cx="1098550" cy="849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Улучшение </a:t>
            </a:r>
            <a:r>
              <a:rPr sz="1800" spc="-10" dirty="0">
                <a:latin typeface="Calibri"/>
                <a:cs typeface="Calibri"/>
              </a:rPr>
              <a:t>датасета </a:t>
            </a:r>
            <a:r>
              <a:rPr sz="1800" spc="-20" dirty="0">
                <a:latin typeface="Calibri"/>
                <a:cs typeface="Calibri"/>
              </a:rPr>
              <a:t>GPT-</a:t>
            </a:r>
            <a:r>
              <a:rPr sz="1800" spc="-50" dirty="0"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93776" y="5103571"/>
            <a:ext cx="11595100" cy="229235"/>
          </a:xfrm>
          <a:custGeom>
            <a:avLst/>
            <a:gdLst/>
            <a:ahLst/>
            <a:cxnLst/>
            <a:rect l="l" t="t" r="r" b="b"/>
            <a:pathLst>
              <a:path w="11595100" h="229235">
                <a:moveTo>
                  <a:pt x="11594592" y="0"/>
                </a:moveTo>
                <a:lnTo>
                  <a:pt x="0" y="0"/>
                </a:lnTo>
                <a:lnTo>
                  <a:pt x="0" y="228650"/>
                </a:lnTo>
                <a:lnTo>
                  <a:pt x="11594592" y="228650"/>
                </a:lnTo>
                <a:lnTo>
                  <a:pt x="11594592" y="0"/>
                </a:lnTo>
                <a:close/>
              </a:path>
            </a:pathLst>
          </a:custGeom>
          <a:solidFill>
            <a:srgbClr val="FFFFFF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8940">
              <a:lnSpc>
                <a:spcPct val="100000"/>
              </a:lnSpc>
              <a:spcBef>
                <a:spcPts val="100"/>
              </a:spcBef>
            </a:pPr>
            <a:r>
              <a:rPr dirty="0"/>
              <a:t>Но</a:t>
            </a:r>
            <a:r>
              <a:rPr spc="-60" dirty="0"/>
              <a:t> </a:t>
            </a:r>
            <a:r>
              <a:rPr dirty="0"/>
              <a:t>где</a:t>
            </a:r>
            <a:r>
              <a:rPr spc="-70" dirty="0"/>
              <a:t> </a:t>
            </a:r>
            <a:r>
              <a:rPr dirty="0"/>
              <a:t>брать</a:t>
            </a:r>
            <a:r>
              <a:rPr spc="-60" dirty="0"/>
              <a:t> </a:t>
            </a:r>
            <a:r>
              <a:rPr spc="-10" dirty="0"/>
              <a:t>данные?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001204" y="4510402"/>
            <a:ext cx="8340090" cy="1740535"/>
            <a:chOff x="1001204" y="4510402"/>
            <a:chExt cx="8340090" cy="174053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10801" y="4510402"/>
              <a:ext cx="6730276" cy="174013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001204" y="5234559"/>
              <a:ext cx="3726179" cy="132715"/>
            </a:xfrm>
            <a:custGeom>
              <a:avLst/>
              <a:gdLst/>
              <a:ahLst/>
              <a:cxnLst/>
              <a:rect l="l" t="t" r="r" b="b"/>
              <a:pathLst>
                <a:path w="3726179" h="132714">
                  <a:moveTo>
                    <a:pt x="113995" y="0"/>
                  </a:moveTo>
                  <a:lnTo>
                    <a:pt x="0" y="65658"/>
                  </a:lnTo>
                  <a:lnTo>
                    <a:pt x="106540" y="128650"/>
                  </a:lnTo>
                  <a:lnTo>
                    <a:pt x="113334" y="132587"/>
                  </a:lnTo>
                  <a:lnTo>
                    <a:pt x="122097" y="130301"/>
                  </a:lnTo>
                  <a:lnTo>
                    <a:pt x="126098" y="123570"/>
                  </a:lnTo>
                  <a:lnTo>
                    <a:pt x="130111" y="116712"/>
                  </a:lnTo>
                  <a:lnTo>
                    <a:pt x="127850" y="107949"/>
                  </a:lnTo>
                  <a:lnTo>
                    <a:pt x="121056" y="104012"/>
                  </a:lnTo>
                  <a:lnTo>
                    <a:pt x="81032" y="80399"/>
                  </a:lnTo>
                  <a:lnTo>
                    <a:pt x="28257" y="80136"/>
                  </a:lnTo>
                  <a:lnTo>
                    <a:pt x="28334" y="65658"/>
                  </a:lnTo>
                  <a:lnTo>
                    <a:pt x="28409" y="51561"/>
                  </a:lnTo>
                  <a:lnTo>
                    <a:pt x="81766" y="51561"/>
                  </a:lnTo>
                  <a:lnTo>
                    <a:pt x="128270" y="24764"/>
                  </a:lnTo>
                  <a:lnTo>
                    <a:pt x="130606" y="16001"/>
                  </a:lnTo>
                  <a:lnTo>
                    <a:pt x="122732" y="2285"/>
                  </a:lnTo>
                  <a:lnTo>
                    <a:pt x="113995" y="0"/>
                  </a:lnTo>
                  <a:close/>
                </a:path>
                <a:path w="3726179" h="132714">
                  <a:moveTo>
                    <a:pt x="81309" y="51825"/>
                  </a:moveTo>
                  <a:lnTo>
                    <a:pt x="56667" y="66024"/>
                  </a:lnTo>
                  <a:lnTo>
                    <a:pt x="81032" y="80399"/>
                  </a:lnTo>
                  <a:lnTo>
                    <a:pt x="3725735" y="98551"/>
                  </a:lnTo>
                  <a:lnTo>
                    <a:pt x="3725896" y="80399"/>
                  </a:lnTo>
                  <a:lnTo>
                    <a:pt x="3725989" y="69976"/>
                  </a:lnTo>
                  <a:lnTo>
                    <a:pt x="81309" y="51825"/>
                  </a:lnTo>
                  <a:close/>
                </a:path>
                <a:path w="3726179" h="132714">
                  <a:moveTo>
                    <a:pt x="28409" y="51561"/>
                  </a:moveTo>
                  <a:lnTo>
                    <a:pt x="28334" y="65658"/>
                  </a:lnTo>
                  <a:lnTo>
                    <a:pt x="28257" y="80136"/>
                  </a:lnTo>
                  <a:lnTo>
                    <a:pt x="81032" y="80399"/>
                  </a:lnTo>
                  <a:lnTo>
                    <a:pt x="77358" y="78231"/>
                  </a:lnTo>
                  <a:lnTo>
                    <a:pt x="35483" y="78231"/>
                  </a:lnTo>
                  <a:lnTo>
                    <a:pt x="35598" y="53593"/>
                  </a:lnTo>
                  <a:lnTo>
                    <a:pt x="78240" y="53593"/>
                  </a:lnTo>
                  <a:lnTo>
                    <a:pt x="81309" y="51825"/>
                  </a:lnTo>
                  <a:lnTo>
                    <a:pt x="28409" y="51561"/>
                  </a:lnTo>
                  <a:close/>
                </a:path>
                <a:path w="3726179" h="132714">
                  <a:moveTo>
                    <a:pt x="35598" y="53593"/>
                  </a:moveTo>
                  <a:lnTo>
                    <a:pt x="35483" y="78231"/>
                  </a:lnTo>
                  <a:lnTo>
                    <a:pt x="56667" y="66024"/>
                  </a:lnTo>
                  <a:lnTo>
                    <a:pt x="35598" y="53593"/>
                  </a:lnTo>
                  <a:close/>
                </a:path>
                <a:path w="3726179" h="132714">
                  <a:moveTo>
                    <a:pt x="56667" y="66024"/>
                  </a:moveTo>
                  <a:lnTo>
                    <a:pt x="35483" y="78231"/>
                  </a:lnTo>
                  <a:lnTo>
                    <a:pt x="77358" y="78231"/>
                  </a:lnTo>
                  <a:lnTo>
                    <a:pt x="56667" y="66024"/>
                  </a:lnTo>
                  <a:close/>
                </a:path>
                <a:path w="3726179" h="132714">
                  <a:moveTo>
                    <a:pt x="78240" y="53593"/>
                  </a:moveTo>
                  <a:lnTo>
                    <a:pt x="35598" y="53593"/>
                  </a:lnTo>
                  <a:lnTo>
                    <a:pt x="56667" y="66024"/>
                  </a:lnTo>
                  <a:lnTo>
                    <a:pt x="78240" y="53593"/>
                  </a:lnTo>
                  <a:close/>
                </a:path>
                <a:path w="3726179" h="132714">
                  <a:moveTo>
                    <a:pt x="81766" y="51561"/>
                  </a:moveTo>
                  <a:lnTo>
                    <a:pt x="28409" y="51561"/>
                  </a:lnTo>
                  <a:lnTo>
                    <a:pt x="81309" y="51825"/>
                  </a:lnTo>
                  <a:lnTo>
                    <a:pt x="81766" y="5156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200619" y="4649533"/>
            <a:ext cx="127571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1557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«As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is»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всё </a:t>
            </a:r>
            <a:r>
              <a:rPr sz="1800" dirty="0">
                <a:latin typeface="Calibri"/>
                <a:cs typeface="Calibri"/>
              </a:rPr>
              <a:t>ещё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грязный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001204" y="5486272"/>
            <a:ext cx="10151745" cy="796290"/>
          </a:xfrm>
          <a:custGeom>
            <a:avLst/>
            <a:gdLst/>
            <a:ahLst/>
            <a:cxnLst/>
            <a:rect l="l" t="t" r="r" b="b"/>
            <a:pathLst>
              <a:path w="10151745" h="796289">
                <a:moveTo>
                  <a:pt x="2658427" y="742911"/>
                </a:moveTo>
                <a:lnTo>
                  <a:pt x="2658300" y="715200"/>
                </a:lnTo>
                <a:lnTo>
                  <a:pt x="2658300" y="714336"/>
                </a:lnTo>
                <a:lnTo>
                  <a:pt x="81153" y="715187"/>
                </a:lnTo>
                <a:lnTo>
                  <a:pt x="128041" y="687806"/>
                </a:lnTo>
                <a:lnTo>
                  <a:pt x="130340" y="679069"/>
                </a:lnTo>
                <a:lnTo>
                  <a:pt x="122389" y="665429"/>
                </a:lnTo>
                <a:lnTo>
                  <a:pt x="113639" y="663130"/>
                </a:lnTo>
                <a:lnTo>
                  <a:pt x="56730" y="696379"/>
                </a:lnTo>
                <a:lnTo>
                  <a:pt x="56730" y="729500"/>
                </a:lnTo>
                <a:lnTo>
                  <a:pt x="35547" y="741819"/>
                </a:lnTo>
                <a:lnTo>
                  <a:pt x="56642" y="729500"/>
                </a:lnTo>
                <a:lnTo>
                  <a:pt x="35534" y="717143"/>
                </a:lnTo>
                <a:lnTo>
                  <a:pt x="56730" y="729500"/>
                </a:lnTo>
                <a:lnTo>
                  <a:pt x="56730" y="696379"/>
                </a:lnTo>
                <a:lnTo>
                  <a:pt x="0" y="729500"/>
                </a:lnTo>
                <a:lnTo>
                  <a:pt x="113690" y="795782"/>
                </a:lnTo>
                <a:lnTo>
                  <a:pt x="122428" y="793470"/>
                </a:lnTo>
                <a:lnTo>
                  <a:pt x="130378" y="779843"/>
                </a:lnTo>
                <a:lnTo>
                  <a:pt x="128079" y="771093"/>
                </a:lnTo>
                <a:lnTo>
                  <a:pt x="81216" y="743775"/>
                </a:lnTo>
                <a:lnTo>
                  <a:pt x="28346" y="743775"/>
                </a:lnTo>
                <a:lnTo>
                  <a:pt x="81178" y="743762"/>
                </a:lnTo>
                <a:lnTo>
                  <a:pt x="2658427" y="742911"/>
                </a:lnTo>
                <a:close/>
              </a:path>
              <a:path w="10151745" h="796289">
                <a:moveTo>
                  <a:pt x="10151300" y="42672"/>
                </a:moveTo>
                <a:lnTo>
                  <a:pt x="10122764" y="28473"/>
                </a:lnTo>
                <a:lnTo>
                  <a:pt x="10065575" y="0"/>
                </a:lnTo>
                <a:lnTo>
                  <a:pt x="10065614" y="28473"/>
                </a:lnTo>
                <a:lnTo>
                  <a:pt x="3941127" y="38989"/>
                </a:lnTo>
                <a:lnTo>
                  <a:pt x="3941127" y="67564"/>
                </a:lnTo>
                <a:lnTo>
                  <a:pt x="10065652" y="57048"/>
                </a:lnTo>
                <a:lnTo>
                  <a:pt x="10065702" y="85725"/>
                </a:lnTo>
                <a:lnTo>
                  <a:pt x="10122713" y="57048"/>
                </a:lnTo>
                <a:lnTo>
                  <a:pt x="10151300" y="42672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363980" y="6180620"/>
            <a:ext cx="1144905" cy="5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Только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Calibri"/>
                <a:cs typeface="Calibri"/>
              </a:rPr>
              <a:t>английский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807067" y="5485676"/>
            <a:ext cx="1098550" cy="849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Улучшение </a:t>
            </a:r>
            <a:r>
              <a:rPr sz="1800" spc="-10" dirty="0">
                <a:latin typeface="Calibri"/>
                <a:cs typeface="Calibri"/>
              </a:rPr>
              <a:t>датасета </a:t>
            </a:r>
            <a:r>
              <a:rPr sz="1800" spc="-20" dirty="0">
                <a:latin typeface="Calibri"/>
                <a:cs typeface="Calibri"/>
              </a:rPr>
              <a:t>GPT-</a:t>
            </a:r>
            <a:r>
              <a:rPr sz="1800" spc="-50" dirty="0"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509759" y="5551792"/>
            <a:ext cx="1673860" cy="1043305"/>
          </a:xfrm>
          <a:custGeom>
            <a:avLst/>
            <a:gdLst/>
            <a:ahLst/>
            <a:cxnLst/>
            <a:rect l="l" t="t" r="r" b="b"/>
            <a:pathLst>
              <a:path w="1673859" h="1043304">
                <a:moveTo>
                  <a:pt x="1673352" y="0"/>
                </a:moveTo>
                <a:lnTo>
                  <a:pt x="0" y="0"/>
                </a:lnTo>
                <a:lnTo>
                  <a:pt x="0" y="1042682"/>
                </a:lnTo>
                <a:lnTo>
                  <a:pt x="1673352" y="1042682"/>
                </a:lnTo>
                <a:lnTo>
                  <a:pt x="1673352" y="0"/>
                </a:lnTo>
                <a:close/>
              </a:path>
            </a:pathLst>
          </a:custGeom>
          <a:solidFill>
            <a:srgbClr val="FFFFFF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29768" y="6265209"/>
            <a:ext cx="2368550" cy="576580"/>
          </a:xfrm>
          <a:custGeom>
            <a:avLst/>
            <a:gdLst/>
            <a:ahLst/>
            <a:cxnLst/>
            <a:rect l="l" t="t" r="r" b="b"/>
            <a:pathLst>
              <a:path w="2368550" h="576579">
                <a:moveTo>
                  <a:pt x="2368296" y="0"/>
                </a:moveTo>
                <a:lnTo>
                  <a:pt x="0" y="0"/>
                </a:lnTo>
                <a:lnTo>
                  <a:pt x="0" y="576211"/>
                </a:lnTo>
                <a:lnTo>
                  <a:pt x="2368296" y="576211"/>
                </a:lnTo>
                <a:lnTo>
                  <a:pt x="2368296" y="0"/>
                </a:lnTo>
                <a:close/>
              </a:path>
            </a:pathLst>
          </a:custGeom>
          <a:solidFill>
            <a:srgbClr val="FFFFFF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8940">
              <a:lnSpc>
                <a:spcPct val="100000"/>
              </a:lnSpc>
              <a:spcBef>
                <a:spcPts val="100"/>
              </a:spcBef>
            </a:pPr>
            <a:r>
              <a:rPr dirty="0"/>
              <a:t>Но</a:t>
            </a:r>
            <a:r>
              <a:rPr spc="-60" dirty="0"/>
              <a:t> </a:t>
            </a:r>
            <a:r>
              <a:rPr dirty="0"/>
              <a:t>где</a:t>
            </a:r>
            <a:r>
              <a:rPr spc="-70" dirty="0"/>
              <a:t> </a:t>
            </a:r>
            <a:r>
              <a:rPr dirty="0"/>
              <a:t>брать</a:t>
            </a:r>
            <a:r>
              <a:rPr spc="-60" dirty="0"/>
              <a:t> </a:t>
            </a:r>
            <a:r>
              <a:rPr spc="-10" dirty="0"/>
              <a:t>данные?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001204" y="4510402"/>
            <a:ext cx="10151745" cy="1771650"/>
            <a:chOff x="1001204" y="4510402"/>
            <a:chExt cx="10151745" cy="17716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10801" y="4510402"/>
              <a:ext cx="6730276" cy="174013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001204" y="5234559"/>
              <a:ext cx="3726179" cy="132715"/>
            </a:xfrm>
            <a:custGeom>
              <a:avLst/>
              <a:gdLst/>
              <a:ahLst/>
              <a:cxnLst/>
              <a:rect l="l" t="t" r="r" b="b"/>
              <a:pathLst>
                <a:path w="3726179" h="132714">
                  <a:moveTo>
                    <a:pt x="113995" y="0"/>
                  </a:moveTo>
                  <a:lnTo>
                    <a:pt x="0" y="65658"/>
                  </a:lnTo>
                  <a:lnTo>
                    <a:pt x="106540" y="128650"/>
                  </a:lnTo>
                  <a:lnTo>
                    <a:pt x="113334" y="132587"/>
                  </a:lnTo>
                  <a:lnTo>
                    <a:pt x="122097" y="130301"/>
                  </a:lnTo>
                  <a:lnTo>
                    <a:pt x="126098" y="123570"/>
                  </a:lnTo>
                  <a:lnTo>
                    <a:pt x="130111" y="116712"/>
                  </a:lnTo>
                  <a:lnTo>
                    <a:pt x="127850" y="107949"/>
                  </a:lnTo>
                  <a:lnTo>
                    <a:pt x="121056" y="104012"/>
                  </a:lnTo>
                  <a:lnTo>
                    <a:pt x="81032" y="80399"/>
                  </a:lnTo>
                  <a:lnTo>
                    <a:pt x="28257" y="80136"/>
                  </a:lnTo>
                  <a:lnTo>
                    <a:pt x="28334" y="65658"/>
                  </a:lnTo>
                  <a:lnTo>
                    <a:pt x="28409" y="51561"/>
                  </a:lnTo>
                  <a:lnTo>
                    <a:pt x="81766" y="51561"/>
                  </a:lnTo>
                  <a:lnTo>
                    <a:pt x="128270" y="24764"/>
                  </a:lnTo>
                  <a:lnTo>
                    <a:pt x="130606" y="16001"/>
                  </a:lnTo>
                  <a:lnTo>
                    <a:pt x="122732" y="2285"/>
                  </a:lnTo>
                  <a:lnTo>
                    <a:pt x="113995" y="0"/>
                  </a:lnTo>
                  <a:close/>
                </a:path>
                <a:path w="3726179" h="132714">
                  <a:moveTo>
                    <a:pt x="81309" y="51825"/>
                  </a:moveTo>
                  <a:lnTo>
                    <a:pt x="56667" y="66024"/>
                  </a:lnTo>
                  <a:lnTo>
                    <a:pt x="81032" y="80399"/>
                  </a:lnTo>
                  <a:lnTo>
                    <a:pt x="3725735" y="98551"/>
                  </a:lnTo>
                  <a:lnTo>
                    <a:pt x="3725896" y="80399"/>
                  </a:lnTo>
                  <a:lnTo>
                    <a:pt x="3725989" y="69976"/>
                  </a:lnTo>
                  <a:lnTo>
                    <a:pt x="81309" y="51825"/>
                  </a:lnTo>
                  <a:close/>
                </a:path>
                <a:path w="3726179" h="132714">
                  <a:moveTo>
                    <a:pt x="28409" y="51561"/>
                  </a:moveTo>
                  <a:lnTo>
                    <a:pt x="28334" y="65658"/>
                  </a:lnTo>
                  <a:lnTo>
                    <a:pt x="28257" y="80136"/>
                  </a:lnTo>
                  <a:lnTo>
                    <a:pt x="81032" y="80399"/>
                  </a:lnTo>
                  <a:lnTo>
                    <a:pt x="77358" y="78231"/>
                  </a:lnTo>
                  <a:lnTo>
                    <a:pt x="35483" y="78231"/>
                  </a:lnTo>
                  <a:lnTo>
                    <a:pt x="35598" y="53593"/>
                  </a:lnTo>
                  <a:lnTo>
                    <a:pt x="78240" y="53593"/>
                  </a:lnTo>
                  <a:lnTo>
                    <a:pt x="81309" y="51825"/>
                  </a:lnTo>
                  <a:lnTo>
                    <a:pt x="28409" y="51561"/>
                  </a:lnTo>
                  <a:close/>
                </a:path>
                <a:path w="3726179" h="132714">
                  <a:moveTo>
                    <a:pt x="35598" y="53593"/>
                  </a:moveTo>
                  <a:lnTo>
                    <a:pt x="35483" y="78231"/>
                  </a:lnTo>
                  <a:lnTo>
                    <a:pt x="56667" y="66024"/>
                  </a:lnTo>
                  <a:lnTo>
                    <a:pt x="35598" y="53593"/>
                  </a:lnTo>
                  <a:close/>
                </a:path>
                <a:path w="3726179" h="132714">
                  <a:moveTo>
                    <a:pt x="56667" y="66024"/>
                  </a:moveTo>
                  <a:lnTo>
                    <a:pt x="35483" y="78231"/>
                  </a:lnTo>
                  <a:lnTo>
                    <a:pt x="77358" y="78231"/>
                  </a:lnTo>
                  <a:lnTo>
                    <a:pt x="56667" y="66024"/>
                  </a:lnTo>
                  <a:close/>
                </a:path>
                <a:path w="3726179" h="132714">
                  <a:moveTo>
                    <a:pt x="78240" y="53593"/>
                  </a:moveTo>
                  <a:lnTo>
                    <a:pt x="35598" y="53593"/>
                  </a:lnTo>
                  <a:lnTo>
                    <a:pt x="56667" y="66024"/>
                  </a:lnTo>
                  <a:lnTo>
                    <a:pt x="78240" y="53593"/>
                  </a:lnTo>
                  <a:close/>
                </a:path>
                <a:path w="3726179" h="132714">
                  <a:moveTo>
                    <a:pt x="81766" y="51561"/>
                  </a:moveTo>
                  <a:lnTo>
                    <a:pt x="28409" y="51561"/>
                  </a:lnTo>
                  <a:lnTo>
                    <a:pt x="81309" y="51825"/>
                  </a:lnTo>
                  <a:lnTo>
                    <a:pt x="81766" y="5156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01204" y="5486272"/>
              <a:ext cx="10151745" cy="796290"/>
            </a:xfrm>
            <a:custGeom>
              <a:avLst/>
              <a:gdLst/>
              <a:ahLst/>
              <a:cxnLst/>
              <a:rect l="l" t="t" r="r" b="b"/>
              <a:pathLst>
                <a:path w="10151745" h="796289">
                  <a:moveTo>
                    <a:pt x="2658427" y="742911"/>
                  </a:moveTo>
                  <a:lnTo>
                    <a:pt x="2658300" y="715200"/>
                  </a:lnTo>
                  <a:lnTo>
                    <a:pt x="2658300" y="714336"/>
                  </a:lnTo>
                  <a:lnTo>
                    <a:pt x="81153" y="715187"/>
                  </a:lnTo>
                  <a:lnTo>
                    <a:pt x="128041" y="687806"/>
                  </a:lnTo>
                  <a:lnTo>
                    <a:pt x="130340" y="679069"/>
                  </a:lnTo>
                  <a:lnTo>
                    <a:pt x="122389" y="665429"/>
                  </a:lnTo>
                  <a:lnTo>
                    <a:pt x="113639" y="663130"/>
                  </a:lnTo>
                  <a:lnTo>
                    <a:pt x="56730" y="696379"/>
                  </a:lnTo>
                  <a:lnTo>
                    <a:pt x="56730" y="729500"/>
                  </a:lnTo>
                  <a:lnTo>
                    <a:pt x="35547" y="741819"/>
                  </a:lnTo>
                  <a:lnTo>
                    <a:pt x="56642" y="729500"/>
                  </a:lnTo>
                  <a:lnTo>
                    <a:pt x="35534" y="717143"/>
                  </a:lnTo>
                  <a:lnTo>
                    <a:pt x="56730" y="729500"/>
                  </a:lnTo>
                  <a:lnTo>
                    <a:pt x="56730" y="696379"/>
                  </a:lnTo>
                  <a:lnTo>
                    <a:pt x="0" y="729500"/>
                  </a:lnTo>
                  <a:lnTo>
                    <a:pt x="113690" y="795782"/>
                  </a:lnTo>
                  <a:lnTo>
                    <a:pt x="122428" y="793470"/>
                  </a:lnTo>
                  <a:lnTo>
                    <a:pt x="130378" y="779843"/>
                  </a:lnTo>
                  <a:lnTo>
                    <a:pt x="128079" y="771093"/>
                  </a:lnTo>
                  <a:lnTo>
                    <a:pt x="81216" y="743775"/>
                  </a:lnTo>
                  <a:lnTo>
                    <a:pt x="28346" y="743775"/>
                  </a:lnTo>
                  <a:lnTo>
                    <a:pt x="81178" y="743762"/>
                  </a:lnTo>
                  <a:lnTo>
                    <a:pt x="2658427" y="742911"/>
                  </a:lnTo>
                  <a:close/>
                </a:path>
                <a:path w="10151745" h="796289">
                  <a:moveTo>
                    <a:pt x="10151300" y="42672"/>
                  </a:moveTo>
                  <a:lnTo>
                    <a:pt x="10122764" y="28473"/>
                  </a:lnTo>
                  <a:lnTo>
                    <a:pt x="10065575" y="0"/>
                  </a:lnTo>
                  <a:lnTo>
                    <a:pt x="10065614" y="28473"/>
                  </a:lnTo>
                  <a:lnTo>
                    <a:pt x="3941127" y="38989"/>
                  </a:lnTo>
                  <a:lnTo>
                    <a:pt x="3941127" y="67564"/>
                  </a:lnTo>
                  <a:lnTo>
                    <a:pt x="10065652" y="57048"/>
                  </a:lnTo>
                  <a:lnTo>
                    <a:pt x="10065702" y="85725"/>
                  </a:lnTo>
                  <a:lnTo>
                    <a:pt x="10122713" y="57048"/>
                  </a:lnTo>
                  <a:lnTo>
                    <a:pt x="10151300" y="42672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363980" y="6180620"/>
            <a:ext cx="1144905" cy="5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Только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Calibri"/>
                <a:cs typeface="Calibri"/>
              </a:rPr>
              <a:t>английский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807067" y="5485676"/>
            <a:ext cx="1098550" cy="849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Улучшение </a:t>
            </a:r>
            <a:r>
              <a:rPr sz="1800" spc="-10" dirty="0">
                <a:latin typeface="Calibri"/>
                <a:cs typeface="Calibri"/>
              </a:rPr>
              <a:t>датасета </a:t>
            </a:r>
            <a:r>
              <a:rPr sz="1800" spc="-20" dirty="0">
                <a:latin typeface="Calibri"/>
                <a:cs typeface="Calibri"/>
              </a:rPr>
              <a:t>GPT-</a:t>
            </a:r>
            <a:r>
              <a:rPr sz="1800" spc="-50" dirty="0"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34949" y="3535807"/>
            <a:ext cx="2604135" cy="168846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05"/>
              </a:spcBef>
            </a:pPr>
            <a:r>
              <a:rPr sz="1800" dirty="0">
                <a:latin typeface="Calibri"/>
                <a:cs typeface="Calibri"/>
              </a:rPr>
              <a:t>41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шард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за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2016-</a:t>
            </a:r>
            <a:r>
              <a:rPr sz="1800" spc="-20" dirty="0">
                <a:latin typeface="Calibri"/>
                <a:cs typeface="Calibri"/>
              </a:rPr>
              <a:t>2019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Calibri"/>
                <a:cs typeface="Calibri"/>
              </a:rPr>
              <a:t>(45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TB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comressed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plaintext)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800">
              <a:latin typeface="Calibri"/>
              <a:cs typeface="Calibri"/>
            </a:endParaRPr>
          </a:p>
          <a:p>
            <a:pPr marL="577850" marR="767715" indent="11557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«As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is»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всё </a:t>
            </a:r>
            <a:r>
              <a:rPr sz="1800" dirty="0">
                <a:latin typeface="Calibri"/>
                <a:cs typeface="Calibri"/>
              </a:rPr>
              <a:t>ещё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грязный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424686" y="4196334"/>
            <a:ext cx="835660" cy="461009"/>
            <a:chOff x="1424686" y="4196334"/>
            <a:chExt cx="835660" cy="461009"/>
          </a:xfrm>
        </p:grpSpPr>
        <p:sp>
          <p:nvSpPr>
            <p:cNvPr id="11" name="object 11"/>
            <p:cNvSpPr/>
            <p:nvPr/>
          </p:nvSpPr>
          <p:spPr>
            <a:xfrm>
              <a:off x="1431036" y="4202684"/>
              <a:ext cx="822960" cy="448309"/>
            </a:xfrm>
            <a:custGeom>
              <a:avLst/>
              <a:gdLst/>
              <a:ahLst/>
              <a:cxnLst/>
              <a:rect l="l" t="t" r="r" b="b"/>
              <a:pathLst>
                <a:path w="822960" h="448310">
                  <a:moveTo>
                    <a:pt x="411480" y="0"/>
                  </a:moveTo>
                  <a:lnTo>
                    <a:pt x="0" y="224155"/>
                  </a:lnTo>
                  <a:lnTo>
                    <a:pt x="205739" y="224155"/>
                  </a:lnTo>
                  <a:lnTo>
                    <a:pt x="205739" y="448183"/>
                  </a:lnTo>
                  <a:lnTo>
                    <a:pt x="617219" y="448183"/>
                  </a:lnTo>
                  <a:lnTo>
                    <a:pt x="617219" y="224155"/>
                  </a:lnTo>
                  <a:lnTo>
                    <a:pt x="822959" y="224155"/>
                  </a:lnTo>
                  <a:lnTo>
                    <a:pt x="411480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431036" y="4202684"/>
              <a:ext cx="822960" cy="448309"/>
            </a:xfrm>
            <a:custGeom>
              <a:avLst/>
              <a:gdLst/>
              <a:ahLst/>
              <a:cxnLst/>
              <a:rect l="l" t="t" r="r" b="b"/>
              <a:pathLst>
                <a:path w="822960" h="448310">
                  <a:moveTo>
                    <a:pt x="205739" y="448183"/>
                  </a:moveTo>
                  <a:lnTo>
                    <a:pt x="205739" y="224155"/>
                  </a:lnTo>
                  <a:lnTo>
                    <a:pt x="0" y="224155"/>
                  </a:lnTo>
                  <a:lnTo>
                    <a:pt x="411480" y="0"/>
                  </a:lnTo>
                  <a:lnTo>
                    <a:pt x="822959" y="224155"/>
                  </a:lnTo>
                  <a:lnTo>
                    <a:pt x="617219" y="224155"/>
                  </a:lnTo>
                  <a:lnTo>
                    <a:pt x="617219" y="448183"/>
                  </a:lnTo>
                  <a:lnTo>
                    <a:pt x="205739" y="448183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/>
          <p:nvPr/>
        </p:nvSpPr>
        <p:spPr>
          <a:xfrm>
            <a:off x="9509759" y="5551792"/>
            <a:ext cx="1673860" cy="1043305"/>
          </a:xfrm>
          <a:custGeom>
            <a:avLst/>
            <a:gdLst/>
            <a:ahLst/>
            <a:cxnLst/>
            <a:rect l="l" t="t" r="r" b="b"/>
            <a:pathLst>
              <a:path w="1673859" h="1043304">
                <a:moveTo>
                  <a:pt x="1673352" y="0"/>
                </a:moveTo>
                <a:lnTo>
                  <a:pt x="0" y="0"/>
                </a:lnTo>
                <a:lnTo>
                  <a:pt x="0" y="1042682"/>
                </a:lnTo>
                <a:lnTo>
                  <a:pt x="1673352" y="1042682"/>
                </a:lnTo>
                <a:lnTo>
                  <a:pt x="1673352" y="0"/>
                </a:lnTo>
                <a:close/>
              </a:path>
            </a:pathLst>
          </a:custGeom>
          <a:solidFill>
            <a:srgbClr val="FFFFFF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9768" y="6265209"/>
            <a:ext cx="2368550" cy="576580"/>
          </a:xfrm>
          <a:custGeom>
            <a:avLst/>
            <a:gdLst/>
            <a:ahLst/>
            <a:cxnLst/>
            <a:rect l="l" t="t" r="r" b="b"/>
            <a:pathLst>
              <a:path w="2368550" h="576579">
                <a:moveTo>
                  <a:pt x="2368296" y="0"/>
                </a:moveTo>
                <a:lnTo>
                  <a:pt x="0" y="0"/>
                </a:lnTo>
                <a:lnTo>
                  <a:pt x="0" y="576211"/>
                </a:lnTo>
                <a:lnTo>
                  <a:pt x="2368296" y="576211"/>
                </a:lnTo>
                <a:lnTo>
                  <a:pt x="2368296" y="0"/>
                </a:lnTo>
                <a:close/>
              </a:path>
            </a:pathLst>
          </a:custGeom>
          <a:solidFill>
            <a:srgbClr val="FFFFFF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8940">
              <a:lnSpc>
                <a:spcPct val="100000"/>
              </a:lnSpc>
              <a:spcBef>
                <a:spcPts val="100"/>
              </a:spcBef>
            </a:pPr>
            <a:r>
              <a:rPr dirty="0"/>
              <a:t>Но</a:t>
            </a:r>
            <a:r>
              <a:rPr spc="-60" dirty="0"/>
              <a:t> </a:t>
            </a:r>
            <a:r>
              <a:rPr dirty="0"/>
              <a:t>где</a:t>
            </a:r>
            <a:r>
              <a:rPr spc="-70" dirty="0"/>
              <a:t> </a:t>
            </a:r>
            <a:r>
              <a:rPr dirty="0"/>
              <a:t>брать</a:t>
            </a:r>
            <a:r>
              <a:rPr spc="-60" dirty="0"/>
              <a:t> </a:t>
            </a:r>
            <a:r>
              <a:rPr spc="-10" dirty="0"/>
              <a:t>данные?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001204" y="4510402"/>
            <a:ext cx="10151745" cy="1771650"/>
            <a:chOff x="1001204" y="4510402"/>
            <a:chExt cx="10151745" cy="17716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10801" y="4510402"/>
              <a:ext cx="6730276" cy="174013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001204" y="5234559"/>
              <a:ext cx="3726179" cy="132715"/>
            </a:xfrm>
            <a:custGeom>
              <a:avLst/>
              <a:gdLst/>
              <a:ahLst/>
              <a:cxnLst/>
              <a:rect l="l" t="t" r="r" b="b"/>
              <a:pathLst>
                <a:path w="3726179" h="132714">
                  <a:moveTo>
                    <a:pt x="113995" y="0"/>
                  </a:moveTo>
                  <a:lnTo>
                    <a:pt x="0" y="65658"/>
                  </a:lnTo>
                  <a:lnTo>
                    <a:pt x="106540" y="128650"/>
                  </a:lnTo>
                  <a:lnTo>
                    <a:pt x="113334" y="132587"/>
                  </a:lnTo>
                  <a:lnTo>
                    <a:pt x="122097" y="130301"/>
                  </a:lnTo>
                  <a:lnTo>
                    <a:pt x="126098" y="123570"/>
                  </a:lnTo>
                  <a:lnTo>
                    <a:pt x="130111" y="116712"/>
                  </a:lnTo>
                  <a:lnTo>
                    <a:pt x="127850" y="107949"/>
                  </a:lnTo>
                  <a:lnTo>
                    <a:pt x="121056" y="104012"/>
                  </a:lnTo>
                  <a:lnTo>
                    <a:pt x="81032" y="80399"/>
                  </a:lnTo>
                  <a:lnTo>
                    <a:pt x="28257" y="80136"/>
                  </a:lnTo>
                  <a:lnTo>
                    <a:pt x="28334" y="65658"/>
                  </a:lnTo>
                  <a:lnTo>
                    <a:pt x="28409" y="51561"/>
                  </a:lnTo>
                  <a:lnTo>
                    <a:pt x="81766" y="51561"/>
                  </a:lnTo>
                  <a:lnTo>
                    <a:pt x="128270" y="24764"/>
                  </a:lnTo>
                  <a:lnTo>
                    <a:pt x="130606" y="16001"/>
                  </a:lnTo>
                  <a:lnTo>
                    <a:pt x="122732" y="2285"/>
                  </a:lnTo>
                  <a:lnTo>
                    <a:pt x="113995" y="0"/>
                  </a:lnTo>
                  <a:close/>
                </a:path>
                <a:path w="3726179" h="132714">
                  <a:moveTo>
                    <a:pt x="81309" y="51825"/>
                  </a:moveTo>
                  <a:lnTo>
                    <a:pt x="56667" y="66024"/>
                  </a:lnTo>
                  <a:lnTo>
                    <a:pt x="81032" y="80399"/>
                  </a:lnTo>
                  <a:lnTo>
                    <a:pt x="3725735" y="98551"/>
                  </a:lnTo>
                  <a:lnTo>
                    <a:pt x="3725896" y="80399"/>
                  </a:lnTo>
                  <a:lnTo>
                    <a:pt x="3725989" y="69976"/>
                  </a:lnTo>
                  <a:lnTo>
                    <a:pt x="81309" y="51825"/>
                  </a:lnTo>
                  <a:close/>
                </a:path>
                <a:path w="3726179" h="132714">
                  <a:moveTo>
                    <a:pt x="28409" y="51561"/>
                  </a:moveTo>
                  <a:lnTo>
                    <a:pt x="28334" y="65658"/>
                  </a:lnTo>
                  <a:lnTo>
                    <a:pt x="28257" y="80136"/>
                  </a:lnTo>
                  <a:lnTo>
                    <a:pt x="81032" y="80399"/>
                  </a:lnTo>
                  <a:lnTo>
                    <a:pt x="77358" y="78231"/>
                  </a:lnTo>
                  <a:lnTo>
                    <a:pt x="35483" y="78231"/>
                  </a:lnTo>
                  <a:lnTo>
                    <a:pt x="35598" y="53593"/>
                  </a:lnTo>
                  <a:lnTo>
                    <a:pt x="78240" y="53593"/>
                  </a:lnTo>
                  <a:lnTo>
                    <a:pt x="81309" y="51825"/>
                  </a:lnTo>
                  <a:lnTo>
                    <a:pt x="28409" y="51561"/>
                  </a:lnTo>
                  <a:close/>
                </a:path>
                <a:path w="3726179" h="132714">
                  <a:moveTo>
                    <a:pt x="35598" y="53593"/>
                  </a:moveTo>
                  <a:lnTo>
                    <a:pt x="35483" y="78231"/>
                  </a:lnTo>
                  <a:lnTo>
                    <a:pt x="56667" y="66024"/>
                  </a:lnTo>
                  <a:lnTo>
                    <a:pt x="35598" y="53593"/>
                  </a:lnTo>
                  <a:close/>
                </a:path>
                <a:path w="3726179" h="132714">
                  <a:moveTo>
                    <a:pt x="56667" y="66024"/>
                  </a:moveTo>
                  <a:lnTo>
                    <a:pt x="35483" y="78231"/>
                  </a:lnTo>
                  <a:lnTo>
                    <a:pt x="77358" y="78231"/>
                  </a:lnTo>
                  <a:lnTo>
                    <a:pt x="56667" y="66024"/>
                  </a:lnTo>
                  <a:close/>
                </a:path>
                <a:path w="3726179" h="132714">
                  <a:moveTo>
                    <a:pt x="78240" y="53593"/>
                  </a:moveTo>
                  <a:lnTo>
                    <a:pt x="35598" y="53593"/>
                  </a:lnTo>
                  <a:lnTo>
                    <a:pt x="56667" y="66024"/>
                  </a:lnTo>
                  <a:lnTo>
                    <a:pt x="78240" y="53593"/>
                  </a:lnTo>
                  <a:close/>
                </a:path>
                <a:path w="3726179" h="132714">
                  <a:moveTo>
                    <a:pt x="81766" y="51561"/>
                  </a:moveTo>
                  <a:lnTo>
                    <a:pt x="28409" y="51561"/>
                  </a:lnTo>
                  <a:lnTo>
                    <a:pt x="81309" y="51825"/>
                  </a:lnTo>
                  <a:lnTo>
                    <a:pt x="81766" y="5156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01204" y="5486272"/>
              <a:ext cx="10151745" cy="796290"/>
            </a:xfrm>
            <a:custGeom>
              <a:avLst/>
              <a:gdLst/>
              <a:ahLst/>
              <a:cxnLst/>
              <a:rect l="l" t="t" r="r" b="b"/>
              <a:pathLst>
                <a:path w="10151745" h="796289">
                  <a:moveTo>
                    <a:pt x="2658427" y="742911"/>
                  </a:moveTo>
                  <a:lnTo>
                    <a:pt x="2658300" y="715200"/>
                  </a:lnTo>
                  <a:lnTo>
                    <a:pt x="2658300" y="714336"/>
                  </a:lnTo>
                  <a:lnTo>
                    <a:pt x="81153" y="715187"/>
                  </a:lnTo>
                  <a:lnTo>
                    <a:pt x="128041" y="687806"/>
                  </a:lnTo>
                  <a:lnTo>
                    <a:pt x="130340" y="679069"/>
                  </a:lnTo>
                  <a:lnTo>
                    <a:pt x="122389" y="665429"/>
                  </a:lnTo>
                  <a:lnTo>
                    <a:pt x="113639" y="663130"/>
                  </a:lnTo>
                  <a:lnTo>
                    <a:pt x="56730" y="696379"/>
                  </a:lnTo>
                  <a:lnTo>
                    <a:pt x="56730" y="729500"/>
                  </a:lnTo>
                  <a:lnTo>
                    <a:pt x="35547" y="741819"/>
                  </a:lnTo>
                  <a:lnTo>
                    <a:pt x="56642" y="729500"/>
                  </a:lnTo>
                  <a:lnTo>
                    <a:pt x="35534" y="717143"/>
                  </a:lnTo>
                  <a:lnTo>
                    <a:pt x="56730" y="729500"/>
                  </a:lnTo>
                  <a:lnTo>
                    <a:pt x="56730" y="696379"/>
                  </a:lnTo>
                  <a:lnTo>
                    <a:pt x="0" y="729500"/>
                  </a:lnTo>
                  <a:lnTo>
                    <a:pt x="113690" y="795782"/>
                  </a:lnTo>
                  <a:lnTo>
                    <a:pt x="122428" y="793470"/>
                  </a:lnTo>
                  <a:lnTo>
                    <a:pt x="130378" y="779843"/>
                  </a:lnTo>
                  <a:lnTo>
                    <a:pt x="128079" y="771093"/>
                  </a:lnTo>
                  <a:lnTo>
                    <a:pt x="81216" y="743775"/>
                  </a:lnTo>
                  <a:lnTo>
                    <a:pt x="28346" y="743775"/>
                  </a:lnTo>
                  <a:lnTo>
                    <a:pt x="81178" y="743762"/>
                  </a:lnTo>
                  <a:lnTo>
                    <a:pt x="2658427" y="742911"/>
                  </a:lnTo>
                  <a:close/>
                </a:path>
                <a:path w="10151745" h="796289">
                  <a:moveTo>
                    <a:pt x="10151300" y="42672"/>
                  </a:moveTo>
                  <a:lnTo>
                    <a:pt x="10122764" y="28473"/>
                  </a:lnTo>
                  <a:lnTo>
                    <a:pt x="10065575" y="0"/>
                  </a:lnTo>
                  <a:lnTo>
                    <a:pt x="10065614" y="28473"/>
                  </a:lnTo>
                  <a:lnTo>
                    <a:pt x="3941127" y="38989"/>
                  </a:lnTo>
                  <a:lnTo>
                    <a:pt x="3941127" y="67564"/>
                  </a:lnTo>
                  <a:lnTo>
                    <a:pt x="10065652" y="57048"/>
                  </a:lnTo>
                  <a:lnTo>
                    <a:pt x="10065702" y="85725"/>
                  </a:lnTo>
                  <a:lnTo>
                    <a:pt x="10122713" y="57048"/>
                  </a:lnTo>
                  <a:lnTo>
                    <a:pt x="10151300" y="42672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363980" y="6180620"/>
            <a:ext cx="1144905" cy="5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Только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Calibri"/>
                <a:cs typeface="Calibri"/>
              </a:rPr>
              <a:t>английский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807067" y="5485676"/>
            <a:ext cx="1098550" cy="849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Улучшение </a:t>
            </a:r>
            <a:r>
              <a:rPr sz="1800" spc="-10" dirty="0">
                <a:latin typeface="Calibri"/>
                <a:cs typeface="Calibri"/>
              </a:rPr>
              <a:t>датасета </a:t>
            </a:r>
            <a:r>
              <a:rPr sz="1800" spc="-20" dirty="0">
                <a:latin typeface="Calibri"/>
                <a:cs typeface="Calibri"/>
              </a:rPr>
              <a:t>GPT-</a:t>
            </a:r>
            <a:r>
              <a:rPr sz="1800" spc="-50" dirty="0"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34949" y="3535807"/>
            <a:ext cx="2604135" cy="168846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05"/>
              </a:spcBef>
            </a:pPr>
            <a:r>
              <a:rPr sz="1800" dirty="0">
                <a:latin typeface="Calibri"/>
                <a:cs typeface="Calibri"/>
              </a:rPr>
              <a:t>41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шард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за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2016-</a:t>
            </a:r>
            <a:r>
              <a:rPr sz="1800" spc="-20" dirty="0">
                <a:latin typeface="Calibri"/>
                <a:cs typeface="Calibri"/>
              </a:rPr>
              <a:t>2019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Calibri"/>
                <a:cs typeface="Calibri"/>
              </a:rPr>
              <a:t>(45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TB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comressed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plaintext)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800">
              <a:latin typeface="Calibri"/>
              <a:cs typeface="Calibri"/>
            </a:endParaRPr>
          </a:p>
          <a:p>
            <a:pPr marL="577850" marR="767715" indent="11557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«As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is»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всё </a:t>
            </a:r>
            <a:r>
              <a:rPr sz="1800" dirty="0">
                <a:latin typeface="Calibri"/>
                <a:cs typeface="Calibri"/>
              </a:rPr>
              <a:t>ещё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грязный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20179" y="2296604"/>
            <a:ext cx="2830830" cy="5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570GB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после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Calibri"/>
                <a:cs typeface="Calibri"/>
              </a:rPr>
              <a:t>фильтрации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и </a:t>
            </a:r>
            <a:r>
              <a:rPr sz="1800" spc="-10" dirty="0">
                <a:latin typeface="Calibri"/>
                <a:cs typeface="Calibri"/>
              </a:rPr>
              <a:t>дедупликации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424686" y="4196334"/>
            <a:ext cx="835660" cy="461009"/>
            <a:chOff x="1424686" y="4196334"/>
            <a:chExt cx="835660" cy="461009"/>
          </a:xfrm>
        </p:grpSpPr>
        <p:sp>
          <p:nvSpPr>
            <p:cNvPr id="12" name="object 12"/>
            <p:cNvSpPr/>
            <p:nvPr/>
          </p:nvSpPr>
          <p:spPr>
            <a:xfrm>
              <a:off x="1431036" y="4202684"/>
              <a:ext cx="822960" cy="448309"/>
            </a:xfrm>
            <a:custGeom>
              <a:avLst/>
              <a:gdLst/>
              <a:ahLst/>
              <a:cxnLst/>
              <a:rect l="l" t="t" r="r" b="b"/>
              <a:pathLst>
                <a:path w="822960" h="448310">
                  <a:moveTo>
                    <a:pt x="411480" y="0"/>
                  </a:moveTo>
                  <a:lnTo>
                    <a:pt x="0" y="224155"/>
                  </a:lnTo>
                  <a:lnTo>
                    <a:pt x="205739" y="224155"/>
                  </a:lnTo>
                  <a:lnTo>
                    <a:pt x="205739" y="448183"/>
                  </a:lnTo>
                  <a:lnTo>
                    <a:pt x="617219" y="448183"/>
                  </a:lnTo>
                  <a:lnTo>
                    <a:pt x="617219" y="224155"/>
                  </a:lnTo>
                  <a:lnTo>
                    <a:pt x="822959" y="224155"/>
                  </a:lnTo>
                  <a:lnTo>
                    <a:pt x="411480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431036" y="4202684"/>
              <a:ext cx="822960" cy="448309"/>
            </a:xfrm>
            <a:custGeom>
              <a:avLst/>
              <a:gdLst/>
              <a:ahLst/>
              <a:cxnLst/>
              <a:rect l="l" t="t" r="r" b="b"/>
              <a:pathLst>
                <a:path w="822960" h="448310">
                  <a:moveTo>
                    <a:pt x="205739" y="448183"/>
                  </a:moveTo>
                  <a:lnTo>
                    <a:pt x="205739" y="224155"/>
                  </a:lnTo>
                  <a:lnTo>
                    <a:pt x="0" y="224155"/>
                  </a:lnTo>
                  <a:lnTo>
                    <a:pt x="411480" y="0"/>
                  </a:lnTo>
                  <a:lnTo>
                    <a:pt x="822959" y="224155"/>
                  </a:lnTo>
                  <a:lnTo>
                    <a:pt x="617219" y="224155"/>
                  </a:lnTo>
                  <a:lnTo>
                    <a:pt x="617219" y="448183"/>
                  </a:lnTo>
                  <a:lnTo>
                    <a:pt x="205739" y="448183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1424686" y="3034792"/>
            <a:ext cx="835660" cy="461009"/>
            <a:chOff x="1424686" y="3034792"/>
            <a:chExt cx="835660" cy="461009"/>
          </a:xfrm>
        </p:grpSpPr>
        <p:sp>
          <p:nvSpPr>
            <p:cNvPr id="15" name="object 15"/>
            <p:cNvSpPr/>
            <p:nvPr/>
          </p:nvSpPr>
          <p:spPr>
            <a:xfrm>
              <a:off x="1431036" y="3041142"/>
              <a:ext cx="822960" cy="448309"/>
            </a:xfrm>
            <a:custGeom>
              <a:avLst/>
              <a:gdLst/>
              <a:ahLst/>
              <a:cxnLst/>
              <a:rect l="l" t="t" r="r" b="b"/>
              <a:pathLst>
                <a:path w="822960" h="448310">
                  <a:moveTo>
                    <a:pt x="411480" y="0"/>
                  </a:moveTo>
                  <a:lnTo>
                    <a:pt x="0" y="224028"/>
                  </a:lnTo>
                  <a:lnTo>
                    <a:pt x="205739" y="224028"/>
                  </a:lnTo>
                  <a:lnTo>
                    <a:pt x="205739" y="448183"/>
                  </a:lnTo>
                  <a:lnTo>
                    <a:pt x="617219" y="448183"/>
                  </a:lnTo>
                  <a:lnTo>
                    <a:pt x="617219" y="224028"/>
                  </a:lnTo>
                  <a:lnTo>
                    <a:pt x="822959" y="224028"/>
                  </a:lnTo>
                  <a:lnTo>
                    <a:pt x="411480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431036" y="3041142"/>
              <a:ext cx="822960" cy="448309"/>
            </a:xfrm>
            <a:custGeom>
              <a:avLst/>
              <a:gdLst/>
              <a:ahLst/>
              <a:cxnLst/>
              <a:rect l="l" t="t" r="r" b="b"/>
              <a:pathLst>
                <a:path w="822960" h="448310">
                  <a:moveTo>
                    <a:pt x="205739" y="448183"/>
                  </a:moveTo>
                  <a:lnTo>
                    <a:pt x="205739" y="224028"/>
                  </a:lnTo>
                  <a:lnTo>
                    <a:pt x="0" y="224028"/>
                  </a:lnTo>
                  <a:lnTo>
                    <a:pt x="411480" y="0"/>
                  </a:lnTo>
                  <a:lnTo>
                    <a:pt x="822959" y="224028"/>
                  </a:lnTo>
                  <a:lnTo>
                    <a:pt x="617219" y="224028"/>
                  </a:lnTo>
                  <a:lnTo>
                    <a:pt x="617219" y="448183"/>
                  </a:lnTo>
                  <a:lnTo>
                    <a:pt x="205739" y="448183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/>
          <p:nvPr/>
        </p:nvSpPr>
        <p:spPr>
          <a:xfrm>
            <a:off x="9509759" y="5551792"/>
            <a:ext cx="1673860" cy="1043305"/>
          </a:xfrm>
          <a:custGeom>
            <a:avLst/>
            <a:gdLst/>
            <a:ahLst/>
            <a:cxnLst/>
            <a:rect l="l" t="t" r="r" b="b"/>
            <a:pathLst>
              <a:path w="1673859" h="1043304">
                <a:moveTo>
                  <a:pt x="1673352" y="0"/>
                </a:moveTo>
                <a:lnTo>
                  <a:pt x="0" y="0"/>
                </a:lnTo>
                <a:lnTo>
                  <a:pt x="0" y="1042682"/>
                </a:lnTo>
                <a:lnTo>
                  <a:pt x="1673352" y="1042682"/>
                </a:lnTo>
                <a:lnTo>
                  <a:pt x="1673352" y="0"/>
                </a:lnTo>
                <a:close/>
              </a:path>
            </a:pathLst>
          </a:custGeom>
          <a:solidFill>
            <a:srgbClr val="FFFFFF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29768" y="6265209"/>
            <a:ext cx="2368550" cy="576580"/>
          </a:xfrm>
          <a:custGeom>
            <a:avLst/>
            <a:gdLst/>
            <a:ahLst/>
            <a:cxnLst/>
            <a:rect l="l" t="t" r="r" b="b"/>
            <a:pathLst>
              <a:path w="2368550" h="576579">
                <a:moveTo>
                  <a:pt x="2368296" y="0"/>
                </a:moveTo>
                <a:lnTo>
                  <a:pt x="0" y="0"/>
                </a:lnTo>
                <a:lnTo>
                  <a:pt x="0" y="576211"/>
                </a:lnTo>
                <a:lnTo>
                  <a:pt x="2368296" y="576211"/>
                </a:lnTo>
                <a:lnTo>
                  <a:pt x="2368296" y="0"/>
                </a:lnTo>
                <a:close/>
              </a:path>
            </a:pathLst>
          </a:custGeom>
          <a:solidFill>
            <a:srgbClr val="FFFFFF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8940">
              <a:lnSpc>
                <a:spcPct val="100000"/>
              </a:lnSpc>
              <a:spcBef>
                <a:spcPts val="100"/>
              </a:spcBef>
            </a:pPr>
            <a:r>
              <a:rPr dirty="0"/>
              <a:t>Но</a:t>
            </a:r>
            <a:r>
              <a:rPr spc="-60" dirty="0"/>
              <a:t> </a:t>
            </a:r>
            <a:r>
              <a:rPr dirty="0"/>
              <a:t>где</a:t>
            </a:r>
            <a:r>
              <a:rPr spc="-70" dirty="0"/>
              <a:t> </a:t>
            </a:r>
            <a:r>
              <a:rPr dirty="0"/>
              <a:t>брать</a:t>
            </a:r>
            <a:r>
              <a:rPr spc="-60" dirty="0"/>
              <a:t> </a:t>
            </a:r>
            <a:r>
              <a:rPr spc="-10" dirty="0"/>
              <a:t>данные?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001204" y="4510402"/>
            <a:ext cx="8340090" cy="1740535"/>
            <a:chOff x="1001204" y="4510402"/>
            <a:chExt cx="8340090" cy="174053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10801" y="4510402"/>
              <a:ext cx="6730276" cy="174013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001204" y="5234559"/>
              <a:ext cx="3726179" cy="132715"/>
            </a:xfrm>
            <a:custGeom>
              <a:avLst/>
              <a:gdLst/>
              <a:ahLst/>
              <a:cxnLst/>
              <a:rect l="l" t="t" r="r" b="b"/>
              <a:pathLst>
                <a:path w="3726179" h="132714">
                  <a:moveTo>
                    <a:pt x="113995" y="0"/>
                  </a:moveTo>
                  <a:lnTo>
                    <a:pt x="0" y="65658"/>
                  </a:lnTo>
                  <a:lnTo>
                    <a:pt x="106540" y="128650"/>
                  </a:lnTo>
                  <a:lnTo>
                    <a:pt x="113334" y="132587"/>
                  </a:lnTo>
                  <a:lnTo>
                    <a:pt x="122097" y="130301"/>
                  </a:lnTo>
                  <a:lnTo>
                    <a:pt x="126098" y="123570"/>
                  </a:lnTo>
                  <a:lnTo>
                    <a:pt x="130111" y="116712"/>
                  </a:lnTo>
                  <a:lnTo>
                    <a:pt x="127850" y="107949"/>
                  </a:lnTo>
                  <a:lnTo>
                    <a:pt x="121056" y="104012"/>
                  </a:lnTo>
                  <a:lnTo>
                    <a:pt x="81032" y="80399"/>
                  </a:lnTo>
                  <a:lnTo>
                    <a:pt x="28257" y="80136"/>
                  </a:lnTo>
                  <a:lnTo>
                    <a:pt x="28334" y="65658"/>
                  </a:lnTo>
                  <a:lnTo>
                    <a:pt x="28409" y="51561"/>
                  </a:lnTo>
                  <a:lnTo>
                    <a:pt x="81766" y="51561"/>
                  </a:lnTo>
                  <a:lnTo>
                    <a:pt x="128270" y="24764"/>
                  </a:lnTo>
                  <a:lnTo>
                    <a:pt x="130606" y="16001"/>
                  </a:lnTo>
                  <a:lnTo>
                    <a:pt x="122732" y="2285"/>
                  </a:lnTo>
                  <a:lnTo>
                    <a:pt x="113995" y="0"/>
                  </a:lnTo>
                  <a:close/>
                </a:path>
                <a:path w="3726179" h="132714">
                  <a:moveTo>
                    <a:pt x="81309" y="51825"/>
                  </a:moveTo>
                  <a:lnTo>
                    <a:pt x="56667" y="66024"/>
                  </a:lnTo>
                  <a:lnTo>
                    <a:pt x="81032" y="80399"/>
                  </a:lnTo>
                  <a:lnTo>
                    <a:pt x="3725735" y="98551"/>
                  </a:lnTo>
                  <a:lnTo>
                    <a:pt x="3725896" y="80399"/>
                  </a:lnTo>
                  <a:lnTo>
                    <a:pt x="3725989" y="69976"/>
                  </a:lnTo>
                  <a:lnTo>
                    <a:pt x="81309" y="51825"/>
                  </a:lnTo>
                  <a:close/>
                </a:path>
                <a:path w="3726179" h="132714">
                  <a:moveTo>
                    <a:pt x="28409" y="51561"/>
                  </a:moveTo>
                  <a:lnTo>
                    <a:pt x="28334" y="65658"/>
                  </a:lnTo>
                  <a:lnTo>
                    <a:pt x="28257" y="80136"/>
                  </a:lnTo>
                  <a:lnTo>
                    <a:pt x="81032" y="80399"/>
                  </a:lnTo>
                  <a:lnTo>
                    <a:pt x="77358" y="78231"/>
                  </a:lnTo>
                  <a:lnTo>
                    <a:pt x="35483" y="78231"/>
                  </a:lnTo>
                  <a:lnTo>
                    <a:pt x="35598" y="53593"/>
                  </a:lnTo>
                  <a:lnTo>
                    <a:pt x="78240" y="53593"/>
                  </a:lnTo>
                  <a:lnTo>
                    <a:pt x="81309" y="51825"/>
                  </a:lnTo>
                  <a:lnTo>
                    <a:pt x="28409" y="51561"/>
                  </a:lnTo>
                  <a:close/>
                </a:path>
                <a:path w="3726179" h="132714">
                  <a:moveTo>
                    <a:pt x="35598" y="53593"/>
                  </a:moveTo>
                  <a:lnTo>
                    <a:pt x="35483" y="78231"/>
                  </a:lnTo>
                  <a:lnTo>
                    <a:pt x="56667" y="66024"/>
                  </a:lnTo>
                  <a:lnTo>
                    <a:pt x="35598" y="53593"/>
                  </a:lnTo>
                  <a:close/>
                </a:path>
                <a:path w="3726179" h="132714">
                  <a:moveTo>
                    <a:pt x="56667" y="66024"/>
                  </a:moveTo>
                  <a:lnTo>
                    <a:pt x="35483" y="78231"/>
                  </a:lnTo>
                  <a:lnTo>
                    <a:pt x="77358" y="78231"/>
                  </a:lnTo>
                  <a:lnTo>
                    <a:pt x="56667" y="66024"/>
                  </a:lnTo>
                  <a:close/>
                </a:path>
                <a:path w="3726179" h="132714">
                  <a:moveTo>
                    <a:pt x="78240" y="53593"/>
                  </a:moveTo>
                  <a:lnTo>
                    <a:pt x="35598" y="53593"/>
                  </a:lnTo>
                  <a:lnTo>
                    <a:pt x="56667" y="66024"/>
                  </a:lnTo>
                  <a:lnTo>
                    <a:pt x="78240" y="53593"/>
                  </a:lnTo>
                  <a:close/>
                </a:path>
                <a:path w="3726179" h="132714">
                  <a:moveTo>
                    <a:pt x="81766" y="51561"/>
                  </a:moveTo>
                  <a:lnTo>
                    <a:pt x="28409" y="51561"/>
                  </a:lnTo>
                  <a:lnTo>
                    <a:pt x="81309" y="51825"/>
                  </a:lnTo>
                  <a:lnTo>
                    <a:pt x="81766" y="5156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34949" y="3535807"/>
            <a:ext cx="2604135" cy="168846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05"/>
              </a:spcBef>
            </a:pPr>
            <a:r>
              <a:rPr sz="1800" dirty="0">
                <a:latin typeface="Calibri"/>
                <a:cs typeface="Calibri"/>
              </a:rPr>
              <a:t>41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шард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за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2016-</a:t>
            </a:r>
            <a:r>
              <a:rPr sz="1800" spc="-20" dirty="0">
                <a:latin typeface="Calibri"/>
                <a:cs typeface="Calibri"/>
              </a:rPr>
              <a:t>2019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Calibri"/>
                <a:cs typeface="Calibri"/>
              </a:rPr>
              <a:t>(45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TB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comressed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plaintext)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800">
              <a:latin typeface="Calibri"/>
              <a:cs typeface="Calibri"/>
            </a:endParaRPr>
          </a:p>
          <a:p>
            <a:pPr marL="577850" marR="767715" indent="11557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«As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is»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всё </a:t>
            </a:r>
            <a:r>
              <a:rPr sz="1800" dirty="0">
                <a:latin typeface="Calibri"/>
                <a:cs typeface="Calibri"/>
              </a:rPr>
              <a:t>ещё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грязный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20179" y="2296604"/>
            <a:ext cx="2830830" cy="5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570GB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после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Calibri"/>
                <a:cs typeface="Calibri"/>
              </a:rPr>
              <a:t>фильтрации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и </a:t>
            </a:r>
            <a:r>
              <a:rPr sz="1800" spc="-10" dirty="0">
                <a:latin typeface="Calibri"/>
                <a:cs typeface="Calibri"/>
              </a:rPr>
              <a:t>дедупликации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400171" y="2013839"/>
            <a:ext cx="1626235" cy="764540"/>
          </a:xfrm>
          <a:custGeom>
            <a:avLst/>
            <a:gdLst/>
            <a:ahLst/>
            <a:cxnLst/>
            <a:rect l="l" t="t" r="r" b="b"/>
            <a:pathLst>
              <a:path w="1626235" h="764539">
                <a:moveTo>
                  <a:pt x="1542096" y="25952"/>
                </a:moveTo>
                <a:lnTo>
                  <a:pt x="0" y="738251"/>
                </a:lnTo>
                <a:lnTo>
                  <a:pt x="11937" y="764159"/>
                </a:lnTo>
                <a:lnTo>
                  <a:pt x="1554069" y="51844"/>
                </a:lnTo>
                <a:lnTo>
                  <a:pt x="1542096" y="25952"/>
                </a:lnTo>
                <a:close/>
              </a:path>
              <a:path w="1626235" h="764539">
                <a:moveTo>
                  <a:pt x="1612245" y="19938"/>
                </a:moveTo>
                <a:lnTo>
                  <a:pt x="1555114" y="19938"/>
                </a:lnTo>
                <a:lnTo>
                  <a:pt x="1567052" y="45847"/>
                </a:lnTo>
                <a:lnTo>
                  <a:pt x="1554069" y="51844"/>
                </a:lnTo>
                <a:lnTo>
                  <a:pt x="1566037" y="77724"/>
                </a:lnTo>
                <a:lnTo>
                  <a:pt x="1612245" y="19938"/>
                </a:lnTo>
                <a:close/>
              </a:path>
              <a:path w="1626235" h="764539">
                <a:moveTo>
                  <a:pt x="1555114" y="19938"/>
                </a:moveTo>
                <a:lnTo>
                  <a:pt x="1542096" y="25952"/>
                </a:lnTo>
                <a:lnTo>
                  <a:pt x="1554069" y="51844"/>
                </a:lnTo>
                <a:lnTo>
                  <a:pt x="1567052" y="45847"/>
                </a:lnTo>
                <a:lnTo>
                  <a:pt x="1555114" y="19938"/>
                </a:lnTo>
                <a:close/>
              </a:path>
              <a:path w="1626235" h="764539">
                <a:moveTo>
                  <a:pt x="1530095" y="0"/>
                </a:moveTo>
                <a:lnTo>
                  <a:pt x="1542096" y="25952"/>
                </a:lnTo>
                <a:lnTo>
                  <a:pt x="1555114" y="19938"/>
                </a:lnTo>
                <a:lnTo>
                  <a:pt x="1612245" y="19938"/>
                </a:lnTo>
                <a:lnTo>
                  <a:pt x="1625853" y="2921"/>
                </a:lnTo>
                <a:lnTo>
                  <a:pt x="153009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93390" y="1655432"/>
            <a:ext cx="1458031" cy="54877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6514845" y="1849564"/>
            <a:ext cx="247142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0" dirty="0">
                <a:latin typeface="Calibri"/>
                <a:cs typeface="Calibri"/>
              </a:rPr>
              <a:t>Tokenizer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+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HashingTF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+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...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424686" y="4196334"/>
            <a:ext cx="835660" cy="461009"/>
            <a:chOff x="1424686" y="4196334"/>
            <a:chExt cx="835660" cy="461009"/>
          </a:xfrm>
        </p:grpSpPr>
        <p:sp>
          <p:nvSpPr>
            <p:cNvPr id="12" name="object 12"/>
            <p:cNvSpPr/>
            <p:nvPr/>
          </p:nvSpPr>
          <p:spPr>
            <a:xfrm>
              <a:off x="1431036" y="4202684"/>
              <a:ext cx="822960" cy="448309"/>
            </a:xfrm>
            <a:custGeom>
              <a:avLst/>
              <a:gdLst/>
              <a:ahLst/>
              <a:cxnLst/>
              <a:rect l="l" t="t" r="r" b="b"/>
              <a:pathLst>
                <a:path w="822960" h="448310">
                  <a:moveTo>
                    <a:pt x="411480" y="0"/>
                  </a:moveTo>
                  <a:lnTo>
                    <a:pt x="0" y="224155"/>
                  </a:lnTo>
                  <a:lnTo>
                    <a:pt x="205739" y="224155"/>
                  </a:lnTo>
                  <a:lnTo>
                    <a:pt x="205739" y="448183"/>
                  </a:lnTo>
                  <a:lnTo>
                    <a:pt x="617219" y="448183"/>
                  </a:lnTo>
                  <a:lnTo>
                    <a:pt x="617219" y="224155"/>
                  </a:lnTo>
                  <a:lnTo>
                    <a:pt x="822959" y="224155"/>
                  </a:lnTo>
                  <a:lnTo>
                    <a:pt x="411480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431036" y="4202684"/>
              <a:ext cx="822960" cy="448309"/>
            </a:xfrm>
            <a:custGeom>
              <a:avLst/>
              <a:gdLst/>
              <a:ahLst/>
              <a:cxnLst/>
              <a:rect l="l" t="t" r="r" b="b"/>
              <a:pathLst>
                <a:path w="822960" h="448310">
                  <a:moveTo>
                    <a:pt x="205739" y="448183"/>
                  </a:moveTo>
                  <a:lnTo>
                    <a:pt x="205739" y="224155"/>
                  </a:lnTo>
                  <a:lnTo>
                    <a:pt x="0" y="224155"/>
                  </a:lnTo>
                  <a:lnTo>
                    <a:pt x="411480" y="0"/>
                  </a:lnTo>
                  <a:lnTo>
                    <a:pt x="822959" y="224155"/>
                  </a:lnTo>
                  <a:lnTo>
                    <a:pt x="617219" y="224155"/>
                  </a:lnTo>
                  <a:lnTo>
                    <a:pt x="617219" y="448183"/>
                  </a:lnTo>
                  <a:lnTo>
                    <a:pt x="205739" y="448183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1424686" y="3034792"/>
            <a:ext cx="835660" cy="461009"/>
            <a:chOff x="1424686" y="3034792"/>
            <a:chExt cx="835660" cy="461009"/>
          </a:xfrm>
        </p:grpSpPr>
        <p:sp>
          <p:nvSpPr>
            <p:cNvPr id="15" name="object 15"/>
            <p:cNvSpPr/>
            <p:nvPr/>
          </p:nvSpPr>
          <p:spPr>
            <a:xfrm>
              <a:off x="1431036" y="3041142"/>
              <a:ext cx="822960" cy="448309"/>
            </a:xfrm>
            <a:custGeom>
              <a:avLst/>
              <a:gdLst/>
              <a:ahLst/>
              <a:cxnLst/>
              <a:rect l="l" t="t" r="r" b="b"/>
              <a:pathLst>
                <a:path w="822960" h="448310">
                  <a:moveTo>
                    <a:pt x="411480" y="0"/>
                  </a:moveTo>
                  <a:lnTo>
                    <a:pt x="0" y="224028"/>
                  </a:lnTo>
                  <a:lnTo>
                    <a:pt x="205739" y="224028"/>
                  </a:lnTo>
                  <a:lnTo>
                    <a:pt x="205739" y="448183"/>
                  </a:lnTo>
                  <a:lnTo>
                    <a:pt x="617219" y="448183"/>
                  </a:lnTo>
                  <a:lnTo>
                    <a:pt x="617219" y="224028"/>
                  </a:lnTo>
                  <a:lnTo>
                    <a:pt x="822959" y="224028"/>
                  </a:lnTo>
                  <a:lnTo>
                    <a:pt x="411480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431036" y="3041142"/>
              <a:ext cx="822960" cy="448309"/>
            </a:xfrm>
            <a:custGeom>
              <a:avLst/>
              <a:gdLst/>
              <a:ahLst/>
              <a:cxnLst/>
              <a:rect l="l" t="t" r="r" b="b"/>
              <a:pathLst>
                <a:path w="822960" h="448310">
                  <a:moveTo>
                    <a:pt x="205739" y="448183"/>
                  </a:moveTo>
                  <a:lnTo>
                    <a:pt x="205739" y="224028"/>
                  </a:lnTo>
                  <a:lnTo>
                    <a:pt x="0" y="224028"/>
                  </a:lnTo>
                  <a:lnTo>
                    <a:pt x="411480" y="0"/>
                  </a:lnTo>
                  <a:lnTo>
                    <a:pt x="822959" y="224028"/>
                  </a:lnTo>
                  <a:lnTo>
                    <a:pt x="617219" y="224028"/>
                  </a:lnTo>
                  <a:lnTo>
                    <a:pt x="617219" y="448183"/>
                  </a:lnTo>
                  <a:lnTo>
                    <a:pt x="205739" y="448183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8940">
              <a:lnSpc>
                <a:spcPct val="100000"/>
              </a:lnSpc>
              <a:spcBef>
                <a:spcPts val="100"/>
              </a:spcBef>
            </a:pPr>
            <a:r>
              <a:rPr dirty="0"/>
              <a:t>Но</a:t>
            </a:r>
            <a:r>
              <a:rPr spc="-60" dirty="0"/>
              <a:t> </a:t>
            </a:r>
            <a:r>
              <a:rPr dirty="0"/>
              <a:t>где</a:t>
            </a:r>
            <a:r>
              <a:rPr spc="-70" dirty="0"/>
              <a:t> </a:t>
            </a:r>
            <a:r>
              <a:rPr dirty="0"/>
              <a:t>брать</a:t>
            </a:r>
            <a:r>
              <a:rPr spc="-60" dirty="0"/>
              <a:t> </a:t>
            </a:r>
            <a:r>
              <a:rPr spc="-10" dirty="0"/>
              <a:t>данные?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001204" y="4510402"/>
            <a:ext cx="8340090" cy="1740535"/>
            <a:chOff x="1001204" y="4510402"/>
            <a:chExt cx="8340090" cy="174053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10801" y="4510402"/>
              <a:ext cx="6730276" cy="174013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001204" y="5234559"/>
              <a:ext cx="3726179" cy="132715"/>
            </a:xfrm>
            <a:custGeom>
              <a:avLst/>
              <a:gdLst/>
              <a:ahLst/>
              <a:cxnLst/>
              <a:rect l="l" t="t" r="r" b="b"/>
              <a:pathLst>
                <a:path w="3726179" h="132714">
                  <a:moveTo>
                    <a:pt x="113995" y="0"/>
                  </a:moveTo>
                  <a:lnTo>
                    <a:pt x="0" y="65658"/>
                  </a:lnTo>
                  <a:lnTo>
                    <a:pt x="106540" y="128650"/>
                  </a:lnTo>
                  <a:lnTo>
                    <a:pt x="113334" y="132587"/>
                  </a:lnTo>
                  <a:lnTo>
                    <a:pt x="122097" y="130301"/>
                  </a:lnTo>
                  <a:lnTo>
                    <a:pt x="126098" y="123570"/>
                  </a:lnTo>
                  <a:lnTo>
                    <a:pt x="130111" y="116712"/>
                  </a:lnTo>
                  <a:lnTo>
                    <a:pt x="127850" y="107949"/>
                  </a:lnTo>
                  <a:lnTo>
                    <a:pt x="121056" y="104012"/>
                  </a:lnTo>
                  <a:lnTo>
                    <a:pt x="81032" y="80399"/>
                  </a:lnTo>
                  <a:lnTo>
                    <a:pt x="28257" y="80136"/>
                  </a:lnTo>
                  <a:lnTo>
                    <a:pt x="28334" y="65658"/>
                  </a:lnTo>
                  <a:lnTo>
                    <a:pt x="28409" y="51561"/>
                  </a:lnTo>
                  <a:lnTo>
                    <a:pt x="81766" y="51561"/>
                  </a:lnTo>
                  <a:lnTo>
                    <a:pt x="128270" y="24764"/>
                  </a:lnTo>
                  <a:lnTo>
                    <a:pt x="130606" y="16001"/>
                  </a:lnTo>
                  <a:lnTo>
                    <a:pt x="122732" y="2285"/>
                  </a:lnTo>
                  <a:lnTo>
                    <a:pt x="113995" y="0"/>
                  </a:lnTo>
                  <a:close/>
                </a:path>
                <a:path w="3726179" h="132714">
                  <a:moveTo>
                    <a:pt x="81309" y="51825"/>
                  </a:moveTo>
                  <a:lnTo>
                    <a:pt x="56667" y="66024"/>
                  </a:lnTo>
                  <a:lnTo>
                    <a:pt x="81032" y="80399"/>
                  </a:lnTo>
                  <a:lnTo>
                    <a:pt x="3725735" y="98551"/>
                  </a:lnTo>
                  <a:lnTo>
                    <a:pt x="3725896" y="80399"/>
                  </a:lnTo>
                  <a:lnTo>
                    <a:pt x="3725989" y="69976"/>
                  </a:lnTo>
                  <a:lnTo>
                    <a:pt x="81309" y="51825"/>
                  </a:lnTo>
                  <a:close/>
                </a:path>
                <a:path w="3726179" h="132714">
                  <a:moveTo>
                    <a:pt x="28409" y="51561"/>
                  </a:moveTo>
                  <a:lnTo>
                    <a:pt x="28334" y="65658"/>
                  </a:lnTo>
                  <a:lnTo>
                    <a:pt x="28257" y="80136"/>
                  </a:lnTo>
                  <a:lnTo>
                    <a:pt x="81032" y="80399"/>
                  </a:lnTo>
                  <a:lnTo>
                    <a:pt x="77358" y="78231"/>
                  </a:lnTo>
                  <a:lnTo>
                    <a:pt x="35483" y="78231"/>
                  </a:lnTo>
                  <a:lnTo>
                    <a:pt x="35598" y="53593"/>
                  </a:lnTo>
                  <a:lnTo>
                    <a:pt x="78240" y="53593"/>
                  </a:lnTo>
                  <a:lnTo>
                    <a:pt x="81309" y="51825"/>
                  </a:lnTo>
                  <a:lnTo>
                    <a:pt x="28409" y="51561"/>
                  </a:lnTo>
                  <a:close/>
                </a:path>
                <a:path w="3726179" h="132714">
                  <a:moveTo>
                    <a:pt x="35598" y="53593"/>
                  </a:moveTo>
                  <a:lnTo>
                    <a:pt x="35483" y="78231"/>
                  </a:lnTo>
                  <a:lnTo>
                    <a:pt x="56667" y="66024"/>
                  </a:lnTo>
                  <a:lnTo>
                    <a:pt x="35598" y="53593"/>
                  </a:lnTo>
                  <a:close/>
                </a:path>
                <a:path w="3726179" h="132714">
                  <a:moveTo>
                    <a:pt x="56667" y="66024"/>
                  </a:moveTo>
                  <a:lnTo>
                    <a:pt x="35483" y="78231"/>
                  </a:lnTo>
                  <a:lnTo>
                    <a:pt x="77358" y="78231"/>
                  </a:lnTo>
                  <a:lnTo>
                    <a:pt x="56667" y="66024"/>
                  </a:lnTo>
                  <a:close/>
                </a:path>
                <a:path w="3726179" h="132714">
                  <a:moveTo>
                    <a:pt x="78240" y="53593"/>
                  </a:moveTo>
                  <a:lnTo>
                    <a:pt x="35598" y="53593"/>
                  </a:lnTo>
                  <a:lnTo>
                    <a:pt x="56667" y="66024"/>
                  </a:lnTo>
                  <a:lnTo>
                    <a:pt x="78240" y="53593"/>
                  </a:lnTo>
                  <a:close/>
                </a:path>
                <a:path w="3726179" h="132714">
                  <a:moveTo>
                    <a:pt x="81766" y="51561"/>
                  </a:moveTo>
                  <a:lnTo>
                    <a:pt x="28409" y="51561"/>
                  </a:lnTo>
                  <a:lnTo>
                    <a:pt x="81309" y="51825"/>
                  </a:lnTo>
                  <a:lnTo>
                    <a:pt x="81766" y="5156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34949" y="3535807"/>
            <a:ext cx="2604135" cy="168846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05"/>
              </a:spcBef>
            </a:pPr>
            <a:r>
              <a:rPr sz="1800" dirty="0">
                <a:latin typeface="Calibri"/>
                <a:cs typeface="Calibri"/>
              </a:rPr>
              <a:t>41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шард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за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2016-</a:t>
            </a:r>
            <a:r>
              <a:rPr sz="1800" spc="-20" dirty="0">
                <a:latin typeface="Calibri"/>
                <a:cs typeface="Calibri"/>
              </a:rPr>
              <a:t>2019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Calibri"/>
                <a:cs typeface="Calibri"/>
              </a:rPr>
              <a:t>(45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TB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comressed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plaintext)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800">
              <a:latin typeface="Calibri"/>
              <a:cs typeface="Calibri"/>
            </a:endParaRPr>
          </a:p>
          <a:p>
            <a:pPr marL="577850" marR="767715" indent="11557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«As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is»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всё </a:t>
            </a:r>
            <a:r>
              <a:rPr sz="1800" dirty="0">
                <a:latin typeface="Calibri"/>
                <a:cs typeface="Calibri"/>
              </a:rPr>
              <a:t>ещё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грязный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20179" y="2296604"/>
            <a:ext cx="2830830" cy="5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570GB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после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Calibri"/>
                <a:cs typeface="Calibri"/>
              </a:rPr>
              <a:t>фильтрации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и </a:t>
            </a:r>
            <a:r>
              <a:rPr sz="1800" spc="-10" dirty="0">
                <a:latin typeface="Calibri"/>
                <a:cs typeface="Calibri"/>
              </a:rPr>
              <a:t>дедупликации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400171" y="2013839"/>
            <a:ext cx="1626235" cy="764540"/>
          </a:xfrm>
          <a:custGeom>
            <a:avLst/>
            <a:gdLst/>
            <a:ahLst/>
            <a:cxnLst/>
            <a:rect l="l" t="t" r="r" b="b"/>
            <a:pathLst>
              <a:path w="1626235" h="764539">
                <a:moveTo>
                  <a:pt x="1542096" y="25952"/>
                </a:moveTo>
                <a:lnTo>
                  <a:pt x="0" y="738251"/>
                </a:lnTo>
                <a:lnTo>
                  <a:pt x="11937" y="764159"/>
                </a:lnTo>
                <a:lnTo>
                  <a:pt x="1554069" y="51844"/>
                </a:lnTo>
                <a:lnTo>
                  <a:pt x="1542096" y="25952"/>
                </a:lnTo>
                <a:close/>
              </a:path>
              <a:path w="1626235" h="764539">
                <a:moveTo>
                  <a:pt x="1612245" y="19938"/>
                </a:moveTo>
                <a:lnTo>
                  <a:pt x="1555114" y="19938"/>
                </a:lnTo>
                <a:lnTo>
                  <a:pt x="1567052" y="45847"/>
                </a:lnTo>
                <a:lnTo>
                  <a:pt x="1554069" y="51844"/>
                </a:lnTo>
                <a:lnTo>
                  <a:pt x="1566037" y="77724"/>
                </a:lnTo>
                <a:lnTo>
                  <a:pt x="1612245" y="19938"/>
                </a:lnTo>
                <a:close/>
              </a:path>
              <a:path w="1626235" h="764539">
                <a:moveTo>
                  <a:pt x="1555114" y="19938"/>
                </a:moveTo>
                <a:lnTo>
                  <a:pt x="1542096" y="25952"/>
                </a:lnTo>
                <a:lnTo>
                  <a:pt x="1554069" y="51844"/>
                </a:lnTo>
                <a:lnTo>
                  <a:pt x="1567052" y="45847"/>
                </a:lnTo>
                <a:lnTo>
                  <a:pt x="1555114" y="19938"/>
                </a:lnTo>
                <a:close/>
              </a:path>
              <a:path w="1626235" h="764539">
                <a:moveTo>
                  <a:pt x="1530095" y="0"/>
                </a:moveTo>
                <a:lnTo>
                  <a:pt x="1542096" y="25952"/>
                </a:lnTo>
                <a:lnTo>
                  <a:pt x="1555114" y="19938"/>
                </a:lnTo>
                <a:lnTo>
                  <a:pt x="1612245" y="19938"/>
                </a:lnTo>
                <a:lnTo>
                  <a:pt x="1625853" y="2921"/>
                </a:lnTo>
                <a:lnTo>
                  <a:pt x="153009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93390" y="1655432"/>
            <a:ext cx="1458031" cy="54877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6514845" y="1849564"/>
            <a:ext cx="224472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0" dirty="0">
                <a:latin typeface="Calibri"/>
                <a:cs typeface="Calibri"/>
              </a:rPr>
              <a:t>Tokenizer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+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HashingTF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+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867437" y="1333304"/>
            <a:ext cx="2205946" cy="1384085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841060" y="2877763"/>
            <a:ext cx="4110379" cy="229828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1424686" y="4196334"/>
            <a:ext cx="835660" cy="461009"/>
            <a:chOff x="1424686" y="4196334"/>
            <a:chExt cx="835660" cy="461009"/>
          </a:xfrm>
        </p:grpSpPr>
        <p:sp>
          <p:nvSpPr>
            <p:cNvPr id="14" name="object 14"/>
            <p:cNvSpPr/>
            <p:nvPr/>
          </p:nvSpPr>
          <p:spPr>
            <a:xfrm>
              <a:off x="1431036" y="4202684"/>
              <a:ext cx="822960" cy="448309"/>
            </a:xfrm>
            <a:custGeom>
              <a:avLst/>
              <a:gdLst/>
              <a:ahLst/>
              <a:cxnLst/>
              <a:rect l="l" t="t" r="r" b="b"/>
              <a:pathLst>
                <a:path w="822960" h="448310">
                  <a:moveTo>
                    <a:pt x="411480" y="0"/>
                  </a:moveTo>
                  <a:lnTo>
                    <a:pt x="0" y="224155"/>
                  </a:lnTo>
                  <a:lnTo>
                    <a:pt x="205739" y="224155"/>
                  </a:lnTo>
                  <a:lnTo>
                    <a:pt x="205739" y="448183"/>
                  </a:lnTo>
                  <a:lnTo>
                    <a:pt x="617219" y="448183"/>
                  </a:lnTo>
                  <a:lnTo>
                    <a:pt x="617219" y="224155"/>
                  </a:lnTo>
                  <a:lnTo>
                    <a:pt x="822959" y="224155"/>
                  </a:lnTo>
                  <a:lnTo>
                    <a:pt x="411480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431036" y="4202684"/>
              <a:ext cx="822960" cy="448309"/>
            </a:xfrm>
            <a:custGeom>
              <a:avLst/>
              <a:gdLst/>
              <a:ahLst/>
              <a:cxnLst/>
              <a:rect l="l" t="t" r="r" b="b"/>
              <a:pathLst>
                <a:path w="822960" h="448310">
                  <a:moveTo>
                    <a:pt x="205739" y="448183"/>
                  </a:moveTo>
                  <a:lnTo>
                    <a:pt x="205739" y="224155"/>
                  </a:lnTo>
                  <a:lnTo>
                    <a:pt x="0" y="224155"/>
                  </a:lnTo>
                  <a:lnTo>
                    <a:pt x="411480" y="0"/>
                  </a:lnTo>
                  <a:lnTo>
                    <a:pt x="822959" y="224155"/>
                  </a:lnTo>
                  <a:lnTo>
                    <a:pt x="617219" y="224155"/>
                  </a:lnTo>
                  <a:lnTo>
                    <a:pt x="617219" y="448183"/>
                  </a:lnTo>
                  <a:lnTo>
                    <a:pt x="205739" y="448183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1424686" y="3034792"/>
            <a:ext cx="835660" cy="461009"/>
            <a:chOff x="1424686" y="3034792"/>
            <a:chExt cx="835660" cy="461009"/>
          </a:xfrm>
        </p:grpSpPr>
        <p:sp>
          <p:nvSpPr>
            <p:cNvPr id="17" name="object 17"/>
            <p:cNvSpPr/>
            <p:nvPr/>
          </p:nvSpPr>
          <p:spPr>
            <a:xfrm>
              <a:off x="1431036" y="3041142"/>
              <a:ext cx="822960" cy="448309"/>
            </a:xfrm>
            <a:custGeom>
              <a:avLst/>
              <a:gdLst/>
              <a:ahLst/>
              <a:cxnLst/>
              <a:rect l="l" t="t" r="r" b="b"/>
              <a:pathLst>
                <a:path w="822960" h="448310">
                  <a:moveTo>
                    <a:pt x="411480" y="0"/>
                  </a:moveTo>
                  <a:lnTo>
                    <a:pt x="0" y="224028"/>
                  </a:lnTo>
                  <a:lnTo>
                    <a:pt x="205739" y="224028"/>
                  </a:lnTo>
                  <a:lnTo>
                    <a:pt x="205739" y="448183"/>
                  </a:lnTo>
                  <a:lnTo>
                    <a:pt x="617219" y="448183"/>
                  </a:lnTo>
                  <a:lnTo>
                    <a:pt x="617219" y="224028"/>
                  </a:lnTo>
                  <a:lnTo>
                    <a:pt x="822959" y="224028"/>
                  </a:lnTo>
                  <a:lnTo>
                    <a:pt x="411480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431036" y="3041142"/>
              <a:ext cx="822960" cy="448309"/>
            </a:xfrm>
            <a:custGeom>
              <a:avLst/>
              <a:gdLst/>
              <a:ahLst/>
              <a:cxnLst/>
              <a:rect l="l" t="t" r="r" b="b"/>
              <a:pathLst>
                <a:path w="822960" h="448310">
                  <a:moveTo>
                    <a:pt x="205739" y="448183"/>
                  </a:moveTo>
                  <a:lnTo>
                    <a:pt x="205739" y="224028"/>
                  </a:lnTo>
                  <a:lnTo>
                    <a:pt x="0" y="224028"/>
                  </a:lnTo>
                  <a:lnTo>
                    <a:pt x="411480" y="0"/>
                  </a:lnTo>
                  <a:lnTo>
                    <a:pt x="822959" y="224028"/>
                  </a:lnTo>
                  <a:lnTo>
                    <a:pt x="617219" y="224028"/>
                  </a:lnTo>
                  <a:lnTo>
                    <a:pt x="617219" y="448183"/>
                  </a:lnTo>
                  <a:lnTo>
                    <a:pt x="205739" y="448183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8940">
              <a:lnSpc>
                <a:spcPct val="100000"/>
              </a:lnSpc>
              <a:spcBef>
                <a:spcPts val="100"/>
              </a:spcBef>
            </a:pPr>
            <a:r>
              <a:rPr dirty="0"/>
              <a:t>Но</a:t>
            </a:r>
            <a:r>
              <a:rPr spc="-60" dirty="0"/>
              <a:t> </a:t>
            </a:r>
            <a:r>
              <a:rPr dirty="0"/>
              <a:t>где</a:t>
            </a:r>
            <a:r>
              <a:rPr spc="-70" dirty="0"/>
              <a:t> </a:t>
            </a:r>
            <a:r>
              <a:rPr dirty="0"/>
              <a:t>брать</a:t>
            </a:r>
            <a:r>
              <a:rPr spc="-60" dirty="0"/>
              <a:t> </a:t>
            </a:r>
            <a:r>
              <a:rPr spc="-10" dirty="0"/>
              <a:t>данные?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001204" y="4510402"/>
            <a:ext cx="8340090" cy="1740535"/>
            <a:chOff x="1001204" y="4510402"/>
            <a:chExt cx="8340090" cy="174053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10801" y="4510402"/>
              <a:ext cx="6730276" cy="174013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001204" y="5234559"/>
              <a:ext cx="3726179" cy="132715"/>
            </a:xfrm>
            <a:custGeom>
              <a:avLst/>
              <a:gdLst/>
              <a:ahLst/>
              <a:cxnLst/>
              <a:rect l="l" t="t" r="r" b="b"/>
              <a:pathLst>
                <a:path w="3726179" h="132714">
                  <a:moveTo>
                    <a:pt x="113995" y="0"/>
                  </a:moveTo>
                  <a:lnTo>
                    <a:pt x="0" y="65658"/>
                  </a:lnTo>
                  <a:lnTo>
                    <a:pt x="106540" y="128650"/>
                  </a:lnTo>
                  <a:lnTo>
                    <a:pt x="113334" y="132587"/>
                  </a:lnTo>
                  <a:lnTo>
                    <a:pt x="122097" y="130301"/>
                  </a:lnTo>
                  <a:lnTo>
                    <a:pt x="126098" y="123570"/>
                  </a:lnTo>
                  <a:lnTo>
                    <a:pt x="130111" y="116712"/>
                  </a:lnTo>
                  <a:lnTo>
                    <a:pt x="127850" y="107949"/>
                  </a:lnTo>
                  <a:lnTo>
                    <a:pt x="121056" y="104012"/>
                  </a:lnTo>
                  <a:lnTo>
                    <a:pt x="81032" y="80399"/>
                  </a:lnTo>
                  <a:lnTo>
                    <a:pt x="28257" y="80136"/>
                  </a:lnTo>
                  <a:lnTo>
                    <a:pt x="28334" y="65658"/>
                  </a:lnTo>
                  <a:lnTo>
                    <a:pt x="28409" y="51561"/>
                  </a:lnTo>
                  <a:lnTo>
                    <a:pt x="81766" y="51561"/>
                  </a:lnTo>
                  <a:lnTo>
                    <a:pt x="128270" y="24764"/>
                  </a:lnTo>
                  <a:lnTo>
                    <a:pt x="130606" y="16001"/>
                  </a:lnTo>
                  <a:lnTo>
                    <a:pt x="122732" y="2285"/>
                  </a:lnTo>
                  <a:lnTo>
                    <a:pt x="113995" y="0"/>
                  </a:lnTo>
                  <a:close/>
                </a:path>
                <a:path w="3726179" h="132714">
                  <a:moveTo>
                    <a:pt x="81309" y="51825"/>
                  </a:moveTo>
                  <a:lnTo>
                    <a:pt x="56667" y="66024"/>
                  </a:lnTo>
                  <a:lnTo>
                    <a:pt x="81032" y="80399"/>
                  </a:lnTo>
                  <a:lnTo>
                    <a:pt x="3725735" y="98551"/>
                  </a:lnTo>
                  <a:lnTo>
                    <a:pt x="3725896" y="80399"/>
                  </a:lnTo>
                  <a:lnTo>
                    <a:pt x="3725989" y="69976"/>
                  </a:lnTo>
                  <a:lnTo>
                    <a:pt x="81309" y="51825"/>
                  </a:lnTo>
                  <a:close/>
                </a:path>
                <a:path w="3726179" h="132714">
                  <a:moveTo>
                    <a:pt x="28409" y="51561"/>
                  </a:moveTo>
                  <a:lnTo>
                    <a:pt x="28334" y="65658"/>
                  </a:lnTo>
                  <a:lnTo>
                    <a:pt x="28257" y="80136"/>
                  </a:lnTo>
                  <a:lnTo>
                    <a:pt x="81032" y="80399"/>
                  </a:lnTo>
                  <a:lnTo>
                    <a:pt x="77358" y="78231"/>
                  </a:lnTo>
                  <a:lnTo>
                    <a:pt x="35483" y="78231"/>
                  </a:lnTo>
                  <a:lnTo>
                    <a:pt x="35598" y="53593"/>
                  </a:lnTo>
                  <a:lnTo>
                    <a:pt x="78240" y="53593"/>
                  </a:lnTo>
                  <a:lnTo>
                    <a:pt x="81309" y="51825"/>
                  </a:lnTo>
                  <a:lnTo>
                    <a:pt x="28409" y="51561"/>
                  </a:lnTo>
                  <a:close/>
                </a:path>
                <a:path w="3726179" h="132714">
                  <a:moveTo>
                    <a:pt x="35598" y="53593"/>
                  </a:moveTo>
                  <a:lnTo>
                    <a:pt x="35483" y="78231"/>
                  </a:lnTo>
                  <a:lnTo>
                    <a:pt x="56667" y="66024"/>
                  </a:lnTo>
                  <a:lnTo>
                    <a:pt x="35598" y="53593"/>
                  </a:lnTo>
                  <a:close/>
                </a:path>
                <a:path w="3726179" h="132714">
                  <a:moveTo>
                    <a:pt x="56667" y="66024"/>
                  </a:moveTo>
                  <a:lnTo>
                    <a:pt x="35483" y="78231"/>
                  </a:lnTo>
                  <a:lnTo>
                    <a:pt x="77358" y="78231"/>
                  </a:lnTo>
                  <a:lnTo>
                    <a:pt x="56667" y="66024"/>
                  </a:lnTo>
                  <a:close/>
                </a:path>
                <a:path w="3726179" h="132714">
                  <a:moveTo>
                    <a:pt x="78240" y="53593"/>
                  </a:moveTo>
                  <a:lnTo>
                    <a:pt x="35598" y="53593"/>
                  </a:lnTo>
                  <a:lnTo>
                    <a:pt x="56667" y="66024"/>
                  </a:lnTo>
                  <a:lnTo>
                    <a:pt x="78240" y="53593"/>
                  </a:lnTo>
                  <a:close/>
                </a:path>
                <a:path w="3726179" h="132714">
                  <a:moveTo>
                    <a:pt x="81766" y="51561"/>
                  </a:moveTo>
                  <a:lnTo>
                    <a:pt x="28409" y="51561"/>
                  </a:lnTo>
                  <a:lnTo>
                    <a:pt x="81309" y="51825"/>
                  </a:lnTo>
                  <a:lnTo>
                    <a:pt x="81766" y="5156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200619" y="4649533"/>
            <a:ext cx="127571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1557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«As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is»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всё </a:t>
            </a:r>
            <a:r>
              <a:rPr sz="1800" dirty="0">
                <a:latin typeface="Calibri"/>
                <a:cs typeface="Calibri"/>
              </a:rPr>
              <a:t>ещё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грязный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4949" y="3535807"/>
            <a:ext cx="2604135" cy="5759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05"/>
              </a:spcBef>
            </a:pPr>
            <a:r>
              <a:rPr sz="1800" dirty="0">
                <a:latin typeface="Calibri"/>
                <a:cs typeface="Calibri"/>
              </a:rPr>
              <a:t>41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шард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за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2016-</a:t>
            </a:r>
            <a:r>
              <a:rPr sz="1800" spc="-20" dirty="0">
                <a:latin typeface="Calibri"/>
                <a:cs typeface="Calibri"/>
              </a:rPr>
              <a:t>2019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Calibri"/>
                <a:cs typeface="Calibri"/>
              </a:rPr>
              <a:t>(45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TB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comressed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plaintext)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20179" y="2296604"/>
            <a:ext cx="2830830" cy="5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570GB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после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Calibri"/>
                <a:cs typeface="Calibri"/>
              </a:rPr>
              <a:t>фильтрации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и </a:t>
            </a:r>
            <a:r>
              <a:rPr sz="1800" spc="-10" dirty="0">
                <a:latin typeface="Calibri"/>
                <a:cs typeface="Calibri"/>
              </a:rPr>
              <a:t>дедупликации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400171" y="1655432"/>
            <a:ext cx="3151505" cy="2184400"/>
            <a:chOff x="3400171" y="1655432"/>
            <a:chExt cx="3151505" cy="2184400"/>
          </a:xfrm>
        </p:grpSpPr>
        <p:sp>
          <p:nvSpPr>
            <p:cNvPr id="10" name="object 10"/>
            <p:cNvSpPr/>
            <p:nvPr/>
          </p:nvSpPr>
          <p:spPr>
            <a:xfrm>
              <a:off x="3400171" y="2013838"/>
              <a:ext cx="2538730" cy="1826260"/>
            </a:xfrm>
            <a:custGeom>
              <a:avLst/>
              <a:gdLst/>
              <a:ahLst/>
              <a:cxnLst/>
              <a:rect l="l" t="t" r="r" b="b"/>
              <a:pathLst>
                <a:path w="2538729" h="1826260">
                  <a:moveTo>
                    <a:pt x="2538222" y="1819910"/>
                  </a:moveTo>
                  <a:lnTo>
                    <a:pt x="2525661" y="1805178"/>
                  </a:lnTo>
                  <a:lnTo>
                    <a:pt x="2476119" y="1747012"/>
                  </a:lnTo>
                  <a:lnTo>
                    <a:pt x="2464943" y="1773288"/>
                  </a:lnTo>
                  <a:lnTo>
                    <a:pt x="49555" y="746785"/>
                  </a:lnTo>
                  <a:lnTo>
                    <a:pt x="1554060" y="51854"/>
                  </a:lnTo>
                  <a:lnTo>
                    <a:pt x="1566037" y="77724"/>
                  </a:lnTo>
                  <a:lnTo>
                    <a:pt x="1612239" y="19939"/>
                  </a:lnTo>
                  <a:lnTo>
                    <a:pt x="1625854" y="2921"/>
                  </a:lnTo>
                  <a:lnTo>
                    <a:pt x="1530096" y="0"/>
                  </a:lnTo>
                  <a:lnTo>
                    <a:pt x="1542084" y="25958"/>
                  </a:lnTo>
                  <a:lnTo>
                    <a:pt x="14122" y="731735"/>
                  </a:lnTo>
                  <a:lnTo>
                    <a:pt x="11557" y="730631"/>
                  </a:lnTo>
                  <a:lnTo>
                    <a:pt x="10337" y="733475"/>
                  </a:lnTo>
                  <a:lnTo>
                    <a:pt x="0" y="738251"/>
                  </a:lnTo>
                  <a:lnTo>
                    <a:pt x="4318" y="747649"/>
                  </a:lnTo>
                  <a:lnTo>
                    <a:pt x="381" y="756920"/>
                  </a:lnTo>
                  <a:lnTo>
                    <a:pt x="10591" y="761276"/>
                  </a:lnTo>
                  <a:lnTo>
                    <a:pt x="11938" y="764159"/>
                  </a:lnTo>
                  <a:lnTo>
                    <a:pt x="14554" y="762952"/>
                  </a:lnTo>
                  <a:lnTo>
                    <a:pt x="2453767" y="1799577"/>
                  </a:lnTo>
                  <a:lnTo>
                    <a:pt x="2442591" y="1825879"/>
                  </a:lnTo>
                  <a:lnTo>
                    <a:pt x="2538222" y="18199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93390" y="1655432"/>
              <a:ext cx="1458031" cy="548779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6514845" y="1849564"/>
            <a:ext cx="224472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0" dirty="0">
                <a:latin typeface="Calibri"/>
                <a:cs typeface="Calibri"/>
              </a:rPr>
              <a:t>Tokenizer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+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HashingTF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+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867437" y="1333304"/>
            <a:ext cx="2205946" cy="1384085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7095743" y="2853588"/>
            <a:ext cx="4919980" cy="402590"/>
            <a:chOff x="7095743" y="2853588"/>
            <a:chExt cx="4919980" cy="402590"/>
          </a:xfrm>
        </p:grpSpPr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41060" y="2877763"/>
              <a:ext cx="4110379" cy="229828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7095743" y="2853588"/>
              <a:ext cx="4919980" cy="402590"/>
            </a:xfrm>
            <a:custGeom>
              <a:avLst/>
              <a:gdLst/>
              <a:ahLst/>
              <a:cxnLst/>
              <a:rect l="l" t="t" r="r" b="b"/>
              <a:pathLst>
                <a:path w="4919980" h="402589">
                  <a:moveTo>
                    <a:pt x="4919472" y="0"/>
                  </a:moveTo>
                  <a:lnTo>
                    <a:pt x="0" y="0"/>
                  </a:lnTo>
                  <a:lnTo>
                    <a:pt x="0" y="402437"/>
                  </a:lnTo>
                  <a:lnTo>
                    <a:pt x="4919472" y="402437"/>
                  </a:lnTo>
                  <a:lnTo>
                    <a:pt x="4919472" y="0"/>
                  </a:lnTo>
                  <a:close/>
                </a:path>
              </a:pathLst>
            </a:custGeom>
            <a:solidFill>
              <a:srgbClr val="FFFFFF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6065901" y="3543998"/>
            <a:ext cx="3031490" cy="5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Дедупликация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на тех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же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фичах </a:t>
            </a:r>
            <a:r>
              <a:rPr sz="1800" dirty="0">
                <a:latin typeface="Calibri"/>
                <a:cs typeface="Calibri"/>
              </a:rPr>
              <a:t>через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MinHashLSH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(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-</a:t>
            </a:r>
            <a:r>
              <a:rPr sz="1800" spc="-20" dirty="0">
                <a:solidFill>
                  <a:srgbClr val="FF0000"/>
                </a:solidFill>
                <a:latin typeface="Calibri"/>
                <a:cs typeface="Calibri"/>
              </a:rPr>
              <a:t>10%</a:t>
            </a:r>
            <a:r>
              <a:rPr sz="1800" spc="-20" dirty="0">
                <a:latin typeface="Calibri"/>
                <a:cs typeface="Calibri"/>
              </a:rPr>
              <a:t>)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424686" y="4196334"/>
            <a:ext cx="835660" cy="461009"/>
            <a:chOff x="1424686" y="4196334"/>
            <a:chExt cx="835660" cy="461009"/>
          </a:xfrm>
        </p:grpSpPr>
        <p:sp>
          <p:nvSpPr>
            <p:cNvPr id="19" name="object 19"/>
            <p:cNvSpPr/>
            <p:nvPr/>
          </p:nvSpPr>
          <p:spPr>
            <a:xfrm>
              <a:off x="1431036" y="4202684"/>
              <a:ext cx="822960" cy="448309"/>
            </a:xfrm>
            <a:custGeom>
              <a:avLst/>
              <a:gdLst/>
              <a:ahLst/>
              <a:cxnLst/>
              <a:rect l="l" t="t" r="r" b="b"/>
              <a:pathLst>
                <a:path w="822960" h="448310">
                  <a:moveTo>
                    <a:pt x="411480" y="0"/>
                  </a:moveTo>
                  <a:lnTo>
                    <a:pt x="0" y="224155"/>
                  </a:lnTo>
                  <a:lnTo>
                    <a:pt x="205739" y="224155"/>
                  </a:lnTo>
                  <a:lnTo>
                    <a:pt x="205739" y="448183"/>
                  </a:lnTo>
                  <a:lnTo>
                    <a:pt x="617219" y="448183"/>
                  </a:lnTo>
                  <a:lnTo>
                    <a:pt x="617219" y="224155"/>
                  </a:lnTo>
                  <a:lnTo>
                    <a:pt x="822959" y="224155"/>
                  </a:lnTo>
                  <a:lnTo>
                    <a:pt x="411480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431036" y="4202684"/>
              <a:ext cx="822960" cy="448309"/>
            </a:xfrm>
            <a:custGeom>
              <a:avLst/>
              <a:gdLst/>
              <a:ahLst/>
              <a:cxnLst/>
              <a:rect l="l" t="t" r="r" b="b"/>
              <a:pathLst>
                <a:path w="822960" h="448310">
                  <a:moveTo>
                    <a:pt x="205739" y="448183"/>
                  </a:moveTo>
                  <a:lnTo>
                    <a:pt x="205739" y="224155"/>
                  </a:lnTo>
                  <a:lnTo>
                    <a:pt x="0" y="224155"/>
                  </a:lnTo>
                  <a:lnTo>
                    <a:pt x="411480" y="0"/>
                  </a:lnTo>
                  <a:lnTo>
                    <a:pt x="822959" y="224155"/>
                  </a:lnTo>
                  <a:lnTo>
                    <a:pt x="617219" y="224155"/>
                  </a:lnTo>
                  <a:lnTo>
                    <a:pt x="617219" y="448183"/>
                  </a:lnTo>
                  <a:lnTo>
                    <a:pt x="205739" y="448183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1424686" y="3034792"/>
            <a:ext cx="835660" cy="461009"/>
            <a:chOff x="1424686" y="3034792"/>
            <a:chExt cx="835660" cy="461009"/>
          </a:xfrm>
        </p:grpSpPr>
        <p:sp>
          <p:nvSpPr>
            <p:cNvPr id="22" name="object 22"/>
            <p:cNvSpPr/>
            <p:nvPr/>
          </p:nvSpPr>
          <p:spPr>
            <a:xfrm>
              <a:off x="1431036" y="3041142"/>
              <a:ext cx="822960" cy="448309"/>
            </a:xfrm>
            <a:custGeom>
              <a:avLst/>
              <a:gdLst/>
              <a:ahLst/>
              <a:cxnLst/>
              <a:rect l="l" t="t" r="r" b="b"/>
              <a:pathLst>
                <a:path w="822960" h="448310">
                  <a:moveTo>
                    <a:pt x="411480" y="0"/>
                  </a:moveTo>
                  <a:lnTo>
                    <a:pt x="0" y="224028"/>
                  </a:lnTo>
                  <a:lnTo>
                    <a:pt x="205739" y="224028"/>
                  </a:lnTo>
                  <a:lnTo>
                    <a:pt x="205739" y="448183"/>
                  </a:lnTo>
                  <a:lnTo>
                    <a:pt x="617219" y="448183"/>
                  </a:lnTo>
                  <a:lnTo>
                    <a:pt x="617219" y="224028"/>
                  </a:lnTo>
                  <a:lnTo>
                    <a:pt x="822959" y="224028"/>
                  </a:lnTo>
                  <a:lnTo>
                    <a:pt x="411480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431036" y="3041142"/>
              <a:ext cx="822960" cy="448309"/>
            </a:xfrm>
            <a:custGeom>
              <a:avLst/>
              <a:gdLst/>
              <a:ahLst/>
              <a:cxnLst/>
              <a:rect l="l" t="t" r="r" b="b"/>
              <a:pathLst>
                <a:path w="822960" h="448310">
                  <a:moveTo>
                    <a:pt x="205739" y="448183"/>
                  </a:moveTo>
                  <a:lnTo>
                    <a:pt x="205739" y="224028"/>
                  </a:lnTo>
                  <a:lnTo>
                    <a:pt x="0" y="224028"/>
                  </a:lnTo>
                  <a:lnTo>
                    <a:pt x="411480" y="0"/>
                  </a:lnTo>
                  <a:lnTo>
                    <a:pt x="822959" y="224028"/>
                  </a:lnTo>
                  <a:lnTo>
                    <a:pt x="617219" y="224028"/>
                  </a:lnTo>
                  <a:lnTo>
                    <a:pt x="617219" y="448183"/>
                  </a:lnTo>
                  <a:lnTo>
                    <a:pt x="205739" y="448183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/>
          <p:nvPr/>
        </p:nvSpPr>
        <p:spPr>
          <a:xfrm>
            <a:off x="3355847" y="1252982"/>
            <a:ext cx="8065134" cy="1509395"/>
          </a:xfrm>
          <a:custGeom>
            <a:avLst/>
            <a:gdLst/>
            <a:ahLst/>
            <a:cxnLst/>
            <a:rect l="l" t="t" r="r" b="b"/>
            <a:pathLst>
              <a:path w="8065134" h="1509395">
                <a:moveTo>
                  <a:pt x="8065008" y="0"/>
                </a:moveTo>
                <a:lnTo>
                  <a:pt x="0" y="0"/>
                </a:lnTo>
                <a:lnTo>
                  <a:pt x="0" y="1509140"/>
                </a:lnTo>
                <a:lnTo>
                  <a:pt x="8065008" y="1509140"/>
                </a:lnTo>
                <a:lnTo>
                  <a:pt x="8065008" y="0"/>
                </a:lnTo>
                <a:close/>
              </a:path>
            </a:pathLst>
          </a:custGeom>
          <a:solidFill>
            <a:srgbClr val="FFFFFF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8940">
              <a:lnSpc>
                <a:spcPct val="100000"/>
              </a:lnSpc>
              <a:spcBef>
                <a:spcPts val="100"/>
              </a:spcBef>
            </a:pPr>
            <a:r>
              <a:rPr dirty="0"/>
              <a:t>Но</a:t>
            </a:r>
            <a:r>
              <a:rPr spc="-60" dirty="0"/>
              <a:t> </a:t>
            </a:r>
            <a:r>
              <a:rPr dirty="0"/>
              <a:t>где</a:t>
            </a:r>
            <a:r>
              <a:rPr spc="-70" dirty="0"/>
              <a:t> </a:t>
            </a:r>
            <a:r>
              <a:rPr dirty="0"/>
              <a:t>брать</a:t>
            </a:r>
            <a:r>
              <a:rPr spc="-60" dirty="0"/>
              <a:t> </a:t>
            </a:r>
            <a:r>
              <a:rPr spc="-10" dirty="0"/>
              <a:t>данные?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001204" y="4510402"/>
            <a:ext cx="8340090" cy="1740535"/>
            <a:chOff x="1001204" y="4510402"/>
            <a:chExt cx="8340090" cy="174053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10801" y="4510402"/>
              <a:ext cx="6730276" cy="174013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001204" y="5234559"/>
              <a:ext cx="3726179" cy="132715"/>
            </a:xfrm>
            <a:custGeom>
              <a:avLst/>
              <a:gdLst/>
              <a:ahLst/>
              <a:cxnLst/>
              <a:rect l="l" t="t" r="r" b="b"/>
              <a:pathLst>
                <a:path w="3726179" h="132714">
                  <a:moveTo>
                    <a:pt x="113995" y="0"/>
                  </a:moveTo>
                  <a:lnTo>
                    <a:pt x="0" y="65658"/>
                  </a:lnTo>
                  <a:lnTo>
                    <a:pt x="106540" y="128650"/>
                  </a:lnTo>
                  <a:lnTo>
                    <a:pt x="113334" y="132587"/>
                  </a:lnTo>
                  <a:lnTo>
                    <a:pt x="122097" y="130301"/>
                  </a:lnTo>
                  <a:lnTo>
                    <a:pt x="126098" y="123570"/>
                  </a:lnTo>
                  <a:lnTo>
                    <a:pt x="130111" y="116712"/>
                  </a:lnTo>
                  <a:lnTo>
                    <a:pt x="127850" y="107949"/>
                  </a:lnTo>
                  <a:lnTo>
                    <a:pt x="121056" y="104012"/>
                  </a:lnTo>
                  <a:lnTo>
                    <a:pt x="81032" y="80399"/>
                  </a:lnTo>
                  <a:lnTo>
                    <a:pt x="28257" y="80136"/>
                  </a:lnTo>
                  <a:lnTo>
                    <a:pt x="28334" y="65658"/>
                  </a:lnTo>
                  <a:lnTo>
                    <a:pt x="28409" y="51561"/>
                  </a:lnTo>
                  <a:lnTo>
                    <a:pt x="81766" y="51561"/>
                  </a:lnTo>
                  <a:lnTo>
                    <a:pt x="128270" y="24764"/>
                  </a:lnTo>
                  <a:lnTo>
                    <a:pt x="130606" y="16001"/>
                  </a:lnTo>
                  <a:lnTo>
                    <a:pt x="122732" y="2285"/>
                  </a:lnTo>
                  <a:lnTo>
                    <a:pt x="113995" y="0"/>
                  </a:lnTo>
                  <a:close/>
                </a:path>
                <a:path w="3726179" h="132714">
                  <a:moveTo>
                    <a:pt x="81309" y="51825"/>
                  </a:moveTo>
                  <a:lnTo>
                    <a:pt x="56667" y="66024"/>
                  </a:lnTo>
                  <a:lnTo>
                    <a:pt x="81032" y="80399"/>
                  </a:lnTo>
                  <a:lnTo>
                    <a:pt x="3725735" y="98551"/>
                  </a:lnTo>
                  <a:lnTo>
                    <a:pt x="3725896" y="80399"/>
                  </a:lnTo>
                  <a:lnTo>
                    <a:pt x="3725989" y="69976"/>
                  </a:lnTo>
                  <a:lnTo>
                    <a:pt x="81309" y="51825"/>
                  </a:lnTo>
                  <a:close/>
                </a:path>
                <a:path w="3726179" h="132714">
                  <a:moveTo>
                    <a:pt x="28409" y="51561"/>
                  </a:moveTo>
                  <a:lnTo>
                    <a:pt x="28334" y="65658"/>
                  </a:lnTo>
                  <a:lnTo>
                    <a:pt x="28257" y="80136"/>
                  </a:lnTo>
                  <a:lnTo>
                    <a:pt x="81032" y="80399"/>
                  </a:lnTo>
                  <a:lnTo>
                    <a:pt x="77358" y="78231"/>
                  </a:lnTo>
                  <a:lnTo>
                    <a:pt x="35483" y="78231"/>
                  </a:lnTo>
                  <a:lnTo>
                    <a:pt x="35598" y="53593"/>
                  </a:lnTo>
                  <a:lnTo>
                    <a:pt x="78240" y="53593"/>
                  </a:lnTo>
                  <a:lnTo>
                    <a:pt x="81309" y="51825"/>
                  </a:lnTo>
                  <a:lnTo>
                    <a:pt x="28409" y="51561"/>
                  </a:lnTo>
                  <a:close/>
                </a:path>
                <a:path w="3726179" h="132714">
                  <a:moveTo>
                    <a:pt x="35598" y="53593"/>
                  </a:moveTo>
                  <a:lnTo>
                    <a:pt x="35483" y="78231"/>
                  </a:lnTo>
                  <a:lnTo>
                    <a:pt x="56667" y="66024"/>
                  </a:lnTo>
                  <a:lnTo>
                    <a:pt x="35598" y="53593"/>
                  </a:lnTo>
                  <a:close/>
                </a:path>
                <a:path w="3726179" h="132714">
                  <a:moveTo>
                    <a:pt x="56667" y="66024"/>
                  </a:moveTo>
                  <a:lnTo>
                    <a:pt x="35483" y="78231"/>
                  </a:lnTo>
                  <a:lnTo>
                    <a:pt x="77358" y="78231"/>
                  </a:lnTo>
                  <a:lnTo>
                    <a:pt x="56667" y="66024"/>
                  </a:lnTo>
                  <a:close/>
                </a:path>
                <a:path w="3726179" h="132714">
                  <a:moveTo>
                    <a:pt x="78240" y="53593"/>
                  </a:moveTo>
                  <a:lnTo>
                    <a:pt x="35598" y="53593"/>
                  </a:lnTo>
                  <a:lnTo>
                    <a:pt x="56667" y="66024"/>
                  </a:lnTo>
                  <a:lnTo>
                    <a:pt x="78240" y="53593"/>
                  </a:lnTo>
                  <a:close/>
                </a:path>
                <a:path w="3726179" h="132714">
                  <a:moveTo>
                    <a:pt x="81766" y="51561"/>
                  </a:moveTo>
                  <a:lnTo>
                    <a:pt x="28409" y="51561"/>
                  </a:lnTo>
                  <a:lnTo>
                    <a:pt x="81309" y="51825"/>
                  </a:lnTo>
                  <a:lnTo>
                    <a:pt x="81766" y="5156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200619" y="4649533"/>
            <a:ext cx="127571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1557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«As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is»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всё </a:t>
            </a:r>
            <a:r>
              <a:rPr sz="1800" dirty="0">
                <a:latin typeface="Calibri"/>
                <a:cs typeface="Calibri"/>
              </a:rPr>
              <a:t>ещё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грязный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4949" y="3535807"/>
            <a:ext cx="2604135" cy="5759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05"/>
              </a:spcBef>
            </a:pPr>
            <a:r>
              <a:rPr sz="1800" dirty="0">
                <a:latin typeface="Calibri"/>
                <a:cs typeface="Calibri"/>
              </a:rPr>
              <a:t>41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шард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за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2016-</a:t>
            </a:r>
            <a:r>
              <a:rPr sz="1800" spc="-20" dirty="0">
                <a:latin typeface="Calibri"/>
                <a:cs typeface="Calibri"/>
              </a:rPr>
              <a:t>2019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Calibri"/>
                <a:cs typeface="Calibri"/>
              </a:rPr>
              <a:t>(45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TB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comressed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plaintext)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20179" y="2296604"/>
            <a:ext cx="2830830" cy="5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570GB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после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Calibri"/>
                <a:cs typeface="Calibri"/>
              </a:rPr>
              <a:t>фильтрации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и </a:t>
            </a:r>
            <a:r>
              <a:rPr sz="1800" spc="-10" dirty="0">
                <a:latin typeface="Calibri"/>
                <a:cs typeface="Calibri"/>
              </a:rPr>
              <a:t>дедупликации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400171" y="1655432"/>
            <a:ext cx="3151505" cy="2184400"/>
            <a:chOff x="3400171" y="1655432"/>
            <a:chExt cx="3151505" cy="2184400"/>
          </a:xfrm>
        </p:grpSpPr>
        <p:sp>
          <p:nvSpPr>
            <p:cNvPr id="10" name="object 10"/>
            <p:cNvSpPr/>
            <p:nvPr/>
          </p:nvSpPr>
          <p:spPr>
            <a:xfrm>
              <a:off x="3400171" y="2013838"/>
              <a:ext cx="2538730" cy="1826260"/>
            </a:xfrm>
            <a:custGeom>
              <a:avLst/>
              <a:gdLst/>
              <a:ahLst/>
              <a:cxnLst/>
              <a:rect l="l" t="t" r="r" b="b"/>
              <a:pathLst>
                <a:path w="2538729" h="1826260">
                  <a:moveTo>
                    <a:pt x="2538222" y="1819910"/>
                  </a:moveTo>
                  <a:lnTo>
                    <a:pt x="2525661" y="1805178"/>
                  </a:lnTo>
                  <a:lnTo>
                    <a:pt x="2476119" y="1747012"/>
                  </a:lnTo>
                  <a:lnTo>
                    <a:pt x="2464943" y="1773288"/>
                  </a:lnTo>
                  <a:lnTo>
                    <a:pt x="49555" y="746785"/>
                  </a:lnTo>
                  <a:lnTo>
                    <a:pt x="1554060" y="51854"/>
                  </a:lnTo>
                  <a:lnTo>
                    <a:pt x="1566037" y="77724"/>
                  </a:lnTo>
                  <a:lnTo>
                    <a:pt x="1612239" y="19939"/>
                  </a:lnTo>
                  <a:lnTo>
                    <a:pt x="1625854" y="2921"/>
                  </a:lnTo>
                  <a:lnTo>
                    <a:pt x="1530096" y="0"/>
                  </a:lnTo>
                  <a:lnTo>
                    <a:pt x="1542084" y="25958"/>
                  </a:lnTo>
                  <a:lnTo>
                    <a:pt x="14122" y="731735"/>
                  </a:lnTo>
                  <a:lnTo>
                    <a:pt x="11557" y="730631"/>
                  </a:lnTo>
                  <a:lnTo>
                    <a:pt x="10337" y="733475"/>
                  </a:lnTo>
                  <a:lnTo>
                    <a:pt x="0" y="738251"/>
                  </a:lnTo>
                  <a:lnTo>
                    <a:pt x="4318" y="747649"/>
                  </a:lnTo>
                  <a:lnTo>
                    <a:pt x="381" y="756920"/>
                  </a:lnTo>
                  <a:lnTo>
                    <a:pt x="10591" y="761276"/>
                  </a:lnTo>
                  <a:lnTo>
                    <a:pt x="11938" y="764159"/>
                  </a:lnTo>
                  <a:lnTo>
                    <a:pt x="14554" y="762952"/>
                  </a:lnTo>
                  <a:lnTo>
                    <a:pt x="2453767" y="1799577"/>
                  </a:lnTo>
                  <a:lnTo>
                    <a:pt x="2442591" y="1825879"/>
                  </a:lnTo>
                  <a:lnTo>
                    <a:pt x="2538222" y="18199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93390" y="1655432"/>
              <a:ext cx="1458031" cy="548779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6514845" y="1849564"/>
            <a:ext cx="224472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0" dirty="0">
                <a:latin typeface="Calibri"/>
                <a:cs typeface="Calibri"/>
              </a:rPr>
              <a:t>Tokenizer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+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HashingTF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+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867437" y="1333304"/>
            <a:ext cx="2205946" cy="1384085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1424686" y="2853588"/>
            <a:ext cx="10645775" cy="2712085"/>
            <a:chOff x="1424686" y="2853588"/>
            <a:chExt cx="10645775" cy="2712085"/>
          </a:xfrm>
        </p:grpSpPr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41060" y="2877763"/>
              <a:ext cx="4110379" cy="22982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72600" y="3329188"/>
              <a:ext cx="2697479" cy="2236324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431036" y="4202683"/>
              <a:ext cx="822960" cy="448309"/>
            </a:xfrm>
            <a:custGeom>
              <a:avLst/>
              <a:gdLst/>
              <a:ahLst/>
              <a:cxnLst/>
              <a:rect l="l" t="t" r="r" b="b"/>
              <a:pathLst>
                <a:path w="822960" h="448310">
                  <a:moveTo>
                    <a:pt x="411480" y="0"/>
                  </a:moveTo>
                  <a:lnTo>
                    <a:pt x="0" y="224155"/>
                  </a:lnTo>
                  <a:lnTo>
                    <a:pt x="205739" y="224155"/>
                  </a:lnTo>
                  <a:lnTo>
                    <a:pt x="205739" y="448183"/>
                  </a:lnTo>
                  <a:lnTo>
                    <a:pt x="617219" y="448183"/>
                  </a:lnTo>
                  <a:lnTo>
                    <a:pt x="617219" y="224155"/>
                  </a:lnTo>
                  <a:lnTo>
                    <a:pt x="822959" y="224155"/>
                  </a:lnTo>
                  <a:lnTo>
                    <a:pt x="411480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431036" y="4202683"/>
              <a:ext cx="822960" cy="448309"/>
            </a:xfrm>
            <a:custGeom>
              <a:avLst/>
              <a:gdLst/>
              <a:ahLst/>
              <a:cxnLst/>
              <a:rect l="l" t="t" r="r" b="b"/>
              <a:pathLst>
                <a:path w="822960" h="448310">
                  <a:moveTo>
                    <a:pt x="205739" y="448183"/>
                  </a:moveTo>
                  <a:lnTo>
                    <a:pt x="205739" y="224155"/>
                  </a:lnTo>
                  <a:lnTo>
                    <a:pt x="0" y="224155"/>
                  </a:lnTo>
                  <a:lnTo>
                    <a:pt x="411480" y="0"/>
                  </a:lnTo>
                  <a:lnTo>
                    <a:pt x="822959" y="224155"/>
                  </a:lnTo>
                  <a:lnTo>
                    <a:pt x="617219" y="224155"/>
                  </a:lnTo>
                  <a:lnTo>
                    <a:pt x="617219" y="448183"/>
                  </a:lnTo>
                  <a:lnTo>
                    <a:pt x="205739" y="448183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431036" y="3041142"/>
              <a:ext cx="822960" cy="448309"/>
            </a:xfrm>
            <a:custGeom>
              <a:avLst/>
              <a:gdLst/>
              <a:ahLst/>
              <a:cxnLst/>
              <a:rect l="l" t="t" r="r" b="b"/>
              <a:pathLst>
                <a:path w="822960" h="448310">
                  <a:moveTo>
                    <a:pt x="411480" y="0"/>
                  </a:moveTo>
                  <a:lnTo>
                    <a:pt x="0" y="224028"/>
                  </a:lnTo>
                  <a:lnTo>
                    <a:pt x="205739" y="224028"/>
                  </a:lnTo>
                  <a:lnTo>
                    <a:pt x="205739" y="448183"/>
                  </a:lnTo>
                  <a:lnTo>
                    <a:pt x="617219" y="448183"/>
                  </a:lnTo>
                  <a:lnTo>
                    <a:pt x="617219" y="224028"/>
                  </a:lnTo>
                  <a:lnTo>
                    <a:pt x="822959" y="224028"/>
                  </a:lnTo>
                  <a:lnTo>
                    <a:pt x="411480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431036" y="3041142"/>
              <a:ext cx="822960" cy="448309"/>
            </a:xfrm>
            <a:custGeom>
              <a:avLst/>
              <a:gdLst/>
              <a:ahLst/>
              <a:cxnLst/>
              <a:rect l="l" t="t" r="r" b="b"/>
              <a:pathLst>
                <a:path w="822960" h="448310">
                  <a:moveTo>
                    <a:pt x="205739" y="448183"/>
                  </a:moveTo>
                  <a:lnTo>
                    <a:pt x="205739" y="224028"/>
                  </a:lnTo>
                  <a:lnTo>
                    <a:pt x="0" y="224028"/>
                  </a:lnTo>
                  <a:lnTo>
                    <a:pt x="411480" y="0"/>
                  </a:lnTo>
                  <a:lnTo>
                    <a:pt x="822959" y="224028"/>
                  </a:lnTo>
                  <a:lnTo>
                    <a:pt x="617219" y="224028"/>
                  </a:lnTo>
                  <a:lnTo>
                    <a:pt x="617219" y="448183"/>
                  </a:lnTo>
                  <a:lnTo>
                    <a:pt x="205739" y="448183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095744" y="2853588"/>
              <a:ext cx="4919980" cy="402590"/>
            </a:xfrm>
            <a:custGeom>
              <a:avLst/>
              <a:gdLst/>
              <a:ahLst/>
              <a:cxnLst/>
              <a:rect l="l" t="t" r="r" b="b"/>
              <a:pathLst>
                <a:path w="4919980" h="402589">
                  <a:moveTo>
                    <a:pt x="4919472" y="0"/>
                  </a:moveTo>
                  <a:lnTo>
                    <a:pt x="0" y="0"/>
                  </a:lnTo>
                  <a:lnTo>
                    <a:pt x="0" y="402437"/>
                  </a:lnTo>
                  <a:lnTo>
                    <a:pt x="4919472" y="402437"/>
                  </a:lnTo>
                  <a:lnTo>
                    <a:pt x="4919472" y="0"/>
                  </a:lnTo>
                  <a:close/>
                </a:path>
              </a:pathLst>
            </a:custGeom>
            <a:solidFill>
              <a:srgbClr val="FFFFFF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6065901" y="3543998"/>
            <a:ext cx="3031490" cy="5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Дедупликация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на тех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же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фичах </a:t>
            </a:r>
            <a:r>
              <a:rPr sz="1800" dirty="0">
                <a:latin typeface="Calibri"/>
                <a:cs typeface="Calibri"/>
              </a:rPr>
              <a:t>через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MinHashLSH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(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-</a:t>
            </a:r>
            <a:r>
              <a:rPr sz="1800" spc="-20" dirty="0">
                <a:solidFill>
                  <a:srgbClr val="FF0000"/>
                </a:solidFill>
                <a:latin typeface="Calibri"/>
                <a:cs typeface="Calibri"/>
              </a:rPr>
              <a:t>10%</a:t>
            </a:r>
            <a:r>
              <a:rPr sz="1800" spc="-20" dirty="0">
                <a:latin typeface="Calibri"/>
                <a:cs typeface="Calibri"/>
              </a:rPr>
              <a:t>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355847" y="1252982"/>
            <a:ext cx="8065134" cy="1509395"/>
          </a:xfrm>
          <a:custGeom>
            <a:avLst/>
            <a:gdLst/>
            <a:ahLst/>
            <a:cxnLst/>
            <a:rect l="l" t="t" r="r" b="b"/>
            <a:pathLst>
              <a:path w="8065134" h="1509395">
                <a:moveTo>
                  <a:pt x="8065008" y="0"/>
                </a:moveTo>
                <a:lnTo>
                  <a:pt x="0" y="0"/>
                </a:lnTo>
                <a:lnTo>
                  <a:pt x="0" y="1509140"/>
                </a:lnTo>
                <a:lnTo>
                  <a:pt x="8065008" y="1509140"/>
                </a:lnTo>
                <a:lnTo>
                  <a:pt x="8065008" y="0"/>
                </a:lnTo>
                <a:close/>
              </a:path>
            </a:pathLst>
          </a:custGeom>
          <a:solidFill>
            <a:srgbClr val="FFFFFF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460" y="314241"/>
            <a:ext cx="5337810" cy="1393190"/>
          </a:xfrm>
          <a:prstGeom prst="rect">
            <a:avLst/>
          </a:prstGeom>
        </p:spPr>
        <p:txBody>
          <a:bodyPr vert="horz" wrap="square" lIns="0" tIns="3117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55"/>
              </a:spcBef>
            </a:pPr>
            <a:r>
              <a:rPr dirty="0"/>
              <a:t>И</a:t>
            </a:r>
            <a:r>
              <a:rPr spc="-55" dirty="0"/>
              <a:t> </a:t>
            </a:r>
            <a:r>
              <a:rPr dirty="0"/>
              <a:t>снова</a:t>
            </a:r>
            <a:r>
              <a:rPr spc="-55" dirty="0"/>
              <a:t> </a:t>
            </a:r>
            <a:r>
              <a:rPr dirty="0"/>
              <a:t>про</a:t>
            </a:r>
            <a:r>
              <a:rPr spc="-55" dirty="0"/>
              <a:t> </a:t>
            </a:r>
            <a:r>
              <a:rPr spc="-10" dirty="0"/>
              <a:t>внимание</a:t>
            </a:r>
          </a:p>
          <a:p>
            <a:pPr marL="826769">
              <a:lnSpc>
                <a:spcPct val="100000"/>
              </a:lnSpc>
              <a:spcBef>
                <a:spcPts val="969"/>
              </a:spcBef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Dense</a:t>
            </a:r>
            <a:r>
              <a:rPr sz="18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attention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map: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9117" y="1752442"/>
            <a:ext cx="3370977" cy="315475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460" y="314241"/>
            <a:ext cx="5337810" cy="1393190"/>
          </a:xfrm>
          <a:prstGeom prst="rect">
            <a:avLst/>
          </a:prstGeom>
        </p:spPr>
        <p:txBody>
          <a:bodyPr vert="horz" wrap="square" lIns="0" tIns="3117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55"/>
              </a:spcBef>
            </a:pPr>
            <a:r>
              <a:rPr dirty="0"/>
              <a:t>И</a:t>
            </a:r>
            <a:r>
              <a:rPr spc="-55" dirty="0"/>
              <a:t> </a:t>
            </a:r>
            <a:r>
              <a:rPr dirty="0"/>
              <a:t>снова</a:t>
            </a:r>
            <a:r>
              <a:rPr spc="-55" dirty="0"/>
              <a:t> </a:t>
            </a:r>
            <a:r>
              <a:rPr dirty="0"/>
              <a:t>про</a:t>
            </a:r>
            <a:r>
              <a:rPr spc="-55" dirty="0"/>
              <a:t> </a:t>
            </a:r>
            <a:r>
              <a:rPr spc="-10" dirty="0"/>
              <a:t>внимание</a:t>
            </a:r>
          </a:p>
          <a:p>
            <a:pPr marL="826769">
              <a:lnSpc>
                <a:spcPct val="100000"/>
              </a:lnSpc>
              <a:spcBef>
                <a:spcPts val="969"/>
              </a:spcBef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Dense</a:t>
            </a:r>
            <a:r>
              <a:rPr sz="18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attention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map: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9117" y="1752442"/>
            <a:ext cx="3370977" cy="315475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3778" y="5733863"/>
            <a:ext cx="4251642" cy="89321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460" y="314241"/>
            <a:ext cx="5337810" cy="1393190"/>
          </a:xfrm>
          <a:prstGeom prst="rect">
            <a:avLst/>
          </a:prstGeom>
        </p:spPr>
        <p:txBody>
          <a:bodyPr vert="horz" wrap="square" lIns="0" tIns="3117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55"/>
              </a:spcBef>
            </a:pPr>
            <a:r>
              <a:rPr dirty="0"/>
              <a:t>И</a:t>
            </a:r>
            <a:r>
              <a:rPr spc="-55" dirty="0"/>
              <a:t> </a:t>
            </a:r>
            <a:r>
              <a:rPr dirty="0"/>
              <a:t>снова</a:t>
            </a:r>
            <a:r>
              <a:rPr spc="-55" dirty="0"/>
              <a:t> </a:t>
            </a:r>
            <a:r>
              <a:rPr dirty="0"/>
              <a:t>про</a:t>
            </a:r>
            <a:r>
              <a:rPr spc="-55" dirty="0"/>
              <a:t> </a:t>
            </a:r>
            <a:r>
              <a:rPr spc="-10" dirty="0"/>
              <a:t>внимание</a:t>
            </a:r>
          </a:p>
          <a:p>
            <a:pPr marL="826769">
              <a:lnSpc>
                <a:spcPct val="100000"/>
              </a:lnSpc>
              <a:spcBef>
                <a:spcPts val="969"/>
              </a:spcBef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Dense</a:t>
            </a:r>
            <a:r>
              <a:rPr sz="18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attention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map: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9117" y="1752442"/>
            <a:ext cx="3370977" cy="315475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3778" y="5733863"/>
            <a:ext cx="4251642" cy="89321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990338" y="6065532"/>
            <a:ext cx="1824989" cy="560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05"/>
              </a:lnSpc>
              <a:spcBef>
                <a:spcPts val="100"/>
              </a:spcBef>
              <a:tabLst>
                <a:tab pos="1228090" algn="l"/>
              </a:tabLst>
            </a:pPr>
            <a:r>
              <a:rPr sz="1800" spc="-10" dirty="0">
                <a:latin typeface="Calibri"/>
                <a:cs typeface="Calibri"/>
              </a:rPr>
              <a:t>ожидание: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20" dirty="0">
                <a:latin typeface="Calibri"/>
                <a:cs typeface="Calibri"/>
              </a:rPr>
              <a:t>12288</a:t>
            </a:r>
            <a:endParaRPr sz="1800">
              <a:latin typeface="Calibri"/>
              <a:cs typeface="Calibri"/>
            </a:endParaRPr>
          </a:p>
          <a:p>
            <a:pPr marL="14604">
              <a:lnSpc>
                <a:spcPts val="2105"/>
              </a:lnSpc>
            </a:pPr>
            <a:r>
              <a:rPr sz="1800" dirty="0">
                <a:latin typeface="Calibri"/>
                <a:cs typeface="Calibri"/>
              </a:rPr>
              <a:t>реальность: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128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819182" y="6160023"/>
            <a:ext cx="136865" cy="19664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819182" y="6416119"/>
            <a:ext cx="136865" cy="196641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8940">
              <a:lnSpc>
                <a:spcPct val="100000"/>
              </a:lnSpc>
              <a:spcBef>
                <a:spcPts val="100"/>
              </a:spcBef>
            </a:pPr>
            <a:r>
              <a:rPr dirty="0"/>
              <a:t>И</a:t>
            </a:r>
            <a:r>
              <a:rPr spc="-55" dirty="0"/>
              <a:t> </a:t>
            </a:r>
            <a:r>
              <a:rPr dirty="0"/>
              <a:t>снова</a:t>
            </a:r>
            <a:r>
              <a:rPr spc="-55" dirty="0"/>
              <a:t> </a:t>
            </a:r>
            <a:r>
              <a:rPr dirty="0"/>
              <a:t>про</a:t>
            </a:r>
            <a:r>
              <a:rPr spc="-55" dirty="0"/>
              <a:t> </a:t>
            </a:r>
            <a:r>
              <a:rPr spc="-10" dirty="0"/>
              <a:t>внимание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9117" y="1752442"/>
            <a:ext cx="3370977" cy="315475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3778" y="5733863"/>
            <a:ext cx="4251642" cy="89321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990338" y="6065532"/>
            <a:ext cx="1824989" cy="560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05"/>
              </a:lnSpc>
              <a:spcBef>
                <a:spcPts val="100"/>
              </a:spcBef>
              <a:tabLst>
                <a:tab pos="1228090" algn="l"/>
              </a:tabLst>
            </a:pPr>
            <a:r>
              <a:rPr sz="1800" spc="-10" dirty="0">
                <a:latin typeface="Calibri"/>
                <a:cs typeface="Calibri"/>
              </a:rPr>
              <a:t>ожидание: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20" dirty="0">
                <a:latin typeface="Calibri"/>
                <a:cs typeface="Calibri"/>
              </a:rPr>
              <a:t>12288</a:t>
            </a:r>
            <a:endParaRPr sz="1800">
              <a:latin typeface="Calibri"/>
              <a:cs typeface="Calibri"/>
            </a:endParaRPr>
          </a:p>
          <a:p>
            <a:pPr marL="14604">
              <a:lnSpc>
                <a:spcPts val="2105"/>
              </a:lnSpc>
            </a:pPr>
            <a:r>
              <a:rPr sz="1800" dirty="0">
                <a:latin typeface="Calibri"/>
                <a:cs typeface="Calibri"/>
              </a:rPr>
              <a:t>реальность: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128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819182" y="6160023"/>
            <a:ext cx="136865" cy="19664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819182" y="6416119"/>
            <a:ext cx="136865" cy="19664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402328" y="1354772"/>
            <a:ext cx="4995545" cy="5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Решение: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перейдём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к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sparse</a:t>
            </a:r>
            <a:r>
              <a:rPr sz="18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attention</a:t>
            </a:r>
            <a:endParaRPr sz="1800">
              <a:latin typeface="Calibri"/>
              <a:cs typeface="Calibri"/>
            </a:endParaRPr>
          </a:p>
          <a:p>
            <a:pPr marL="297815" indent="-28511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7815" algn="l"/>
              </a:tabLst>
            </a:pPr>
            <a:r>
              <a:rPr sz="1800" spc="-10" dirty="0">
                <a:latin typeface="Calibri"/>
                <a:cs typeface="Calibri"/>
              </a:rPr>
              <a:t>проанализируем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паттерны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в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обученной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модели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31898" y="1407096"/>
            <a:ext cx="2044064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Dense</a:t>
            </a:r>
            <a:r>
              <a:rPr sz="18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attention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map: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76072" y="1390269"/>
            <a:ext cx="3804285" cy="3768725"/>
          </a:xfrm>
          <a:custGeom>
            <a:avLst/>
            <a:gdLst/>
            <a:ahLst/>
            <a:cxnLst/>
            <a:rect l="l" t="t" r="r" b="b"/>
            <a:pathLst>
              <a:path w="3804285" h="3768725">
                <a:moveTo>
                  <a:pt x="3803904" y="0"/>
                </a:moveTo>
                <a:lnTo>
                  <a:pt x="0" y="0"/>
                </a:lnTo>
                <a:lnTo>
                  <a:pt x="0" y="3768216"/>
                </a:lnTo>
                <a:lnTo>
                  <a:pt x="3803904" y="3768216"/>
                </a:lnTo>
                <a:lnTo>
                  <a:pt x="3803904" y="0"/>
                </a:lnTo>
                <a:close/>
              </a:path>
            </a:pathLst>
          </a:custGeom>
          <a:solidFill>
            <a:srgbClr val="FFFFFF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65175" y="5551798"/>
            <a:ext cx="6638925" cy="1180465"/>
          </a:xfrm>
          <a:custGeom>
            <a:avLst/>
            <a:gdLst/>
            <a:ahLst/>
            <a:cxnLst/>
            <a:rect l="l" t="t" r="r" b="b"/>
            <a:pathLst>
              <a:path w="6638925" h="1180465">
                <a:moveTo>
                  <a:pt x="6638544" y="0"/>
                </a:moveTo>
                <a:lnTo>
                  <a:pt x="0" y="0"/>
                </a:lnTo>
                <a:lnTo>
                  <a:pt x="0" y="1179868"/>
                </a:lnTo>
                <a:lnTo>
                  <a:pt x="6638544" y="1179868"/>
                </a:lnTo>
                <a:lnTo>
                  <a:pt x="6638544" y="0"/>
                </a:lnTo>
                <a:close/>
              </a:path>
            </a:pathLst>
          </a:custGeom>
          <a:solidFill>
            <a:srgbClr val="FFFFFF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8940">
              <a:lnSpc>
                <a:spcPct val="100000"/>
              </a:lnSpc>
              <a:spcBef>
                <a:spcPts val="100"/>
              </a:spcBef>
            </a:pPr>
            <a:r>
              <a:rPr dirty="0"/>
              <a:t>И</a:t>
            </a:r>
            <a:r>
              <a:rPr spc="-55" dirty="0"/>
              <a:t> </a:t>
            </a:r>
            <a:r>
              <a:rPr dirty="0"/>
              <a:t>снова</a:t>
            </a:r>
            <a:r>
              <a:rPr spc="-55" dirty="0"/>
              <a:t> </a:t>
            </a:r>
            <a:r>
              <a:rPr dirty="0"/>
              <a:t>про</a:t>
            </a:r>
            <a:r>
              <a:rPr spc="-55" dirty="0"/>
              <a:t> </a:t>
            </a:r>
            <a:r>
              <a:rPr spc="-10" dirty="0"/>
              <a:t>внимание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9117" y="1752442"/>
            <a:ext cx="3370977" cy="315475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3778" y="5733863"/>
            <a:ext cx="4251642" cy="89321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990338" y="6065532"/>
            <a:ext cx="1824989" cy="560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05"/>
              </a:lnSpc>
              <a:spcBef>
                <a:spcPts val="100"/>
              </a:spcBef>
              <a:tabLst>
                <a:tab pos="1228090" algn="l"/>
              </a:tabLst>
            </a:pPr>
            <a:r>
              <a:rPr sz="1800" spc="-10" dirty="0">
                <a:latin typeface="Calibri"/>
                <a:cs typeface="Calibri"/>
              </a:rPr>
              <a:t>ожидание: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20" dirty="0">
                <a:latin typeface="Calibri"/>
                <a:cs typeface="Calibri"/>
              </a:rPr>
              <a:t>12288</a:t>
            </a:r>
            <a:endParaRPr sz="1800">
              <a:latin typeface="Calibri"/>
              <a:cs typeface="Calibri"/>
            </a:endParaRPr>
          </a:p>
          <a:p>
            <a:pPr marL="14604">
              <a:lnSpc>
                <a:spcPts val="2105"/>
              </a:lnSpc>
            </a:pPr>
            <a:r>
              <a:rPr sz="1800" dirty="0">
                <a:latin typeface="Calibri"/>
                <a:cs typeface="Calibri"/>
              </a:rPr>
              <a:t>реальность: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128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819182" y="6160023"/>
            <a:ext cx="136865" cy="19664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819182" y="6416119"/>
            <a:ext cx="136865" cy="19664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379976" y="1354772"/>
            <a:ext cx="503872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92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Решение: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перейдём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к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sparse</a:t>
            </a:r>
            <a:r>
              <a:rPr sz="18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attention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02328" y="1629473"/>
            <a:ext cx="4995545" cy="1399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7815" algn="l"/>
              </a:tabLst>
            </a:pPr>
            <a:r>
              <a:rPr sz="1800" spc="-10" dirty="0">
                <a:latin typeface="Calibri"/>
                <a:cs typeface="Calibri"/>
              </a:rPr>
              <a:t>проанализируем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паттерны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в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обученной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модели</a:t>
            </a:r>
            <a:endParaRPr sz="1800">
              <a:latin typeface="Calibri"/>
              <a:cs typeface="Calibri"/>
            </a:endParaRPr>
          </a:p>
          <a:p>
            <a:pPr marL="297815" indent="-28511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7815" algn="l"/>
                <a:tab pos="2118995" algn="l"/>
              </a:tabLst>
            </a:pPr>
            <a:r>
              <a:rPr sz="1800" spc="-10" dirty="0">
                <a:latin typeface="Calibri"/>
                <a:cs typeface="Calibri"/>
              </a:rPr>
              <a:t>факторизуем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на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10" dirty="0">
                <a:latin typeface="Calibri"/>
                <a:cs typeface="Calibri"/>
              </a:rPr>
              <a:t>компонент</a:t>
            </a:r>
            <a:endParaRPr sz="1800">
              <a:latin typeface="Calibri"/>
              <a:cs typeface="Calibri"/>
            </a:endParaRPr>
          </a:p>
          <a:p>
            <a:pPr marL="297815" indent="-28511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7815" algn="l"/>
                <a:tab pos="871219" algn="l"/>
              </a:tabLst>
            </a:pPr>
            <a:r>
              <a:rPr sz="1800" spc="-25" dirty="0">
                <a:latin typeface="Calibri"/>
                <a:cs typeface="Calibri"/>
              </a:rPr>
              <a:t>при</a:t>
            </a:r>
            <a:r>
              <a:rPr sz="1800" dirty="0">
                <a:latin typeface="Calibri"/>
                <a:cs typeface="Calibri"/>
              </a:rPr>
              <a:t>	=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2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введём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следующую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логику:</a:t>
            </a:r>
            <a:endParaRPr sz="1800">
              <a:latin typeface="Calibri"/>
              <a:cs typeface="Calibri"/>
            </a:endParaRPr>
          </a:p>
          <a:p>
            <a:pPr marL="754380" lvl="1" indent="-284480">
              <a:lnSpc>
                <a:spcPct val="100000"/>
              </a:lnSpc>
              <a:buFont typeface="Courier New"/>
              <a:buChar char="o"/>
              <a:tabLst>
                <a:tab pos="754380" algn="l"/>
              </a:tabLst>
            </a:pPr>
            <a:r>
              <a:rPr sz="1800" dirty="0">
                <a:latin typeface="Calibri"/>
                <a:cs typeface="Calibri"/>
              </a:rPr>
              <a:t>один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фактор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отвечает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за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local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фичи</a:t>
            </a:r>
            <a:endParaRPr sz="1800">
              <a:latin typeface="Calibri"/>
              <a:cs typeface="Calibri"/>
            </a:endParaRPr>
          </a:p>
          <a:p>
            <a:pPr marL="754380" lvl="1" indent="-284480">
              <a:lnSpc>
                <a:spcPct val="100000"/>
              </a:lnSpc>
              <a:spcBef>
                <a:spcPts val="5"/>
              </a:spcBef>
              <a:buFont typeface="Courier New"/>
              <a:buChar char="o"/>
              <a:tabLst>
                <a:tab pos="754380" algn="l"/>
              </a:tabLst>
            </a:pPr>
            <a:r>
              <a:rPr sz="1800" dirty="0">
                <a:latin typeface="Calibri"/>
                <a:cs typeface="Calibri"/>
              </a:rPr>
              <a:t>второй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—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за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global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31898" y="1407096"/>
            <a:ext cx="2044064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Dense</a:t>
            </a:r>
            <a:r>
              <a:rPr sz="18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attention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map: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76072" y="1390269"/>
            <a:ext cx="8842375" cy="3768725"/>
            <a:chOff x="576072" y="1390269"/>
            <a:chExt cx="8842375" cy="3768725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63639" y="1957247"/>
              <a:ext cx="201167" cy="301828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56631" y="2213406"/>
              <a:ext cx="201167" cy="31097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76072" y="1390268"/>
              <a:ext cx="8842375" cy="3768725"/>
            </a:xfrm>
            <a:custGeom>
              <a:avLst/>
              <a:gdLst/>
              <a:ahLst/>
              <a:cxnLst/>
              <a:rect l="l" t="t" r="r" b="b"/>
              <a:pathLst>
                <a:path w="8842375" h="3768725">
                  <a:moveTo>
                    <a:pt x="8842248" y="301815"/>
                  </a:moveTo>
                  <a:lnTo>
                    <a:pt x="3803904" y="301815"/>
                  </a:lnTo>
                  <a:lnTo>
                    <a:pt x="3803904" y="0"/>
                  </a:lnTo>
                  <a:lnTo>
                    <a:pt x="0" y="0"/>
                  </a:lnTo>
                  <a:lnTo>
                    <a:pt x="0" y="3768217"/>
                  </a:lnTo>
                  <a:lnTo>
                    <a:pt x="3803904" y="3768217"/>
                  </a:lnTo>
                  <a:lnTo>
                    <a:pt x="3803904" y="557911"/>
                  </a:lnTo>
                  <a:lnTo>
                    <a:pt x="8842248" y="557911"/>
                  </a:lnTo>
                  <a:lnTo>
                    <a:pt x="8842248" y="301815"/>
                  </a:lnTo>
                  <a:close/>
                </a:path>
              </a:pathLst>
            </a:custGeom>
            <a:solidFill>
              <a:srgbClr val="FFFFFF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/>
          <p:nvPr/>
        </p:nvSpPr>
        <p:spPr>
          <a:xfrm>
            <a:off x="265175" y="5551798"/>
            <a:ext cx="6638925" cy="1180465"/>
          </a:xfrm>
          <a:custGeom>
            <a:avLst/>
            <a:gdLst/>
            <a:ahLst/>
            <a:cxnLst/>
            <a:rect l="l" t="t" r="r" b="b"/>
            <a:pathLst>
              <a:path w="6638925" h="1180465">
                <a:moveTo>
                  <a:pt x="6638544" y="0"/>
                </a:moveTo>
                <a:lnTo>
                  <a:pt x="0" y="0"/>
                </a:lnTo>
                <a:lnTo>
                  <a:pt x="0" y="1179868"/>
                </a:lnTo>
                <a:lnTo>
                  <a:pt x="6638544" y="1179868"/>
                </a:lnTo>
                <a:lnTo>
                  <a:pt x="6638544" y="0"/>
                </a:lnTo>
                <a:close/>
              </a:path>
            </a:pathLst>
          </a:custGeom>
          <a:solidFill>
            <a:srgbClr val="FFFFFF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8940">
              <a:lnSpc>
                <a:spcPct val="100000"/>
              </a:lnSpc>
              <a:spcBef>
                <a:spcPts val="100"/>
              </a:spcBef>
            </a:pPr>
            <a:r>
              <a:rPr dirty="0"/>
              <a:t>И</a:t>
            </a:r>
            <a:r>
              <a:rPr spc="-55" dirty="0"/>
              <a:t> </a:t>
            </a:r>
            <a:r>
              <a:rPr dirty="0"/>
              <a:t>снова</a:t>
            </a:r>
            <a:r>
              <a:rPr spc="-55" dirty="0"/>
              <a:t> </a:t>
            </a:r>
            <a:r>
              <a:rPr dirty="0"/>
              <a:t>про</a:t>
            </a:r>
            <a:r>
              <a:rPr spc="-55" dirty="0"/>
              <a:t> </a:t>
            </a:r>
            <a:r>
              <a:rPr spc="-10" dirty="0"/>
              <a:t>внимание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9117" y="1752442"/>
            <a:ext cx="3370977" cy="315475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3778" y="5733863"/>
            <a:ext cx="4251642" cy="89321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990338" y="6065532"/>
            <a:ext cx="1824989" cy="560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05"/>
              </a:lnSpc>
              <a:spcBef>
                <a:spcPts val="100"/>
              </a:spcBef>
              <a:tabLst>
                <a:tab pos="1228090" algn="l"/>
              </a:tabLst>
            </a:pPr>
            <a:r>
              <a:rPr sz="1800" spc="-10" dirty="0">
                <a:latin typeface="Calibri"/>
                <a:cs typeface="Calibri"/>
              </a:rPr>
              <a:t>ожидание: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20" dirty="0">
                <a:latin typeface="Calibri"/>
                <a:cs typeface="Calibri"/>
              </a:rPr>
              <a:t>12288</a:t>
            </a:r>
            <a:endParaRPr sz="1800">
              <a:latin typeface="Calibri"/>
              <a:cs typeface="Calibri"/>
            </a:endParaRPr>
          </a:p>
          <a:p>
            <a:pPr marL="14604">
              <a:lnSpc>
                <a:spcPts val="2105"/>
              </a:lnSpc>
            </a:pPr>
            <a:r>
              <a:rPr sz="1800" dirty="0">
                <a:latin typeface="Calibri"/>
                <a:cs typeface="Calibri"/>
              </a:rPr>
              <a:t>реальность: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128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819182" y="6160023"/>
            <a:ext cx="136865" cy="19664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819182" y="6416119"/>
            <a:ext cx="136865" cy="19664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379976" y="1354772"/>
            <a:ext cx="503872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92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Решение: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перейдём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к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sparse</a:t>
            </a:r>
            <a:r>
              <a:rPr sz="18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attention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379976" y="1629473"/>
            <a:ext cx="5038725" cy="1399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0040" indent="-28511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20040" algn="l"/>
              </a:tabLst>
            </a:pPr>
            <a:r>
              <a:rPr sz="1800" spc="-10" dirty="0">
                <a:latin typeface="Calibri"/>
                <a:cs typeface="Calibri"/>
              </a:rPr>
              <a:t>проанализируем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паттерны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в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обученной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модели</a:t>
            </a:r>
            <a:endParaRPr sz="1800" dirty="0">
              <a:latin typeface="Calibri"/>
              <a:cs typeface="Calibri"/>
            </a:endParaRPr>
          </a:p>
          <a:p>
            <a:pPr marL="320040" indent="-28511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20040" algn="l"/>
                <a:tab pos="2141220" algn="l"/>
              </a:tabLst>
            </a:pPr>
            <a:r>
              <a:rPr sz="1800" spc="-10" dirty="0">
                <a:latin typeface="Calibri"/>
                <a:cs typeface="Calibri"/>
              </a:rPr>
              <a:t>факторизуем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на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10" dirty="0">
                <a:latin typeface="Calibri"/>
                <a:cs typeface="Calibri"/>
              </a:rPr>
              <a:t>компонент</a:t>
            </a:r>
            <a:endParaRPr sz="1800" dirty="0">
              <a:latin typeface="Calibri"/>
              <a:cs typeface="Calibri"/>
            </a:endParaRPr>
          </a:p>
          <a:p>
            <a:pPr marL="320040" indent="-28511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20040" algn="l"/>
                <a:tab pos="894080" algn="l"/>
              </a:tabLst>
            </a:pPr>
            <a:r>
              <a:rPr sz="1800" spc="-25" dirty="0">
                <a:latin typeface="Calibri"/>
                <a:cs typeface="Calibri"/>
              </a:rPr>
              <a:t>при</a:t>
            </a:r>
            <a:r>
              <a:rPr sz="1800" dirty="0">
                <a:latin typeface="Calibri"/>
                <a:cs typeface="Calibri"/>
              </a:rPr>
              <a:t>	=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2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введём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следующую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логику:</a:t>
            </a:r>
            <a:endParaRPr sz="1800" dirty="0">
              <a:latin typeface="Calibri"/>
              <a:cs typeface="Calibri"/>
            </a:endParaRPr>
          </a:p>
          <a:p>
            <a:pPr marL="776605" lvl="1" indent="-284480">
              <a:lnSpc>
                <a:spcPct val="100000"/>
              </a:lnSpc>
              <a:buFont typeface="Courier New"/>
              <a:buChar char="o"/>
              <a:tabLst>
                <a:tab pos="776605" algn="l"/>
              </a:tabLst>
            </a:pPr>
            <a:r>
              <a:rPr sz="1800" dirty="0">
                <a:latin typeface="Calibri"/>
                <a:cs typeface="Calibri"/>
              </a:rPr>
              <a:t>один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фактор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отвечает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за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local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фичи</a:t>
            </a:r>
            <a:endParaRPr sz="1800" dirty="0">
              <a:latin typeface="Calibri"/>
              <a:cs typeface="Calibri"/>
            </a:endParaRPr>
          </a:p>
          <a:p>
            <a:pPr marL="776605" lvl="1" indent="-284480">
              <a:lnSpc>
                <a:spcPct val="100000"/>
              </a:lnSpc>
              <a:spcBef>
                <a:spcPts val="5"/>
              </a:spcBef>
              <a:buFont typeface="Courier New"/>
              <a:buChar char="o"/>
              <a:tabLst>
                <a:tab pos="776605" algn="l"/>
              </a:tabLst>
            </a:pPr>
            <a:r>
              <a:rPr sz="1800" dirty="0">
                <a:latin typeface="Calibri"/>
                <a:cs typeface="Calibri"/>
              </a:rPr>
              <a:t>второй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—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за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global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31898" y="1407096"/>
            <a:ext cx="2044064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Dense</a:t>
            </a:r>
            <a:r>
              <a:rPr sz="18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attention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map: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949440" y="3493875"/>
            <a:ext cx="302260" cy="82550"/>
          </a:xfrm>
          <a:custGeom>
            <a:avLst/>
            <a:gdLst/>
            <a:ahLst/>
            <a:cxnLst/>
            <a:rect l="l" t="t" r="r" b="b"/>
            <a:pathLst>
              <a:path w="302259" h="82550">
                <a:moveTo>
                  <a:pt x="301751" y="0"/>
                </a:moveTo>
                <a:lnTo>
                  <a:pt x="0" y="0"/>
                </a:lnTo>
                <a:lnTo>
                  <a:pt x="0" y="82317"/>
                </a:lnTo>
                <a:lnTo>
                  <a:pt x="301751" y="82317"/>
                </a:lnTo>
                <a:lnTo>
                  <a:pt x="30175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" name="object 12"/>
          <p:cNvGrpSpPr/>
          <p:nvPr/>
        </p:nvGrpSpPr>
        <p:grpSpPr>
          <a:xfrm>
            <a:off x="576072" y="1390269"/>
            <a:ext cx="8842375" cy="3768725"/>
            <a:chOff x="576072" y="1390269"/>
            <a:chExt cx="8842375" cy="3768725"/>
          </a:xfrm>
        </p:grpSpPr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63639" y="1957247"/>
              <a:ext cx="201167" cy="30182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82312" y="3201530"/>
              <a:ext cx="2615184" cy="35510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768603" y="3596110"/>
              <a:ext cx="1978309" cy="26800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793992" y="3649413"/>
              <a:ext cx="1138427" cy="20579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56631" y="2213406"/>
              <a:ext cx="201167" cy="310972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576072" y="1390268"/>
              <a:ext cx="8842375" cy="3768725"/>
            </a:xfrm>
            <a:custGeom>
              <a:avLst/>
              <a:gdLst/>
              <a:ahLst/>
              <a:cxnLst/>
              <a:rect l="l" t="t" r="r" b="b"/>
              <a:pathLst>
                <a:path w="8842375" h="3768725">
                  <a:moveTo>
                    <a:pt x="8842248" y="310896"/>
                  </a:moveTo>
                  <a:lnTo>
                    <a:pt x="3803904" y="310896"/>
                  </a:lnTo>
                  <a:lnTo>
                    <a:pt x="3803904" y="0"/>
                  </a:lnTo>
                  <a:lnTo>
                    <a:pt x="0" y="0"/>
                  </a:lnTo>
                  <a:lnTo>
                    <a:pt x="0" y="3768217"/>
                  </a:lnTo>
                  <a:lnTo>
                    <a:pt x="3803904" y="3768217"/>
                  </a:lnTo>
                  <a:lnTo>
                    <a:pt x="3803904" y="823087"/>
                  </a:lnTo>
                  <a:lnTo>
                    <a:pt x="8842248" y="823087"/>
                  </a:lnTo>
                  <a:lnTo>
                    <a:pt x="8842248" y="310896"/>
                  </a:lnTo>
                  <a:close/>
                </a:path>
              </a:pathLst>
            </a:custGeom>
            <a:solidFill>
              <a:srgbClr val="FFFFFF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/>
          <p:nvPr/>
        </p:nvSpPr>
        <p:spPr>
          <a:xfrm>
            <a:off x="265175" y="5551798"/>
            <a:ext cx="6638925" cy="1180465"/>
          </a:xfrm>
          <a:custGeom>
            <a:avLst/>
            <a:gdLst/>
            <a:ahLst/>
            <a:cxnLst/>
            <a:rect l="l" t="t" r="r" b="b"/>
            <a:pathLst>
              <a:path w="6638925" h="1180465">
                <a:moveTo>
                  <a:pt x="6638544" y="0"/>
                </a:moveTo>
                <a:lnTo>
                  <a:pt x="0" y="0"/>
                </a:lnTo>
                <a:lnTo>
                  <a:pt x="0" y="1179868"/>
                </a:lnTo>
                <a:lnTo>
                  <a:pt x="6638544" y="1179868"/>
                </a:lnTo>
                <a:lnTo>
                  <a:pt x="6638544" y="0"/>
                </a:lnTo>
                <a:close/>
              </a:path>
            </a:pathLst>
          </a:custGeom>
          <a:solidFill>
            <a:srgbClr val="FFFFFF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1E4CD3A7-A070-4123-995F-44258D718EBE}"/>
              </a:ext>
            </a:extLst>
          </p:cNvPr>
          <p:cNvCxnSpPr/>
          <p:nvPr/>
        </p:nvCxnSpPr>
        <p:spPr>
          <a:xfrm flipH="1">
            <a:off x="4876800" y="3855207"/>
            <a:ext cx="685800" cy="4881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D24B3C78-C403-4465-AE1F-B7C6C9BA1EC7}"/>
              </a:ext>
            </a:extLst>
          </p:cNvPr>
          <p:cNvCxnSpPr>
            <a:cxnSpLocks/>
          </p:cNvCxnSpPr>
          <p:nvPr/>
        </p:nvCxnSpPr>
        <p:spPr>
          <a:xfrm flipH="1">
            <a:off x="4829720" y="3493875"/>
            <a:ext cx="693256" cy="8495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bject 9">
            <a:extLst>
              <a:ext uri="{FF2B5EF4-FFF2-40B4-BE49-F238E27FC236}">
                <a16:creationId xmlns:a16="http://schemas.microsoft.com/office/drawing/2014/main" id="{CDD9344B-D620-44A2-80CD-858296ADC767}"/>
              </a:ext>
            </a:extLst>
          </p:cNvPr>
          <p:cNvSpPr txBox="1"/>
          <p:nvPr/>
        </p:nvSpPr>
        <p:spPr>
          <a:xfrm>
            <a:off x="4644535" y="4343400"/>
            <a:ext cx="503872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925">
              <a:lnSpc>
                <a:spcPct val="100000"/>
              </a:lnSpc>
              <a:spcBef>
                <a:spcPts val="100"/>
              </a:spcBef>
              <a:tabLst>
                <a:tab pos="320040" algn="l"/>
              </a:tabLst>
            </a:pPr>
            <a:r>
              <a:rPr lang="ru-RU" spc="-10" dirty="0">
                <a:latin typeface="Calibri"/>
                <a:cs typeface="Calibri"/>
              </a:rPr>
              <a:t>токен, к которому мы считаем внимание</a:t>
            </a:r>
            <a:endParaRPr sz="1800" dirty="0">
              <a:latin typeface="Calibri"/>
              <a:cs typeface="Calibri"/>
            </a:endParaRPr>
          </a:p>
        </p:txBody>
      </p:sp>
      <p:cxnSp>
        <p:nvCxnSpPr>
          <p:cNvPr id="27" name="Прямая со стрелкой 26">
            <a:extLst>
              <a:ext uri="{FF2B5EF4-FFF2-40B4-BE49-F238E27FC236}">
                <a16:creationId xmlns:a16="http://schemas.microsoft.com/office/drawing/2014/main" id="{5B699D0E-C1D6-4CA7-913F-19D2A413AF96}"/>
              </a:ext>
            </a:extLst>
          </p:cNvPr>
          <p:cNvCxnSpPr/>
          <p:nvPr/>
        </p:nvCxnSpPr>
        <p:spPr>
          <a:xfrm flipV="1">
            <a:off x="6899338" y="3029013"/>
            <a:ext cx="1787462" cy="2456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bject 9">
            <a:extLst>
              <a:ext uri="{FF2B5EF4-FFF2-40B4-BE49-F238E27FC236}">
                <a16:creationId xmlns:a16="http://schemas.microsoft.com/office/drawing/2014/main" id="{84FD0041-5CC5-46BA-B78D-2DF46E04FEB2}"/>
              </a:ext>
            </a:extLst>
          </p:cNvPr>
          <p:cNvSpPr txBox="1"/>
          <p:nvPr/>
        </p:nvSpPr>
        <p:spPr>
          <a:xfrm>
            <a:off x="8715042" y="2854352"/>
            <a:ext cx="2397088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925">
              <a:lnSpc>
                <a:spcPct val="100000"/>
              </a:lnSpc>
              <a:spcBef>
                <a:spcPts val="100"/>
              </a:spcBef>
              <a:tabLst>
                <a:tab pos="320040" algn="l"/>
              </a:tabLst>
            </a:pPr>
            <a:r>
              <a:rPr lang="ru-RU" spc="-10" dirty="0">
                <a:latin typeface="Calibri"/>
                <a:cs typeface="Calibri"/>
              </a:rPr>
              <a:t>Номер текущего токена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29" name="object 9">
            <a:extLst>
              <a:ext uri="{FF2B5EF4-FFF2-40B4-BE49-F238E27FC236}">
                <a16:creationId xmlns:a16="http://schemas.microsoft.com/office/drawing/2014/main" id="{EC458B63-4C51-494E-AD9F-D9BE81951539}"/>
              </a:ext>
            </a:extLst>
          </p:cNvPr>
          <p:cNvSpPr txBox="1"/>
          <p:nvPr/>
        </p:nvSpPr>
        <p:spPr>
          <a:xfrm>
            <a:off x="8790847" y="3511954"/>
            <a:ext cx="2495122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925">
              <a:lnSpc>
                <a:spcPct val="100000"/>
              </a:lnSpc>
              <a:spcBef>
                <a:spcPts val="100"/>
              </a:spcBef>
              <a:tabLst>
                <a:tab pos="320040" algn="l"/>
              </a:tabLst>
            </a:pPr>
            <a:r>
              <a:rPr lang="ru-RU" spc="-10" dirty="0">
                <a:latin typeface="Calibri"/>
                <a:cs typeface="Calibri"/>
              </a:rPr>
              <a:t>Какой-то </a:t>
            </a:r>
            <a:r>
              <a:rPr lang="ru-RU" spc="-10" dirty="0" err="1">
                <a:latin typeface="Calibri"/>
                <a:cs typeface="Calibri"/>
              </a:rPr>
              <a:t>гиперпараметр</a:t>
            </a:r>
            <a:endParaRPr sz="1800" dirty="0">
              <a:latin typeface="Calibri"/>
              <a:cs typeface="Calibri"/>
            </a:endParaRPr>
          </a:p>
        </p:txBody>
      </p:sp>
      <p:cxnSp>
        <p:nvCxnSpPr>
          <p:cNvPr id="30" name="Прямая со стрелкой 29">
            <a:extLst>
              <a:ext uri="{FF2B5EF4-FFF2-40B4-BE49-F238E27FC236}">
                <a16:creationId xmlns:a16="http://schemas.microsoft.com/office/drawing/2014/main" id="{817518DE-AB18-4627-A088-AF706A42831F}"/>
              </a:ext>
            </a:extLst>
          </p:cNvPr>
          <p:cNvCxnSpPr>
            <a:cxnSpLocks/>
          </p:cNvCxnSpPr>
          <p:nvPr/>
        </p:nvCxnSpPr>
        <p:spPr>
          <a:xfrm>
            <a:off x="6354156" y="3463513"/>
            <a:ext cx="2411669" cy="1933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8940">
              <a:lnSpc>
                <a:spcPct val="100000"/>
              </a:lnSpc>
              <a:spcBef>
                <a:spcPts val="100"/>
              </a:spcBef>
            </a:pPr>
            <a:r>
              <a:rPr dirty="0"/>
              <a:t>И</a:t>
            </a:r>
            <a:r>
              <a:rPr spc="-55" dirty="0"/>
              <a:t> </a:t>
            </a:r>
            <a:r>
              <a:rPr dirty="0"/>
              <a:t>снова</a:t>
            </a:r>
            <a:r>
              <a:rPr spc="-55" dirty="0"/>
              <a:t> </a:t>
            </a:r>
            <a:r>
              <a:rPr dirty="0"/>
              <a:t>про</a:t>
            </a:r>
            <a:r>
              <a:rPr spc="-55" dirty="0"/>
              <a:t> </a:t>
            </a:r>
            <a:r>
              <a:rPr spc="-10" dirty="0"/>
              <a:t>внимание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Решение:</a:t>
            </a:r>
            <a:r>
              <a:rPr spc="-55" dirty="0"/>
              <a:t> </a:t>
            </a:r>
            <a:r>
              <a:rPr dirty="0"/>
              <a:t>перейдём</a:t>
            </a:r>
            <a:r>
              <a:rPr spc="-65" dirty="0"/>
              <a:t> </a:t>
            </a:r>
            <a:r>
              <a:rPr dirty="0"/>
              <a:t>к</a:t>
            </a:r>
            <a:r>
              <a:rPr spc="-55" dirty="0"/>
              <a:t> </a:t>
            </a:r>
            <a:r>
              <a:rPr dirty="0">
                <a:solidFill>
                  <a:srgbClr val="FF0000"/>
                </a:solidFill>
              </a:rPr>
              <a:t>sparse</a:t>
            </a:r>
            <a:r>
              <a:rPr spc="-55" dirty="0">
                <a:solidFill>
                  <a:srgbClr val="FF0000"/>
                </a:solidFill>
              </a:rPr>
              <a:t> </a:t>
            </a:r>
            <a:r>
              <a:rPr spc="-10" dirty="0"/>
              <a:t>attention</a:t>
            </a:r>
          </a:p>
          <a:p>
            <a:pPr marL="297815" indent="-28511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7815" algn="l"/>
              </a:tabLst>
            </a:pPr>
            <a:r>
              <a:rPr spc="-10" dirty="0"/>
              <a:t>проанализируем</a:t>
            </a:r>
            <a:r>
              <a:rPr spc="-30" dirty="0"/>
              <a:t> </a:t>
            </a:r>
            <a:r>
              <a:rPr dirty="0"/>
              <a:t>паттерны</a:t>
            </a:r>
            <a:r>
              <a:rPr spc="-10" dirty="0"/>
              <a:t> </a:t>
            </a:r>
            <a:r>
              <a:rPr dirty="0"/>
              <a:t>в</a:t>
            </a:r>
            <a:r>
              <a:rPr spc="-40" dirty="0"/>
              <a:t> </a:t>
            </a:r>
            <a:r>
              <a:rPr dirty="0"/>
              <a:t>обученной</a:t>
            </a:r>
            <a:r>
              <a:rPr spc="-50" dirty="0"/>
              <a:t> </a:t>
            </a:r>
            <a:r>
              <a:rPr spc="-10" dirty="0"/>
              <a:t>модели</a:t>
            </a:r>
          </a:p>
          <a:p>
            <a:pPr marL="297815" indent="-285115">
              <a:lnSpc>
                <a:spcPct val="100000"/>
              </a:lnSpc>
              <a:buFont typeface="Arial MT"/>
              <a:buChar char="•"/>
              <a:tabLst>
                <a:tab pos="297815" algn="l"/>
                <a:tab pos="2118995" algn="l"/>
              </a:tabLst>
            </a:pPr>
            <a:r>
              <a:rPr spc="-10" dirty="0"/>
              <a:t>факторизуем</a:t>
            </a:r>
            <a:r>
              <a:rPr spc="-30" dirty="0"/>
              <a:t> </a:t>
            </a:r>
            <a:r>
              <a:rPr spc="-25" dirty="0"/>
              <a:t>на</a:t>
            </a:r>
            <a:r>
              <a:rPr dirty="0"/>
              <a:t>	</a:t>
            </a:r>
            <a:r>
              <a:rPr spc="-10" dirty="0"/>
              <a:t>компонент</a:t>
            </a:r>
          </a:p>
          <a:p>
            <a:pPr marL="297815" indent="-28511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7815" algn="l"/>
                <a:tab pos="871219" algn="l"/>
              </a:tabLst>
            </a:pPr>
            <a:r>
              <a:rPr spc="-25" dirty="0"/>
              <a:t>при</a:t>
            </a:r>
            <a:r>
              <a:rPr dirty="0"/>
              <a:t>	=</a:t>
            </a:r>
            <a:r>
              <a:rPr spc="-65" dirty="0"/>
              <a:t> </a:t>
            </a:r>
            <a:r>
              <a:rPr dirty="0"/>
              <a:t>2</a:t>
            </a:r>
            <a:r>
              <a:rPr spc="-35" dirty="0"/>
              <a:t> </a:t>
            </a:r>
            <a:r>
              <a:rPr dirty="0"/>
              <a:t>введём</a:t>
            </a:r>
            <a:r>
              <a:rPr spc="-45" dirty="0"/>
              <a:t> </a:t>
            </a:r>
            <a:r>
              <a:rPr dirty="0"/>
              <a:t>следующую</a:t>
            </a:r>
            <a:r>
              <a:rPr spc="-40" dirty="0"/>
              <a:t> </a:t>
            </a:r>
            <a:r>
              <a:rPr spc="-10" dirty="0"/>
              <a:t>логику:</a:t>
            </a:r>
          </a:p>
          <a:p>
            <a:pPr marL="754380" lvl="1" indent="-284480">
              <a:lnSpc>
                <a:spcPct val="100000"/>
              </a:lnSpc>
              <a:spcBef>
                <a:spcPts val="5"/>
              </a:spcBef>
              <a:buFont typeface="Courier New"/>
              <a:buChar char="o"/>
              <a:tabLst>
                <a:tab pos="754380" algn="l"/>
              </a:tabLst>
            </a:pPr>
            <a:r>
              <a:rPr sz="1800" dirty="0">
                <a:latin typeface="Calibri"/>
                <a:cs typeface="Calibri"/>
              </a:rPr>
              <a:t>один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фактор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отвечает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за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local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фичи</a:t>
            </a:r>
            <a:endParaRPr sz="1800">
              <a:latin typeface="Calibri"/>
              <a:cs typeface="Calibri"/>
            </a:endParaRPr>
          </a:p>
          <a:p>
            <a:pPr marL="754380" lvl="1" indent="-284480">
              <a:lnSpc>
                <a:spcPct val="100000"/>
              </a:lnSpc>
              <a:buFont typeface="Courier New"/>
              <a:buChar char="o"/>
              <a:tabLst>
                <a:tab pos="754380" algn="l"/>
              </a:tabLst>
            </a:pPr>
            <a:r>
              <a:rPr sz="1800" dirty="0">
                <a:latin typeface="Calibri"/>
                <a:cs typeface="Calibri"/>
              </a:rPr>
              <a:t>второй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—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за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global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782311" y="3201530"/>
            <a:ext cx="2615565" cy="375285"/>
            <a:chOff x="4782311" y="3201530"/>
            <a:chExt cx="2615565" cy="37528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82311" y="3201530"/>
              <a:ext cx="2615184" cy="35510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949439" y="3493875"/>
              <a:ext cx="302260" cy="82550"/>
            </a:xfrm>
            <a:custGeom>
              <a:avLst/>
              <a:gdLst/>
              <a:ahLst/>
              <a:cxnLst/>
              <a:rect l="l" t="t" r="r" b="b"/>
              <a:pathLst>
                <a:path w="302259" h="82550">
                  <a:moveTo>
                    <a:pt x="301751" y="0"/>
                  </a:moveTo>
                  <a:lnTo>
                    <a:pt x="0" y="0"/>
                  </a:lnTo>
                  <a:lnTo>
                    <a:pt x="0" y="82317"/>
                  </a:lnTo>
                  <a:lnTo>
                    <a:pt x="301751" y="82317"/>
                  </a:lnTo>
                  <a:lnTo>
                    <a:pt x="3017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100584" y="1316989"/>
            <a:ext cx="4565015" cy="3420745"/>
            <a:chOff x="100584" y="1316989"/>
            <a:chExt cx="4565015" cy="342074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0584" y="1316989"/>
              <a:ext cx="3547872" cy="342074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653028" y="3123438"/>
              <a:ext cx="1005840" cy="503555"/>
            </a:xfrm>
            <a:custGeom>
              <a:avLst/>
              <a:gdLst/>
              <a:ahLst/>
              <a:cxnLst/>
              <a:rect l="l" t="t" r="r" b="b"/>
              <a:pathLst>
                <a:path w="1005839" h="503554">
                  <a:moveTo>
                    <a:pt x="251460" y="0"/>
                  </a:moveTo>
                  <a:lnTo>
                    <a:pt x="0" y="251587"/>
                  </a:lnTo>
                  <a:lnTo>
                    <a:pt x="251460" y="503047"/>
                  </a:lnTo>
                  <a:lnTo>
                    <a:pt x="251460" y="377316"/>
                  </a:lnTo>
                  <a:lnTo>
                    <a:pt x="1005839" y="377316"/>
                  </a:lnTo>
                  <a:lnTo>
                    <a:pt x="1005839" y="125729"/>
                  </a:lnTo>
                  <a:lnTo>
                    <a:pt x="251460" y="125729"/>
                  </a:lnTo>
                  <a:lnTo>
                    <a:pt x="251460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653028" y="3123438"/>
              <a:ext cx="1005840" cy="503555"/>
            </a:xfrm>
            <a:custGeom>
              <a:avLst/>
              <a:gdLst/>
              <a:ahLst/>
              <a:cxnLst/>
              <a:rect l="l" t="t" r="r" b="b"/>
              <a:pathLst>
                <a:path w="1005839" h="503554">
                  <a:moveTo>
                    <a:pt x="1005839" y="377316"/>
                  </a:moveTo>
                  <a:lnTo>
                    <a:pt x="251460" y="377316"/>
                  </a:lnTo>
                  <a:lnTo>
                    <a:pt x="251460" y="503047"/>
                  </a:lnTo>
                  <a:lnTo>
                    <a:pt x="0" y="251587"/>
                  </a:lnTo>
                  <a:lnTo>
                    <a:pt x="251460" y="0"/>
                  </a:lnTo>
                  <a:lnTo>
                    <a:pt x="251460" y="125729"/>
                  </a:lnTo>
                  <a:lnTo>
                    <a:pt x="1005839" y="125729"/>
                  </a:lnTo>
                  <a:lnTo>
                    <a:pt x="1005839" y="377316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4379976" y="1701164"/>
            <a:ext cx="5038725" cy="823594"/>
            <a:chOff x="4379976" y="1701164"/>
            <a:chExt cx="5038725" cy="823594"/>
          </a:xfrm>
        </p:grpSpPr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63640" y="1957247"/>
              <a:ext cx="201167" cy="301828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56632" y="2213406"/>
              <a:ext cx="201167" cy="31097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4379976" y="1701164"/>
              <a:ext cx="5038725" cy="512445"/>
            </a:xfrm>
            <a:custGeom>
              <a:avLst/>
              <a:gdLst/>
              <a:ahLst/>
              <a:cxnLst/>
              <a:rect l="l" t="t" r="r" b="b"/>
              <a:pathLst>
                <a:path w="5038725" h="512444">
                  <a:moveTo>
                    <a:pt x="5038344" y="0"/>
                  </a:moveTo>
                  <a:lnTo>
                    <a:pt x="0" y="0"/>
                  </a:lnTo>
                  <a:lnTo>
                    <a:pt x="0" y="512190"/>
                  </a:lnTo>
                  <a:lnTo>
                    <a:pt x="5038344" y="512190"/>
                  </a:lnTo>
                  <a:lnTo>
                    <a:pt x="5038344" y="0"/>
                  </a:lnTo>
                  <a:close/>
                </a:path>
              </a:pathLst>
            </a:custGeom>
            <a:solidFill>
              <a:srgbClr val="FFFFFF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8940">
              <a:lnSpc>
                <a:spcPct val="100000"/>
              </a:lnSpc>
              <a:spcBef>
                <a:spcPts val="100"/>
              </a:spcBef>
            </a:pPr>
            <a:r>
              <a:rPr dirty="0"/>
              <a:t>И</a:t>
            </a:r>
            <a:r>
              <a:rPr spc="-55" dirty="0"/>
              <a:t> </a:t>
            </a:r>
            <a:r>
              <a:rPr dirty="0"/>
              <a:t>снова</a:t>
            </a:r>
            <a:r>
              <a:rPr spc="-55" dirty="0"/>
              <a:t> </a:t>
            </a:r>
            <a:r>
              <a:rPr dirty="0"/>
              <a:t>про</a:t>
            </a:r>
            <a:r>
              <a:rPr spc="-55" dirty="0"/>
              <a:t> </a:t>
            </a:r>
            <a:r>
              <a:rPr spc="-10" dirty="0"/>
              <a:t>внимание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00584" y="1316989"/>
            <a:ext cx="12038330" cy="5057775"/>
            <a:chOff x="100584" y="1316989"/>
            <a:chExt cx="12038330" cy="50577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63639" y="1957247"/>
              <a:ext cx="201167" cy="30182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82312" y="3201530"/>
              <a:ext cx="2615184" cy="35510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68603" y="3596110"/>
              <a:ext cx="1978309" cy="26800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793991" y="3649413"/>
              <a:ext cx="1138427" cy="20579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56631" y="2213406"/>
              <a:ext cx="201167" cy="31097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0584" y="1316989"/>
              <a:ext cx="3547872" cy="342074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6255" y="3046902"/>
              <a:ext cx="3542331" cy="3327571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653028" y="3123438"/>
              <a:ext cx="1005840" cy="503555"/>
            </a:xfrm>
            <a:custGeom>
              <a:avLst/>
              <a:gdLst/>
              <a:ahLst/>
              <a:cxnLst/>
              <a:rect l="l" t="t" r="r" b="b"/>
              <a:pathLst>
                <a:path w="1005839" h="503554">
                  <a:moveTo>
                    <a:pt x="251460" y="0"/>
                  </a:moveTo>
                  <a:lnTo>
                    <a:pt x="0" y="251587"/>
                  </a:lnTo>
                  <a:lnTo>
                    <a:pt x="251460" y="503047"/>
                  </a:lnTo>
                  <a:lnTo>
                    <a:pt x="251460" y="377316"/>
                  </a:lnTo>
                  <a:lnTo>
                    <a:pt x="1005839" y="377316"/>
                  </a:lnTo>
                  <a:lnTo>
                    <a:pt x="1005839" y="125729"/>
                  </a:lnTo>
                  <a:lnTo>
                    <a:pt x="251460" y="125729"/>
                  </a:lnTo>
                  <a:lnTo>
                    <a:pt x="251460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653028" y="3123438"/>
              <a:ext cx="1005840" cy="503555"/>
            </a:xfrm>
            <a:custGeom>
              <a:avLst/>
              <a:gdLst/>
              <a:ahLst/>
              <a:cxnLst/>
              <a:rect l="l" t="t" r="r" b="b"/>
              <a:pathLst>
                <a:path w="1005839" h="503554">
                  <a:moveTo>
                    <a:pt x="1005839" y="377316"/>
                  </a:moveTo>
                  <a:lnTo>
                    <a:pt x="251460" y="377316"/>
                  </a:lnTo>
                  <a:lnTo>
                    <a:pt x="251460" y="503047"/>
                  </a:lnTo>
                  <a:lnTo>
                    <a:pt x="0" y="251587"/>
                  </a:lnTo>
                  <a:lnTo>
                    <a:pt x="251460" y="0"/>
                  </a:lnTo>
                  <a:lnTo>
                    <a:pt x="251460" y="125729"/>
                  </a:lnTo>
                  <a:lnTo>
                    <a:pt x="1005839" y="125729"/>
                  </a:lnTo>
                  <a:lnTo>
                    <a:pt x="1005839" y="377316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959852" y="3498469"/>
              <a:ext cx="640080" cy="503555"/>
            </a:xfrm>
            <a:custGeom>
              <a:avLst/>
              <a:gdLst/>
              <a:ahLst/>
              <a:cxnLst/>
              <a:rect l="l" t="t" r="r" b="b"/>
              <a:pathLst>
                <a:path w="640079" h="503554">
                  <a:moveTo>
                    <a:pt x="388620" y="0"/>
                  </a:moveTo>
                  <a:lnTo>
                    <a:pt x="388620" y="125729"/>
                  </a:lnTo>
                  <a:lnTo>
                    <a:pt x="0" y="125729"/>
                  </a:lnTo>
                  <a:lnTo>
                    <a:pt x="0" y="377316"/>
                  </a:lnTo>
                  <a:lnTo>
                    <a:pt x="388620" y="377316"/>
                  </a:lnTo>
                  <a:lnTo>
                    <a:pt x="388620" y="503046"/>
                  </a:lnTo>
                  <a:lnTo>
                    <a:pt x="640079" y="251459"/>
                  </a:lnTo>
                  <a:lnTo>
                    <a:pt x="388620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959852" y="3498469"/>
              <a:ext cx="640080" cy="503555"/>
            </a:xfrm>
            <a:custGeom>
              <a:avLst/>
              <a:gdLst/>
              <a:ahLst/>
              <a:cxnLst/>
              <a:rect l="l" t="t" r="r" b="b"/>
              <a:pathLst>
                <a:path w="640079" h="503554">
                  <a:moveTo>
                    <a:pt x="0" y="125729"/>
                  </a:moveTo>
                  <a:lnTo>
                    <a:pt x="388620" y="125729"/>
                  </a:lnTo>
                  <a:lnTo>
                    <a:pt x="388620" y="0"/>
                  </a:lnTo>
                  <a:lnTo>
                    <a:pt x="640079" y="251459"/>
                  </a:lnTo>
                  <a:lnTo>
                    <a:pt x="388620" y="503046"/>
                  </a:lnTo>
                  <a:lnTo>
                    <a:pt x="388620" y="377316"/>
                  </a:lnTo>
                  <a:lnTo>
                    <a:pt x="0" y="377316"/>
                  </a:lnTo>
                  <a:lnTo>
                    <a:pt x="0" y="125729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00584" y="1399412"/>
              <a:ext cx="9317990" cy="3530600"/>
            </a:xfrm>
            <a:custGeom>
              <a:avLst/>
              <a:gdLst/>
              <a:ahLst/>
              <a:cxnLst/>
              <a:rect l="l" t="t" r="r" b="b"/>
              <a:pathLst>
                <a:path w="9317990" h="3530600">
                  <a:moveTo>
                    <a:pt x="3520440" y="0"/>
                  </a:moveTo>
                  <a:lnTo>
                    <a:pt x="0" y="0"/>
                  </a:lnTo>
                  <a:lnTo>
                    <a:pt x="0" y="3530473"/>
                  </a:lnTo>
                  <a:lnTo>
                    <a:pt x="3520440" y="3530473"/>
                  </a:lnTo>
                  <a:lnTo>
                    <a:pt x="3520440" y="0"/>
                  </a:lnTo>
                  <a:close/>
                </a:path>
                <a:path w="9317990" h="3530600">
                  <a:moveTo>
                    <a:pt x="9317736" y="301752"/>
                  </a:moveTo>
                  <a:lnTo>
                    <a:pt x="4279392" y="301752"/>
                  </a:lnTo>
                  <a:lnTo>
                    <a:pt x="4279392" y="813943"/>
                  </a:lnTo>
                  <a:lnTo>
                    <a:pt x="9317736" y="813943"/>
                  </a:lnTo>
                  <a:lnTo>
                    <a:pt x="9317736" y="301752"/>
                  </a:lnTo>
                  <a:close/>
                </a:path>
              </a:pathLst>
            </a:custGeom>
            <a:solidFill>
              <a:srgbClr val="FFFFFF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3621023" y="1399413"/>
          <a:ext cx="5873750" cy="35286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58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0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8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196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1625">
                <a:tc gridSpan="4">
                  <a:txBody>
                    <a:bodyPr/>
                    <a:lstStyle/>
                    <a:p>
                      <a:pPr marR="518795" algn="ctr">
                        <a:lnSpc>
                          <a:spcPts val="191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Решение: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перейдём</a:t>
                      </a:r>
                      <a:r>
                        <a:rPr sz="18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к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sparse</a:t>
                      </a:r>
                      <a:r>
                        <a:rPr sz="1800" spc="-5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attention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1809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320040" indent="-285115">
                        <a:lnSpc>
                          <a:spcPts val="1700"/>
                        </a:lnSpc>
                        <a:buFont typeface="Arial MT"/>
                        <a:buChar char="•"/>
                        <a:tabLst>
                          <a:tab pos="320040" algn="l"/>
                        </a:tabLst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проанализируем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паттерны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в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обученной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модели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320040" indent="-28511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20040" algn="l"/>
                          <a:tab pos="2141220" algn="l"/>
                        </a:tabLst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факторизуем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на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компонент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>
                        <a:alpha val="50195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320040" indent="-285115">
                        <a:lnSpc>
                          <a:spcPts val="1989"/>
                        </a:lnSpc>
                        <a:buFont typeface="Arial MT"/>
                        <a:buChar char="•"/>
                        <a:tabLst>
                          <a:tab pos="320040" algn="l"/>
                          <a:tab pos="894080" algn="l"/>
                        </a:tabLst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при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	=</a:t>
                      </a:r>
                      <a:r>
                        <a:rPr sz="18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введём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следующую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логику: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776605" lvl="1" indent="-284480">
                        <a:lnSpc>
                          <a:spcPct val="100000"/>
                        </a:lnSpc>
                        <a:buFont typeface="Courier New"/>
                        <a:buChar char="o"/>
                        <a:tabLst>
                          <a:tab pos="776605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один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фактор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отвечает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за</a:t>
                      </a:r>
                      <a:r>
                        <a:rPr sz="18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local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фичи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776605" lvl="1" indent="-284480">
                        <a:lnSpc>
                          <a:spcPct val="100000"/>
                        </a:lnSpc>
                        <a:spcBef>
                          <a:spcPts val="5"/>
                        </a:spcBef>
                        <a:buFont typeface="Courier New"/>
                        <a:buChar char="o"/>
                        <a:tabLst>
                          <a:tab pos="776605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второй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—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за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global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7635">
                <a:tc rowSpan="3"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rowSpan="3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205"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FFFF">
                        <a:alpha val="50195"/>
                      </a:srgbClr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4460"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" name="object 17"/>
          <p:cNvSpPr/>
          <p:nvPr/>
        </p:nvSpPr>
        <p:spPr>
          <a:xfrm>
            <a:off x="3621023" y="3036544"/>
            <a:ext cx="1106805" cy="622300"/>
          </a:xfrm>
          <a:custGeom>
            <a:avLst/>
            <a:gdLst/>
            <a:ahLst/>
            <a:cxnLst/>
            <a:rect l="l" t="t" r="r" b="b"/>
            <a:pathLst>
              <a:path w="1106804" h="622300">
                <a:moveTo>
                  <a:pt x="1106424" y="0"/>
                </a:moveTo>
                <a:lnTo>
                  <a:pt x="0" y="0"/>
                </a:lnTo>
                <a:lnTo>
                  <a:pt x="0" y="621944"/>
                </a:lnTo>
                <a:lnTo>
                  <a:pt x="1106424" y="621944"/>
                </a:lnTo>
                <a:lnTo>
                  <a:pt x="1106424" y="0"/>
                </a:lnTo>
                <a:close/>
              </a:path>
            </a:pathLst>
          </a:custGeom>
          <a:solidFill>
            <a:srgbClr val="FFFFFF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791455" y="3164611"/>
            <a:ext cx="2707005" cy="412115"/>
          </a:xfrm>
          <a:custGeom>
            <a:avLst/>
            <a:gdLst/>
            <a:ahLst/>
            <a:cxnLst/>
            <a:rect l="l" t="t" r="r" b="b"/>
            <a:pathLst>
              <a:path w="2707004" h="412114">
                <a:moveTo>
                  <a:pt x="2706624" y="0"/>
                </a:moveTo>
                <a:lnTo>
                  <a:pt x="0" y="0"/>
                </a:lnTo>
                <a:lnTo>
                  <a:pt x="0" y="411581"/>
                </a:lnTo>
                <a:lnTo>
                  <a:pt x="2706624" y="411581"/>
                </a:lnTo>
                <a:lnTo>
                  <a:pt x="2706624" y="0"/>
                </a:lnTo>
                <a:close/>
              </a:path>
            </a:pathLst>
          </a:custGeom>
          <a:solidFill>
            <a:srgbClr val="FFFFFF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8940">
              <a:lnSpc>
                <a:spcPct val="100000"/>
              </a:lnSpc>
              <a:spcBef>
                <a:spcPts val="100"/>
              </a:spcBef>
            </a:pPr>
            <a:r>
              <a:rPr dirty="0"/>
              <a:t>И</a:t>
            </a:r>
            <a:r>
              <a:rPr spc="-55" dirty="0"/>
              <a:t> </a:t>
            </a:r>
            <a:r>
              <a:rPr dirty="0"/>
              <a:t>снова</a:t>
            </a:r>
            <a:r>
              <a:rPr spc="-55" dirty="0"/>
              <a:t> </a:t>
            </a:r>
            <a:r>
              <a:rPr dirty="0"/>
              <a:t>про</a:t>
            </a:r>
            <a:r>
              <a:rPr spc="-55" dirty="0"/>
              <a:t> </a:t>
            </a:r>
            <a:r>
              <a:rPr spc="-10" dirty="0"/>
              <a:t>внимание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Решение:</a:t>
            </a:r>
            <a:r>
              <a:rPr spc="-55" dirty="0"/>
              <a:t> </a:t>
            </a:r>
            <a:r>
              <a:rPr dirty="0"/>
              <a:t>перейдём</a:t>
            </a:r>
            <a:r>
              <a:rPr spc="-65" dirty="0"/>
              <a:t> </a:t>
            </a:r>
            <a:r>
              <a:rPr dirty="0"/>
              <a:t>к</a:t>
            </a:r>
            <a:r>
              <a:rPr spc="-55" dirty="0"/>
              <a:t> </a:t>
            </a:r>
            <a:r>
              <a:rPr dirty="0">
                <a:solidFill>
                  <a:srgbClr val="FF0000"/>
                </a:solidFill>
              </a:rPr>
              <a:t>sparse</a:t>
            </a:r>
            <a:r>
              <a:rPr spc="-55" dirty="0">
                <a:solidFill>
                  <a:srgbClr val="FF0000"/>
                </a:solidFill>
              </a:rPr>
              <a:t> </a:t>
            </a:r>
            <a:r>
              <a:rPr spc="-10" dirty="0"/>
              <a:t>attention</a:t>
            </a:r>
          </a:p>
          <a:p>
            <a:pPr marL="297815" indent="-28511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7815" algn="l"/>
              </a:tabLst>
            </a:pPr>
            <a:r>
              <a:rPr spc="-10" dirty="0"/>
              <a:t>проанализируем</a:t>
            </a:r>
            <a:r>
              <a:rPr spc="-30" dirty="0"/>
              <a:t> </a:t>
            </a:r>
            <a:r>
              <a:rPr dirty="0"/>
              <a:t>паттерны</a:t>
            </a:r>
            <a:r>
              <a:rPr spc="-10" dirty="0"/>
              <a:t> </a:t>
            </a:r>
            <a:r>
              <a:rPr dirty="0"/>
              <a:t>в</a:t>
            </a:r>
            <a:r>
              <a:rPr spc="-40" dirty="0"/>
              <a:t> </a:t>
            </a:r>
            <a:r>
              <a:rPr dirty="0"/>
              <a:t>обученной</a:t>
            </a:r>
            <a:r>
              <a:rPr spc="-50" dirty="0"/>
              <a:t> </a:t>
            </a:r>
            <a:r>
              <a:rPr spc="-10" dirty="0"/>
              <a:t>модели</a:t>
            </a:r>
          </a:p>
          <a:p>
            <a:pPr marL="297815" indent="-285115">
              <a:lnSpc>
                <a:spcPct val="100000"/>
              </a:lnSpc>
              <a:buFont typeface="Arial MT"/>
              <a:buChar char="•"/>
              <a:tabLst>
                <a:tab pos="297815" algn="l"/>
                <a:tab pos="2118995" algn="l"/>
              </a:tabLst>
            </a:pPr>
            <a:r>
              <a:rPr spc="-10" dirty="0"/>
              <a:t>факторизуем</a:t>
            </a:r>
            <a:r>
              <a:rPr spc="-30" dirty="0"/>
              <a:t> </a:t>
            </a:r>
            <a:r>
              <a:rPr spc="-25" dirty="0"/>
              <a:t>на</a:t>
            </a:r>
            <a:r>
              <a:rPr dirty="0"/>
              <a:t>	</a:t>
            </a:r>
            <a:r>
              <a:rPr spc="-10" dirty="0"/>
              <a:t>компонент</a:t>
            </a:r>
          </a:p>
          <a:p>
            <a:pPr marL="297815" indent="-28511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7815" algn="l"/>
                <a:tab pos="871219" algn="l"/>
              </a:tabLst>
            </a:pPr>
            <a:r>
              <a:rPr spc="-25" dirty="0"/>
              <a:t>при</a:t>
            </a:r>
            <a:r>
              <a:rPr dirty="0"/>
              <a:t>	=</a:t>
            </a:r>
            <a:r>
              <a:rPr spc="-65" dirty="0"/>
              <a:t> </a:t>
            </a:r>
            <a:r>
              <a:rPr dirty="0"/>
              <a:t>2</a:t>
            </a:r>
            <a:r>
              <a:rPr spc="-35" dirty="0"/>
              <a:t> </a:t>
            </a:r>
            <a:r>
              <a:rPr dirty="0"/>
              <a:t>введём</a:t>
            </a:r>
            <a:r>
              <a:rPr spc="-45" dirty="0"/>
              <a:t> </a:t>
            </a:r>
            <a:r>
              <a:rPr dirty="0"/>
              <a:t>следующую</a:t>
            </a:r>
            <a:r>
              <a:rPr spc="-40" dirty="0"/>
              <a:t> </a:t>
            </a:r>
            <a:r>
              <a:rPr spc="-10" dirty="0"/>
              <a:t>логику:</a:t>
            </a:r>
          </a:p>
          <a:p>
            <a:pPr marL="754380" lvl="1" indent="-284480">
              <a:lnSpc>
                <a:spcPct val="100000"/>
              </a:lnSpc>
              <a:spcBef>
                <a:spcPts val="5"/>
              </a:spcBef>
              <a:buFont typeface="Courier New"/>
              <a:buChar char="o"/>
              <a:tabLst>
                <a:tab pos="754380" algn="l"/>
              </a:tabLst>
            </a:pPr>
            <a:r>
              <a:rPr sz="1800" dirty="0">
                <a:latin typeface="Calibri"/>
                <a:cs typeface="Calibri"/>
              </a:rPr>
              <a:t>один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фактор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отвечает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за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local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фичи</a:t>
            </a:r>
            <a:endParaRPr sz="1800">
              <a:latin typeface="Calibri"/>
              <a:cs typeface="Calibri"/>
            </a:endParaRPr>
          </a:p>
          <a:p>
            <a:pPr marL="754380" lvl="1" indent="-284480">
              <a:lnSpc>
                <a:spcPct val="100000"/>
              </a:lnSpc>
              <a:buFont typeface="Courier New"/>
              <a:buChar char="o"/>
              <a:tabLst>
                <a:tab pos="754380" algn="l"/>
              </a:tabLst>
            </a:pPr>
            <a:r>
              <a:rPr sz="1800" dirty="0">
                <a:latin typeface="Calibri"/>
                <a:cs typeface="Calibri"/>
              </a:rPr>
              <a:t>второй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—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за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global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63640" y="1957247"/>
            <a:ext cx="201167" cy="30182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56632" y="2213406"/>
            <a:ext cx="201167" cy="310972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100584" y="1316989"/>
            <a:ext cx="4565015" cy="3420745"/>
            <a:chOff x="100584" y="1316989"/>
            <a:chExt cx="4565015" cy="342074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0584" y="1316989"/>
              <a:ext cx="3547872" cy="342074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653028" y="3123438"/>
              <a:ext cx="1005840" cy="503555"/>
            </a:xfrm>
            <a:custGeom>
              <a:avLst/>
              <a:gdLst/>
              <a:ahLst/>
              <a:cxnLst/>
              <a:rect l="l" t="t" r="r" b="b"/>
              <a:pathLst>
                <a:path w="1005839" h="503554">
                  <a:moveTo>
                    <a:pt x="251460" y="0"/>
                  </a:moveTo>
                  <a:lnTo>
                    <a:pt x="0" y="251587"/>
                  </a:lnTo>
                  <a:lnTo>
                    <a:pt x="251460" y="503047"/>
                  </a:lnTo>
                  <a:lnTo>
                    <a:pt x="251460" y="377316"/>
                  </a:lnTo>
                  <a:lnTo>
                    <a:pt x="1005839" y="377316"/>
                  </a:lnTo>
                  <a:lnTo>
                    <a:pt x="1005839" y="125729"/>
                  </a:lnTo>
                  <a:lnTo>
                    <a:pt x="251460" y="125729"/>
                  </a:lnTo>
                  <a:lnTo>
                    <a:pt x="251460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653028" y="3123438"/>
              <a:ext cx="1005840" cy="503555"/>
            </a:xfrm>
            <a:custGeom>
              <a:avLst/>
              <a:gdLst/>
              <a:ahLst/>
              <a:cxnLst/>
              <a:rect l="l" t="t" r="r" b="b"/>
              <a:pathLst>
                <a:path w="1005839" h="503554">
                  <a:moveTo>
                    <a:pt x="1005839" y="377316"/>
                  </a:moveTo>
                  <a:lnTo>
                    <a:pt x="251460" y="377316"/>
                  </a:lnTo>
                  <a:lnTo>
                    <a:pt x="251460" y="503047"/>
                  </a:lnTo>
                  <a:lnTo>
                    <a:pt x="0" y="251587"/>
                  </a:lnTo>
                  <a:lnTo>
                    <a:pt x="251460" y="0"/>
                  </a:lnTo>
                  <a:lnTo>
                    <a:pt x="251460" y="125729"/>
                  </a:lnTo>
                  <a:lnTo>
                    <a:pt x="1005839" y="125729"/>
                  </a:lnTo>
                  <a:lnTo>
                    <a:pt x="1005839" y="377316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4768603" y="3046902"/>
            <a:ext cx="7370445" cy="3328035"/>
            <a:chOff x="4768603" y="3046902"/>
            <a:chExt cx="7370445" cy="3328035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82312" y="3201530"/>
              <a:ext cx="2615184" cy="35510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949440" y="3493875"/>
              <a:ext cx="302260" cy="82550"/>
            </a:xfrm>
            <a:custGeom>
              <a:avLst/>
              <a:gdLst/>
              <a:ahLst/>
              <a:cxnLst/>
              <a:rect l="l" t="t" r="r" b="b"/>
              <a:pathLst>
                <a:path w="302259" h="82550">
                  <a:moveTo>
                    <a:pt x="301751" y="0"/>
                  </a:moveTo>
                  <a:lnTo>
                    <a:pt x="0" y="0"/>
                  </a:lnTo>
                  <a:lnTo>
                    <a:pt x="0" y="82317"/>
                  </a:lnTo>
                  <a:lnTo>
                    <a:pt x="301751" y="82317"/>
                  </a:lnTo>
                  <a:lnTo>
                    <a:pt x="3017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68603" y="3596110"/>
              <a:ext cx="1978309" cy="268001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793992" y="3649413"/>
              <a:ext cx="1138427" cy="20579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96255" y="3046902"/>
              <a:ext cx="3542331" cy="3327571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7959852" y="3498468"/>
              <a:ext cx="640080" cy="503555"/>
            </a:xfrm>
            <a:custGeom>
              <a:avLst/>
              <a:gdLst/>
              <a:ahLst/>
              <a:cxnLst/>
              <a:rect l="l" t="t" r="r" b="b"/>
              <a:pathLst>
                <a:path w="640079" h="503554">
                  <a:moveTo>
                    <a:pt x="388620" y="0"/>
                  </a:moveTo>
                  <a:lnTo>
                    <a:pt x="388620" y="125729"/>
                  </a:lnTo>
                  <a:lnTo>
                    <a:pt x="0" y="125729"/>
                  </a:lnTo>
                  <a:lnTo>
                    <a:pt x="0" y="377316"/>
                  </a:lnTo>
                  <a:lnTo>
                    <a:pt x="388620" y="377316"/>
                  </a:lnTo>
                  <a:lnTo>
                    <a:pt x="388620" y="503046"/>
                  </a:lnTo>
                  <a:lnTo>
                    <a:pt x="640079" y="251459"/>
                  </a:lnTo>
                  <a:lnTo>
                    <a:pt x="388620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959852" y="3498468"/>
              <a:ext cx="640080" cy="503555"/>
            </a:xfrm>
            <a:custGeom>
              <a:avLst/>
              <a:gdLst/>
              <a:ahLst/>
              <a:cxnLst/>
              <a:rect l="l" t="t" r="r" b="b"/>
              <a:pathLst>
                <a:path w="640079" h="503554">
                  <a:moveTo>
                    <a:pt x="0" y="125729"/>
                  </a:moveTo>
                  <a:lnTo>
                    <a:pt x="388620" y="125729"/>
                  </a:lnTo>
                  <a:lnTo>
                    <a:pt x="388620" y="0"/>
                  </a:lnTo>
                  <a:lnTo>
                    <a:pt x="640079" y="251459"/>
                  </a:lnTo>
                  <a:lnTo>
                    <a:pt x="388620" y="503046"/>
                  </a:lnTo>
                  <a:lnTo>
                    <a:pt x="388620" y="377316"/>
                  </a:lnTo>
                  <a:lnTo>
                    <a:pt x="0" y="377316"/>
                  </a:lnTo>
                  <a:lnTo>
                    <a:pt x="0" y="125729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779360" y="5419775"/>
            <a:ext cx="1884045" cy="850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Sparse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Transformer:</a:t>
            </a:r>
            <a:endParaRPr sz="180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8450" algn="l"/>
              </a:tabLst>
            </a:pPr>
            <a:r>
              <a:rPr sz="1800" dirty="0">
                <a:latin typeface="Calibri"/>
                <a:cs typeface="Calibri"/>
              </a:rPr>
              <a:t>stride =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128</a:t>
            </a:r>
            <a:endParaRPr sz="180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8450" algn="l"/>
              </a:tabLst>
            </a:pPr>
            <a:r>
              <a:rPr sz="1800" dirty="0">
                <a:latin typeface="Calibri"/>
                <a:cs typeface="Calibri"/>
              </a:rPr>
              <a:t>c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4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32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00584" y="1399413"/>
            <a:ext cx="12088495" cy="5351145"/>
            <a:chOff x="100584" y="1399413"/>
            <a:chExt cx="12088495" cy="5351145"/>
          </a:xfrm>
        </p:grpSpPr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959351" y="4051843"/>
              <a:ext cx="4059936" cy="2698115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100584" y="1399412"/>
              <a:ext cx="12088495" cy="5104130"/>
            </a:xfrm>
            <a:custGeom>
              <a:avLst/>
              <a:gdLst/>
              <a:ahLst/>
              <a:cxnLst/>
              <a:rect l="l" t="t" r="r" b="b"/>
              <a:pathLst>
                <a:path w="12088495" h="5104130">
                  <a:moveTo>
                    <a:pt x="9317736" y="301752"/>
                  </a:moveTo>
                  <a:lnTo>
                    <a:pt x="4279392" y="301752"/>
                  </a:lnTo>
                  <a:lnTo>
                    <a:pt x="4279392" y="813943"/>
                  </a:lnTo>
                  <a:lnTo>
                    <a:pt x="9317736" y="813943"/>
                  </a:lnTo>
                  <a:lnTo>
                    <a:pt x="9317736" y="301752"/>
                  </a:lnTo>
                  <a:close/>
                </a:path>
                <a:path w="12088495" h="5104130">
                  <a:moveTo>
                    <a:pt x="12088368" y="1563979"/>
                  </a:moveTo>
                  <a:lnTo>
                    <a:pt x="8494776" y="1563979"/>
                  </a:lnTo>
                  <a:lnTo>
                    <a:pt x="8494776" y="2094484"/>
                  </a:lnTo>
                  <a:lnTo>
                    <a:pt x="7397496" y="2094484"/>
                  </a:lnTo>
                  <a:lnTo>
                    <a:pt x="7397496" y="1765198"/>
                  </a:lnTo>
                  <a:lnTo>
                    <a:pt x="4690872" y="1765198"/>
                  </a:lnTo>
                  <a:lnTo>
                    <a:pt x="4690872" y="2094484"/>
                  </a:lnTo>
                  <a:lnTo>
                    <a:pt x="4626864" y="2094484"/>
                  </a:lnTo>
                  <a:lnTo>
                    <a:pt x="4626864" y="1637131"/>
                  </a:lnTo>
                  <a:lnTo>
                    <a:pt x="3520440" y="1637131"/>
                  </a:lnTo>
                  <a:lnTo>
                    <a:pt x="3520440" y="0"/>
                  </a:lnTo>
                  <a:lnTo>
                    <a:pt x="0" y="0"/>
                  </a:lnTo>
                  <a:lnTo>
                    <a:pt x="0" y="3530473"/>
                  </a:lnTo>
                  <a:lnTo>
                    <a:pt x="3520440" y="3530473"/>
                  </a:lnTo>
                  <a:lnTo>
                    <a:pt x="3520440" y="2259076"/>
                  </a:lnTo>
                  <a:lnTo>
                    <a:pt x="4526280" y="2259076"/>
                  </a:lnTo>
                  <a:lnTo>
                    <a:pt x="4526280" y="2597531"/>
                  </a:lnTo>
                  <a:lnTo>
                    <a:pt x="8494776" y="2597531"/>
                  </a:lnTo>
                  <a:lnTo>
                    <a:pt x="8494776" y="5103596"/>
                  </a:lnTo>
                  <a:lnTo>
                    <a:pt x="12088368" y="5103596"/>
                  </a:lnTo>
                  <a:lnTo>
                    <a:pt x="12088368" y="1563979"/>
                  </a:lnTo>
                  <a:close/>
                </a:path>
              </a:pathLst>
            </a:custGeom>
            <a:solidFill>
              <a:srgbClr val="FFFFFF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8940">
              <a:lnSpc>
                <a:spcPct val="100000"/>
              </a:lnSpc>
              <a:spcBef>
                <a:spcPts val="100"/>
              </a:spcBef>
            </a:pPr>
            <a:r>
              <a:rPr dirty="0"/>
              <a:t>И</a:t>
            </a:r>
            <a:r>
              <a:rPr spc="-55" dirty="0"/>
              <a:t> </a:t>
            </a:r>
            <a:r>
              <a:rPr dirty="0"/>
              <a:t>снова</a:t>
            </a:r>
            <a:r>
              <a:rPr spc="-55" dirty="0"/>
              <a:t> </a:t>
            </a:r>
            <a:r>
              <a:rPr dirty="0"/>
              <a:t>про</a:t>
            </a:r>
            <a:r>
              <a:rPr spc="-55" dirty="0"/>
              <a:t> </a:t>
            </a:r>
            <a:r>
              <a:rPr spc="-10" dirty="0"/>
              <a:t>внимание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86801" y="3462987"/>
            <a:ext cx="3374219" cy="316231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Решение:</a:t>
            </a:r>
            <a:r>
              <a:rPr spc="-55" dirty="0"/>
              <a:t> </a:t>
            </a:r>
            <a:r>
              <a:rPr dirty="0"/>
              <a:t>перейдём</a:t>
            </a:r>
            <a:r>
              <a:rPr spc="-65" dirty="0"/>
              <a:t> </a:t>
            </a:r>
            <a:r>
              <a:rPr dirty="0"/>
              <a:t>к</a:t>
            </a:r>
            <a:r>
              <a:rPr spc="-55" dirty="0"/>
              <a:t> </a:t>
            </a:r>
            <a:r>
              <a:rPr dirty="0">
                <a:solidFill>
                  <a:srgbClr val="FF0000"/>
                </a:solidFill>
              </a:rPr>
              <a:t>sparse</a:t>
            </a:r>
            <a:r>
              <a:rPr spc="-55" dirty="0">
                <a:solidFill>
                  <a:srgbClr val="FF0000"/>
                </a:solidFill>
              </a:rPr>
              <a:t> </a:t>
            </a:r>
            <a:r>
              <a:rPr spc="-10" dirty="0"/>
              <a:t>attention</a:t>
            </a:r>
          </a:p>
          <a:p>
            <a:pPr marL="297815" indent="-28511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7815" algn="l"/>
              </a:tabLst>
            </a:pPr>
            <a:r>
              <a:rPr spc="-10" dirty="0"/>
              <a:t>проанализируем</a:t>
            </a:r>
            <a:r>
              <a:rPr spc="-30" dirty="0"/>
              <a:t> </a:t>
            </a:r>
            <a:r>
              <a:rPr dirty="0"/>
              <a:t>паттерны</a:t>
            </a:r>
            <a:r>
              <a:rPr spc="-10" dirty="0"/>
              <a:t> </a:t>
            </a:r>
            <a:r>
              <a:rPr dirty="0"/>
              <a:t>в</a:t>
            </a:r>
            <a:r>
              <a:rPr spc="-40" dirty="0"/>
              <a:t> </a:t>
            </a:r>
            <a:r>
              <a:rPr dirty="0"/>
              <a:t>обученной</a:t>
            </a:r>
            <a:r>
              <a:rPr spc="-50" dirty="0"/>
              <a:t> </a:t>
            </a:r>
            <a:r>
              <a:rPr spc="-10" dirty="0"/>
              <a:t>модели</a:t>
            </a:r>
          </a:p>
          <a:p>
            <a:pPr marL="297815" indent="-285115">
              <a:lnSpc>
                <a:spcPct val="100000"/>
              </a:lnSpc>
              <a:buFont typeface="Arial MT"/>
              <a:buChar char="•"/>
              <a:tabLst>
                <a:tab pos="297815" algn="l"/>
                <a:tab pos="2118995" algn="l"/>
              </a:tabLst>
            </a:pPr>
            <a:r>
              <a:rPr spc="-10" dirty="0"/>
              <a:t>факторизуем</a:t>
            </a:r>
            <a:r>
              <a:rPr spc="-30" dirty="0"/>
              <a:t> </a:t>
            </a:r>
            <a:r>
              <a:rPr spc="-25" dirty="0"/>
              <a:t>на</a:t>
            </a:r>
            <a:r>
              <a:rPr dirty="0"/>
              <a:t>	</a:t>
            </a:r>
            <a:r>
              <a:rPr spc="-10" dirty="0"/>
              <a:t>компонент</a:t>
            </a:r>
          </a:p>
          <a:p>
            <a:pPr marL="297815" indent="-28511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7815" algn="l"/>
                <a:tab pos="871219" algn="l"/>
              </a:tabLst>
            </a:pPr>
            <a:r>
              <a:rPr spc="-25" dirty="0"/>
              <a:t>при</a:t>
            </a:r>
            <a:r>
              <a:rPr dirty="0"/>
              <a:t>	=</a:t>
            </a:r>
            <a:r>
              <a:rPr spc="-65" dirty="0"/>
              <a:t> </a:t>
            </a:r>
            <a:r>
              <a:rPr dirty="0"/>
              <a:t>2</a:t>
            </a:r>
            <a:r>
              <a:rPr spc="-35" dirty="0"/>
              <a:t> </a:t>
            </a:r>
            <a:r>
              <a:rPr dirty="0"/>
              <a:t>введём</a:t>
            </a:r>
            <a:r>
              <a:rPr spc="-45" dirty="0"/>
              <a:t> </a:t>
            </a:r>
            <a:r>
              <a:rPr dirty="0"/>
              <a:t>следующую</a:t>
            </a:r>
            <a:r>
              <a:rPr spc="-40" dirty="0"/>
              <a:t> </a:t>
            </a:r>
            <a:r>
              <a:rPr spc="-10" dirty="0"/>
              <a:t>логику:</a:t>
            </a:r>
          </a:p>
          <a:p>
            <a:pPr marL="754380" lvl="1" indent="-284480">
              <a:lnSpc>
                <a:spcPct val="100000"/>
              </a:lnSpc>
              <a:spcBef>
                <a:spcPts val="5"/>
              </a:spcBef>
              <a:buFont typeface="Courier New"/>
              <a:buChar char="o"/>
              <a:tabLst>
                <a:tab pos="754380" algn="l"/>
              </a:tabLst>
            </a:pPr>
            <a:r>
              <a:rPr sz="1800" dirty="0">
                <a:latin typeface="Calibri"/>
                <a:cs typeface="Calibri"/>
              </a:rPr>
              <a:t>один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фактор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отвечает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за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local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фичи</a:t>
            </a:r>
            <a:endParaRPr sz="1800">
              <a:latin typeface="Calibri"/>
              <a:cs typeface="Calibri"/>
            </a:endParaRPr>
          </a:p>
          <a:p>
            <a:pPr marL="754380" lvl="1" indent="-284480">
              <a:lnSpc>
                <a:spcPct val="100000"/>
              </a:lnSpc>
              <a:buFont typeface="Courier New"/>
              <a:buChar char="o"/>
              <a:tabLst>
                <a:tab pos="754380" algn="l"/>
              </a:tabLst>
            </a:pPr>
            <a:r>
              <a:rPr sz="1800" dirty="0">
                <a:latin typeface="Calibri"/>
                <a:cs typeface="Calibri"/>
              </a:rPr>
              <a:t>второй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—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за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global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00584" y="1316989"/>
            <a:ext cx="12038330" cy="5389880"/>
            <a:chOff x="100584" y="1316989"/>
            <a:chExt cx="12038330" cy="538988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0584" y="1316989"/>
              <a:ext cx="3547872" cy="342074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96255" y="3046902"/>
              <a:ext cx="3542331" cy="332757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48532" y="3840479"/>
              <a:ext cx="1381734" cy="110147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906003" y="5179186"/>
              <a:ext cx="1478534" cy="1527149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4379976" y="1701164"/>
            <a:ext cx="5038725" cy="823594"/>
            <a:chOff x="4379976" y="1701164"/>
            <a:chExt cx="5038725" cy="823594"/>
          </a:xfrm>
        </p:grpSpPr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263640" y="1957247"/>
              <a:ext cx="201167" cy="301828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056632" y="2213406"/>
              <a:ext cx="201167" cy="310972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379976" y="1701164"/>
              <a:ext cx="5038725" cy="512445"/>
            </a:xfrm>
            <a:custGeom>
              <a:avLst/>
              <a:gdLst/>
              <a:ahLst/>
              <a:cxnLst/>
              <a:rect l="l" t="t" r="r" b="b"/>
              <a:pathLst>
                <a:path w="5038725" h="512444">
                  <a:moveTo>
                    <a:pt x="5038344" y="0"/>
                  </a:moveTo>
                  <a:lnTo>
                    <a:pt x="0" y="0"/>
                  </a:lnTo>
                  <a:lnTo>
                    <a:pt x="0" y="512190"/>
                  </a:lnTo>
                  <a:lnTo>
                    <a:pt x="5038344" y="512190"/>
                  </a:lnTo>
                  <a:lnTo>
                    <a:pt x="5038344" y="0"/>
                  </a:lnTo>
                  <a:close/>
                </a:path>
              </a:pathLst>
            </a:custGeom>
            <a:solidFill>
              <a:srgbClr val="FFFFFF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8940">
              <a:lnSpc>
                <a:spcPct val="100000"/>
              </a:lnSpc>
              <a:spcBef>
                <a:spcPts val="100"/>
              </a:spcBef>
            </a:pPr>
            <a:r>
              <a:rPr dirty="0"/>
              <a:t>И</a:t>
            </a:r>
            <a:r>
              <a:rPr spc="-55" dirty="0"/>
              <a:t> </a:t>
            </a:r>
            <a:r>
              <a:rPr dirty="0"/>
              <a:t>снова</a:t>
            </a:r>
            <a:r>
              <a:rPr spc="-55" dirty="0"/>
              <a:t> </a:t>
            </a:r>
            <a:r>
              <a:rPr dirty="0"/>
              <a:t>про</a:t>
            </a:r>
            <a:r>
              <a:rPr spc="-55" dirty="0"/>
              <a:t> </a:t>
            </a:r>
            <a:r>
              <a:rPr spc="-10" dirty="0"/>
              <a:t>внимание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86801" y="3462987"/>
            <a:ext cx="3374219" cy="316231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Решение:</a:t>
            </a:r>
            <a:r>
              <a:rPr spc="-55" dirty="0"/>
              <a:t> </a:t>
            </a:r>
            <a:r>
              <a:rPr dirty="0"/>
              <a:t>перейдём</a:t>
            </a:r>
            <a:r>
              <a:rPr spc="-65" dirty="0"/>
              <a:t> </a:t>
            </a:r>
            <a:r>
              <a:rPr dirty="0"/>
              <a:t>к</a:t>
            </a:r>
            <a:r>
              <a:rPr spc="-55" dirty="0"/>
              <a:t> </a:t>
            </a:r>
            <a:r>
              <a:rPr dirty="0">
                <a:solidFill>
                  <a:srgbClr val="FF0000"/>
                </a:solidFill>
              </a:rPr>
              <a:t>sparse</a:t>
            </a:r>
            <a:r>
              <a:rPr spc="-55" dirty="0">
                <a:solidFill>
                  <a:srgbClr val="FF0000"/>
                </a:solidFill>
              </a:rPr>
              <a:t> </a:t>
            </a:r>
            <a:r>
              <a:rPr spc="-10" dirty="0"/>
              <a:t>attention</a:t>
            </a:r>
          </a:p>
          <a:p>
            <a:pPr marL="297815" indent="-28511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7815" algn="l"/>
              </a:tabLst>
            </a:pPr>
            <a:r>
              <a:rPr spc="-10" dirty="0"/>
              <a:t>проанализируем</a:t>
            </a:r>
            <a:r>
              <a:rPr spc="-30" dirty="0"/>
              <a:t> </a:t>
            </a:r>
            <a:r>
              <a:rPr dirty="0"/>
              <a:t>паттерны</a:t>
            </a:r>
            <a:r>
              <a:rPr spc="-10" dirty="0"/>
              <a:t> </a:t>
            </a:r>
            <a:r>
              <a:rPr dirty="0"/>
              <a:t>в</a:t>
            </a:r>
            <a:r>
              <a:rPr spc="-40" dirty="0"/>
              <a:t> </a:t>
            </a:r>
            <a:r>
              <a:rPr dirty="0"/>
              <a:t>обученной</a:t>
            </a:r>
            <a:r>
              <a:rPr spc="-50" dirty="0"/>
              <a:t> </a:t>
            </a:r>
            <a:r>
              <a:rPr spc="-10" dirty="0"/>
              <a:t>модели</a:t>
            </a:r>
          </a:p>
          <a:p>
            <a:pPr marL="297815" indent="-285115">
              <a:lnSpc>
                <a:spcPct val="100000"/>
              </a:lnSpc>
              <a:buFont typeface="Arial MT"/>
              <a:buChar char="•"/>
              <a:tabLst>
                <a:tab pos="297815" algn="l"/>
                <a:tab pos="2118995" algn="l"/>
              </a:tabLst>
            </a:pPr>
            <a:r>
              <a:rPr spc="-10" dirty="0"/>
              <a:t>факторизуем</a:t>
            </a:r>
            <a:r>
              <a:rPr spc="-30" dirty="0"/>
              <a:t> </a:t>
            </a:r>
            <a:r>
              <a:rPr spc="-25" dirty="0"/>
              <a:t>на</a:t>
            </a:r>
            <a:r>
              <a:rPr dirty="0"/>
              <a:t>	</a:t>
            </a:r>
            <a:r>
              <a:rPr spc="-10" dirty="0"/>
              <a:t>компонент</a:t>
            </a:r>
          </a:p>
          <a:p>
            <a:pPr marL="297815" indent="-28511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7815" algn="l"/>
                <a:tab pos="871219" algn="l"/>
              </a:tabLst>
            </a:pPr>
            <a:r>
              <a:rPr spc="-25" dirty="0"/>
              <a:t>при</a:t>
            </a:r>
            <a:r>
              <a:rPr dirty="0"/>
              <a:t>	=</a:t>
            </a:r>
            <a:r>
              <a:rPr spc="-65" dirty="0"/>
              <a:t> </a:t>
            </a:r>
            <a:r>
              <a:rPr dirty="0"/>
              <a:t>2</a:t>
            </a:r>
            <a:r>
              <a:rPr spc="-35" dirty="0"/>
              <a:t> </a:t>
            </a:r>
            <a:r>
              <a:rPr dirty="0"/>
              <a:t>введём</a:t>
            </a:r>
            <a:r>
              <a:rPr spc="-45" dirty="0"/>
              <a:t> </a:t>
            </a:r>
            <a:r>
              <a:rPr dirty="0"/>
              <a:t>следующую</a:t>
            </a:r>
            <a:r>
              <a:rPr spc="-40" dirty="0"/>
              <a:t> </a:t>
            </a:r>
            <a:r>
              <a:rPr spc="-10" dirty="0"/>
              <a:t>логику:</a:t>
            </a:r>
          </a:p>
          <a:p>
            <a:pPr marL="754380" lvl="1" indent="-284480">
              <a:lnSpc>
                <a:spcPct val="100000"/>
              </a:lnSpc>
              <a:spcBef>
                <a:spcPts val="5"/>
              </a:spcBef>
              <a:buFont typeface="Courier New"/>
              <a:buChar char="o"/>
              <a:tabLst>
                <a:tab pos="754380" algn="l"/>
              </a:tabLst>
            </a:pPr>
            <a:r>
              <a:rPr sz="1800" dirty="0">
                <a:latin typeface="Calibri"/>
                <a:cs typeface="Calibri"/>
              </a:rPr>
              <a:t>один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фактор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отвечает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за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local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фичи</a:t>
            </a:r>
            <a:endParaRPr sz="1800">
              <a:latin typeface="Calibri"/>
              <a:cs typeface="Calibri"/>
            </a:endParaRPr>
          </a:p>
          <a:p>
            <a:pPr marL="754380" lvl="1" indent="-284480">
              <a:lnSpc>
                <a:spcPct val="100000"/>
              </a:lnSpc>
              <a:buFont typeface="Courier New"/>
              <a:buChar char="o"/>
              <a:tabLst>
                <a:tab pos="754380" algn="l"/>
              </a:tabLst>
            </a:pPr>
            <a:r>
              <a:rPr sz="1800" dirty="0">
                <a:latin typeface="Calibri"/>
                <a:cs typeface="Calibri"/>
              </a:rPr>
              <a:t>второй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—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за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global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00584" y="1316989"/>
            <a:ext cx="12079605" cy="5416550"/>
            <a:chOff x="100584" y="1316989"/>
            <a:chExt cx="12079605" cy="541655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63639" y="1957247"/>
              <a:ext cx="201167" cy="30182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56631" y="2213406"/>
              <a:ext cx="201167" cy="3109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0584" y="1316989"/>
              <a:ext cx="3547872" cy="342074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96255" y="3046902"/>
              <a:ext cx="3542331" cy="332757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59279" y="4987568"/>
              <a:ext cx="1808849" cy="1745934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662172" y="4230116"/>
              <a:ext cx="2035175" cy="2404745"/>
            </a:xfrm>
            <a:custGeom>
              <a:avLst/>
              <a:gdLst/>
              <a:ahLst/>
              <a:cxnLst/>
              <a:rect l="l" t="t" r="r" b="b"/>
              <a:pathLst>
                <a:path w="2035175" h="2404745">
                  <a:moveTo>
                    <a:pt x="2034666" y="0"/>
                  </a:moveTo>
                  <a:lnTo>
                    <a:pt x="0" y="2404198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0584" y="1399412"/>
              <a:ext cx="12079605" cy="5048885"/>
            </a:xfrm>
            <a:custGeom>
              <a:avLst/>
              <a:gdLst/>
              <a:ahLst/>
              <a:cxnLst/>
              <a:rect l="l" t="t" r="r" b="b"/>
              <a:pathLst>
                <a:path w="12079605" h="5048885">
                  <a:moveTo>
                    <a:pt x="3602736" y="0"/>
                  </a:moveTo>
                  <a:lnTo>
                    <a:pt x="0" y="0"/>
                  </a:lnTo>
                  <a:lnTo>
                    <a:pt x="0" y="3292602"/>
                  </a:lnTo>
                  <a:lnTo>
                    <a:pt x="3602736" y="3292602"/>
                  </a:lnTo>
                  <a:lnTo>
                    <a:pt x="3602736" y="0"/>
                  </a:lnTo>
                  <a:close/>
                </a:path>
                <a:path w="12079605" h="5048885">
                  <a:moveTo>
                    <a:pt x="9317736" y="301752"/>
                  </a:moveTo>
                  <a:lnTo>
                    <a:pt x="4279392" y="301752"/>
                  </a:lnTo>
                  <a:lnTo>
                    <a:pt x="4279392" y="813943"/>
                  </a:lnTo>
                  <a:lnTo>
                    <a:pt x="9317736" y="813943"/>
                  </a:lnTo>
                  <a:lnTo>
                    <a:pt x="9317736" y="301752"/>
                  </a:lnTo>
                  <a:close/>
                </a:path>
                <a:path w="12079605" h="5048885">
                  <a:moveTo>
                    <a:pt x="12079224" y="1563966"/>
                  </a:moveTo>
                  <a:lnTo>
                    <a:pt x="8385048" y="1563966"/>
                  </a:lnTo>
                  <a:lnTo>
                    <a:pt x="8385048" y="5048720"/>
                  </a:lnTo>
                  <a:lnTo>
                    <a:pt x="12079224" y="5048720"/>
                  </a:lnTo>
                  <a:lnTo>
                    <a:pt x="12079224" y="1563966"/>
                  </a:lnTo>
                  <a:close/>
                </a:path>
              </a:pathLst>
            </a:custGeom>
            <a:solidFill>
              <a:srgbClr val="FFFFFF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496311" y="5597524"/>
              <a:ext cx="457200" cy="457834"/>
            </a:xfrm>
            <a:custGeom>
              <a:avLst/>
              <a:gdLst/>
              <a:ahLst/>
              <a:cxnLst/>
              <a:rect l="l" t="t" r="r" b="b"/>
              <a:pathLst>
                <a:path w="457200" h="457835">
                  <a:moveTo>
                    <a:pt x="0" y="228663"/>
                  </a:moveTo>
                  <a:lnTo>
                    <a:pt x="4644" y="182579"/>
                  </a:lnTo>
                  <a:lnTo>
                    <a:pt x="17966" y="139656"/>
                  </a:lnTo>
                  <a:lnTo>
                    <a:pt x="39045" y="100814"/>
                  </a:lnTo>
                  <a:lnTo>
                    <a:pt x="66960" y="66973"/>
                  </a:lnTo>
                  <a:lnTo>
                    <a:pt x="100793" y="39051"/>
                  </a:lnTo>
                  <a:lnTo>
                    <a:pt x="139624" y="17969"/>
                  </a:lnTo>
                  <a:lnTo>
                    <a:pt x="182533" y="4645"/>
                  </a:lnTo>
                  <a:lnTo>
                    <a:pt x="228600" y="0"/>
                  </a:lnTo>
                  <a:lnTo>
                    <a:pt x="274666" y="4645"/>
                  </a:lnTo>
                  <a:lnTo>
                    <a:pt x="317575" y="17969"/>
                  </a:lnTo>
                  <a:lnTo>
                    <a:pt x="356406" y="39051"/>
                  </a:lnTo>
                  <a:lnTo>
                    <a:pt x="390239" y="66973"/>
                  </a:lnTo>
                  <a:lnTo>
                    <a:pt x="418154" y="100814"/>
                  </a:lnTo>
                  <a:lnTo>
                    <a:pt x="439233" y="139656"/>
                  </a:lnTo>
                  <a:lnTo>
                    <a:pt x="452555" y="182579"/>
                  </a:lnTo>
                  <a:lnTo>
                    <a:pt x="457200" y="228663"/>
                  </a:lnTo>
                  <a:lnTo>
                    <a:pt x="452555" y="274743"/>
                  </a:lnTo>
                  <a:lnTo>
                    <a:pt x="439233" y="317662"/>
                  </a:lnTo>
                  <a:lnTo>
                    <a:pt x="418154" y="356502"/>
                  </a:lnTo>
                  <a:lnTo>
                    <a:pt x="390239" y="390342"/>
                  </a:lnTo>
                  <a:lnTo>
                    <a:pt x="356406" y="418263"/>
                  </a:lnTo>
                  <a:lnTo>
                    <a:pt x="317575" y="439345"/>
                  </a:lnTo>
                  <a:lnTo>
                    <a:pt x="274666" y="452668"/>
                  </a:lnTo>
                  <a:lnTo>
                    <a:pt x="228600" y="457314"/>
                  </a:lnTo>
                  <a:lnTo>
                    <a:pt x="182533" y="452668"/>
                  </a:lnTo>
                  <a:lnTo>
                    <a:pt x="139624" y="439345"/>
                  </a:lnTo>
                  <a:lnTo>
                    <a:pt x="100793" y="418263"/>
                  </a:lnTo>
                  <a:lnTo>
                    <a:pt x="66960" y="390342"/>
                  </a:lnTo>
                  <a:lnTo>
                    <a:pt x="39045" y="356502"/>
                  </a:lnTo>
                  <a:lnTo>
                    <a:pt x="17966" y="317662"/>
                  </a:lnTo>
                  <a:lnTo>
                    <a:pt x="4644" y="274743"/>
                  </a:lnTo>
                  <a:lnTo>
                    <a:pt x="0" y="228663"/>
                  </a:lnTo>
                  <a:close/>
                </a:path>
              </a:pathLst>
            </a:custGeom>
            <a:ln w="571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016251" y="3498469"/>
              <a:ext cx="2929255" cy="1505585"/>
            </a:xfrm>
            <a:custGeom>
              <a:avLst/>
              <a:gdLst/>
              <a:ahLst/>
              <a:cxnLst/>
              <a:rect l="l" t="t" r="r" b="b"/>
              <a:pathLst>
                <a:path w="2929254" h="1505585">
                  <a:moveTo>
                    <a:pt x="2929128" y="0"/>
                  </a:moveTo>
                  <a:lnTo>
                    <a:pt x="0" y="1505203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8940">
              <a:lnSpc>
                <a:spcPct val="100000"/>
              </a:lnSpc>
              <a:spcBef>
                <a:spcPts val="100"/>
              </a:spcBef>
            </a:pPr>
            <a:r>
              <a:rPr dirty="0"/>
              <a:t>И</a:t>
            </a:r>
            <a:r>
              <a:rPr spc="-55" dirty="0"/>
              <a:t> </a:t>
            </a:r>
            <a:r>
              <a:rPr dirty="0"/>
              <a:t>снова</a:t>
            </a:r>
            <a:r>
              <a:rPr spc="-55" dirty="0"/>
              <a:t> </a:t>
            </a:r>
            <a:r>
              <a:rPr dirty="0"/>
              <a:t>про</a:t>
            </a:r>
            <a:r>
              <a:rPr spc="-55" dirty="0"/>
              <a:t> </a:t>
            </a:r>
            <a:r>
              <a:rPr spc="-10" dirty="0"/>
              <a:t>внимание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86801" y="3462987"/>
            <a:ext cx="3374219" cy="316231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Решение:</a:t>
            </a:r>
            <a:r>
              <a:rPr spc="-55" dirty="0"/>
              <a:t> </a:t>
            </a:r>
            <a:r>
              <a:rPr dirty="0"/>
              <a:t>перейдём</a:t>
            </a:r>
            <a:r>
              <a:rPr spc="-65" dirty="0"/>
              <a:t> </a:t>
            </a:r>
            <a:r>
              <a:rPr dirty="0"/>
              <a:t>к</a:t>
            </a:r>
            <a:r>
              <a:rPr spc="-55" dirty="0"/>
              <a:t> </a:t>
            </a:r>
            <a:r>
              <a:rPr dirty="0">
                <a:solidFill>
                  <a:srgbClr val="FF0000"/>
                </a:solidFill>
              </a:rPr>
              <a:t>sparse</a:t>
            </a:r>
            <a:r>
              <a:rPr spc="-55" dirty="0">
                <a:solidFill>
                  <a:srgbClr val="FF0000"/>
                </a:solidFill>
              </a:rPr>
              <a:t> </a:t>
            </a:r>
            <a:r>
              <a:rPr spc="-10" dirty="0"/>
              <a:t>attention</a:t>
            </a:r>
          </a:p>
          <a:p>
            <a:pPr marL="297815" indent="-28511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7815" algn="l"/>
              </a:tabLst>
            </a:pPr>
            <a:r>
              <a:rPr spc="-10" dirty="0"/>
              <a:t>проанализируем</a:t>
            </a:r>
            <a:r>
              <a:rPr spc="-30" dirty="0"/>
              <a:t> </a:t>
            </a:r>
            <a:r>
              <a:rPr dirty="0"/>
              <a:t>паттерны</a:t>
            </a:r>
            <a:r>
              <a:rPr spc="-10" dirty="0"/>
              <a:t> </a:t>
            </a:r>
            <a:r>
              <a:rPr dirty="0"/>
              <a:t>в</a:t>
            </a:r>
            <a:r>
              <a:rPr spc="-40" dirty="0"/>
              <a:t> </a:t>
            </a:r>
            <a:r>
              <a:rPr dirty="0"/>
              <a:t>обученной</a:t>
            </a:r>
            <a:r>
              <a:rPr spc="-50" dirty="0"/>
              <a:t> </a:t>
            </a:r>
            <a:r>
              <a:rPr spc="-10" dirty="0"/>
              <a:t>модели</a:t>
            </a:r>
          </a:p>
          <a:p>
            <a:pPr marL="297815" indent="-285115">
              <a:lnSpc>
                <a:spcPct val="100000"/>
              </a:lnSpc>
              <a:buFont typeface="Arial MT"/>
              <a:buChar char="•"/>
              <a:tabLst>
                <a:tab pos="297815" algn="l"/>
                <a:tab pos="2118995" algn="l"/>
              </a:tabLst>
            </a:pPr>
            <a:r>
              <a:rPr spc="-10" dirty="0"/>
              <a:t>факторизуем</a:t>
            </a:r>
            <a:r>
              <a:rPr spc="-30" dirty="0"/>
              <a:t> </a:t>
            </a:r>
            <a:r>
              <a:rPr spc="-25" dirty="0"/>
              <a:t>на</a:t>
            </a:r>
            <a:r>
              <a:rPr dirty="0"/>
              <a:t>	</a:t>
            </a:r>
            <a:r>
              <a:rPr spc="-10" dirty="0"/>
              <a:t>компонент</a:t>
            </a:r>
          </a:p>
          <a:p>
            <a:pPr marL="297815" indent="-28511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7815" algn="l"/>
                <a:tab pos="871219" algn="l"/>
              </a:tabLst>
            </a:pPr>
            <a:r>
              <a:rPr spc="-25" dirty="0"/>
              <a:t>при</a:t>
            </a:r>
            <a:r>
              <a:rPr dirty="0"/>
              <a:t>	=</a:t>
            </a:r>
            <a:r>
              <a:rPr spc="-65" dirty="0"/>
              <a:t> </a:t>
            </a:r>
            <a:r>
              <a:rPr dirty="0"/>
              <a:t>2</a:t>
            </a:r>
            <a:r>
              <a:rPr spc="-35" dirty="0"/>
              <a:t> </a:t>
            </a:r>
            <a:r>
              <a:rPr dirty="0"/>
              <a:t>введём</a:t>
            </a:r>
            <a:r>
              <a:rPr spc="-45" dirty="0"/>
              <a:t> </a:t>
            </a:r>
            <a:r>
              <a:rPr dirty="0"/>
              <a:t>следующую</a:t>
            </a:r>
            <a:r>
              <a:rPr spc="-40" dirty="0"/>
              <a:t> </a:t>
            </a:r>
            <a:r>
              <a:rPr spc="-10" dirty="0"/>
              <a:t>логику:</a:t>
            </a:r>
          </a:p>
          <a:p>
            <a:pPr marL="754380" lvl="1" indent="-284480">
              <a:lnSpc>
                <a:spcPct val="100000"/>
              </a:lnSpc>
              <a:spcBef>
                <a:spcPts val="5"/>
              </a:spcBef>
              <a:buFont typeface="Courier New"/>
              <a:buChar char="o"/>
              <a:tabLst>
                <a:tab pos="754380" algn="l"/>
              </a:tabLst>
            </a:pPr>
            <a:r>
              <a:rPr sz="1800" dirty="0">
                <a:latin typeface="Calibri"/>
                <a:cs typeface="Calibri"/>
              </a:rPr>
              <a:t>один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фактор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отвечает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за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local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фичи</a:t>
            </a:r>
            <a:endParaRPr sz="1800">
              <a:latin typeface="Calibri"/>
              <a:cs typeface="Calibri"/>
            </a:endParaRPr>
          </a:p>
          <a:p>
            <a:pPr marL="754380" lvl="1" indent="-284480">
              <a:lnSpc>
                <a:spcPct val="100000"/>
              </a:lnSpc>
              <a:buFont typeface="Courier New"/>
              <a:buChar char="o"/>
              <a:tabLst>
                <a:tab pos="754380" algn="l"/>
              </a:tabLst>
            </a:pPr>
            <a:r>
              <a:rPr sz="1800" dirty="0">
                <a:latin typeface="Calibri"/>
                <a:cs typeface="Calibri"/>
              </a:rPr>
              <a:t>второй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—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за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global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00584" y="1316989"/>
            <a:ext cx="12079605" cy="5416550"/>
            <a:chOff x="100584" y="1316989"/>
            <a:chExt cx="12079605" cy="541655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63639" y="1957247"/>
              <a:ext cx="201167" cy="30182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56631" y="2213406"/>
              <a:ext cx="201167" cy="3109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0584" y="1316989"/>
              <a:ext cx="3547872" cy="342074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96255" y="3046902"/>
              <a:ext cx="3542331" cy="332757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59279" y="4987568"/>
              <a:ext cx="1808849" cy="1745934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662172" y="4230116"/>
              <a:ext cx="2035175" cy="2404745"/>
            </a:xfrm>
            <a:custGeom>
              <a:avLst/>
              <a:gdLst/>
              <a:ahLst/>
              <a:cxnLst/>
              <a:rect l="l" t="t" r="r" b="b"/>
              <a:pathLst>
                <a:path w="2035175" h="2404745">
                  <a:moveTo>
                    <a:pt x="2034666" y="0"/>
                  </a:moveTo>
                  <a:lnTo>
                    <a:pt x="0" y="2404198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986015" y="3401567"/>
              <a:ext cx="1458468" cy="112928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212080" y="3264407"/>
              <a:ext cx="3076955" cy="2967228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00584" y="1399412"/>
              <a:ext cx="12079605" cy="5048885"/>
            </a:xfrm>
            <a:custGeom>
              <a:avLst/>
              <a:gdLst/>
              <a:ahLst/>
              <a:cxnLst/>
              <a:rect l="l" t="t" r="r" b="b"/>
              <a:pathLst>
                <a:path w="12079605" h="5048885">
                  <a:moveTo>
                    <a:pt x="3602736" y="0"/>
                  </a:moveTo>
                  <a:lnTo>
                    <a:pt x="0" y="0"/>
                  </a:lnTo>
                  <a:lnTo>
                    <a:pt x="0" y="3292602"/>
                  </a:lnTo>
                  <a:lnTo>
                    <a:pt x="3602736" y="3292602"/>
                  </a:lnTo>
                  <a:lnTo>
                    <a:pt x="3602736" y="0"/>
                  </a:lnTo>
                  <a:close/>
                </a:path>
                <a:path w="12079605" h="5048885">
                  <a:moveTo>
                    <a:pt x="9317736" y="301752"/>
                  </a:moveTo>
                  <a:lnTo>
                    <a:pt x="4279392" y="301752"/>
                  </a:lnTo>
                  <a:lnTo>
                    <a:pt x="4279392" y="813943"/>
                  </a:lnTo>
                  <a:lnTo>
                    <a:pt x="9317736" y="813943"/>
                  </a:lnTo>
                  <a:lnTo>
                    <a:pt x="9317736" y="301752"/>
                  </a:lnTo>
                  <a:close/>
                </a:path>
                <a:path w="12079605" h="5048885">
                  <a:moveTo>
                    <a:pt x="12079224" y="1563966"/>
                  </a:moveTo>
                  <a:lnTo>
                    <a:pt x="8385048" y="1563966"/>
                  </a:lnTo>
                  <a:lnTo>
                    <a:pt x="8385048" y="5048720"/>
                  </a:lnTo>
                  <a:lnTo>
                    <a:pt x="12079224" y="5048720"/>
                  </a:lnTo>
                  <a:lnTo>
                    <a:pt x="12079224" y="1563966"/>
                  </a:lnTo>
                  <a:close/>
                </a:path>
              </a:pathLst>
            </a:custGeom>
            <a:solidFill>
              <a:srgbClr val="FFFFFF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016251" y="3498469"/>
              <a:ext cx="2929255" cy="1505585"/>
            </a:xfrm>
            <a:custGeom>
              <a:avLst/>
              <a:gdLst/>
              <a:ahLst/>
              <a:cxnLst/>
              <a:rect l="l" t="t" r="r" b="b"/>
              <a:pathLst>
                <a:path w="2929254" h="1505585">
                  <a:moveTo>
                    <a:pt x="2929128" y="0"/>
                  </a:moveTo>
                  <a:lnTo>
                    <a:pt x="0" y="1505203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8940">
              <a:lnSpc>
                <a:spcPct val="100000"/>
              </a:lnSpc>
              <a:spcBef>
                <a:spcPts val="100"/>
              </a:spcBef>
            </a:pPr>
            <a:r>
              <a:rPr dirty="0"/>
              <a:t>Хорошо</a:t>
            </a:r>
            <a:r>
              <a:rPr spc="-125" dirty="0"/>
              <a:t> </a:t>
            </a:r>
            <a:r>
              <a:rPr dirty="0"/>
              <a:t>ли</a:t>
            </a:r>
            <a:r>
              <a:rPr spc="-100" dirty="0"/>
              <a:t> </a:t>
            </a:r>
            <a:r>
              <a:rPr dirty="0"/>
              <a:t>работает</a:t>
            </a:r>
            <a:r>
              <a:rPr spc="-75" dirty="0"/>
              <a:t> </a:t>
            </a:r>
            <a:r>
              <a:rPr dirty="0"/>
              <a:t>sparse</a:t>
            </a:r>
            <a:r>
              <a:rPr spc="-145" dirty="0"/>
              <a:t> </a:t>
            </a:r>
            <a:r>
              <a:rPr spc="-10" dirty="0"/>
              <a:t>attention?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9481" y="1753724"/>
            <a:ext cx="6197310" cy="166073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64338" y="1972777"/>
            <a:ext cx="5144910" cy="412075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8940">
              <a:lnSpc>
                <a:spcPct val="100000"/>
              </a:lnSpc>
              <a:spcBef>
                <a:spcPts val="100"/>
              </a:spcBef>
            </a:pPr>
            <a:r>
              <a:rPr dirty="0"/>
              <a:t>Хорошо</a:t>
            </a:r>
            <a:r>
              <a:rPr spc="-125" dirty="0"/>
              <a:t> </a:t>
            </a:r>
            <a:r>
              <a:rPr dirty="0"/>
              <a:t>ли</a:t>
            </a:r>
            <a:r>
              <a:rPr spc="-100" dirty="0"/>
              <a:t> </a:t>
            </a:r>
            <a:r>
              <a:rPr dirty="0"/>
              <a:t>работает</a:t>
            </a:r>
            <a:r>
              <a:rPr spc="-75" dirty="0"/>
              <a:t> </a:t>
            </a:r>
            <a:r>
              <a:rPr dirty="0"/>
              <a:t>sparse</a:t>
            </a:r>
            <a:r>
              <a:rPr spc="-145" dirty="0"/>
              <a:t> </a:t>
            </a:r>
            <a:r>
              <a:rPr spc="-10" dirty="0"/>
              <a:t>attention?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5719" y="1545716"/>
            <a:ext cx="12052300" cy="4801870"/>
            <a:chOff x="45719" y="1545716"/>
            <a:chExt cx="12052300" cy="480187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9481" y="1753724"/>
              <a:ext cx="6197310" cy="166073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64337" y="1972777"/>
              <a:ext cx="5144910" cy="412075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5720" y="1545729"/>
              <a:ext cx="12052300" cy="4801870"/>
            </a:xfrm>
            <a:custGeom>
              <a:avLst/>
              <a:gdLst/>
              <a:ahLst/>
              <a:cxnLst/>
              <a:rect l="l" t="t" r="r" b="b"/>
              <a:pathLst>
                <a:path w="12052300" h="4801870">
                  <a:moveTo>
                    <a:pt x="12051792" y="155498"/>
                  </a:moveTo>
                  <a:lnTo>
                    <a:pt x="6437376" y="155498"/>
                  </a:lnTo>
                  <a:lnTo>
                    <a:pt x="6437376" y="0"/>
                  </a:lnTo>
                  <a:lnTo>
                    <a:pt x="0" y="0"/>
                  </a:lnTo>
                  <a:lnTo>
                    <a:pt x="0" y="2076183"/>
                  </a:lnTo>
                  <a:lnTo>
                    <a:pt x="6437376" y="2076183"/>
                  </a:lnTo>
                  <a:lnTo>
                    <a:pt x="6437376" y="4801794"/>
                  </a:lnTo>
                  <a:lnTo>
                    <a:pt x="12051792" y="4801794"/>
                  </a:lnTo>
                  <a:lnTo>
                    <a:pt x="12051792" y="155498"/>
                  </a:lnTo>
                  <a:close/>
                </a:path>
              </a:pathLst>
            </a:custGeom>
            <a:solidFill>
              <a:srgbClr val="FFFFFF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8015" y="4045554"/>
            <a:ext cx="6207796" cy="2291367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8940">
              <a:lnSpc>
                <a:spcPct val="100000"/>
              </a:lnSpc>
              <a:spcBef>
                <a:spcPts val="100"/>
              </a:spcBef>
            </a:pPr>
            <a:r>
              <a:rPr dirty="0"/>
              <a:t>Другие</a:t>
            </a:r>
            <a:r>
              <a:rPr spc="-130" dirty="0"/>
              <a:t> </a:t>
            </a:r>
            <a:r>
              <a:rPr dirty="0"/>
              <a:t>способы</a:t>
            </a:r>
            <a:r>
              <a:rPr spc="-125" dirty="0"/>
              <a:t> </a:t>
            </a:r>
            <a:r>
              <a:rPr spc="-10" dirty="0"/>
              <a:t>оптимизаций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59091" y="1614360"/>
            <a:ext cx="9191625" cy="2270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Segoe UI"/>
                <a:cs typeface="Segoe UI"/>
              </a:rPr>
              <a:t>(</a:t>
            </a:r>
            <a:r>
              <a:rPr sz="1800" b="1" spc="-10" dirty="0">
                <a:solidFill>
                  <a:srgbClr val="FF0000"/>
                </a:solidFill>
                <a:latin typeface="Segoe UI"/>
                <a:cs typeface="Segoe UI"/>
              </a:rPr>
              <a:t>GPT-</a:t>
            </a:r>
            <a:r>
              <a:rPr sz="1800" b="1" dirty="0">
                <a:solidFill>
                  <a:srgbClr val="FF0000"/>
                </a:solidFill>
                <a:latin typeface="Segoe UI"/>
                <a:cs typeface="Segoe UI"/>
              </a:rPr>
              <a:t>3</a:t>
            </a:r>
            <a:r>
              <a:rPr sz="1800" b="1" dirty="0">
                <a:latin typeface="Segoe UI"/>
                <a:cs typeface="Segoe UI"/>
              </a:rPr>
              <a:t>)</a:t>
            </a:r>
            <a:r>
              <a:rPr sz="1800" b="1" spc="-55" dirty="0">
                <a:latin typeface="Segoe UI"/>
                <a:cs typeface="Segoe UI"/>
              </a:rPr>
              <a:t> </a:t>
            </a:r>
            <a:r>
              <a:rPr sz="1800" b="1" dirty="0">
                <a:latin typeface="Segoe UI"/>
                <a:cs typeface="Segoe UI"/>
              </a:rPr>
              <a:t>Generating</a:t>
            </a:r>
            <a:r>
              <a:rPr sz="1800" b="1" spc="-5" dirty="0">
                <a:latin typeface="Segoe UI"/>
                <a:cs typeface="Segoe UI"/>
              </a:rPr>
              <a:t> </a:t>
            </a:r>
            <a:r>
              <a:rPr sz="1800" b="1" dirty="0">
                <a:latin typeface="Segoe UI"/>
                <a:cs typeface="Segoe UI"/>
              </a:rPr>
              <a:t>Long</a:t>
            </a:r>
            <a:r>
              <a:rPr sz="1800" b="1" spc="-70" dirty="0">
                <a:latin typeface="Segoe UI"/>
                <a:cs typeface="Segoe UI"/>
              </a:rPr>
              <a:t> </a:t>
            </a:r>
            <a:r>
              <a:rPr sz="1800" b="1" dirty="0">
                <a:latin typeface="Segoe UI"/>
                <a:cs typeface="Segoe UI"/>
              </a:rPr>
              <a:t>Sequences</a:t>
            </a:r>
            <a:r>
              <a:rPr sz="1800" b="1" spc="-105" dirty="0">
                <a:latin typeface="Segoe UI"/>
                <a:cs typeface="Segoe UI"/>
              </a:rPr>
              <a:t> </a:t>
            </a:r>
            <a:r>
              <a:rPr sz="1800" b="1" dirty="0">
                <a:latin typeface="Segoe UI"/>
                <a:cs typeface="Segoe UI"/>
              </a:rPr>
              <a:t>with</a:t>
            </a:r>
            <a:r>
              <a:rPr sz="1800" b="1" spc="-40" dirty="0">
                <a:latin typeface="Segoe UI"/>
                <a:cs typeface="Segoe UI"/>
              </a:rPr>
              <a:t> </a:t>
            </a:r>
            <a:r>
              <a:rPr sz="1800" b="1" dirty="0">
                <a:latin typeface="Segoe UI"/>
                <a:cs typeface="Segoe UI"/>
              </a:rPr>
              <a:t>Sparse</a:t>
            </a:r>
            <a:r>
              <a:rPr sz="1800" b="1" spc="-75" dirty="0">
                <a:latin typeface="Segoe UI"/>
                <a:cs typeface="Segoe UI"/>
              </a:rPr>
              <a:t> </a:t>
            </a:r>
            <a:r>
              <a:rPr sz="1800" b="1" dirty="0">
                <a:latin typeface="Segoe UI"/>
                <a:cs typeface="Segoe UI"/>
              </a:rPr>
              <a:t>Transformers:</a:t>
            </a:r>
            <a:r>
              <a:rPr sz="1800" b="1" spc="-5" dirty="0">
                <a:latin typeface="Segoe UI"/>
                <a:cs typeface="Segoe UI"/>
              </a:rPr>
              <a:t> </a:t>
            </a:r>
            <a:r>
              <a:rPr sz="1800" u="heavy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arxiv.org/abs/1904.10509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sz="1800" b="1" dirty="0">
                <a:latin typeface="Segoe UI"/>
                <a:cs typeface="Segoe UI"/>
              </a:rPr>
              <a:t>Reformer:</a:t>
            </a:r>
            <a:r>
              <a:rPr sz="1800" b="1" spc="20" dirty="0">
                <a:latin typeface="Segoe UI"/>
                <a:cs typeface="Segoe UI"/>
              </a:rPr>
              <a:t> </a:t>
            </a:r>
            <a:r>
              <a:rPr sz="1800" b="1" dirty="0">
                <a:latin typeface="Segoe UI"/>
                <a:cs typeface="Segoe UI"/>
              </a:rPr>
              <a:t>The</a:t>
            </a:r>
            <a:r>
              <a:rPr sz="1800" b="1" spc="-40" dirty="0">
                <a:latin typeface="Segoe UI"/>
                <a:cs typeface="Segoe UI"/>
              </a:rPr>
              <a:t> </a:t>
            </a:r>
            <a:r>
              <a:rPr sz="1800" b="1" dirty="0">
                <a:latin typeface="Segoe UI"/>
                <a:cs typeface="Segoe UI"/>
              </a:rPr>
              <a:t>Efficient</a:t>
            </a:r>
            <a:r>
              <a:rPr sz="1800" b="1" spc="-50" dirty="0">
                <a:latin typeface="Segoe UI"/>
                <a:cs typeface="Segoe UI"/>
              </a:rPr>
              <a:t> </a:t>
            </a:r>
            <a:r>
              <a:rPr sz="1800" b="1" spc="-10" dirty="0">
                <a:latin typeface="Segoe UI"/>
                <a:cs typeface="Segoe UI"/>
              </a:rPr>
              <a:t>Transformer:</a:t>
            </a:r>
            <a:r>
              <a:rPr sz="1800" b="1" spc="-20" dirty="0">
                <a:latin typeface="Segoe UI"/>
                <a:cs typeface="Segoe UI"/>
              </a:rPr>
              <a:t> </a:t>
            </a:r>
            <a:r>
              <a:rPr sz="1800" u="heavy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arxiv.org/abs/2001.04451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645"/>
              </a:spcBef>
            </a:pPr>
            <a:r>
              <a:rPr sz="1800" b="1" dirty="0">
                <a:latin typeface="Segoe UI"/>
                <a:cs typeface="Segoe UI"/>
              </a:rPr>
              <a:t>Longformer:</a:t>
            </a:r>
            <a:r>
              <a:rPr sz="1800" b="1" spc="-35" dirty="0">
                <a:latin typeface="Segoe UI"/>
                <a:cs typeface="Segoe UI"/>
              </a:rPr>
              <a:t> </a:t>
            </a:r>
            <a:r>
              <a:rPr sz="1800" b="1" dirty="0">
                <a:latin typeface="Segoe UI"/>
                <a:cs typeface="Segoe UI"/>
              </a:rPr>
              <a:t>The</a:t>
            </a:r>
            <a:r>
              <a:rPr sz="1800" b="1" spc="-25" dirty="0">
                <a:latin typeface="Segoe UI"/>
                <a:cs typeface="Segoe UI"/>
              </a:rPr>
              <a:t> </a:t>
            </a:r>
            <a:r>
              <a:rPr sz="1800" b="1" spc="-10" dirty="0">
                <a:latin typeface="Segoe UI"/>
                <a:cs typeface="Segoe UI"/>
              </a:rPr>
              <a:t>Long-</a:t>
            </a:r>
            <a:r>
              <a:rPr sz="1800" b="1" dirty="0">
                <a:latin typeface="Segoe UI"/>
                <a:cs typeface="Segoe UI"/>
              </a:rPr>
              <a:t>Document</a:t>
            </a:r>
            <a:r>
              <a:rPr sz="1800" b="1" spc="-35" dirty="0">
                <a:latin typeface="Segoe UI"/>
                <a:cs typeface="Segoe UI"/>
              </a:rPr>
              <a:t> </a:t>
            </a:r>
            <a:r>
              <a:rPr sz="1800" b="1" dirty="0">
                <a:latin typeface="Segoe UI"/>
                <a:cs typeface="Segoe UI"/>
              </a:rPr>
              <a:t>Transformer:</a:t>
            </a:r>
            <a:r>
              <a:rPr sz="1800" b="1" spc="-30" dirty="0">
                <a:latin typeface="Segoe UI"/>
                <a:cs typeface="Segoe UI"/>
              </a:rPr>
              <a:t> </a:t>
            </a:r>
            <a:r>
              <a:rPr sz="1800" u="heavy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arxiv.org/abs/2004.05150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910"/>
              </a:spcBef>
            </a:pPr>
            <a:r>
              <a:rPr sz="1800" b="1" dirty="0">
                <a:latin typeface="Segoe UI"/>
                <a:cs typeface="Segoe UI"/>
              </a:rPr>
              <a:t>Linformer:</a:t>
            </a:r>
            <a:r>
              <a:rPr sz="1800" b="1" spc="-15" dirty="0">
                <a:latin typeface="Segoe UI"/>
                <a:cs typeface="Segoe UI"/>
              </a:rPr>
              <a:t> </a:t>
            </a:r>
            <a:r>
              <a:rPr sz="1800" b="1" spc="-10" dirty="0">
                <a:latin typeface="Segoe UI"/>
                <a:cs typeface="Segoe UI"/>
              </a:rPr>
              <a:t>Self-</a:t>
            </a:r>
            <a:r>
              <a:rPr sz="1800" b="1" dirty="0">
                <a:latin typeface="Segoe UI"/>
                <a:cs typeface="Segoe UI"/>
              </a:rPr>
              <a:t>Attention</a:t>
            </a:r>
            <a:r>
              <a:rPr sz="1800" b="1" spc="-30" dirty="0">
                <a:latin typeface="Segoe UI"/>
                <a:cs typeface="Segoe UI"/>
              </a:rPr>
              <a:t> </a:t>
            </a:r>
            <a:r>
              <a:rPr sz="1800" b="1" dirty="0">
                <a:latin typeface="Segoe UI"/>
                <a:cs typeface="Segoe UI"/>
              </a:rPr>
              <a:t>with</a:t>
            </a:r>
            <a:r>
              <a:rPr sz="1800" b="1" spc="-25" dirty="0">
                <a:latin typeface="Segoe UI"/>
                <a:cs typeface="Segoe UI"/>
              </a:rPr>
              <a:t> </a:t>
            </a:r>
            <a:r>
              <a:rPr sz="1800" b="1" dirty="0">
                <a:latin typeface="Segoe UI"/>
                <a:cs typeface="Segoe UI"/>
              </a:rPr>
              <a:t>Linear</a:t>
            </a:r>
            <a:r>
              <a:rPr sz="1800" b="1" spc="-20" dirty="0">
                <a:latin typeface="Segoe UI"/>
                <a:cs typeface="Segoe UI"/>
              </a:rPr>
              <a:t> </a:t>
            </a:r>
            <a:r>
              <a:rPr sz="1800" b="1" dirty="0">
                <a:latin typeface="Segoe UI"/>
                <a:cs typeface="Segoe UI"/>
              </a:rPr>
              <a:t>Complexity:</a:t>
            </a:r>
            <a:r>
              <a:rPr sz="1800" b="1" spc="-40" dirty="0">
                <a:latin typeface="Segoe UI"/>
                <a:cs typeface="Segoe UI"/>
              </a:rPr>
              <a:t> </a:t>
            </a:r>
            <a:r>
              <a:rPr sz="1800" u="heavy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arxiv.org/abs/2006.04768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755"/>
              </a:spcBef>
            </a:pPr>
            <a:r>
              <a:rPr sz="1800" b="1" dirty="0">
                <a:latin typeface="Segoe UI"/>
                <a:cs typeface="Segoe UI"/>
              </a:rPr>
              <a:t>Rethinking</a:t>
            </a:r>
            <a:r>
              <a:rPr sz="1800" b="1" spc="-75" dirty="0">
                <a:latin typeface="Segoe UI"/>
                <a:cs typeface="Segoe UI"/>
              </a:rPr>
              <a:t> </a:t>
            </a:r>
            <a:r>
              <a:rPr sz="1800" b="1" dirty="0">
                <a:latin typeface="Segoe UI"/>
                <a:cs typeface="Segoe UI"/>
              </a:rPr>
              <a:t>Attention</a:t>
            </a:r>
            <a:r>
              <a:rPr sz="1800" b="1" spc="-50" dirty="0">
                <a:latin typeface="Segoe UI"/>
                <a:cs typeface="Segoe UI"/>
              </a:rPr>
              <a:t> </a:t>
            </a:r>
            <a:r>
              <a:rPr sz="1800" b="1" dirty="0">
                <a:latin typeface="Segoe UI"/>
                <a:cs typeface="Segoe UI"/>
              </a:rPr>
              <a:t>with</a:t>
            </a:r>
            <a:r>
              <a:rPr sz="1800" b="1" spc="-45" dirty="0">
                <a:latin typeface="Segoe UI"/>
                <a:cs typeface="Segoe UI"/>
              </a:rPr>
              <a:t> </a:t>
            </a:r>
            <a:r>
              <a:rPr sz="1800" b="1" dirty="0">
                <a:latin typeface="Segoe UI"/>
                <a:cs typeface="Segoe UI"/>
              </a:rPr>
              <a:t>Performers:</a:t>
            </a:r>
            <a:r>
              <a:rPr sz="1800" b="1" spc="-110" dirty="0">
                <a:latin typeface="Segoe UI"/>
                <a:cs typeface="Segoe UI"/>
              </a:rPr>
              <a:t> </a:t>
            </a:r>
            <a:r>
              <a:rPr sz="1800" u="heavy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arxiv.org/abs/2009.14794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701368" y="4545219"/>
            <a:ext cx="1738266" cy="20587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320175" y="4553476"/>
            <a:ext cx="2338477" cy="205205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888079" y="4553476"/>
            <a:ext cx="2411895" cy="205205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38912" y="1545742"/>
            <a:ext cx="402336" cy="39329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38912" y="2057933"/>
            <a:ext cx="402336" cy="39329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38912" y="2551836"/>
            <a:ext cx="402336" cy="38414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38912" y="3064027"/>
            <a:ext cx="402336" cy="393293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38912" y="3557930"/>
            <a:ext cx="402336" cy="393293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894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Но...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9550" y="1733551"/>
            <a:ext cx="4881198" cy="313837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32790" y="6377381"/>
            <a:ext cx="337502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Fitting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larger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networks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into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memory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8871" y="6374968"/>
            <a:ext cx="329184" cy="320116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894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Но...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9550" y="1733551"/>
            <a:ext cx="4881198" cy="313837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32790" y="6377381"/>
            <a:ext cx="337502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Fitting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larger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networks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into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memory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5719" y="1545757"/>
            <a:ext cx="6437630" cy="5222875"/>
            <a:chOff x="45719" y="1545757"/>
            <a:chExt cx="6437630" cy="522287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8872" y="6374968"/>
              <a:ext cx="329184" cy="32011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5719" y="1545757"/>
              <a:ext cx="6437630" cy="5222875"/>
            </a:xfrm>
            <a:custGeom>
              <a:avLst/>
              <a:gdLst/>
              <a:ahLst/>
              <a:cxnLst/>
              <a:rect l="l" t="t" r="r" b="b"/>
              <a:pathLst>
                <a:path w="6437630" h="5222875">
                  <a:moveTo>
                    <a:pt x="6437376" y="0"/>
                  </a:moveTo>
                  <a:lnTo>
                    <a:pt x="0" y="0"/>
                  </a:lnTo>
                  <a:lnTo>
                    <a:pt x="0" y="5222494"/>
                  </a:lnTo>
                  <a:lnTo>
                    <a:pt x="6437376" y="5222494"/>
                  </a:lnTo>
                  <a:lnTo>
                    <a:pt x="6437376" y="0"/>
                  </a:lnTo>
                  <a:close/>
                </a:path>
              </a:pathLst>
            </a:custGeom>
            <a:solidFill>
              <a:srgbClr val="FFFFFF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75704" y="850646"/>
            <a:ext cx="4709159" cy="2634106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695479" y="3943539"/>
            <a:ext cx="4914705" cy="1048768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894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Но...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5719" y="1545716"/>
            <a:ext cx="11750040" cy="3603625"/>
            <a:chOff x="45719" y="1545716"/>
            <a:chExt cx="11750040" cy="36036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9550" y="1733551"/>
              <a:ext cx="4881198" cy="313837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95479" y="3943539"/>
              <a:ext cx="4914705" cy="104876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5720" y="1545716"/>
              <a:ext cx="11750040" cy="3603625"/>
            </a:xfrm>
            <a:custGeom>
              <a:avLst/>
              <a:gdLst/>
              <a:ahLst/>
              <a:cxnLst/>
              <a:rect l="l" t="t" r="r" b="b"/>
              <a:pathLst>
                <a:path w="11750040" h="3603625">
                  <a:moveTo>
                    <a:pt x="11750040" y="2231644"/>
                  </a:moveTo>
                  <a:lnTo>
                    <a:pt x="6437376" y="2231644"/>
                  </a:lnTo>
                  <a:lnTo>
                    <a:pt x="6437376" y="0"/>
                  </a:lnTo>
                  <a:lnTo>
                    <a:pt x="0" y="0"/>
                  </a:lnTo>
                  <a:lnTo>
                    <a:pt x="0" y="3548761"/>
                  </a:lnTo>
                  <a:lnTo>
                    <a:pt x="5824728" y="3548761"/>
                  </a:lnTo>
                  <a:lnTo>
                    <a:pt x="5824728" y="3603625"/>
                  </a:lnTo>
                  <a:lnTo>
                    <a:pt x="11750040" y="3603625"/>
                  </a:lnTo>
                  <a:lnTo>
                    <a:pt x="11750040" y="2231644"/>
                  </a:lnTo>
                  <a:close/>
                </a:path>
              </a:pathLst>
            </a:custGeom>
            <a:solidFill>
              <a:srgbClr val="FFFFFF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32790" y="6377381"/>
            <a:ext cx="337502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Fitting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larger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networks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into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memory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5719" y="5917647"/>
            <a:ext cx="4407535" cy="915035"/>
            <a:chOff x="45719" y="5917647"/>
            <a:chExt cx="4407535" cy="915035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8872" y="6374968"/>
              <a:ext cx="329184" cy="32011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5719" y="5917647"/>
              <a:ext cx="4407535" cy="915035"/>
            </a:xfrm>
            <a:custGeom>
              <a:avLst/>
              <a:gdLst/>
              <a:ahLst/>
              <a:cxnLst/>
              <a:rect l="l" t="t" r="r" b="b"/>
              <a:pathLst>
                <a:path w="4407535" h="915034">
                  <a:moveTo>
                    <a:pt x="4407408" y="0"/>
                  </a:moveTo>
                  <a:lnTo>
                    <a:pt x="0" y="0"/>
                  </a:lnTo>
                  <a:lnTo>
                    <a:pt x="0" y="914628"/>
                  </a:lnTo>
                  <a:lnTo>
                    <a:pt x="4407408" y="914628"/>
                  </a:lnTo>
                  <a:lnTo>
                    <a:pt x="4407408" y="0"/>
                  </a:lnTo>
                  <a:close/>
                </a:path>
              </a:pathLst>
            </a:custGeom>
            <a:solidFill>
              <a:srgbClr val="FFFFFF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775704" y="850646"/>
            <a:ext cx="4709159" cy="2634106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760499" y="5666123"/>
            <a:ext cx="7129495" cy="996944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128"/>
          <p:cNvSpPr txBox="1">
            <a:spLocks noGrp="1"/>
          </p:cNvSpPr>
          <p:nvPr>
            <p:ph type="title"/>
          </p:nvPr>
        </p:nvSpPr>
        <p:spPr>
          <a:xfrm>
            <a:off x="279267" y="234300"/>
            <a:ext cx="8240000" cy="2575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ru" b="0" dirty="0">
                <a:solidFill>
                  <a:schemeClr val="tx1"/>
                </a:solidFill>
              </a:rPr>
              <a:t>Спасибо </a:t>
            </a:r>
            <a:endParaRPr b="0" dirty="0">
              <a:solidFill>
                <a:schemeClr val="tx1"/>
              </a:solidFill>
            </a:endParaRPr>
          </a:p>
          <a:p>
            <a:r>
              <a:rPr lang="ru" b="0" dirty="0">
                <a:solidFill>
                  <a:schemeClr val="tx1"/>
                </a:solidFill>
              </a:rPr>
              <a:t>за внимание!</a:t>
            </a:r>
            <a:endParaRPr b="0" dirty="0">
              <a:solidFill>
                <a:schemeClr val="tx1"/>
              </a:solidFill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C550ACE-0CEE-44E2-9107-E3C511DB23D2}"/>
              </a:ext>
            </a:extLst>
          </p:cNvPr>
          <p:cNvSpPr/>
          <p:nvPr/>
        </p:nvSpPr>
        <p:spPr>
          <a:xfrm>
            <a:off x="8172451" y="328613"/>
            <a:ext cx="1614488" cy="671512"/>
          </a:xfrm>
          <a:prstGeom prst="rect">
            <a:avLst/>
          </a:prstGeom>
          <a:solidFill>
            <a:srgbClr val="B4E915"/>
          </a:solidFill>
          <a:ln>
            <a:solidFill>
              <a:srgbClr val="B4E9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41670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</TotalTime>
  <Words>1472</Words>
  <Application>Microsoft Office PowerPoint</Application>
  <PresentationFormat>Широкоэкранный</PresentationFormat>
  <Paragraphs>484</Paragraphs>
  <Slides>42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42</vt:i4>
      </vt:variant>
    </vt:vector>
  </HeadingPairs>
  <TitlesOfParts>
    <vt:vector size="51" baseType="lpstr">
      <vt:lpstr>Arial MT</vt:lpstr>
      <vt:lpstr>Calibri</vt:lpstr>
      <vt:lpstr>Calibri Light</vt:lpstr>
      <vt:lpstr>Courier New</vt:lpstr>
      <vt:lpstr>Montserrat</vt:lpstr>
      <vt:lpstr>Segoe UI</vt:lpstr>
      <vt:lpstr>Times New Roman</vt:lpstr>
      <vt:lpstr>Verdana</vt:lpstr>
      <vt:lpstr>Office Theme</vt:lpstr>
      <vt:lpstr>Введение в глубокое обучение</vt:lpstr>
      <vt:lpstr>План:</vt:lpstr>
      <vt:lpstr>GPT-3: Больше, выше, толще</vt:lpstr>
      <vt:lpstr>GPT-3: Больше, выше, толще</vt:lpstr>
      <vt:lpstr>GPT-3: Больше, выше, толще</vt:lpstr>
      <vt:lpstr>GPT-3: Больше, выше, толще</vt:lpstr>
      <vt:lpstr>GPT-3: Больше, выше, толще</vt:lpstr>
      <vt:lpstr>GPT-3: Больше, выше, толще</vt:lpstr>
      <vt:lpstr>GPT-3: Больше, выше, толще</vt:lpstr>
      <vt:lpstr>GPT-3: Больше, выше, толще</vt:lpstr>
      <vt:lpstr>GPT-3: Больше, выше, толще</vt:lpstr>
      <vt:lpstr>Компьюта — да побольше!</vt:lpstr>
      <vt:lpstr>Компьюта — да побольше!</vt:lpstr>
      <vt:lpstr>Компьюта — да побольше!</vt:lpstr>
      <vt:lpstr>Но где брать данные?</vt:lpstr>
      <vt:lpstr>Но где брать данные?</vt:lpstr>
      <vt:lpstr>Но где брать данные?</vt:lpstr>
      <vt:lpstr>Но где брать данные?</vt:lpstr>
      <vt:lpstr>Но где брать данные?</vt:lpstr>
      <vt:lpstr>Но где брать данные?</vt:lpstr>
      <vt:lpstr>Но где брать данные?</vt:lpstr>
      <vt:lpstr>Но где брать данные?</vt:lpstr>
      <vt:lpstr>Но где брать данные?</vt:lpstr>
      <vt:lpstr>И снова про внимание Dense attention map:</vt:lpstr>
      <vt:lpstr>И снова про внимание Dense attention map:</vt:lpstr>
      <vt:lpstr>И снова про внимание Dense attention map:</vt:lpstr>
      <vt:lpstr>И снова про внимание</vt:lpstr>
      <vt:lpstr>И снова про внимание</vt:lpstr>
      <vt:lpstr>И снова про внимание</vt:lpstr>
      <vt:lpstr>И снова про внимание</vt:lpstr>
      <vt:lpstr>И снова про внимание</vt:lpstr>
      <vt:lpstr>И снова про внимание</vt:lpstr>
      <vt:lpstr>И снова про внимание</vt:lpstr>
      <vt:lpstr>И снова про внимание</vt:lpstr>
      <vt:lpstr>И снова про внимание</vt:lpstr>
      <vt:lpstr>Хорошо ли работает sparse attention?</vt:lpstr>
      <vt:lpstr>Хорошо ли работает sparse attention?</vt:lpstr>
      <vt:lpstr>Другие способы оптимизаций</vt:lpstr>
      <vt:lpstr>Но...</vt:lpstr>
      <vt:lpstr>Но...</vt:lpstr>
      <vt:lpstr>Но...</vt:lpstr>
      <vt:lpstr>Спасибо 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Константин Некрасов</cp:lastModifiedBy>
  <cp:revision>7</cp:revision>
  <dcterms:created xsi:type="dcterms:W3CDTF">2025-06-06T09:09:37Z</dcterms:created>
  <dcterms:modified xsi:type="dcterms:W3CDTF">2025-06-06T10:51:16Z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2025-04-01T00:00:00Z</vt:filetime>
  </property>
  <property fmtid="{D5CDD505-2E9C-101B-9397-08002B2CF9AE}" pid="3" name="LastSaved">
    <vt:filetime>2025-06-06T00:00:00Z</vt:filetime>
  </property>
</Properties>
</file>