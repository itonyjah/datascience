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530" r:id="rId2"/>
    <p:sldId id="257" r:id="rId3"/>
    <p:sldId id="428" r:id="rId4"/>
    <p:sldId id="461" r:id="rId5"/>
    <p:sldId id="458" r:id="rId6"/>
    <p:sldId id="403" r:id="rId7"/>
    <p:sldId id="459" r:id="rId8"/>
    <p:sldId id="460" r:id="rId9"/>
    <p:sldId id="462" r:id="rId10"/>
    <p:sldId id="463" r:id="rId11"/>
    <p:sldId id="464" r:id="rId12"/>
    <p:sldId id="465" r:id="rId13"/>
    <p:sldId id="531" r:id="rId14"/>
    <p:sldId id="467" r:id="rId15"/>
    <p:sldId id="470" r:id="rId16"/>
    <p:sldId id="472" r:id="rId17"/>
    <p:sldId id="471" r:id="rId18"/>
    <p:sldId id="473" r:id="rId19"/>
    <p:sldId id="474" r:id="rId20"/>
    <p:sldId id="475" r:id="rId21"/>
    <p:sldId id="299" r:id="rId22"/>
    <p:sldId id="476" r:id="rId23"/>
    <p:sldId id="477" r:id="rId24"/>
    <p:sldId id="478" r:id="rId25"/>
    <p:sldId id="479" r:id="rId26"/>
    <p:sldId id="481" r:id="rId27"/>
    <p:sldId id="480" r:id="rId28"/>
    <p:sldId id="482" r:id="rId29"/>
    <p:sldId id="277" r:id="rId30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E915"/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 varScale="1">
        <p:scale>
          <a:sx n="197" d="100"/>
          <a:sy n="197" d="100"/>
        </p:scale>
        <p:origin x="636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8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419C4D-FA9E-46A8-9FCE-A8FA011D1C58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F6232-28EE-440E-A8DA-8388027DAD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22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422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1450" y="302400"/>
            <a:ext cx="2683774" cy="39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575" y="195145"/>
            <a:ext cx="8568849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450" y="298800"/>
            <a:ext cx="2709550" cy="397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430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73" y="540000"/>
            <a:ext cx="7821455" cy="40635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25631" y="4283051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703" y="3694919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40" y="4159928"/>
            <a:ext cx="30080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1312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250" y="249282"/>
            <a:ext cx="848749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725" y="913921"/>
            <a:ext cx="8342548" cy="2339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erative/awesome-iterative-projects" TargetMode="External"/><Relationship Id="rId2" Type="http://schemas.openxmlformats.org/officeDocument/2006/relationships/hyperlink" Target="https://dvc.org/doc/install/linu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udio.iterative.ai/" TargetMode="External"/><Relationship Id="rId5" Type="http://schemas.openxmlformats.org/officeDocument/2006/relationships/hyperlink" Target="https://dvc.org/doc/dvclive" TargetMode="External"/><Relationship Id="rId4" Type="http://schemas.openxmlformats.org/officeDocument/2006/relationships/hyperlink" Target="https://marketplace.visualstudio.com/items?itemName=Iterative.dvc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371601" y="4078856"/>
            <a:ext cx="3901199" cy="112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2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endParaRPr lang="ru-RU" sz="1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414000" y="200730"/>
            <a:ext cx="8316000" cy="62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Внедрение моделей </a:t>
            </a:r>
            <a:r>
              <a:rPr lang="en-US" sz="4000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</a:t>
            </a:r>
          </a:p>
        </p:txBody>
      </p:sp>
      <p:sp>
        <p:nvSpPr>
          <p:cNvPr id="39" name="Google Shape;39;p8"/>
          <p:cNvSpPr txBox="1"/>
          <p:nvPr/>
        </p:nvSpPr>
        <p:spPr>
          <a:xfrm>
            <a:off x="152400" y="3182227"/>
            <a:ext cx="7560000" cy="73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Проблемы </a:t>
            </a:r>
            <a:r>
              <a:rPr lang="ru-RU" sz="2400" dirty="0" err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версионирования</a:t>
            </a:r>
            <a:endParaRPr lang="ru-RU" sz="24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данных</a:t>
            </a: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055952"/>
            <a:ext cx="9144000" cy="225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125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-46486"/>
            <a:ext cx="9143999" cy="49788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900" y="236882"/>
            <a:ext cx="2202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План</a:t>
            </a:r>
            <a:r>
              <a:rPr spc="-215" dirty="0"/>
              <a:t> </a:t>
            </a:r>
            <a:r>
              <a:rPr spc="20" dirty="0"/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7360" y="794030"/>
            <a:ext cx="5997240" cy="12161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Проблемы </a:t>
            </a:r>
            <a:r>
              <a:rPr lang="ru-RU" sz="1800" spc="160" dirty="0" err="1">
                <a:solidFill>
                  <a:srgbClr val="181818"/>
                </a:solidFill>
                <a:latin typeface="Verdana"/>
                <a:cs typeface="Verdana"/>
              </a:rPr>
              <a:t>версионирования</a:t>
            </a: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 данных и инструменты их решения.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dirty="0">
                <a:latin typeface="Verdana"/>
                <a:cs typeface="Verdana"/>
              </a:rPr>
              <a:t>DVC.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914400" y="1809750"/>
            <a:ext cx="7391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1. Проблемы </a:t>
            </a:r>
            <a:r>
              <a:rPr lang="ru-RU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версионирования</a:t>
            </a: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данных и инструменты их решения.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3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-95250"/>
            <a:ext cx="64770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Проблемы представления данных и точности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 descr="Фейки, или поиск правды в интернете — Новости — Форсайт-центр —  Национальный исследовательский университет «Высшая школа экономики»">
            <a:extLst>
              <a:ext uri="{FF2B5EF4-FFF2-40B4-BE49-F238E27FC236}">
                <a16:creationId xmlns:a16="http://schemas.microsoft.com/office/drawing/2014/main" id="{625C981D-884C-45F0-AD2F-409FA2D35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7" y="1885950"/>
            <a:ext cx="522922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99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834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Проблемы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сериализации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данных</a:t>
            </a:r>
            <a:r>
              <a:rPr lang="ru-RU" sz="1600" dirty="0">
                <a:latin typeface="Verdana"/>
                <a:cs typeface="Verdana"/>
              </a:rPr>
              <a:t>. При </a:t>
            </a:r>
            <a:r>
              <a:rPr lang="ru-RU" sz="1600" dirty="0" err="1">
                <a:latin typeface="Verdana"/>
                <a:cs typeface="Verdana"/>
              </a:rPr>
              <a:t>сериализации</a:t>
            </a:r>
            <a:r>
              <a:rPr lang="ru-RU" sz="1600" dirty="0">
                <a:latin typeface="Verdana"/>
                <a:cs typeface="Verdana"/>
              </a:rPr>
              <a:t> объектов в Python часто возникают сложности с точным восстановлением данных. Одним из примеров является сравнение множеств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3BC4E2-E490-4FA6-A03B-A12537E0F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419350"/>
            <a:ext cx="2524477" cy="133368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8D573BF-4FF4-426F-8E0F-876AE0141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571750"/>
            <a:ext cx="3267531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9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834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Проблемы точности чисел с плавающей запятой.</a:t>
            </a:r>
            <a:r>
              <a:rPr lang="ru-RU" sz="1600" dirty="0">
                <a:latin typeface="Verdana"/>
                <a:cs typeface="Verdana"/>
              </a:rPr>
              <a:t> Еще одна частая проблема — это точность представления чисел с плавающей запятой. Например, попробуем представить числа 1/10, 2/10, 3/10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DF30D6-2718-45DC-9257-358D8AE03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19350"/>
            <a:ext cx="1857634" cy="228631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971944-A024-48D6-8CE0-D1D46FAE5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895666"/>
            <a:ext cx="2953162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77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55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Проблемы с платформами. </a:t>
            </a:r>
            <a:r>
              <a:rPr lang="ru-RU" sz="1600" dirty="0">
                <a:latin typeface="Verdana"/>
                <a:cs typeface="Verdana"/>
              </a:rPr>
              <a:t>Системы с разной архитектурой могут давать разные результаты для одних и тех же вычислений.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1B35D6-7FC9-453A-B61A-4138FE921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" y="2687498"/>
            <a:ext cx="7989570" cy="2365253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F6AE3DF-8040-4C8B-BBE7-7ED0834D66D0}"/>
              </a:ext>
            </a:extLst>
          </p:cNvPr>
          <p:cNvSpPr/>
          <p:nvPr/>
        </p:nvSpPr>
        <p:spPr>
          <a:xfrm>
            <a:off x="1143000" y="2038350"/>
            <a:ext cx="2743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Windows</a:t>
            </a:r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F0ACA6F-3A31-4A3D-BD3A-67C44026C844}"/>
              </a:ext>
            </a:extLst>
          </p:cNvPr>
          <p:cNvSpPr/>
          <p:nvPr/>
        </p:nvSpPr>
        <p:spPr>
          <a:xfrm>
            <a:off x="5410200" y="2038350"/>
            <a:ext cx="27432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Linux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1821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в чем проблема - Memchik.ru">
            <a:extLst>
              <a:ext uri="{FF2B5EF4-FFF2-40B4-BE49-F238E27FC236}">
                <a16:creationId xmlns:a16="http://schemas.microsoft.com/office/drawing/2014/main" id="{E4BFCC8F-E692-4C1C-BD25-C413053C1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71" y="209550"/>
            <a:ext cx="4138613" cy="2078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96F8FC45-ABE2-48A7-BE9E-50E4E4061A6F}"/>
              </a:ext>
            </a:extLst>
          </p:cNvPr>
          <p:cNvSpPr txBox="1"/>
          <p:nvPr/>
        </p:nvSpPr>
        <p:spPr>
          <a:xfrm>
            <a:off x="226359" y="2588375"/>
            <a:ext cx="7989570" cy="267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На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windows</a:t>
            </a:r>
            <a:r>
              <a:rPr lang="ru-RU" sz="1600" dirty="0">
                <a:latin typeface="Verdana"/>
                <a:cs typeface="Verdana"/>
              </a:rPr>
              <a:t> у нас тип переполняется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8B82138-9839-4878-B63E-FE1154938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917655"/>
            <a:ext cx="3137550" cy="2103346"/>
          </a:xfrm>
          <a:prstGeom prst="rect">
            <a:avLst/>
          </a:prstGeom>
        </p:spPr>
      </p:pic>
      <p:sp>
        <p:nvSpPr>
          <p:cNvPr id="13" name="object 3">
            <a:extLst>
              <a:ext uri="{FF2B5EF4-FFF2-40B4-BE49-F238E27FC236}">
                <a16:creationId xmlns:a16="http://schemas.microsoft.com/office/drawing/2014/main" id="{357FD7BC-04F2-428F-8D76-AB6C23EF324D}"/>
              </a:ext>
            </a:extLst>
          </p:cNvPr>
          <p:cNvSpPr txBox="1"/>
          <p:nvPr/>
        </p:nvSpPr>
        <p:spPr>
          <a:xfrm>
            <a:off x="4800600" y="2279665"/>
            <a:ext cx="4343400" cy="550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На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linux</a:t>
            </a:r>
            <a:r>
              <a:rPr lang="ru-RU" sz="1600" dirty="0">
                <a:latin typeface="Verdana"/>
                <a:cs typeface="Verdana"/>
              </a:rPr>
              <a:t> стандартный тип не переполняется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568D2DD-CF04-48F7-BE73-E928E47D7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257" y="2856141"/>
            <a:ext cx="3324519" cy="222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8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-95250"/>
            <a:ext cx="64770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Проблемы при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работе с библиотеками и моделями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8" name="Picture 2" descr="Как выглядят внутри самые потрясающие библиотеки мира - Блог OneTwoTrip">
            <a:extLst>
              <a:ext uri="{FF2B5EF4-FFF2-40B4-BE49-F238E27FC236}">
                <a16:creationId xmlns:a16="http://schemas.microsoft.com/office/drawing/2014/main" id="{8E5D080B-F9AD-4F41-BC06-5787432D3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733" y="1885950"/>
            <a:ext cx="5520267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25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834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Сравнение объектов. </a:t>
            </a:r>
            <a:r>
              <a:rPr lang="ru-RU" sz="1600" dirty="0">
                <a:latin typeface="Verdana"/>
                <a:cs typeface="Verdana"/>
              </a:rPr>
              <a:t>Некоторые библиотеки ведут себя непредсказуемо при сравнении объектов. Например, </a:t>
            </a:r>
            <a:r>
              <a:rPr lang="ru-RU" sz="1600" dirty="0" err="1">
                <a:latin typeface="Verdana"/>
                <a:cs typeface="Verdana"/>
              </a:rPr>
              <a:t>Plotly</a:t>
            </a:r>
            <a:r>
              <a:rPr lang="ru-RU" sz="1600" dirty="0">
                <a:latin typeface="Verdana"/>
                <a:cs typeface="Verdana"/>
              </a:rPr>
              <a:t> при создании графиков: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100388-18C1-4631-B6CF-2A3B155FA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80" y="2419350"/>
            <a:ext cx="4248743" cy="176237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CA479D-0B18-412B-A97C-5BC684CA8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11506"/>
            <a:ext cx="3515216" cy="80973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FB0C0C-49A0-48F1-A4A9-A14FD80DF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4181721"/>
            <a:ext cx="3990571" cy="653774"/>
          </a:xfrm>
          <a:prstGeom prst="rect">
            <a:avLst/>
          </a:prstGeom>
        </p:spPr>
      </p:pic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4C0AF163-3A05-46C2-ACAF-EE8D4FD664E8}"/>
              </a:ext>
            </a:extLst>
          </p:cNvPr>
          <p:cNvSpPr/>
          <p:nvPr/>
        </p:nvSpPr>
        <p:spPr>
          <a:xfrm>
            <a:off x="6629400" y="3165672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233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9192" y="1013988"/>
            <a:ext cx="7989570" cy="1117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Проблемы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сериализации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моделей. </a:t>
            </a:r>
            <a:r>
              <a:rPr lang="ru-RU" sz="1600" dirty="0">
                <a:latin typeface="Verdana"/>
                <a:cs typeface="Verdana"/>
              </a:rPr>
              <a:t>Проблемы могут возникать и при </a:t>
            </a:r>
            <a:r>
              <a:rPr lang="ru-RU" sz="1600" dirty="0" err="1">
                <a:latin typeface="Verdana"/>
                <a:cs typeface="Verdana"/>
              </a:rPr>
              <a:t>сериализации</a:t>
            </a:r>
            <a:r>
              <a:rPr lang="ru-RU" sz="1600" dirty="0">
                <a:latin typeface="Verdana"/>
                <a:cs typeface="Verdana"/>
              </a:rPr>
              <a:t> моделей, например, при использовании </a:t>
            </a:r>
            <a:r>
              <a:rPr lang="ru-RU" sz="1600" dirty="0" err="1">
                <a:latin typeface="Verdana"/>
                <a:cs typeface="Verdana"/>
              </a:rPr>
              <a:t>scikit-learn</a:t>
            </a:r>
            <a:r>
              <a:rPr lang="ru-RU" sz="1600" dirty="0">
                <a:latin typeface="Verdana"/>
                <a:cs typeface="Verdana"/>
              </a:rPr>
              <a:t>. Рассмотрим пример с двумя одинаковыми моделями </a:t>
            </a:r>
            <a:r>
              <a:rPr lang="ru-RU" sz="1600" dirty="0" err="1">
                <a:latin typeface="Verdana"/>
                <a:cs typeface="Verdana"/>
              </a:rPr>
              <a:t>TfidfVectorizer</a:t>
            </a:r>
            <a:r>
              <a:rPr lang="ru-RU" sz="1600" dirty="0">
                <a:latin typeface="Verdana"/>
                <a:cs typeface="Verdana"/>
              </a:rPr>
              <a:t>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3C56FE-1947-435C-8A7B-5931EED48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190750"/>
            <a:ext cx="5811061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49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9192" y="1013988"/>
            <a:ext cx="7989570" cy="11172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Проблемы точности в кластеризации. </a:t>
            </a:r>
            <a:r>
              <a:rPr lang="ru-RU" sz="1600" dirty="0">
                <a:latin typeface="Verdana"/>
                <a:cs typeface="Verdana"/>
              </a:rPr>
              <a:t>Некоторые алгоритмы могут давать одинаковые результаты, но иметь незначительные различия в представлении чисел, что может стать причиной проблем с повторяемостью: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B06A32-DDDD-47ED-ADF1-B8DA87ECD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962150"/>
            <a:ext cx="3508984" cy="301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986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DVC</a:t>
            </a:r>
          </a:p>
        </p:txBody>
      </p:sp>
    </p:spTree>
    <p:extLst>
      <p:ext uri="{BB962C8B-B14F-4D97-AF65-F5344CB8AC3E}">
        <p14:creationId xmlns:p14="http://schemas.microsoft.com/office/powerpoint/2010/main" val="4223705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DVC</a:t>
            </a:r>
            <a:endParaRPr lang="en-US" sz="4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6205538" cy="2101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это инструмент, который позволяет эффективно управлять версиями данных, моделей и экспериментов. Он интегрируется с </a:t>
            </a:r>
            <a:r>
              <a:rPr lang="ru-RU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Git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 и позволяет хранить большие данные в удаленных хранилищах, а в репозитории хранить только ссылки на эти данные.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22" name="Picture 2" descr="Conceptual Overview on Data version control — DVC | by Jeevitha M |  featurepreneur | Medium">
            <a:extLst>
              <a:ext uri="{FF2B5EF4-FFF2-40B4-BE49-F238E27FC236}">
                <a16:creationId xmlns:a16="http://schemas.microsoft.com/office/drawing/2014/main" id="{55B3D001-E88C-415F-84E2-5420EA1A2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247" y="2449864"/>
            <a:ext cx="24765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342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 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модули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316021"/>
            <a:ext cx="7989570" cy="25114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hlinkClick r:id="rId2"/>
              </a:rPr>
              <a:t>DVC cli</a:t>
            </a:r>
            <a:endParaRPr lang="ru-RU" sz="2800" b="0" i="0" u="none" strike="noStrike" dirty="0">
              <a:solidFill>
                <a:srgbClr val="222222"/>
              </a:solidFill>
              <a:effectLst/>
              <a:latin typeface="Verdana"/>
            </a:endParaRPr>
          </a:p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hlinkClick r:id="rId3"/>
              </a:rPr>
              <a:t>DVC </a:t>
            </a:r>
            <a:r>
              <a:rPr lang="en-US" sz="2800" b="0" i="0" u="none" strike="noStrike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  <a:hlinkClick r:id="rId3"/>
              </a:rPr>
              <a:t>extentions</a:t>
            </a:r>
            <a:endParaRPr lang="en-US" sz="2800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hlinkClick r:id="rId4"/>
              </a:rPr>
              <a:t>DVC </a:t>
            </a:r>
            <a:r>
              <a:rPr lang="en-US" sz="2800" b="0" i="0" u="none" strike="noStrike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  <a:hlinkClick r:id="rId4"/>
              </a:rPr>
              <a:t>vscode</a:t>
            </a:r>
            <a:endParaRPr lang="en-US" sz="2800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hlinkClick r:id="rId5"/>
              </a:rPr>
              <a:t>DVC live</a:t>
            </a:r>
            <a:endParaRPr lang="en-US" sz="2800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FontTx/>
              <a:buAutoNum type="arabicPeriod"/>
              <a:tabLst>
                <a:tab pos="393065" algn="l"/>
                <a:tab pos="393700" algn="l"/>
              </a:tabLst>
            </a:pPr>
            <a:r>
              <a:rPr lang="en-US" sz="2800" b="0" i="0" u="none" strike="noStrike" dirty="0">
                <a:solidFill>
                  <a:srgbClr val="222222"/>
                </a:solidFill>
                <a:effectLst/>
                <a:latin typeface="Source Sans Pro" panose="020B0503030403020204" pitchFamily="34" charset="0"/>
                <a:hlinkClick r:id="rId6"/>
              </a:rPr>
              <a:t>Iterative Studio</a:t>
            </a:r>
            <a:endParaRPr lang="en-US" sz="2800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135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возможности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 CLI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7CD2501-5186-4BF1-BFB8-E9149B510879}"/>
              </a:ext>
            </a:extLst>
          </p:cNvPr>
          <p:cNvSpPr txBox="1"/>
          <p:nvPr/>
        </p:nvSpPr>
        <p:spPr>
          <a:xfrm>
            <a:off x="381000" y="1316021"/>
            <a:ext cx="7989570" cy="2492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2800" dirty="0" err="1"/>
              <a:t>Версионирование</a:t>
            </a:r>
            <a:r>
              <a:rPr lang="ru-RU" sz="2800" dirty="0"/>
              <a:t> данных и моделей</a:t>
            </a:r>
            <a:endParaRPr lang="en-US" sz="2800" dirty="0"/>
          </a:p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2800" dirty="0" err="1"/>
              <a:t>Пайплайны</a:t>
            </a:r>
            <a:r>
              <a:rPr lang="ru-RU" sz="2800" dirty="0"/>
              <a:t> и управление экспериментами</a:t>
            </a:r>
            <a:endParaRPr lang="en-US" sz="2800" dirty="0"/>
          </a:p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2800" dirty="0"/>
              <a:t>Отслеживание экспериментов</a:t>
            </a:r>
            <a:endParaRPr lang="en-US" sz="2800" dirty="0"/>
          </a:p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2800" dirty="0"/>
              <a:t>Интеграция с </a:t>
            </a:r>
            <a:r>
              <a:rPr lang="en-US" sz="2800" dirty="0"/>
              <a:t>Git</a:t>
            </a:r>
          </a:p>
          <a:p>
            <a:pPr marL="527050" marR="556260" indent="-51435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393065" algn="l"/>
                <a:tab pos="393700" algn="l"/>
              </a:tabLst>
            </a:pPr>
            <a:r>
              <a:rPr lang="ru-RU" sz="2800" dirty="0"/>
              <a:t>Поддержка </a:t>
            </a:r>
            <a:r>
              <a:rPr lang="en-US" sz="2800" dirty="0"/>
              <a:t>CI/CD</a:t>
            </a:r>
            <a:endParaRPr lang="ru-RU" sz="2800" b="0" i="0" u="none" strike="noStrike" dirty="0">
              <a:solidFill>
                <a:srgbClr val="222222"/>
              </a:solidFill>
              <a:effectLst/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52101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9192" y="1013988"/>
            <a:ext cx="7989570" cy="26343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Для инициализации проекта с DVC нужно выполнить команду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Затем можно добавлять файлы данных для отслеживания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Это создаст файл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data.csv.dvc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, который будет содержать информацию о данных и ссылке на их местоположение.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Пример использования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 CLI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7CD83F-5ABE-4187-ABFB-82612C99049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600" y="1352550"/>
            <a:ext cx="914528" cy="4667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87A011-DC39-41F9-B817-376C294DC2C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600" y="2237951"/>
            <a:ext cx="1448002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44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688" y="1200150"/>
            <a:ext cx="7989570" cy="23358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add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600" dirty="0">
                <a:latin typeface="Verdana"/>
                <a:cs typeface="Verdana"/>
              </a:rPr>
              <a:t>добавляет файл для отслеживания.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repro</a:t>
            </a:r>
            <a:r>
              <a:rPr lang="ru-RU" sz="1600" dirty="0">
                <a:latin typeface="Verdana"/>
                <a:cs typeface="Verdana"/>
              </a:rPr>
              <a:t> пересчитывает зависимости и обновляет результаты.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en-US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</a:t>
            </a:r>
            <a:r>
              <a:rPr lang="ru-RU" sz="1600" dirty="0">
                <a:latin typeface="Verdana"/>
                <a:cs typeface="Verdana"/>
              </a:rPr>
              <a:t>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push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/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pull</a:t>
            </a:r>
            <a:r>
              <a:rPr lang="ru-RU" sz="1600" dirty="0">
                <a:latin typeface="Verdana"/>
                <a:cs typeface="Verdana"/>
              </a:rPr>
              <a:t> загружает или скачивает данные из удалённого хранилища.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endParaRPr lang="ru-RU" sz="1600" dirty="0">
              <a:latin typeface="Verdana"/>
              <a:cs typeface="Verdana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</a:t>
            </a:r>
            <a:r>
              <a:rPr lang="ru-R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ru-R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exp</a:t>
            </a:r>
            <a:r>
              <a:rPr lang="ru-RU" sz="1600" dirty="0">
                <a:latin typeface="Verdana"/>
                <a:cs typeface="Verdana"/>
              </a:rPr>
              <a:t> запускает и отслеживает эксперименты.</a:t>
            </a:r>
            <a:endParaRPr lang="ru-RU" sz="160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Основные команды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 CLI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89866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798957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Архитектура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 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965629-3D9C-4337-A7B1-B3DB02EBE1D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2424" y="895350"/>
            <a:ext cx="6339151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7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688" y="1200150"/>
            <a:ext cx="7989570" cy="2931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cs typeface="Verdana"/>
              </a:rPr>
              <a:t>Amazon S3 (AWS) и S3-совместимые (например, </a:t>
            </a:r>
            <a:r>
              <a:rPr lang="ru-RU" sz="1600" dirty="0" err="1">
                <a:latin typeface="Verdana"/>
                <a:cs typeface="Verdana"/>
              </a:rPr>
              <a:t>MinIO</a:t>
            </a:r>
            <a:r>
              <a:rPr lang="ru-RU" sz="1600" dirty="0">
                <a:latin typeface="Verdana"/>
                <a:cs typeface="Verdana"/>
              </a:rPr>
              <a:t>)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Microsoft Azure Blob Storage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Google Cloud Storage (GCP)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Google Drive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Aliyun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OSS (Alibaba Cloud)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SSH &amp; SFTP (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например,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scp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HDFS &amp;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WebHDFS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HTTP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WebDAV</a:t>
            </a: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883920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Удаленные хранилища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91338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500" y="232072"/>
            <a:ext cx="3084195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50" dirty="0">
                <a:solidFill>
                  <a:srgbClr val="FDFAEE"/>
                </a:solidFill>
              </a:rPr>
              <a:t>Платные</a:t>
            </a:r>
            <a:br>
              <a:rPr lang="en-US" spc="50" dirty="0">
                <a:solidFill>
                  <a:srgbClr val="FDFAEE"/>
                </a:solidFill>
              </a:rPr>
            </a:br>
            <a:br>
              <a:rPr lang="en-US" spc="50" dirty="0">
                <a:solidFill>
                  <a:srgbClr val="FDFAEE"/>
                </a:solidFill>
              </a:rPr>
            </a:br>
            <a:r>
              <a:rPr lang="ru-RU" spc="50" dirty="0">
                <a:solidFill>
                  <a:srgbClr val="FDFAEE"/>
                </a:solidFill>
              </a:rPr>
              <a:t>- </a:t>
            </a:r>
            <a:r>
              <a:rPr lang="en-US" sz="1600" spc="50" dirty="0">
                <a:solidFill>
                  <a:srgbClr val="FDFAEE"/>
                </a:solidFill>
              </a:rPr>
              <a:t>Amazon S3 (AWS)</a:t>
            </a:r>
            <a:br>
              <a:rPr lang="ru-RU" sz="1600" spc="50" dirty="0">
                <a:solidFill>
                  <a:srgbClr val="FDFAEE"/>
                </a:solidFill>
              </a:rPr>
            </a:br>
            <a:br>
              <a:rPr lang="ru-RU" sz="1600" spc="50" dirty="0">
                <a:solidFill>
                  <a:srgbClr val="FDFAEE"/>
                </a:solidFill>
              </a:rPr>
            </a:br>
            <a:r>
              <a:rPr lang="ru-RU" sz="1600" spc="50" dirty="0">
                <a:solidFill>
                  <a:srgbClr val="FDFAEE"/>
                </a:solidFill>
              </a:rPr>
              <a:t>- </a:t>
            </a:r>
            <a:r>
              <a:rPr lang="en-US" sz="1600" spc="50" dirty="0">
                <a:solidFill>
                  <a:srgbClr val="FDFAEE"/>
                </a:solidFill>
              </a:rPr>
              <a:t>Microsoft Azure Blob Storage</a:t>
            </a:r>
            <a:br>
              <a:rPr lang="ru-RU" sz="1600" spc="50" dirty="0">
                <a:solidFill>
                  <a:srgbClr val="FDFAEE"/>
                </a:solidFill>
              </a:rPr>
            </a:br>
            <a:br>
              <a:rPr lang="ru-RU" sz="1600" spc="50" dirty="0">
                <a:solidFill>
                  <a:srgbClr val="FDFAEE"/>
                </a:solidFill>
              </a:rPr>
            </a:br>
            <a:r>
              <a:rPr lang="ru-RU" sz="1600" spc="50" dirty="0">
                <a:solidFill>
                  <a:srgbClr val="FDFAEE"/>
                </a:solidFill>
              </a:rPr>
              <a:t>- </a:t>
            </a:r>
            <a:r>
              <a:rPr lang="en-US" sz="1600" spc="50" dirty="0">
                <a:solidFill>
                  <a:srgbClr val="FDFAEE"/>
                </a:solidFill>
              </a:rPr>
              <a:t>Google Cloud Storage (GCP)</a:t>
            </a:r>
            <a:br>
              <a:rPr lang="ru-RU" sz="1600" spc="50" dirty="0">
                <a:solidFill>
                  <a:srgbClr val="FDFAEE"/>
                </a:solidFill>
              </a:rPr>
            </a:br>
            <a:br>
              <a:rPr lang="ru-RU" sz="1600" spc="50" dirty="0">
                <a:solidFill>
                  <a:srgbClr val="FDFAEE"/>
                </a:solidFill>
              </a:rPr>
            </a:br>
            <a:r>
              <a:rPr lang="ru-RU" sz="1600" spc="50" dirty="0">
                <a:solidFill>
                  <a:srgbClr val="FDFAEE"/>
                </a:solidFill>
              </a:rPr>
              <a:t>- </a:t>
            </a:r>
            <a:r>
              <a:rPr lang="en-US" sz="1600" spc="50" dirty="0" err="1">
                <a:solidFill>
                  <a:srgbClr val="FDFAEE"/>
                </a:solidFill>
              </a:rPr>
              <a:t>Aliyun</a:t>
            </a:r>
            <a:r>
              <a:rPr lang="en-US" sz="1600" spc="50" dirty="0">
                <a:solidFill>
                  <a:srgbClr val="FDFAEE"/>
                </a:solidFill>
              </a:rPr>
              <a:t> OSS (Alibaba Cloud)</a:t>
            </a:r>
            <a:br>
              <a:rPr lang="ru-RU" spc="50" dirty="0">
                <a:solidFill>
                  <a:srgbClr val="FDFAEE"/>
                </a:solidFill>
              </a:rPr>
            </a:br>
            <a:endParaRPr lang="en-US" spc="50" dirty="0">
              <a:solidFill>
                <a:srgbClr val="FDFAE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33860" y="223233"/>
            <a:ext cx="4833940" cy="5587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Бесплатные (полностью/частично)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Google Drive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SSH &amp; SFTP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HDFS &amp; </a:t>
            </a:r>
            <a:r>
              <a:rPr lang="en-US" sz="160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WebHDFS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HTTP</a:t>
            </a: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WebDAV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85089" marR="625475">
              <a:spcBef>
                <a:spcPts val="100"/>
              </a:spcBef>
              <a:tabLst>
                <a:tab pos="445134" algn="l"/>
                <a:tab pos="445770" algn="l"/>
              </a:tabLst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b="1" dirty="0">
              <a:latin typeface="Tahoma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b="1" dirty="0">
              <a:latin typeface="Tahoma"/>
              <a:cs typeface="Tahoma"/>
            </a:endParaRPr>
          </a:p>
          <a:p>
            <a:pPr marL="445134" marR="625475" indent="-360045"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ru-RU" sz="18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15456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688" y="1200150"/>
            <a:ext cx="7989570" cy="35235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ea typeface="Verdana" panose="020B0604030504040204" pitchFamily="34" charset="0"/>
              </a:rPr>
              <a:t>1. </a:t>
            </a:r>
            <a:r>
              <a:rPr lang="ru-RU" sz="1600" dirty="0">
                <a:latin typeface="Verdana"/>
                <a:ea typeface="Verdana" panose="020B0604030504040204" pitchFamily="34" charset="0"/>
              </a:rPr>
              <a:t>Инициализация </a:t>
            </a:r>
            <a:r>
              <a:rPr lang="en-US" sz="1600" dirty="0">
                <a:latin typeface="Verdana"/>
                <a:ea typeface="Verdana" panose="020B0604030504040204" pitchFamily="34" charset="0"/>
              </a:rPr>
              <a:t>DVC </a:t>
            </a:r>
            <a:r>
              <a:rPr lang="ru-RU" sz="1600" dirty="0">
                <a:latin typeface="Verdana"/>
                <a:ea typeface="Verdana" panose="020B0604030504040204" pitchFamily="34" charset="0"/>
              </a:rPr>
              <a:t>репозитория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98450" marR="556260" indent="-285750">
              <a:lnSpc>
                <a:spcPct val="1149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Добавление данных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Обновление данных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4. Push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в репозиторий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883920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Работа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 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 репозиторием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Gitlab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F9571C-98C1-46B1-BB93-3D18161446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5800" y="1504950"/>
            <a:ext cx="2419688" cy="60968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4C4E821-50FE-41FA-848A-E8A56A3FFB3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5800" y="2419435"/>
            <a:ext cx="3153215" cy="8002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4F4C66-B903-4CF5-BB4D-2C4B5577740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5800" y="3573064"/>
            <a:ext cx="2124371" cy="54300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332EB24-1372-4F41-AD00-EC64A10C2CE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5800" y="4469482"/>
            <a:ext cx="952633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84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688" y="1200150"/>
            <a:ext cx="7989570" cy="34850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/>
                <a:ea typeface="Verdana" panose="020B0604030504040204" pitchFamily="34" charset="0"/>
              </a:rPr>
              <a:t>1. </a:t>
            </a:r>
            <a:r>
              <a:rPr lang="ru-RU" sz="1600" dirty="0">
                <a:latin typeface="Verdana"/>
                <a:ea typeface="Verdana" panose="020B0604030504040204" pitchFamily="34" charset="0"/>
              </a:rPr>
              <a:t>Установка зависимостей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Авторизация в Google Drive.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Когда вы впервые запустите команду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dvc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push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, DVC откроет в браузере окно для авторизации в вашем аккаунте Google. Вы должны будете подтвердить доступ DVC к вашему Google Drive.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Получение URL для Google Drive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Отправка данных в хранилище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883920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Как </a:t>
            </a:r>
            <a:r>
              <a:rPr lang="ru-RU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приконектится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к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GoogleDrive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26DA38-97AB-4205-949A-2465CF18BB3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450" y="1428750"/>
            <a:ext cx="1848108" cy="35247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603D4DC-D8B9-4BAA-A0EB-5E06E0D2274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450" y="3474316"/>
            <a:ext cx="3572374" cy="48584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75DA988-845B-405F-A30B-23751FA73D3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3897" y="4415610"/>
            <a:ext cx="1066949" cy="48584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0F36052-83CE-482F-864E-14CAF2615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3966132"/>
            <a:ext cx="4724400" cy="221752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C421070-D184-40D1-895B-6EC4A9799ED3}"/>
              </a:ext>
            </a:extLst>
          </p:cNvPr>
          <p:cNvSpPr/>
          <p:nvPr/>
        </p:nvSpPr>
        <p:spPr>
          <a:xfrm>
            <a:off x="5791200" y="3960159"/>
            <a:ext cx="1752600" cy="22175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86B3172-ACAD-406C-A727-D50A0F0B6ADC}"/>
              </a:ext>
            </a:extLst>
          </p:cNvPr>
          <p:cNvSpPr/>
          <p:nvPr/>
        </p:nvSpPr>
        <p:spPr>
          <a:xfrm>
            <a:off x="5943600" y="3160913"/>
            <a:ext cx="1447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folder-id</a:t>
            </a:r>
            <a:endParaRPr lang="ru-RU" dirty="0"/>
          </a:p>
        </p:txBody>
      </p:sp>
      <p:sp>
        <p:nvSpPr>
          <p:cNvPr id="21" name="Стрелка: вниз 20">
            <a:extLst>
              <a:ext uri="{FF2B5EF4-FFF2-40B4-BE49-F238E27FC236}">
                <a16:creationId xmlns:a16="http://schemas.microsoft.com/office/drawing/2014/main" id="{FA18BE7E-F76F-44CF-A8B5-437011B49DF9}"/>
              </a:ext>
            </a:extLst>
          </p:cNvPr>
          <p:cNvSpPr/>
          <p:nvPr/>
        </p:nvSpPr>
        <p:spPr>
          <a:xfrm>
            <a:off x="6610350" y="3621399"/>
            <a:ext cx="1143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577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6688" y="1200150"/>
            <a:ext cx="7989570" cy="1451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/>
                <a:ea typeface="Verdana" panose="020B0604030504040204" pitchFamily="34" charset="0"/>
              </a:rPr>
              <a:t>5</a:t>
            </a:r>
            <a:r>
              <a:rPr lang="en-US" sz="1600" dirty="0">
                <a:latin typeface="Verdana"/>
                <a:ea typeface="Verdana" panose="020B0604030504040204" pitchFamily="34" charset="0"/>
              </a:rPr>
              <a:t>. </a:t>
            </a:r>
            <a:r>
              <a:rPr lang="ru-RU" sz="1600" dirty="0">
                <a:latin typeface="Verdana"/>
                <a:ea typeface="Verdana" panose="020B0604030504040204" pitchFamily="34" charset="0"/>
              </a:rPr>
              <a:t>Выгрузка данных из хранилища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600" dirty="0"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Переключение между версиями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883920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Как </a:t>
            </a:r>
            <a:r>
              <a:rPr lang="ru-RU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приконектится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к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GoogleDrive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B39894-5B59-41AD-86B7-2C93984392E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450" y="1471592"/>
            <a:ext cx="905001" cy="47631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5EB7D7-BA5E-45E1-A21C-E3A9C837A66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450" y="2459531"/>
            <a:ext cx="2314898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679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883920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I/CD 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с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F7FED30-59A2-4DDA-B461-B3D2263D9B0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0200" y="819150"/>
            <a:ext cx="6231816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66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883920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 Live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4AFD05-5372-444C-A8C6-1238FE31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6550"/>
            <a:ext cx="9144000" cy="2032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4E8F19-94F4-48EF-85CD-3C86D1BE2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76" y="941744"/>
            <a:ext cx="4201111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55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883920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API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D20D8F-02AB-4AD2-8405-1D11046D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428750"/>
            <a:ext cx="5562600" cy="195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60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E78EECA-77A5-4A0A-AB64-5E12AC62F7F5}"/>
              </a:ext>
            </a:extLst>
          </p:cNvPr>
          <p:cNvSpPr txBox="1"/>
          <p:nvPr/>
        </p:nvSpPr>
        <p:spPr>
          <a:xfrm>
            <a:off x="381000" y="285750"/>
            <a:ext cx="8839200" cy="45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DVC</a:t>
            </a: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Pipline</a:t>
            </a:r>
            <a:endParaRPr lang="ru-RU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C3C3C5-C730-4F62-869F-35A1E87B3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47750"/>
            <a:ext cx="3600953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559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540000" y="504001"/>
            <a:ext cx="7560000" cy="48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"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3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45689"/>
            <a:ext cx="9144000" cy="326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1470</TotalTime>
  <Words>578</Words>
  <Application>Microsoft Office PowerPoint</Application>
  <PresentationFormat>Экран (16:9)</PresentationFormat>
  <Paragraphs>113</Paragraphs>
  <Slides>29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8" baseType="lpstr">
      <vt:lpstr>Arial</vt:lpstr>
      <vt:lpstr>Calibri</vt:lpstr>
      <vt:lpstr>Montserrat</vt:lpstr>
      <vt:lpstr>Source Sans Pro</vt:lpstr>
      <vt:lpstr>Symbol</vt:lpstr>
      <vt:lpstr>Tahoma</vt:lpstr>
      <vt:lpstr>Verdana</vt:lpstr>
      <vt:lpstr>Wingdings</vt:lpstr>
      <vt:lpstr>Office Theme</vt:lpstr>
      <vt:lpstr>Презентация PowerPoint</vt:lpstr>
      <vt:lpstr>План занятия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Платные  - Amazon S3 (AWS)  - Microsoft Azure Blob Storage  - Google Cloud Storage (GCP)  - Aliyun OSS (Alibaba Cloud)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рабочего процесса: Acceptance criterias, DoR и DoD и ограничения гибких методологий</dc:title>
  <cp:lastModifiedBy>Константин Некрасов</cp:lastModifiedBy>
  <cp:revision>254</cp:revision>
  <dcterms:created xsi:type="dcterms:W3CDTF">2024-04-17T14:30:02Z</dcterms:created>
  <dcterms:modified xsi:type="dcterms:W3CDTF">2026-03-31T14:58:34Z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