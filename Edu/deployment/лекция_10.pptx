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537" r:id="rId2"/>
    <p:sldId id="257" r:id="rId3"/>
    <p:sldId id="428" r:id="rId4"/>
    <p:sldId id="461" r:id="rId5"/>
    <p:sldId id="492" r:id="rId6"/>
    <p:sldId id="501" r:id="rId7"/>
    <p:sldId id="494" r:id="rId8"/>
    <p:sldId id="496" r:id="rId9"/>
    <p:sldId id="495" r:id="rId10"/>
    <p:sldId id="497" r:id="rId11"/>
    <p:sldId id="498" r:id="rId12"/>
    <p:sldId id="499" r:id="rId13"/>
    <p:sldId id="500" r:id="rId14"/>
    <p:sldId id="502" r:id="rId15"/>
    <p:sldId id="503" r:id="rId16"/>
    <p:sldId id="507" r:id="rId17"/>
    <p:sldId id="504" r:id="rId18"/>
    <p:sldId id="505" r:id="rId19"/>
    <p:sldId id="506" r:id="rId20"/>
    <p:sldId id="508" r:id="rId21"/>
    <p:sldId id="509" r:id="rId22"/>
    <p:sldId id="510" r:id="rId23"/>
    <p:sldId id="511" r:id="rId24"/>
    <p:sldId id="512" r:id="rId25"/>
    <p:sldId id="513" r:id="rId26"/>
    <p:sldId id="514" r:id="rId27"/>
    <p:sldId id="515" r:id="rId28"/>
    <p:sldId id="516" r:id="rId29"/>
    <p:sldId id="517" r:id="rId30"/>
    <p:sldId id="530" r:id="rId31"/>
    <p:sldId id="531" r:id="rId32"/>
    <p:sldId id="532" r:id="rId33"/>
    <p:sldId id="533" r:id="rId34"/>
    <p:sldId id="534" r:id="rId35"/>
    <p:sldId id="535" r:id="rId36"/>
    <p:sldId id="536" r:id="rId37"/>
    <p:sldId id="277" r:id="rId38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E915"/>
    <a:srgbClr val="FE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>
      <p:cViewPr varScale="1">
        <p:scale>
          <a:sx n="197" d="100"/>
          <a:sy n="197" d="100"/>
        </p:scale>
        <p:origin x="636" y="15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8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419C4D-FA9E-46A8-9FCE-A8FA011D1C5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F6232-28EE-440E-A8DA-8388027DAD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227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0422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1450" y="302400"/>
            <a:ext cx="2683774" cy="393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7575" y="195145"/>
            <a:ext cx="8568849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7B7B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4450" y="298800"/>
            <a:ext cx="2709550" cy="397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4309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273" y="540000"/>
            <a:ext cx="7821455" cy="40635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bg>
      <p:bgPr>
        <a:solidFill>
          <a:srgbClr val="005FAF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25631" y="4283051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3703" y="3694919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"/>
          <p:cNvSpPr txBox="1"/>
          <p:nvPr/>
        </p:nvSpPr>
        <p:spPr>
          <a:xfrm rot="2700000">
            <a:off x="7308740" y="4159928"/>
            <a:ext cx="30080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589374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250" y="249282"/>
            <a:ext cx="8487499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0725" y="913921"/>
            <a:ext cx="8342548" cy="2339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B7B7B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6ZjYcy76wsY1MTF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/>
        </p:nvSpPr>
        <p:spPr>
          <a:xfrm>
            <a:off x="1371601" y="4078856"/>
            <a:ext cx="3901199" cy="112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Некрасов Константин Олегович</a:t>
            </a: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Директор по разработке ML-моделей  </a:t>
            </a: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АО «Газпромбанк»</a:t>
            </a:r>
            <a:endParaRPr lang="en-US"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Блог: </a:t>
            </a:r>
            <a:r>
              <a:rPr lang="en-US" sz="1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Labalgo</a:t>
            </a:r>
            <a:endParaRPr lang="en-US" sz="1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endParaRPr lang="ru-RU" sz="1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8"/>
          <p:cNvSpPr txBox="1"/>
          <p:nvPr/>
        </p:nvSpPr>
        <p:spPr>
          <a:xfrm>
            <a:off x="414000" y="200730"/>
            <a:ext cx="8316000" cy="62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-RU" sz="4000" b="1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Внедрение моделей </a:t>
            </a:r>
            <a:r>
              <a:rPr lang="en-US" sz="4000" b="1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ML</a:t>
            </a:r>
          </a:p>
        </p:txBody>
      </p:sp>
      <p:sp>
        <p:nvSpPr>
          <p:cNvPr id="39" name="Google Shape;39;p8"/>
          <p:cNvSpPr txBox="1"/>
          <p:nvPr/>
        </p:nvSpPr>
        <p:spPr>
          <a:xfrm>
            <a:off x="1828800" y="3486150"/>
            <a:ext cx="2286000" cy="40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en-US" sz="24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MLflow</a:t>
            </a:r>
            <a:endParaRPr lang="ru-RU" sz="24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190750"/>
            <a:ext cx="9144000" cy="2252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1255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-46486"/>
            <a:ext cx="9143999" cy="497887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2900" y="236882"/>
            <a:ext cx="2202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План</a:t>
            </a:r>
            <a:r>
              <a:rPr spc="-215" dirty="0"/>
              <a:t> </a:t>
            </a:r>
            <a:r>
              <a:rPr spc="20" dirty="0"/>
              <a:t>занятия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7360" y="794030"/>
            <a:ext cx="5997240" cy="3722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z="1800" spc="160" dirty="0" err="1">
                <a:solidFill>
                  <a:srgbClr val="181818"/>
                </a:solidFill>
                <a:latin typeface="Verdana"/>
                <a:cs typeface="Verdana"/>
              </a:rPr>
              <a:t>MLflow</a:t>
            </a:r>
            <a:endParaRPr lang="ru-RU" sz="1800" spc="160" dirty="0">
              <a:solidFill>
                <a:srgbClr val="181818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914400" y="1809750"/>
            <a:ext cx="739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32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328" y="170029"/>
            <a:ext cx="6477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MLflow</a:t>
            </a:r>
            <a:endParaRPr lang="en-US" sz="4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MLflow — a modern MLOps tool for data project collaboration | by Hong  Nguyen | SFU Professional Computer Science | Medium">
            <a:extLst>
              <a:ext uri="{FF2B5EF4-FFF2-40B4-BE49-F238E27FC236}">
                <a16:creationId xmlns:a16="http://schemas.microsoft.com/office/drawing/2014/main" id="{7B660686-E76D-4BAE-BA0B-AE1DDE76B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112" y="3181350"/>
            <a:ext cx="50292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EAFDF113-B84F-4A4B-AB53-70CBF6323A04}"/>
              </a:ext>
            </a:extLst>
          </p:cNvPr>
          <p:cNvSpPr txBox="1"/>
          <p:nvPr/>
        </p:nvSpPr>
        <p:spPr>
          <a:xfrm>
            <a:off x="347662" y="2196561"/>
            <a:ext cx="6205538" cy="1747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это инструмент для управления жизненным циклом машинного обучения (ML), который упрощает работу с экспериментами, сохранение моделей, отслеживание метрик и версий данных.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493992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Компоненты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81000" y="1316021"/>
            <a:ext cx="7989570" cy="26066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dirty="0"/>
              <a:t>1.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Основной раздел</a:t>
            </a:r>
            <a:r>
              <a:rPr lang="ru-RU" dirty="0"/>
              <a:t>: </a:t>
            </a:r>
            <a:r>
              <a:rPr lang="ru-RU" dirty="0" err="1"/>
              <a:t>Mlflow</a:t>
            </a:r>
            <a:r>
              <a:rPr lang="ru-RU" dirty="0"/>
              <a:t> </a:t>
            </a:r>
            <a:r>
              <a:rPr lang="ru-RU" dirty="0" err="1"/>
              <a:t>tracking</a:t>
            </a:r>
            <a:endParaRPr lang="ru-RU" dirty="0"/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dirty="0"/>
              <a:t>- </a:t>
            </a:r>
            <a:r>
              <a:rPr lang="ru-RU" dirty="0"/>
              <a:t>сохранение и просмотр экспериментов, запусков циклов обучения модели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dirty="0"/>
              <a:t>- </a:t>
            </a:r>
            <a:r>
              <a:rPr lang="ru-RU" dirty="0"/>
              <a:t>сохранение мета информации, параметры моделей и прочего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dirty="0"/>
              <a:t>2. 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MLflow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models</a:t>
            </a:r>
            <a:r>
              <a:rPr lang="ru-RU" dirty="0"/>
              <a:t>: </a:t>
            </a:r>
            <a:r>
              <a:rPr lang="ru-RU" dirty="0" err="1"/>
              <a:t>сериализация</a:t>
            </a:r>
            <a:r>
              <a:rPr lang="ru-RU" dirty="0"/>
              <a:t> и деплой моделей ML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dirty="0"/>
              <a:t>3. 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MLflow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projects</a:t>
            </a:r>
            <a:r>
              <a:rPr lang="ru-RU" dirty="0"/>
              <a:t>: создание окружения и запуск моделей для </a:t>
            </a:r>
            <a:r>
              <a:rPr lang="ru-RU" dirty="0" err="1"/>
              <a:t>инференса</a:t>
            </a:r>
            <a:endParaRPr lang="ru-RU" dirty="0"/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dirty="0"/>
              <a:t>4. 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MLflow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registry</a:t>
            </a:r>
            <a:r>
              <a:rPr lang="ru-RU" dirty="0"/>
              <a:t>: централизованный сервис для хранения моделей и мета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921036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328" y="170029"/>
            <a:ext cx="6477000" cy="650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Tracking</a:t>
            </a:r>
            <a:endParaRPr lang="ru-RU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286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Tracking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81000" y="1276350"/>
            <a:ext cx="7989570" cy="22349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MLflow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Tracking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/>
              <a:t>— это один из ключевых компонентов платформы </a:t>
            </a:r>
            <a:r>
              <a:rPr lang="ru-RU" dirty="0" err="1"/>
              <a:t>MLflow</a:t>
            </a:r>
            <a:r>
              <a:rPr lang="ru-RU" dirty="0"/>
              <a:t>, предназначенный для отслеживания экспериментов машинного обучения.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b="0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В нем мы трекаем эксперименты и с помощью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дашборда</a:t>
            </a:r>
            <a:r>
              <a:rPr lang="ru-RU" b="0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 просматриваем. Если известны такие инструменты как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tensorboard</a:t>
            </a:r>
            <a:r>
              <a:rPr lang="ru-RU" b="0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 или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wandb</a:t>
            </a:r>
            <a:r>
              <a:rPr lang="ru-RU" b="0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, то принцип будет знакомый - в общем месте просматриваем результаты, привязанные к конкретному эксперименту.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1317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Основные задачи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Tracking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81000" y="1200150"/>
            <a:ext cx="7989570" cy="2676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Сохранение и управление экспериментами</a:t>
            </a:r>
            <a:endParaRPr lang="en-US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Логирование параметров и метрик</a:t>
            </a:r>
            <a:endParaRPr lang="en-US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Артефакты и модели</a:t>
            </a:r>
            <a:endParaRPr lang="en-US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Интеграция с интерфейсом</a:t>
            </a:r>
          </a:p>
        </p:txBody>
      </p:sp>
    </p:spTree>
    <p:extLst>
      <p:ext uri="{BB962C8B-B14F-4D97-AF65-F5344CB8AC3E}">
        <p14:creationId xmlns:p14="http://schemas.microsoft.com/office/powerpoint/2010/main" val="1992949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Конфигурации использования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4C8B0AD-E28E-4892-B731-C4F584882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957262"/>
            <a:ext cx="6934200" cy="39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7109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Как работает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Tracking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81000" y="1200150"/>
            <a:ext cx="7989570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Настройка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Tracking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URI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2. Начало и завершение эксперимента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3. Логирование параметров и метрик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4. Логирование артефактов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5. Сохранение и логирование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560812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Как работает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Tracking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81000" y="1200150"/>
            <a:ext cx="79895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Пример кода на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Python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E789F8-9BCE-49E3-91E3-0B51FA3E4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57350"/>
            <a:ext cx="6168903" cy="330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19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9544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Просмотр результатов экспериментов через </a:t>
            </a:r>
            <a:r>
              <a:rPr lang="ru-RU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UI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409651" y="1581150"/>
            <a:ext cx="7989570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После того, как эксперименты будут завершены, вы сможете визуализировать все данные через встроенный веб-интерфейс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. Для его запуска выполните команду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ui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 терминале</a:t>
            </a:r>
          </a:p>
          <a:p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После этого откройте браузер и перейдите по адресу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http://127.0.0.1:5000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где вы сможете увидеть список всех экспериментов, их параметры, метрики и артефакты. Вы можете фильтровать эксперименты, сравнивать результаты и анализировать данные.</a:t>
            </a:r>
          </a:p>
        </p:txBody>
      </p:sp>
    </p:spTree>
    <p:extLst>
      <p:ext uri="{BB962C8B-B14F-4D97-AF65-F5344CB8AC3E}">
        <p14:creationId xmlns:p14="http://schemas.microsoft.com/office/powerpoint/2010/main" val="3170296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755FAD-2477-4426-A7A4-68DC5E19B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66388" cy="22544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0FCFED-19AA-45B1-8BA8-754971CFA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43150"/>
            <a:ext cx="5257800" cy="270715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E07F182-5413-45DC-A287-3AE3BFDC3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446" y="3149323"/>
            <a:ext cx="4543554" cy="198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898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328" y="170029"/>
            <a:ext cx="6477000" cy="650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Models</a:t>
            </a:r>
            <a:endParaRPr lang="ru-RU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589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Models 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409651" y="1581150"/>
            <a:ext cx="798957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Models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— это компонент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который обеспечивает стандартизированный подход к упаковке моделей машинного обучения для последующего сохранения, загрузки и деплоя (развертывания). </a:t>
            </a:r>
          </a:p>
        </p:txBody>
      </p:sp>
    </p:spTree>
    <p:extLst>
      <p:ext uri="{BB962C8B-B14F-4D97-AF65-F5344CB8AC3E}">
        <p14:creationId xmlns:p14="http://schemas.microsoft.com/office/powerpoint/2010/main" val="3155775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Основные возможности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Models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409651" y="1581150"/>
            <a:ext cx="7989570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Унифицированный формат моделей</a:t>
            </a: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Многоплатформенная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поддержка</a:t>
            </a: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Сохранение и загрузка моделей</a:t>
            </a: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Поддержка деплоя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2430944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Формат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Models 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409651" y="1581150"/>
            <a:ext cx="798957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Mlmodel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Артефакты модели</a:t>
            </a: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Зависимости</a:t>
            </a: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Пример содержимого модели, сохраненной в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EC9C7F-6FFA-46CA-AAB3-2AA23AB12E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2206" y="3158144"/>
            <a:ext cx="2762636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25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Логирование и сохранение моделей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69418" y="1123950"/>
            <a:ext cx="798957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для логирования (сохранения) модели используется команда, которая автоматически сохраняет модель вместе с её метаданными. Например, если вы используете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Scikit-learn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можно сохранить модель так: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D44ECB3-2BD4-4ACD-AA7D-359570B4F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343150"/>
            <a:ext cx="7316221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9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Загрузка моделей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69418" y="1123950"/>
            <a:ext cx="79895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После того как модель сохранена, её можно загрузить для использования в предсказаниях (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инференсе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) или тестирования.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27A3CC-E182-49EA-A1E5-7A57E6344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49" y="1962150"/>
            <a:ext cx="4305901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1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Развертывание (деплой) моделей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56616" y="895350"/>
            <a:ext cx="7989570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1. Локальное развертывание через REST API:</a:t>
            </a:r>
          </a:p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models serve -m models:/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RandomForestModel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/1 -p 1234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После этого:</a:t>
            </a:r>
          </a:p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curl -X POST -H "Content-Type: application/json" --data '{"data": [[5.1, 3.5, 1.4, 0.2]]}' http://127.0.0.1:1234/invocations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2. Деплой с использованием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Docker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models build-docker -m models:/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RandomForestModel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/1 -n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random_forest_image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3. Деплой в облачные сервисы</a:t>
            </a:r>
          </a:p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sagemaker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deploy -m models:/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RandomForestModel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/1 --region us-west-2 --mode create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946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328" y="170029"/>
            <a:ext cx="6477000" cy="650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Projects</a:t>
            </a:r>
            <a:endParaRPr lang="ru-RU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831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Projects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69418" y="1123950"/>
            <a:ext cx="798957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Projects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— это компонент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который обеспечивает стандартизацию и упаковку кода и зависимостей для запуска и воспроизведения экспериментов машинного обучения. Этот компонент делает процесс воспроизведения экспериментов, обмена кодом и настройками более упорядоченным и удобным, особенно в командных или производственных средах.</a:t>
            </a:r>
          </a:p>
        </p:txBody>
      </p:sp>
    </p:spTree>
    <p:extLst>
      <p:ext uri="{BB962C8B-B14F-4D97-AF65-F5344CB8AC3E}">
        <p14:creationId xmlns:p14="http://schemas.microsoft.com/office/powerpoint/2010/main" val="4261927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Основные возможности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Projects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409651" y="1581150"/>
            <a:ext cx="7989570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Стандартизация проекта</a:t>
            </a: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Упаковка зависимостей</a:t>
            </a: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Воспроизводимость</a:t>
            </a: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Универсальность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598456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Структура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Projects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409651" y="1581150"/>
            <a:ext cx="798957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Mlmodel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Conda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environment (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conda.yaml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Source code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Пример структуры папки проекта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97DFAE8-85D1-41E2-8CF5-7CA558E0B37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43000" y="3105150"/>
            <a:ext cx="1609950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936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Файл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Projects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81000" y="971550"/>
            <a:ext cx="798957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Это основной файл, который содержит описание проекта и необходимые параметры для его запуска. Он написан в формате YAML и должен быть размещен в корневом каталоге вашего проекта.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C88C3A-E3EF-4600-80F5-D5E131384D3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1000" y="2124526"/>
            <a:ext cx="6373114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138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Файл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conda.yaml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81000" y="971550"/>
            <a:ext cx="798957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Файл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conda.yaml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содержит описание всех библиотек и зависимостей, которые необходимы для воспроизведения эксперимента.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06F0A0-97DB-47FB-B212-D1DFECBF77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14400" y="1962150"/>
            <a:ext cx="2143424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1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Запуск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Projects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81000" y="971550"/>
            <a:ext cx="7989570" cy="305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Для запуска проекта используется команда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run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которая выполняет указанный в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MLproject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файл с соответствующими параметрами.</a:t>
            </a:r>
          </a:p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run . -P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n_estimators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=200 -P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max_depth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=10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Также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позволяет запускать проекты, размещенные в репозиториях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Git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run https://github.com/username/my_ml_project.git -P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n_estimators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=200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843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Использование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Docker </a:t>
            </a: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для проектов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3A8359-2D61-4EE1-9BEB-E90D1C04257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57400" y="1200150"/>
            <a:ext cx="4896533" cy="25054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2683BE-5219-40B6-B90B-F7D84D8CE86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63798" y="4324350"/>
            <a:ext cx="2591162" cy="362001"/>
          </a:xfrm>
          <a:prstGeom prst="rect">
            <a:avLst/>
          </a:prstGeom>
        </p:spPr>
      </p:pic>
      <p:sp>
        <p:nvSpPr>
          <p:cNvPr id="8" name="Стрелка: вниз 7">
            <a:extLst>
              <a:ext uri="{FF2B5EF4-FFF2-40B4-BE49-F238E27FC236}">
                <a16:creationId xmlns:a16="http://schemas.microsoft.com/office/drawing/2014/main" id="{8D771901-F2A9-460F-B90B-04EA7BC1E12C}"/>
              </a:ext>
            </a:extLst>
          </p:cNvPr>
          <p:cNvSpPr/>
          <p:nvPr/>
        </p:nvSpPr>
        <p:spPr>
          <a:xfrm>
            <a:off x="4406979" y="3743675"/>
            <a:ext cx="304800" cy="5425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8763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Преимущества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Projects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81000" y="971550"/>
            <a:ext cx="7989570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Воспроизводимость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Масштабируемость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Удобство для командной работы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Гибкость</a:t>
            </a:r>
          </a:p>
        </p:txBody>
      </p:sp>
    </p:spTree>
    <p:extLst>
      <p:ext uri="{BB962C8B-B14F-4D97-AF65-F5344CB8AC3E}">
        <p14:creationId xmlns:p14="http://schemas.microsoft.com/office/powerpoint/2010/main" val="39990401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328" y="170029"/>
            <a:ext cx="6477000" cy="650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Registry</a:t>
            </a:r>
            <a:endParaRPr lang="ru-RU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03300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Registry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69418" y="1123950"/>
            <a:ext cx="798957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Model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Registry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— это компонент платформы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который предоставляет централизованное хранилище для управления жизненным циклом моделей машинного обучения.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Этот компонент обеспечивает возможность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версионирования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отслеживания, проверки и управления различными версиями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17113507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Основные возможности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Registry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409651" y="1581150"/>
            <a:ext cx="7989570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Версионирование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моделей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Отслеживание статуса модели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События и аннотации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Одобрение и проверки моделей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API для управления моделями</a:t>
            </a:r>
          </a:p>
        </p:txBody>
      </p:sp>
    </p:spTree>
    <p:extLst>
      <p:ext uri="{BB962C8B-B14F-4D97-AF65-F5344CB8AC3E}">
        <p14:creationId xmlns:p14="http://schemas.microsoft.com/office/powerpoint/2010/main" val="30119117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Компоненты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MLflow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Registry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409651" y="1581150"/>
            <a:ext cx="7989570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Registered Model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Model Version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Stage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Annotations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1068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Процесс регистрации модели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81000" y="1123950"/>
            <a:ext cx="79895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Регистрация новой модели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E59397-4981-4D4B-A2F9-0D4CC7A8B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71291"/>
            <a:ext cx="5468113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6523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Процесс регистрации модели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81000" y="1123950"/>
            <a:ext cx="79895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2. Переход модели на новые стадии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7BCE8C-52F3-4C04-A368-7A58CE824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0721"/>
            <a:ext cx="3172268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5451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Важные преимущества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Model Registry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81000" y="1123950"/>
            <a:ext cx="7989570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Централизованное хранилище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Жизненный цикл модели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Версионирование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Контроль качества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Интеграция с другими компонентами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MLflow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2692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/>
        </p:nvSpPr>
        <p:spPr>
          <a:xfrm>
            <a:off x="540000" y="504001"/>
            <a:ext cx="7560000" cy="48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"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 sz="3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1" name="Google Shape;22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45689"/>
            <a:ext cx="9144000" cy="3267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1642</TotalTime>
  <Words>849</Words>
  <Application>Microsoft Office PowerPoint</Application>
  <PresentationFormat>Экран (16:9)</PresentationFormat>
  <Paragraphs>152</Paragraphs>
  <Slides>37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3" baseType="lpstr">
      <vt:lpstr>Arial</vt:lpstr>
      <vt:lpstr>Calibri</vt:lpstr>
      <vt:lpstr>Helvetica</vt:lpstr>
      <vt:lpstr>Montserrat</vt:lpstr>
      <vt:lpstr>Verdana</vt:lpstr>
      <vt:lpstr>Office Theme</vt:lpstr>
      <vt:lpstr>Презентация PowerPoint</vt:lpstr>
      <vt:lpstr>План занятия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Формирование рабочего процесса: Acceptance criterias, DoR и DoD и ограничения гибких методологий</dc:title>
  <cp:lastModifiedBy>Константин Некрасов</cp:lastModifiedBy>
  <cp:revision>303</cp:revision>
  <dcterms:created xsi:type="dcterms:W3CDTF">2024-04-17T14:30:02Z</dcterms:created>
  <dcterms:modified xsi:type="dcterms:W3CDTF">2026-04-02T07:55:06Z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