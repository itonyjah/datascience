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8" r:id="rId2"/>
    <p:sldId id="257" r:id="rId3"/>
    <p:sldId id="367" r:id="rId4"/>
    <p:sldId id="284" r:id="rId5"/>
    <p:sldId id="328" r:id="rId6"/>
    <p:sldId id="339" r:id="rId7"/>
    <p:sldId id="366" r:id="rId8"/>
    <p:sldId id="331" r:id="rId9"/>
    <p:sldId id="299" r:id="rId10"/>
    <p:sldId id="392" r:id="rId11"/>
    <p:sldId id="330" r:id="rId12"/>
    <p:sldId id="332" r:id="rId13"/>
    <p:sldId id="333" r:id="rId14"/>
    <p:sldId id="334" r:id="rId15"/>
    <p:sldId id="335" r:id="rId16"/>
    <p:sldId id="368" r:id="rId17"/>
    <p:sldId id="369" r:id="rId18"/>
    <p:sldId id="370" r:id="rId19"/>
    <p:sldId id="263" r:id="rId20"/>
    <p:sldId id="371" r:id="rId21"/>
    <p:sldId id="267" r:id="rId22"/>
    <p:sldId id="268" r:id="rId23"/>
    <p:sldId id="269" r:id="rId24"/>
    <p:sldId id="373" r:id="rId25"/>
    <p:sldId id="271" r:id="rId26"/>
    <p:sldId id="277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44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2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266B5-8DC8-4562-8150-40E8F32471BE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33D6E4-79C9-4E2D-9905-72C794A74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0499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:notes"/>
          <p:cNvSpPr txBox="1">
            <a:spLocks noGrp="1"/>
          </p:cNvSpPr>
          <p:nvPr>
            <p:ph type="body" idx="1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385763"/>
            <a:ext cx="3429000" cy="19288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EADEED-C88D-4D94-AC11-8AAE61BECA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47A179C-3449-4612-BED6-E328368E37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4781B0-A377-4CF1-9BAA-BCFFB161C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2C6C19-D855-4B9F-8103-7B41DCAFC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5D2B05B-EECF-4011-8E7C-8A4170AF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245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CE6C47-F209-4943-8ED4-867A802E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B22F2A-CD8B-4FF0-A518-E8F3E6651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B9E6CF-6173-43AC-8BE0-16F58ADE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851B22-D56B-4BB5-9185-9630E29E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C8B6D9-64FC-48FE-B601-4D968F57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557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55A05C-0854-402F-A8A3-30D52B782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812A29-1580-4C78-9521-F20C536C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F79129F-4DC2-452F-9C57-00F06F31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306992-BE7F-495B-9CA0-C06EFF3B0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82677D-8528-4216-9B51-7D134DD1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7462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951E5-1C94-45D6-AF0F-033AD7112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08D4D0-995B-4049-9E9F-20F7BD76F0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493939C-214B-4EE6-8085-A87E6C532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DC0346-3F4C-4602-882E-74E888D62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7E9903-1C31-47D1-A904-E7EFCB733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879D94-71F8-4BD2-88A5-12E6B3465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073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B3C854-9FBE-425D-B16F-08D4E0D45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643A85-1168-441D-BEF3-689F06002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D8B99B6-AEF3-4968-8F26-C5B906A94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8D42A25-5B0B-4B55-9BD4-1C4C4F82A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46BDB74-126E-4E24-B068-DE2EF64E2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DA66AE-5FA9-4FDA-8491-3A0E8DAD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37F4ADB-6C43-4AF9-B806-80CD6BD1C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FE89BA-FC8C-4D0D-99E7-BFC7B5456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333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B5A11F-CAAB-4578-B213-055F512D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99A15A9-D091-4641-91C3-7F15EDCA9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279BC5-5D59-47C3-B2CB-92E9410F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9828E90-F583-429E-8144-52D601C8C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543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2AE7253-0C27-4AAE-9847-20C1A0D8F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62BEC8-31E4-4A44-8652-EB30F90C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C46D88-CF7C-4EA4-A7EB-3BAEF5D2F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631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DEBCF4-4CDD-4181-A6BD-BA48ADF36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5FFB7-A05B-4DAF-8141-2C9B206E6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FF93A4-0E08-4AB2-B51B-EFF7F57A9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EE2304-E4DE-40BC-A6E3-541CBD47B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6535334-AE7E-4789-975D-A8C23BC2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09B6AE7-709B-473E-8CCB-384DE5010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20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1DA68A-DC6A-4053-A119-363F15287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67FC59A-020F-451A-A8C3-47F524F23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929CBFA-7D95-40D1-AC2D-5483BB711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D81A639-BD9F-4F87-A210-1FC69B70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34CF02E-0252-4A29-993D-D5A44055E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873321F-1847-4AF1-8C96-EC92381C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3740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66FED0-1F06-44D6-BB0E-7BAB3ED1B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C677CFA-2422-4D06-9508-36039B3189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EBFA82-88F1-4522-B501-D1F3D24D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D1F5F5A-0AAD-47DD-903A-D20A2E7A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B351B4-FDA3-465D-BC04-7957791C8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635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E6B8811-45D0-44A5-B87B-E62897213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E2902A-3C52-4A09-AAB9-111497351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524F4D-C137-489D-B608-BC563E618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9258D7-4029-479A-B13C-15A956E01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A288E4-37CF-4475-97D0-853DD022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90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35267" y="403200"/>
            <a:ext cx="3578365" cy="5244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434" y="667541"/>
            <a:ext cx="11425132" cy="60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6727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1_Титульный слайд">
    <p:bg>
      <p:bgPr>
        <a:solidFill>
          <a:srgbClr val="005FAF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Skillfactory_длинный_инверсия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67508" y="5710734"/>
            <a:ext cx="2325233" cy="197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3" title="Без-коня-без-дескриптора-(инверсия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31603" y="4926558"/>
            <a:ext cx="2056565" cy="145326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"/>
          <p:cNvSpPr txBox="1"/>
          <p:nvPr/>
        </p:nvSpPr>
        <p:spPr>
          <a:xfrm rot="2700000">
            <a:off x="9744986" y="5546537"/>
            <a:ext cx="401071" cy="53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867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</a:t>
            </a:r>
            <a:endParaRPr sz="1867" b="0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7441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6EB23-55F7-4C71-8883-51563E79B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2434C9-32CA-4594-9243-DE8E3F30AC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9A14B7-9110-478E-95D1-401E6CA58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A495D-740F-4A7A-B0B6-291FC27862D5}" type="datetimeFigureOut">
              <a:rPr lang="ru-RU" smtClean="0"/>
              <a:t>03.03.2026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0F9A458-3381-4A47-803C-C6D795FFB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95835C-83A9-4083-AF3D-2E216949C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373B7-147E-4B13-8CB0-164AF64A74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586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7" r:id="rId12"/>
    <p:sldLayoutId id="2147483718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6ZjYcy76wsY1MTF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/>
        </p:nvSpPr>
        <p:spPr>
          <a:xfrm>
            <a:off x="1828801" y="5438475"/>
            <a:ext cx="5201599" cy="1500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b="1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Некрасов Константин Олегович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Директор по разработке ML-моделей  </a:t>
            </a: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АО «Газпромбанк»</a:t>
            </a:r>
            <a:endParaRPr lang="en-US" sz="1600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r>
              <a:rPr lang="ru-RU" sz="16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Блог: </a:t>
            </a:r>
            <a:r>
              <a:rPr lang="en-US" sz="16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Labalgo</a:t>
            </a:r>
            <a:endParaRPr lang="en-US" sz="16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>
              <a:lnSpc>
                <a:spcPct val="113999"/>
              </a:lnSpc>
              <a:buClr>
                <a:srgbClr val="FEFFFF"/>
              </a:buClr>
              <a:buSzPts val="1300"/>
            </a:pPr>
            <a:endParaRPr lang="ru-RU" sz="1600" b="1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8"/>
          <p:cNvSpPr txBox="1"/>
          <p:nvPr/>
        </p:nvSpPr>
        <p:spPr>
          <a:xfrm>
            <a:off x="552000" y="267639"/>
            <a:ext cx="11088000" cy="83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5333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Внедрение моделей </a:t>
            </a:r>
            <a:r>
              <a:rPr lang="en-US" sz="5333" b="1" dirty="0">
                <a:solidFill>
                  <a:schemeClr val="lt1"/>
                </a:solidFill>
                <a:latin typeface="Verdana" panose="020B0604030504040204" pitchFamily="34" charset="0"/>
                <a:ea typeface="Verdana" panose="020B0604030504040204" pitchFamily="34" charset="0"/>
                <a:cs typeface="Montserrat"/>
                <a:sym typeface="Montserrat"/>
              </a:rPr>
              <a:t>ML</a:t>
            </a:r>
          </a:p>
        </p:txBody>
      </p:sp>
      <p:sp>
        <p:nvSpPr>
          <p:cNvPr id="39" name="Google Shape;39;p8"/>
          <p:cNvSpPr txBox="1"/>
          <p:nvPr/>
        </p:nvSpPr>
        <p:spPr>
          <a:xfrm>
            <a:off x="315407" y="4133844"/>
            <a:ext cx="10080000" cy="5401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-RU" sz="32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Сериализация</a:t>
            </a:r>
          </a:p>
        </p:txBody>
      </p:sp>
      <p:pic>
        <p:nvPicPr>
          <p:cNvPr id="40" name="Google Shape;40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632167"/>
            <a:ext cx="12192000" cy="30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03867" y="229514"/>
            <a:ext cx="52180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План</a:t>
            </a:r>
            <a:r>
              <a:rPr b="1" spc="-28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2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занятия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3867" y="1431240"/>
            <a:ext cx="11044320" cy="435418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Знакомство с курсом и цели дисциплины</a:t>
            </a:r>
            <a:endParaRPr lang="en-US" sz="2400" spc="213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spc="213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Что такое </a:t>
            </a:r>
            <a:r>
              <a:rPr lang="en-US" sz="2400" spc="213" dirty="0" err="1">
                <a:solidFill>
                  <a:srgbClr val="181818"/>
                </a:solidFill>
                <a:latin typeface="Verdana"/>
                <a:cs typeface="Verdana"/>
              </a:rPr>
              <a:t>MLOps</a:t>
            </a:r>
            <a:r>
              <a:rPr lang="en-US" sz="2400" spc="21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и его место в автоматизации</a:t>
            </a: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ru-RU" sz="2400" spc="213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Деплой модели и </a:t>
            </a:r>
            <a:r>
              <a:rPr lang="ru-RU" sz="2400" spc="213" dirty="0" err="1">
                <a:solidFill>
                  <a:srgbClr val="181818"/>
                </a:solidFill>
                <a:latin typeface="Verdana"/>
                <a:cs typeface="Verdana"/>
              </a:rPr>
              <a:t>сериализация</a:t>
            </a:r>
            <a:endParaRPr lang="ru-RU" sz="2400" spc="213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ru-RU" sz="2400" spc="213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593497" indent="-480048">
              <a:lnSpc>
                <a:spcPct val="150000"/>
              </a:lnSpc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Сохранение объектов с </a:t>
            </a:r>
            <a:r>
              <a:rPr lang="en-US" sz="2400" spc="213" dirty="0">
                <a:solidFill>
                  <a:srgbClr val="181818"/>
                </a:solidFill>
                <a:latin typeface="Verdana"/>
                <a:cs typeface="Verdana"/>
              </a:rPr>
              <a:t>pickle </a:t>
            </a:r>
            <a:r>
              <a:rPr lang="ru-RU" sz="2400" spc="213" dirty="0">
                <a:solidFill>
                  <a:srgbClr val="181818"/>
                </a:solidFill>
                <a:latin typeface="Verdana"/>
                <a:cs typeface="Verdana"/>
              </a:rPr>
              <a:t>и </a:t>
            </a:r>
            <a:r>
              <a:rPr lang="en-US" sz="2400" spc="213" dirty="0" err="1">
                <a:solidFill>
                  <a:srgbClr val="181818"/>
                </a:solidFill>
                <a:latin typeface="Verdana"/>
                <a:cs typeface="Verdana"/>
              </a:rPr>
              <a:t>joblib</a:t>
            </a:r>
            <a:endParaRPr lang="en-US" sz="2400" spc="213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593497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1168400" y="2819401"/>
            <a:ext cx="9855200" cy="140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2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1. Знакомство с курсом и цели дисциплины</a:t>
            </a:r>
          </a:p>
        </p:txBody>
      </p:sp>
    </p:spTree>
    <p:extLst>
      <p:ext uri="{BB962C8B-B14F-4D97-AF65-F5344CB8AC3E}">
        <p14:creationId xmlns:p14="http://schemas.microsoft.com/office/powerpoint/2010/main" val="3491323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 algn="ctr">
              <a:lnSpc>
                <a:spcPct val="100000"/>
              </a:lnSpc>
              <a:spcBef>
                <a:spcPts val="133"/>
              </a:spcBef>
            </a:pPr>
            <a:r>
              <a:rPr lang="ru-RU" b="1" spc="7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Кратко о себе</a:t>
            </a:r>
            <a:endParaRPr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2040" y="5156200"/>
            <a:ext cx="6029960" cy="1178763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16086" algn="ctr">
              <a:spcBef>
                <a:spcPts val="513"/>
              </a:spcBef>
              <a:tabLst>
                <a:tab pos="590112" algn="l"/>
                <a:tab pos="590959" algn="l"/>
              </a:tabLst>
            </a:pPr>
            <a:r>
              <a:rPr lang="ru-RU" sz="2133" b="1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Некрасов Константин Олегович</a:t>
            </a:r>
          </a:p>
          <a:p>
            <a:pPr marL="16086" algn="ctr">
              <a:spcBef>
                <a:spcPts val="513"/>
              </a:spcBef>
              <a:tabLst>
                <a:tab pos="590112" algn="l"/>
                <a:tab pos="590959" algn="l"/>
              </a:tabLst>
            </a:pPr>
            <a:r>
              <a:rPr lang="ru-RU" sz="2133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Директор по разработке ML-моделей </a:t>
            </a:r>
          </a:p>
          <a:p>
            <a:pPr marL="16086" algn="ctr">
              <a:spcBef>
                <a:spcPts val="513"/>
              </a:spcBef>
              <a:tabLst>
                <a:tab pos="590112" algn="l"/>
                <a:tab pos="590959" algn="l"/>
              </a:tabLst>
            </a:pPr>
            <a:r>
              <a:rPr lang="ru-RU" sz="2133" spc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Tahoma"/>
              </a:rPr>
              <a:t>АО «Газпромбанк»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2315" y="4022372"/>
            <a:ext cx="4333240" cy="186677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90112" marR="6773" indent="-574026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90112" algn="l"/>
                <a:tab pos="590959" algn="l"/>
              </a:tabLst>
            </a:pPr>
            <a:r>
              <a:rPr lang="ru-RU" sz="2133" spc="87" dirty="0">
                <a:latin typeface="Verdana"/>
                <a:cs typeface="Verdana"/>
              </a:rPr>
              <a:t>Занимаюсь разработкой</a:t>
            </a:r>
            <a:r>
              <a:rPr lang="en-US" sz="2133" spc="87" dirty="0">
                <a:latin typeface="Verdana"/>
                <a:cs typeface="Verdana"/>
              </a:rPr>
              <a:t> </a:t>
            </a:r>
            <a:r>
              <a:rPr lang="en-US" sz="2133" b="1" spc="87" dirty="0">
                <a:latin typeface="Verdana"/>
                <a:cs typeface="Verdana"/>
              </a:rPr>
              <a:t>ML </a:t>
            </a:r>
            <a:r>
              <a:rPr lang="ru-RU" sz="2133" b="1" spc="87" dirty="0">
                <a:latin typeface="Verdana"/>
                <a:cs typeface="Verdana"/>
              </a:rPr>
              <a:t>моделей</a:t>
            </a:r>
            <a:r>
              <a:rPr lang="ru-RU" sz="2133" spc="87" dirty="0">
                <a:latin typeface="Verdana"/>
                <a:cs typeface="Verdana"/>
              </a:rPr>
              <a:t> для клиентов банка и внутренних подразделений  </a:t>
            </a:r>
            <a:endParaRPr sz="2133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0976" y="1969677"/>
            <a:ext cx="4001347" cy="722291"/>
          </a:xfrm>
          <a:prstGeom prst="rect">
            <a:avLst/>
          </a:prstGeom>
        </p:spPr>
        <p:txBody>
          <a:bodyPr vert="horz" wrap="square" lIns="0" tIns="65193" rIns="0" bIns="0" rtlCol="0">
            <a:spAutoFit/>
          </a:bodyPr>
          <a:lstStyle/>
          <a:p>
            <a:pPr marL="590112" indent="-574026">
              <a:spcBef>
                <a:spcPts val="513"/>
              </a:spcBef>
              <a:buFont typeface="MS PGothic"/>
              <a:buChar char="➔"/>
              <a:tabLst>
                <a:tab pos="590112" algn="l"/>
                <a:tab pos="590959" algn="l"/>
              </a:tabLst>
            </a:pPr>
            <a:r>
              <a:rPr lang="ru-RU" sz="2133" spc="140" dirty="0">
                <a:latin typeface="Verdana"/>
                <a:cs typeface="Verdana"/>
              </a:rPr>
              <a:t>Окончил </a:t>
            </a:r>
            <a:r>
              <a:rPr lang="ru-RU" sz="2133" b="1" spc="140" dirty="0">
                <a:latin typeface="Verdana"/>
                <a:cs typeface="Verdana"/>
              </a:rPr>
              <a:t>Физтех</a:t>
            </a:r>
            <a:r>
              <a:rPr lang="ru-RU" sz="2133" spc="140" dirty="0">
                <a:latin typeface="Verdana"/>
                <a:cs typeface="Verdana"/>
              </a:rPr>
              <a:t> с отличием</a:t>
            </a:r>
            <a:endParaRPr sz="2133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0976" y="3105739"/>
            <a:ext cx="4744720" cy="73447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90112" marR="6773" indent="-574026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90112" algn="l"/>
                <a:tab pos="590959" algn="l"/>
              </a:tabLst>
            </a:pPr>
            <a:r>
              <a:rPr lang="ru-RU" sz="2133" spc="67" dirty="0">
                <a:latin typeface="Verdana"/>
                <a:cs typeface="Verdana"/>
              </a:rPr>
              <a:t>3-й год</a:t>
            </a:r>
            <a:r>
              <a:rPr lang="en-US" sz="2133" spc="67" dirty="0">
                <a:latin typeface="Verdana"/>
                <a:cs typeface="Verdana"/>
              </a:rPr>
              <a:t> </a:t>
            </a:r>
            <a:r>
              <a:rPr lang="ru-RU" sz="2133" spc="67" dirty="0">
                <a:latin typeface="Verdana"/>
                <a:cs typeface="Verdana"/>
              </a:rPr>
              <a:t>работаю </a:t>
            </a:r>
            <a:r>
              <a:rPr lang="en-US" sz="2133" spc="67" dirty="0">
                <a:latin typeface="Verdana"/>
                <a:cs typeface="Verdana"/>
              </a:rPr>
              <a:t>Data Scientist  </a:t>
            </a:r>
            <a:endParaRPr sz="2133" dirty="0">
              <a:latin typeface="Verdana"/>
              <a:cs typeface="Verdana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A34A42E-8B89-477C-9654-21C6BBADBF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449" y="1765454"/>
            <a:ext cx="3327092" cy="33270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70186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229567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133" dirty="0">
                <a:latin typeface="Verdana"/>
                <a:cs typeface="Verdana"/>
              </a:rPr>
              <a:t>Длительность курса – </a:t>
            </a:r>
            <a:r>
              <a:rPr lang="ru-RU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9 недель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133" dirty="0">
                <a:latin typeface="Verdana"/>
                <a:cs typeface="Verdana"/>
              </a:rPr>
              <a:t>Каждая неделя включает </a:t>
            </a:r>
            <a:r>
              <a:rPr lang="ru-RU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1 занятие</a:t>
            </a:r>
            <a:r>
              <a:rPr lang="ru-RU" sz="2133" dirty="0">
                <a:latin typeface="Verdana"/>
                <a:cs typeface="Verdana"/>
              </a:rPr>
              <a:t>.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133" dirty="0">
                <a:latin typeface="Verdana"/>
                <a:cs typeface="Verdana"/>
              </a:rPr>
              <a:t>Занятия будут проходить во </a:t>
            </a:r>
            <a:r>
              <a:rPr lang="ru-RU" sz="2133" b="1" dirty="0">
                <a:latin typeface="Verdana"/>
                <a:cs typeface="Verdana"/>
              </a:rPr>
              <a:t>вторник</a:t>
            </a:r>
            <a:r>
              <a:rPr lang="ru-RU" sz="2133" dirty="0">
                <a:latin typeface="Verdana"/>
                <a:cs typeface="Verdana"/>
              </a:rPr>
              <a:t> с 18:30 до 20:00.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133" dirty="0">
                <a:latin typeface="Verdana"/>
                <a:cs typeface="Verdana"/>
              </a:rPr>
              <a:t>Инструменты курса – </a:t>
            </a:r>
            <a:r>
              <a:rPr lang="ru-RU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бесплатные</a:t>
            </a:r>
            <a:r>
              <a:rPr lang="ru-RU" sz="2133" dirty="0">
                <a:latin typeface="Verdana"/>
                <a:cs typeface="Verdana"/>
              </a:rPr>
              <a:t> (полностью или частично) и </a:t>
            </a: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open-source</a:t>
            </a:r>
            <a:r>
              <a:rPr lang="en-US" sz="2133" dirty="0">
                <a:latin typeface="Verdana"/>
                <a:cs typeface="Verdana"/>
              </a:rPr>
              <a:t> </a:t>
            </a:r>
            <a:r>
              <a:rPr lang="ru-RU" sz="2133" dirty="0">
                <a:latin typeface="Verdana"/>
                <a:cs typeface="Verdana"/>
              </a:rPr>
              <a:t>решения</a:t>
            </a: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133" dirty="0" err="1">
                <a:latin typeface="Verdana"/>
                <a:cs typeface="Verdana"/>
              </a:rPr>
              <a:t>Пререквизиты</a:t>
            </a:r>
            <a:r>
              <a:rPr lang="ru-RU" sz="2133" dirty="0">
                <a:latin typeface="Verdana"/>
                <a:cs typeface="Verdana"/>
              </a:rPr>
              <a:t> курса: базовые знания </a:t>
            </a:r>
            <a:r>
              <a:rPr lang="en-US" sz="2133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Python, Linux</a:t>
            </a:r>
            <a:endParaRPr lang="ru-RU" sz="2133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/>
              <a:cs typeface="Verdana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34AA1F6-FFF3-40E4-AA12-F62BAAE40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Силлабус курса</a:t>
            </a:r>
            <a:endParaRPr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03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2539712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Подготовка модели к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продакшену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 деплой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Воспроизводимость и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контейнеризация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приложений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Сервисная архитектура и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оркестрация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приложений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/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B-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тестирование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Подведение итогов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Программа курса:</a:t>
            </a:r>
            <a:endParaRPr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239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1168400" y="2819400"/>
            <a:ext cx="9855200" cy="140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267" dirty="0">
                <a:latin typeface="Verdana" panose="020B0604030504040204" pitchFamily="34" charset="0"/>
                <a:ea typeface="Verdana" panose="020B0604030504040204" pitchFamily="34" charset="0"/>
              </a:rPr>
              <a:t>2. Что такое MLOps и место автоматизации в нем </a:t>
            </a:r>
          </a:p>
        </p:txBody>
      </p:sp>
    </p:spTree>
    <p:extLst>
      <p:ext uri="{BB962C8B-B14F-4D97-AF65-F5344CB8AC3E}">
        <p14:creationId xmlns:p14="http://schemas.microsoft.com/office/powerpoint/2010/main" val="2961685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3200" y="222293"/>
            <a:ext cx="8636000" cy="165844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lang="en-US" sz="5333" dirty="0"/>
              <a:t>MLOps (Machine Learning Operations)</a:t>
            </a:r>
            <a:endParaRPr sz="5333" dirty="0">
              <a:latin typeface="Verdana"/>
              <a:cs typeface="Verdana"/>
            </a:endParaRP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C43ACDAC-E08C-43E4-A37B-2C44E01A49BD}"/>
              </a:ext>
            </a:extLst>
          </p:cNvPr>
          <p:cNvSpPr txBox="1"/>
          <p:nvPr/>
        </p:nvSpPr>
        <p:spPr>
          <a:xfrm>
            <a:off x="406400" y="2867212"/>
            <a:ext cx="10464800" cy="168646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lnSpc>
                <a:spcPct val="114999"/>
              </a:lnSpc>
              <a:spcBef>
                <a:spcPts val="133"/>
              </a:spcBef>
            </a:pPr>
            <a:r>
              <a:rPr lang="ru-RU" sz="2400" dirty="0"/>
              <a:t>это совокупность практик, объединяющих машинное обучение и </a:t>
            </a:r>
            <a:r>
              <a:rPr lang="ru-RU" sz="2400" dirty="0" err="1"/>
              <a:t>DevOps</a:t>
            </a:r>
            <a:r>
              <a:rPr lang="ru-RU" sz="2400" dirty="0"/>
              <a:t> для создания, тестирования, деплоя и сопровождения моделей машинного обучения (ML).</a:t>
            </a:r>
            <a:endParaRPr lang="ru-RU" sz="2400" dirty="0">
              <a:latin typeface="Verdana"/>
              <a:cs typeface="Verdana"/>
            </a:endParaRPr>
          </a:p>
          <a:p>
            <a:pPr marL="16933" marR="6773">
              <a:lnSpc>
                <a:spcPct val="114999"/>
              </a:lnSpc>
              <a:spcBef>
                <a:spcPts val="133"/>
              </a:spcBef>
            </a:pPr>
            <a:endParaRPr sz="2400" dirty="0">
              <a:latin typeface="Verdana"/>
              <a:cs typeface="Verdan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45B07-94FC-4242-B32C-6A4CAF082F85}"/>
              </a:ext>
            </a:extLst>
          </p:cNvPr>
          <p:cNvSpPr txBox="1"/>
          <p:nvPr/>
        </p:nvSpPr>
        <p:spPr>
          <a:xfrm>
            <a:off x="304800" y="4742385"/>
            <a:ext cx="55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Основная цель MLOps — автоматизация и повышение эффективности всех этапов жизненного цикла ML-модели.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DADD4C-9072-4C02-B14E-5472FE6C23EA}"/>
              </a:ext>
            </a:extLst>
          </p:cNvPr>
          <p:cNvSpPr/>
          <p:nvPr/>
        </p:nvSpPr>
        <p:spPr>
          <a:xfrm>
            <a:off x="7508497" y="312271"/>
            <a:ext cx="4345833" cy="666708"/>
          </a:xfrm>
          <a:prstGeom prst="rect">
            <a:avLst/>
          </a:prstGeom>
          <a:solidFill>
            <a:srgbClr val="FEFAEE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400"/>
          </a:p>
        </p:txBody>
      </p:sp>
      <p:pic>
        <p:nvPicPr>
          <p:cNvPr id="1028" name="Picture 4" descr="제로부터 시작하는 MLOps 도구와 활용 - 1. MLOps 개요">
            <a:extLst>
              <a:ext uri="{FF2B5EF4-FFF2-40B4-BE49-F238E27FC236}">
                <a16:creationId xmlns:a16="http://schemas.microsoft.com/office/drawing/2014/main" id="{2E13401C-D8C7-4C85-B3BF-AC3AA6187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000" y="4038600"/>
            <a:ext cx="6604000" cy="2747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84955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2667" y="196931"/>
            <a:ext cx="4112260" cy="5658964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ru-RU" spc="67" dirty="0">
                <a:solidFill>
                  <a:srgbClr val="FDFAEE"/>
                </a:solidFill>
              </a:rPr>
              <a:t>Без </a:t>
            </a:r>
            <a:r>
              <a:rPr lang="en-US" spc="67" dirty="0">
                <a:solidFill>
                  <a:srgbClr val="FDFAEE"/>
                </a:solidFill>
              </a:rPr>
              <a:t>MLOps:</a:t>
            </a:r>
            <a:br>
              <a:rPr lang="en-US" spc="67" dirty="0">
                <a:solidFill>
                  <a:srgbClr val="FDFAEE"/>
                </a:solidFill>
              </a:rPr>
            </a:br>
            <a:br>
              <a:rPr lang="en-US" spc="67" dirty="0">
                <a:solidFill>
                  <a:srgbClr val="FDFAEE"/>
                </a:solidFill>
              </a:rPr>
            </a:br>
            <a:r>
              <a:rPr lang="ru-RU" sz="2133" spc="67" dirty="0">
                <a:solidFill>
                  <a:srgbClr val="FDFAEE"/>
                </a:solidFill>
              </a:rPr>
              <a:t>•</a:t>
            </a:r>
            <a:r>
              <a:rPr lang="en-US" sz="2133" spc="67" dirty="0">
                <a:solidFill>
                  <a:srgbClr val="FDFAEE"/>
                </a:solidFill>
              </a:rPr>
              <a:t> </a:t>
            </a:r>
            <a:r>
              <a:rPr lang="ru-RU" sz="2133" spc="67" dirty="0">
                <a:solidFill>
                  <a:srgbClr val="FDFAEE"/>
                </a:solidFill>
              </a:rPr>
              <a:t>Разработка модели на ноутбуке дата-</a:t>
            </a:r>
            <a:r>
              <a:rPr lang="ru-RU" sz="2133" spc="67" dirty="0" err="1">
                <a:solidFill>
                  <a:srgbClr val="FDFAEE"/>
                </a:solidFill>
              </a:rPr>
              <a:t>сайентиста</a:t>
            </a:r>
            <a:r>
              <a:rPr lang="ru-RU" sz="2133" spc="67" dirty="0">
                <a:solidFill>
                  <a:srgbClr val="FDFAEE"/>
                </a:solidFill>
              </a:rPr>
              <a:t>.</a:t>
            </a:r>
            <a:br>
              <a:rPr lang="en-US" sz="2133" spc="67" dirty="0">
                <a:solidFill>
                  <a:srgbClr val="FDFAEE"/>
                </a:solidFill>
              </a:rPr>
            </a:br>
            <a:br>
              <a:rPr lang="ru-RU" sz="2133" spc="67" dirty="0">
                <a:solidFill>
                  <a:srgbClr val="FDFAEE"/>
                </a:solidFill>
              </a:rPr>
            </a:br>
            <a:r>
              <a:rPr lang="ru-RU" sz="2133" spc="67" dirty="0">
                <a:solidFill>
                  <a:srgbClr val="FDFAEE"/>
                </a:solidFill>
              </a:rPr>
              <a:t>•</a:t>
            </a:r>
            <a:r>
              <a:rPr lang="en-US" sz="2133" spc="67" dirty="0">
                <a:solidFill>
                  <a:srgbClr val="FDFAEE"/>
                </a:solidFill>
              </a:rPr>
              <a:t> </a:t>
            </a:r>
            <a:r>
              <a:rPr lang="ru-RU" sz="2133" spc="67" dirty="0">
                <a:solidFill>
                  <a:srgbClr val="FDFAEE"/>
                </a:solidFill>
              </a:rPr>
              <a:t>Ручное тестирование и корректировка кода.</a:t>
            </a:r>
            <a:br>
              <a:rPr lang="en-US" sz="2133" spc="67" dirty="0">
                <a:solidFill>
                  <a:srgbClr val="FDFAEE"/>
                </a:solidFill>
              </a:rPr>
            </a:br>
            <a:br>
              <a:rPr lang="ru-RU" sz="2133" spc="67" dirty="0">
                <a:solidFill>
                  <a:srgbClr val="FDFAEE"/>
                </a:solidFill>
              </a:rPr>
            </a:br>
            <a:r>
              <a:rPr lang="ru-RU" sz="2133" spc="67" dirty="0">
                <a:solidFill>
                  <a:srgbClr val="FDFAEE"/>
                </a:solidFill>
              </a:rPr>
              <a:t>•</a:t>
            </a:r>
            <a:r>
              <a:rPr lang="en-US" sz="2133" spc="67" dirty="0">
                <a:solidFill>
                  <a:srgbClr val="FDFAEE"/>
                </a:solidFill>
              </a:rPr>
              <a:t> </a:t>
            </a:r>
            <a:r>
              <a:rPr lang="ru-RU" sz="2133" spc="67" dirty="0">
                <a:solidFill>
                  <a:srgbClr val="FDFAEE"/>
                </a:solidFill>
              </a:rPr>
              <a:t>Ручное внедрение модели в </a:t>
            </a:r>
            <a:r>
              <a:rPr lang="ru-RU" sz="2133" spc="67" dirty="0" err="1">
                <a:solidFill>
                  <a:srgbClr val="FDFAEE"/>
                </a:solidFill>
              </a:rPr>
              <a:t>продакшн</a:t>
            </a:r>
            <a:r>
              <a:rPr lang="ru-RU" sz="2133" spc="67" dirty="0">
                <a:solidFill>
                  <a:srgbClr val="FDFAEE"/>
                </a:solidFill>
              </a:rPr>
              <a:t>.</a:t>
            </a:r>
            <a:br>
              <a:rPr lang="en-US" sz="2133" spc="67" dirty="0">
                <a:solidFill>
                  <a:srgbClr val="FDFAEE"/>
                </a:solidFill>
              </a:rPr>
            </a:br>
            <a:br>
              <a:rPr lang="ru-RU" sz="2133" spc="67" dirty="0">
                <a:solidFill>
                  <a:srgbClr val="FDFAEE"/>
                </a:solidFill>
              </a:rPr>
            </a:br>
            <a:r>
              <a:rPr lang="ru-RU" sz="2133" spc="67" dirty="0">
                <a:solidFill>
                  <a:srgbClr val="FDFAEE"/>
                </a:solidFill>
              </a:rPr>
              <a:t>•</a:t>
            </a:r>
            <a:r>
              <a:rPr lang="en-US" sz="2133" spc="67" dirty="0">
                <a:solidFill>
                  <a:srgbClr val="FDFAEE"/>
                </a:solidFill>
              </a:rPr>
              <a:t> </a:t>
            </a:r>
            <a:r>
              <a:rPr lang="ru-RU" sz="2133" spc="67" dirty="0">
                <a:solidFill>
                  <a:srgbClr val="FDFAEE"/>
                </a:solidFill>
              </a:rPr>
              <a:t>Трудности с обновлением модели при изменении данных.</a:t>
            </a:r>
            <a:br>
              <a:rPr lang="ru-RU" spc="67" dirty="0">
                <a:solidFill>
                  <a:srgbClr val="FDFAEE"/>
                </a:solidFill>
              </a:rPr>
            </a:br>
            <a:endParaRPr lang="en-US" spc="67" dirty="0">
              <a:solidFill>
                <a:srgbClr val="FDFAEE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147" y="297645"/>
            <a:ext cx="6445253" cy="733493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13449" marR="833946">
              <a:spcBef>
                <a:spcPts val="133"/>
              </a:spcBef>
              <a:tabLst>
                <a:tab pos="593497" algn="l"/>
                <a:tab pos="594345" algn="l"/>
              </a:tabLst>
            </a:pPr>
            <a:r>
              <a:rPr lang="en-US" sz="3200" b="1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C MLOps:</a:t>
            </a:r>
          </a:p>
          <a:p>
            <a:pPr marL="113449" marR="833946">
              <a:spcBef>
                <a:spcPts val="133"/>
              </a:spcBef>
              <a:tabLst>
                <a:tab pos="593497" algn="l"/>
                <a:tab pos="594345" algn="l"/>
              </a:tabLst>
            </a:pPr>
            <a:endParaRPr lang="en-US" sz="32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Код и данные </a:t>
            </a:r>
            <a:r>
              <a:rPr lang="ru-RU" sz="2133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версионируются</a:t>
            </a: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в </a:t>
            </a:r>
            <a:r>
              <a:rPr lang="ru-RU" sz="2133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GitLab</a:t>
            </a: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, обеспечивая </a:t>
            </a:r>
            <a:r>
              <a:rPr lang="ru-RU" sz="2133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отслеживаемость</a:t>
            </a: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изменений.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Автоматизированные тесты и CI/CD-</a:t>
            </a:r>
            <a:r>
              <a:rPr lang="ru-RU" sz="2133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пайплайны</a:t>
            </a: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проверяют код на ошибки и автоматически деплоят обновления модели.</a:t>
            </a:r>
          </a:p>
          <a:p>
            <a:pPr marL="457189" indent="-457189">
              <a:lnSpc>
                <a:spcPct val="107000"/>
              </a:lnSpc>
              <a:spcAft>
                <a:spcPts val="1067"/>
              </a:spcAft>
              <a:buSzPts val="1000"/>
              <a:buFont typeface="Symbol" panose="05050102010706020507" pitchFamily="18" charset="2"/>
              <a:buChar char=""/>
              <a:tabLst>
                <a:tab pos="609585" algn="l"/>
              </a:tabLst>
            </a:pP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Модель легко обновляется при изменении данных благодаря встроенным инструментам мониторинга и </a:t>
            </a:r>
            <a:r>
              <a:rPr lang="ru-RU" sz="2133" dirty="0" err="1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версионирования</a:t>
            </a:r>
            <a:r>
              <a:rPr lang="ru-RU" sz="2133" dirty="0"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 моделей.</a:t>
            </a:r>
          </a:p>
          <a:p>
            <a:pPr marL="113449" marR="833946">
              <a:spcBef>
                <a:spcPts val="133"/>
              </a:spcBef>
              <a:tabLst>
                <a:tab pos="593497" algn="l"/>
                <a:tab pos="594345" algn="l"/>
              </a:tabLst>
            </a:pPr>
            <a:endParaRPr lang="en-US" sz="32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113449" marR="833946">
              <a:spcBef>
                <a:spcPts val="133"/>
              </a:spcBef>
              <a:tabLst>
                <a:tab pos="593497" algn="l"/>
                <a:tab pos="594345" algn="l"/>
              </a:tabLst>
            </a:pPr>
            <a:endParaRPr lang="en-US" sz="2400" b="1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b="1" dirty="0">
              <a:latin typeface="Tahoma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en-US" sz="2400" b="1" dirty="0">
              <a:latin typeface="Tahoma"/>
              <a:cs typeface="Tahoma"/>
            </a:endParaRPr>
          </a:p>
          <a:p>
            <a:pPr marL="593497" marR="833946" indent="-480048">
              <a:spcBef>
                <a:spcPts val="133"/>
              </a:spcBef>
              <a:buAutoNum type="arabicPeriod"/>
              <a:tabLst>
                <a:tab pos="593497" algn="l"/>
                <a:tab pos="594345" algn="l"/>
              </a:tabLst>
            </a:pPr>
            <a:endParaRPr lang="ru-RU" sz="2400" b="1" dirty="0">
              <a:latin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26154561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ML Pipeline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75F673-072E-4D3E-BF21-EF28643862E0}"/>
              </a:ext>
            </a:extLst>
          </p:cNvPr>
          <p:cNvSpPr txBox="1"/>
          <p:nvPr/>
        </p:nvSpPr>
        <p:spPr>
          <a:xfrm>
            <a:off x="7416800" y="5788856"/>
            <a:ext cx="45155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*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Exploratory data analysis (EDA)</a:t>
            </a:r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ru-RU" sz="1600" b="1" dirty="0">
                <a:latin typeface="Verdana" panose="020B0604030504040204" pitchFamily="34" charset="0"/>
                <a:ea typeface="Verdana" panose="020B0604030504040204" pitchFamily="34" charset="0"/>
              </a:rPr>
              <a:t>** </a:t>
            </a:r>
            <a:r>
              <a:rPr lang="en-US" sz="1600" b="1" dirty="0">
                <a:latin typeface="Verdana" panose="020B0604030504040204" pitchFamily="34" charset="0"/>
                <a:ea typeface="Verdana" panose="020B0604030504040204" pitchFamily="34" charset="0"/>
              </a:rPr>
              <a:t>Feature Engineering (FE)</a:t>
            </a:r>
            <a:endParaRPr lang="ru-RU" sz="1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9" name="Стрелка: шеврон 18">
            <a:extLst>
              <a:ext uri="{FF2B5EF4-FFF2-40B4-BE49-F238E27FC236}">
                <a16:creationId xmlns:a16="http://schemas.microsoft.com/office/drawing/2014/main" id="{F5BE961E-B44D-44B0-8067-BAE8A7C8DB82}"/>
              </a:ext>
            </a:extLst>
          </p:cNvPr>
          <p:cNvSpPr/>
          <p:nvPr/>
        </p:nvSpPr>
        <p:spPr>
          <a:xfrm>
            <a:off x="1769855" y="2819401"/>
            <a:ext cx="2032565" cy="999633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6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Разведочный анализ данных (РАД</a:t>
            </a:r>
            <a:r>
              <a:rPr lang="en-US" sz="106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)*</a:t>
            </a:r>
            <a:endParaRPr lang="ru-RU" sz="1067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0" name="Стрелка: шеврон 19">
            <a:extLst>
              <a:ext uri="{FF2B5EF4-FFF2-40B4-BE49-F238E27FC236}">
                <a16:creationId xmlns:a16="http://schemas.microsoft.com/office/drawing/2014/main" id="{2838BC96-7F40-4E72-9404-7525AED028BD}"/>
              </a:ext>
            </a:extLst>
          </p:cNvPr>
          <p:cNvSpPr/>
          <p:nvPr/>
        </p:nvSpPr>
        <p:spPr>
          <a:xfrm>
            <a:off x="3438110" y="2819401"/>
            <a:ext cx="2032565" cy="999633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67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Предварительная обработка данных</a:t>
            </a:r>
          </a:p>
        </p:txBody>
      </p:sp>
      <p:sp>
        <p:nvSpPr>
          <p:cNvPr id="21" name="Стрелка: шеврон 20">
            <a:extLst>
              <a:ext uri="{FF2B5EF4-FFF2-40B4-BE49-F238E27FC236}">
                <a16:creationId xmlns:a16="http://schemas.microsoft.com/office/drawing/2014/main" id="{29B34E8B-F023-4039-BCB4-FDF6444C389E}"/>
              </a:ext>
            </a:extLst>
          </p:cNvPr>
          <p:cNvSpPr/>
          <p:nvPr/>
        </p:nvSpPr>
        <p:spPr>
          <a:xfrm>
            <a:off x="6774619" y="2819401"/>
            <a:ext cx="2032565" cy="999633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67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Моделирование</a:t>
            </a:r>
          </a:p>
        </p:txBody>
      </p:sp>
      <p:sp>
        <p:nvSpPr>
          <p:cNvPr id="22" name="Стрелка: шеврон 21">
            <a:extLst>
              <a:ext uri="{FF2B5EF4-FFF2-40B4-BE49-F238E27FC236}">
                <a16:creationId xmlns:a16="http://schemas.microsoft.com/office/drawing/2014/main" id="{4377ABC2-9C04-450D-9B56-9C3CAD0D55E7}"/>
              </a:ext>
            </a:extLst>
          </p:cNvPr>
          <p:cNvSpPr/>
          <p:nvPr/>
        </p:nvSpPr>
        <p:spPr>
          <a:xfrm>
            <a:off x="8442874" y="2819401"/>
            <a:ext cx="2032565" cy="999633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6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Развертывание</a:t>
            </a:r>
          </a:p>
        </p:txBody>
      </p:sp>
      <p:sp>
        <p:nvSpPr>
          <p:cNvPr id="25" name="Стрелка: шеврон 24">
            <a:extLst>
              <a:ext uri="{FF2B5EF4-FFF2-40B4-BE49-F238E27FC236}">
                <a16:creationId xmlns:a16="http://schemas.microsoft.com/office/drawing/2014/main" id="{1C885167-A66C-4ED7-AD78-1D8EFA3EC9A9}"/>
              </a:ext>
            </a:extLst>
          </p:cNvPr>
          <p:cNvSpPr/>
          <p:nvPr/>
        </p:nvSpPr>
        <p:spPr>
          <a:xfrm>
            <a:off x="5106364" y="2823266"/>
            <a:ext cx="2032565" cy="999633"/>
          </a:xfrm>
          <a:prstGeom prst="chevron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6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Генерация признаков </a:t>
            </a:r>
            <a:r>
              <a:rPr lang="en-US" sz="106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(FE)</a:t>
            </a:r>
            <a:r>
              <a:rPr lang="ru-RU" sz="1067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**</a:t>
            </a:r>
          </a:p>
        </p:txBody>
      </p:sp>
      <p:sp>
        <p:nvSpPr>
          <p:cNvPr id="27" name="Стрелка: шеврон 26">
            <a:extLst>
              <a:ext uri="{FF2B5EF4-FFF2-40B4-BE49-F238E27FC236}">
                <a16:creationId xmlns:a16="http://schemas.microsoft.com/office/drawing/2014/main" id="{C69BB959-EE5B-435A-B81B-186C8A0D36B8}"/>
              </a:ext>
            </a:extLst>
          </p:cNvPr>
          <p:cNvSpPr/>
          <p:nvPr/>
        </p:nvSpPr>
        <p:spPr>
          <a:xfrm>
            <a:off x="101600" y="2832778"/>
            <a:ext cx="2032565" cy="999633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67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Сбор данных</a:t>
            </a:r>
          </a:p>
        </p:txBody>
      </p:sp>
      <p:sp>
        <p:nvSpPr>
          <p:cNvPr id="28" name="Стрелка: шеврон 27">
            <a:extLst>
              <a:ext uri="{FF2B5EF4-FFF2-40B4-BE49-F238E27FC236}">
                <a16:creationId xmlns:a16="http://schemas.microsoft.com/office/drawing/2014/main" id="{9915B561-27E6-4805-84A5-A6F91E98DA36}"/>
              </a:ext>
            </a:extLst>
          </p:cNvPr>
          <p:cNvSpPr/>
          <p:nvPr/>
        </p:nvSpPr>
        <p:spPr>
          <a:xfrm>
            <a:off x="10111128" y="2819401"/>
            <a:ext cx="2032565" cy="999633"/>
          </a:xfrm>
          <a:prstGeom prst="chevron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67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Мониторинг модели 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1399373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1" y="1828161"/>
            <a:ext cx="11092235" cy="104359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000" dirty="0">
                <a:latin typeface="Verdana"/>
                <a:cs typeface="Verdana"/>
              </a:rPr>
              <a:t>Дата-</a:t>
            </a:r>
            <a:r>
              <a:rPr lang="ru-RU" sz="2000" dirty="0" err="1">
                <a:latin typeface="Verdana"/>
                <a:cs typeface="Verdana"/>
              </a:rPr>
              <a:t>сайентисты</a:t>
            </a:r>
            <a:r>
              <a:rPr lang="ru-RU" sz="2000" dirty="0">
                <a:latin typeface="Verdana"/>
                <a:cs typeface="Verdana"/>
              </a:rPr>
              <a:t> создают 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модель</a:t>
            </a:r>
            <a:r>
              <a:rPr lang="ru-RU" sz="2000" dirty="0">
                <a:latin typeface="Verdana"/>
                <a:cs typeface="Verdana"/>
              </a:rPr>
              <a:t>, используя языки программирования (чаще всего Python) и различные библиотеки для ML (например, </a:t>
            </a:r>
            <a:r>
              <a:rPr lang="ru-RU" sz="2000" dirty="0" err="1">
                <a:latin typeface="Verdana"/>
                <a:cs typeface="Verdana"/>
              </a:rPr>
              <a:t>Scikit-learn</a:t>
            </a:r>
            <a:r>
              <a:rPr lang="ru-RU" sz="2000" dirty="0">
                <a:latin typeface="Verdana"/>
                <a:cs typeface="Verdana"/>
              </a:rPr>
              <a:t>)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Разработка модели</a:t>
            </a:r>
            <a:endParaRPr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88BA90-D872-4A7A-B994-624FDEEAF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321" y="3103501"/>
            <a:ext cx="5131516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025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1"/>
            <a:ext cx="10652760" cy="6896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000" dirty="0">
                <a:latin typeface="Verdana"/>
                <a:cs typeface="Verdana"/>
              </a:rPr>
              <a:t>Модели и их код проверяются на наличие ошибок и проблем производительности с помощью </a:t>
            </a:r>
            <a:r>
              <a:rPr lang="ru-RU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/>
                <a:cs typeface="Verdana"/>
              </a:rPr>
              <a:t>автоматизированных</a:t>
            </a:r>
            <a:r>
              <a:rPr lang="ru-RU" sz="2000" dirty="0">
                <a:latin typeface="Verdana"/>
                <a:cs typeface="Verdana"/>
              </a:rPr>
              <a:t> тестов.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Тестирование</a:t>
            </a:r>
            <a:endParaRPr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A6B5025-52E0-4EC7-948D-F960A77B4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674" y="2948095"/>
            <a:ext cx="4394813" cy="151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38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1"/>
            <a:ext cx="10652760" cy="6896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000" dirty="0">
                <a:latin typeface="Verdana"/>
                <a:cs typeface="Verdana"/>
              </a:rPr>
              <a:t>Автоматизация процесса интеграции новых версий кода и моделей, а также их деплоя в </a:t>
            </a:r>
            <a:r>
              <a:rPr lang="ru-RU" sz="2000" dirty="0" err="1">
                <a:latin typeface="Verdana"/>
                <a:cs typeface="Verdana"/>
              </a:rPr>
              <a:t>продакшн</a:t>
            </a:r>
            <a:r>
              <a:rPr lang="ru-RU" sz="2000" dirty="0">
                <a:latin typeface="Verdana"/>
                <a:cs typeface="Verdana"/>
              </a:rPr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147711"/>
            <a:ext cx="12113320" cy="1371315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CI/CD (Continuous Integration/Continuous Deployment)</a:t>
            </a:r>
            <a:endParaRPr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B68C5B5-7F7B-49FB-9418-EC2D482A0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575" y="2826951"/>
            <a:ext cx="5607677" cy="382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325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1"/>
            <a:ext cx="10652760" cy="689655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000" dirty="0">
                <a:latin typeface="Verdana"/>
                <a:cs typeface="Verdana"/>
              </a:rPr>
              <a:t>Модель внедряется в </a:t>
            </a:r>
            <a:r>
              <a:rPr lang="ru-RU" sz="2000" dirty="0" err="1">
                <a:latin typeface="Verdana"/>
                <a:cs typeface="Verdana"/>
              </a:rPr>
              <a:t>продакшн</a:t>
            </a:r>
            <a:r>
              <a:rPr lang="ru-RU" sz="2000" dirty="0">
                <a:latin typeface="Verdana"/>
                <a:cs typeface="Verdana"/>
              </a:rPr>
              <a:t>-среду, где используется для прогнозирования на новых данных.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Внедрение и деплой</a:t>
            </a:r>
            <a:endParaRPr lang="en-US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35A2BD-1CBC-4B52-9D4F-28F81818CF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818" y="2952684"/>
            <a:ext cx="10504365" cy="95263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80C774C-EEC6-4895-BCA8-CB198B5D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818" y="3905317"/>
            <a:ext cx="1054247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59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64672" y="1828162"/>
            <a:ext cx="10652760" cy="176430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000" dirty="0">
                <a:latin typeface="Verdana"/>
                <a:cs typeface="Verdana"/>
              </a:rPr>
              <a:t>После деплоя важно отслеживать, как модель работает в реальной среде, следить за её точностью и своевременно обновлять её при необходимости.</a:t>
            </a:r>
            <a:endParaRPr lang="en-US" sz="2000" dirty="0">
              <a:latin typeface="Verdana"/>
              <a:cs typeface="Verdana"/>
            </a:endParaRPr>
          </a:p>
          <a:p>
            <a:pPr marL="524920" marR="741661" indent="-507987">
              <a:lnSpc>
                <a:spcPct val="114999"/>
              </a:lnSpc>
              <a:spcBef>
                <a:spcPts val="133"/>
              </a:spcBef>
              <a:buFont typeface="MS PGothic"/>
              <a:buChar char="➔"/>
              <a:tabLst>
                <a:tab pos="524074" algn="l"/>
                <a:tab pos="524920" algn="l"/>
              </a:tabLst>
            </a:pPr>
            <a:r>
              <a:rPr lang="ru-RU" sz="2000" dirty="0">
                <a:latin typeface="Verdana"/>
                <a:cs typeface="Verdana"/>
              </a:rPr>
              <a:t>Модель отправляет метрики о точности и времени ответа, которые затем отображаются на </a:t>
            </a:r>
            <a:r>
              <a:rPr lang="ru-RU" sz="2000" dirty="0" err="1">
                <a:latin typeface="Verdana"/>
                <a:cs typeface="Verdana"/>
              </a:rPr>
              <a:t>дашбордах</a:t>
            </a:r>
            <a:r>
              <a:rPr lang="ru-RU" sz="2000" dirty="0">
                <a:latin typeface="Verdana"/>
                <a:cs typeface="Verdana"/>
              </a:rPr>
              <a:t>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D834EA2-4C0E-48BF-8435-8F2BF4AA2F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37667" y="240043"/>
            <a:ext cx="10899987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Мониторинг и сопровождение</a:t>
            </a:r>
            <a:endParaRPr lang="en-US" b="1" spc="12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6A583BC-74C6-4A17-8F15-0941D5BAC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587" y="3293388"/>
            <a:ext cx="4614856" cy="3552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644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E4B4B273-1927-433E-869A-6149AEF5762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4EBAEA-E2E1-4303-8760-65BF05FC3358}"/>
              </a:ext>
            </a:extLst>
          </p:cNvPr>
          <p:cNvSpPr txBox="1"/>
          <p:nvPr/>
        </p:nvSpPr>
        <p:spPr>
          <a:xfrm>
            <a:off x="1168400" y="2819401"/>
            <a:ext cx="9855200" cy="206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26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3. Деплой модели и </a:t>
            </a:r>
            <a:r>
              <a:rPr lang="ru-RU" sz="4267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сериализация</a:t>
            </a:r>
            <a:endParaRPr lang="ru-RU" sz="4267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endParaRPr lang="ru-RU" sz="4267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1525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object 3">
            <a:extLst>
              <a:ext uri="{FF2B5EF4-FFF2-40B4-BE49-F238E27FC236}">
                <a16:creationId xmlns:a16="http://schemas.microsoft.com/office/drawing/2014/main" id="{AB942930-2B29-46E4-A552-80D30C71AD11}"/>
              </a:ext>
            </a:extLst>
          </p:cNvPr>
          <p:cNvGrpSpPr/>
          <p:nvPr/>
        </p:nvGrpSpPr>
        <p:grpSpPr>
          <a:xfrm>
            <a:off x="535093" y="1388537"/>
            <a:ext cx="11162453" cy="5161279"/>
            <a:chOff x="1368075" y="1115912"/>
            <a:chExt cx="6586220" cy="3331845"/>
          </a:xfrm>
        </p:grpSpPr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79842C2C-23BB-4882-B74B-D49505CCE14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081" y="1115912"/>
              <a:ext cx="122947" cy="336911"/>
            </a:xfrm>
            <a:prstGeom prst="rect">
              <a:avLst/>
            </a:prstGeom>
          </p:spPr>
        </p:pic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C8B2401F-2353-41E0-82C5-3C283C50ECD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8075" y="1550324"/>
              <a:ext cx="6585917" cy="2897224"/>
            </a:xfrm>
            <a:prstGeom prst="rect">
              <a:avLst/>
            </a:prstGeom>
          </p:spPr>
        </p:pic>
      </p:grpSp>
      <p:sp>
        <p:nvSpPr>
          <p:cNvPr id="14" name="object 2">
            <a:extLst>
              <a:ext uri="{FF2B5EF4-FFF2-40B4-BE49-F238E27FC236}">
                <a16:creationId xmlns:a16="http://schemas.microsoft.com/office/drawing/2014/main" id="{C8867913-570A-4655-9B9B-E60ACED12A8F}"/>
              </a:ext>
            </a:extLst>
          </p:cNvPr>
          <p:cNvSpPr txBox="1">
            <a:spLocks/>
          </p:cNvSpPr>
          <p:nvPr/>
        </p:nvSpPr>
        <p:spPr>
          <a:xfrm>
            <a:off x="1216601" y="704909"/>
            <a:ext cx="10504468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Правда жизни</a:t>
            </a: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: Модель в вакууме бесполезна</a:t>
            </a:r>
            <a:endParaRPr lang="ru-RU" sz="3200" spc="1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8928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2">
            <a:extLst>
              <a:ext uri="{FF2B5EF4-FFF2-40B4-BE49-F238E27FC236}">
                <a16:creationId xmlns:a16="http://schemas.microsoft.com/office/drawing/2014/main" id="{C8867913-570A-4655-9B9B-E60ACED12A8F}"/>
              </a:ext>
            </a:extLst>
          </p:cNvPr>
          <p:cNvSpPr txBox="1">
            <a:spLocks/>
          </p:cNvSpPr>
          <p:nvPr/>
        </p:nvSpPr>
        <p:spPr>
          <a:xfrm>
            <a:off x="1216600" y="704909"/>
            <a:ext cx="10555453" cy="509541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6933" marR="6773">
              <a:lnSpc>
                <a:spcPct val="100000"/>
              </a:lnSpc>
              <a:spcBef>
                <a:spcPts val="133"/>
              </a:spcBef>
            </a:pPr>
            <a:r>
              <a:rPr lang="ru-RU" sz="3200" b="1" dirty="0">
                <a:latin typeface="Verdana" panose="020B0604030504040204" pitchFamily="34" charset="0"/>
                <a:ea typeface="Verdana" panose="020B0604030504040204" pitchFamily="34" charset="0"/>
              </a:rPr>
              <a:t>Правда жизни</a:t>
            </a:r>
            <a:r>
              <a:rPr lang="ru-RU" sz="3200" dirty="0">
                <a:latin typeface="Verdana" panose="020B0604030504040204" pitchFamily="34" charset="0"/>
                <a:ea typeface="Verdana" panose="020B0604030504040204" pitchFamily="34" charset="0"/>
              </a:rPr>
              <a:t>: Модель в вакууме бесполезна</a:t>
            </a:r>
            <a:endParaRPr lang="ru-RU" sz="3200" spc="12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pSp>
        <p:nvGrpSpPr>
          <p:cNvPr id="6" name="object 3">
            <a:extLst>
              <a:ext uri="{FF2B5EF4-FFF2-40B4-BE49-F238E27FC236}">
                <a16:creationId xmlns:a16="http://schemas.microsoft.com/office/drawing/2014/main" id="{696345AE-D607-4D29-BE08-95DCA9DC14F9}"/>
              </a:ext>
            </a:extLst>
          </p:cNvPr>
          <p:cNvGrpSpPr/>
          <p:nvPr/>
        </p:nvGrpSpPr>
        <p:grpSpPr>
          <a:xfrm>
            <a:off x="528320" y="1368215"/>
            <a:ext cx="11318240" cy="5222239"/>
            <a:chOff x="1368075" y="1115912"/>
            <a:chExt cx="6586220" cy="3331845"/>
          </a:xfrm>
        </p:grpSpPr>
        <p:pic>
          <p:nvPicPr>
            <p:cNvPr id="7" name="object 4">
              <a:extLst>
                <a:ext uri="{FF2B5EF4-FFF2-40B4-BE49-F238E27FC236}">
                  <a16:creationId xmlns:a16="http://schemas.microsoft.com/office/drawing/2014/main" id="{17D6DD19-EFAF-4E29-98F3-2483F8DC9BE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00081" y="1115912"/>
              <a:ext cx="122947" cy="336911"/>
            </a:xfrm>
            <a:prstGeom prst="rect">
              <a:avLst/>
            </a:prstGeom>
          </p:spPr>
        </p:pic>
        <p:pic>
          <p:nvPicPr>
            <p:cNvPr id="8" name="object 5">
              <a:extLst>
                <a:ext uri="{FF2B5EF4-FFF2-40B4-BE49-F238E27FC236}">
                  <a16:creationId xmlns:a16="http://schemas.microsoft.com/office/drawing/2014/main" id="{560C4814-AC57-4815-8AFC-3A9BC6641242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8075" y="1550324"/>
              <a:ext cx="6585917" cy="2897224"/>
            </a:xfrm>
            <a:prstGeom prst="rect">
              <a:avLst/>
            </a:prstGeom>
          </p:spPr>
        </p:pic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3FA00F80-B37A-408B-A342-4EF7D7D8C50F}"/>
                </a:ext>
              </a:extLst>
            </p:cNvPr>
            <p:cNvSpPr/>
            <p:nvPr/>
          </p:nvSpPr>
          <p:spPr>
            <a:xfrm>
              <a:off x="1571843" y="2178661"/>
              <a:ext cx="5890895" cy="1354455"/>
            </a:xfrm>
            <a:custGeom>
              <a:avLst/>
              <a:gdLst/>
              <a:ahLst/>
              <a:cxnLst/>
              <a:rect l="l" t="t" r="r" b="b"/>
              <a:pathLst>
                <a:path w="5890895" h="1354454">
                  <a:moveTo>
                    <a:pt x="0" y="127799"/>
                  </a:moveTo>
                  <a:lnTo>
                    <a:pt x="23367" y="83206"/>
                  </a:lnTo>
                  <a:lnTo>
                    <a:pt x="87842" y="45460"/>
                  </a:lnTo>
                  <a:lnTo>
                    <a:pt x="132858" y="30056"/>
                  </a:lnTo>
                  <a:lnTo>
                    <a:pt x="184987" y="17448"/>
                  </a:lnTo>
                  <a:lnTo>
                    <a:pt x="243173" y="7995"/>
                  </a:lnTo>
                  <a:lnTo>
                    <a:pt x="306362" y="2059"/>
                  </a:lnTo>
                  <a:lnTo>
                    <a:pt x="373499" y="0"/>
                  </a:lnTo>
                  <a:lnTo>
                    <a:pt x="440637" y="2059"/>
                  </a:lnTo>
                  <a:lnTo>
                    <a:pt x="503826" y="7995"/>
                  </a:lnTo>
                  <a:lnTo>
                    <a:pt x="562012" y="17448"/>
                  </a:lnTo>
                  <a:lnTo>
                    <a:pt x="614141" y="30056"/>
                  </a:lnTo>
                  <a:lnTo>
                    <a:pt x="659157" y="45460"/>
                  </a:lnTo>
                  <a:lnTo>
                    <a:pt x="696006" y="63296"/>
                  </a:lnTo>
                  <a:lnTo>
                    <a:pt x="740982" y="104827"/>
                  </a:lnTo>
                  <a:lnTo>
                    <a:pt x="746999" y="127799"/>
                  </a:lnTo>
                  <a:lnTo>
                    <a:pt x="723632" y="172393"/>
                  </a:lnTo>
                  <a:lnTo>
                    <a:pt x="659157" y="210139"/>
                  </a:lnTo>
                  <a:lnTo>
                    <a:pt x="614141" y="225543"/>
                  </a:lnTo>
                  <a:lnTo>
                    <a:pt x="562012" y="238151"/>
                  </a:lnTo>
                  <a:lnTo>
                    <a:pt x="503826" y="247604"/>
                  </a:lnTo>
                  <a:lnTo>
                    <a:pt x="440637" y="253540"/>
                  </a:lnTo>
                  <a:lnTo>
                    <a:pt x="373499" y="255599"/>
                  </a:lnTo>
                  <a:lnTo>
                    <a:pt x="306362" y="253540"/>
                  </a:lnTo>
                  <a:lnTo>
                    <a:pt x="243173" y="247604"/>
                  </a:lnTo>
                  <a:lnTo>
                    <a:pt x="184987" y="238151"/>
                  </a:lnTo>
                  <a:lnTo>
                    <a:pt x="132858" y="225543"/>
                  </a:lnTo>
                  <a:lnTo>
                    <a:pt x="87842" y="210139"/>
                  </a:lnTo>
                  <a:lnTo>
                    <a:pt x="50993" y="192303"/>
                  </a:lnTo>
                  <a:lnTo>
                    <a:pt x="6017" y="150772"/>
                  </a:lnTo>
                  <a:lnTo>
                    <a:pt x="0" y="127799"/>
                  </a:lnTo>
                  <a:close/>
                </a:path>
                <a:path w="5890895" h="1354454">
                  <a:moveTo>
                    <a:pt x="2785725" y="684824"/>
                  </a:moveTo>
                  <a:lnTo>
                    <a:pt x="2809092" y="640231"/>
                  </a:lnTo>
                  <a:lnTo>
                    <a:pt x="2873567" y="602485"/>
                  </a:lnTo>
                  <a:lnTo>
                    <a:pt x="2918583" y="587081"/>
                  </a:lnTo>
                  <a:lnTo>
                    <a:pt x="2970712" y="574473"/>
                  </a:lnTo>
                  <a:lnTo>
                    <a:pt x="3028898" y="565020"/>
                  </a:lnTo>
                  <a:lnTo>
                    <a:pt x="3092088" y="559084"/>
                  </a:lnTo>
                  <a:lnTo>
                    <a:pt x="3159225" y="557024"/>
                  </a:lnTo>
                  <a:lnTo>
                    <a:pt x="3226362" y="559084"/>
                  </a:lnTo>
                  <a:lnTo>
                    <a:pt x="3289551" y="565020"/>
                  </a:lnTo>
                  <a:lnTo>
                    <a:pt x="3347737" y="574473"/>
                  </a:lnTo>
                  <a:lnTo>
                    <a:pt x="3399866" y="587081"/>
                  </a:lnTo>
                  <a:lnTo>
                    <a:pt x="3444882" y="602485"/>
                  </a:lnTo>
                  <a:lnTo>
                    <a:pt x="3481731" y="620321"/>
                  </a:lnTo>
                  <a:lnTo>
                    <a:pt x="3526707" y="661852"/>
                  </a:lnTo>
                  <a:lnTo>
                    <a:pt x="3532725" y="684824"/>
                  </a:lnTo>
                  <a:lnTo>
                    <a:pt x="3509358" y="729418"/>
                  </a:lnTo>
                  <a:lnTo>
                    <a:pt x="3444882" y="767164"/>
                  </a:lnTo>
                  <a:lnTo>
                    <a:pt x="3399866" y="782568"/>
                  </a:lnTo>
                  <a:lnTo>
                    <a:pt x="3347737" y="795176"/>
                  </a:lnTo>
                  <a:lnTo>
                    <a:pt x="3289551" y="804629"/>
                  </a:lnTo>
                  <a:lnTo>
                    <a:pt x="3226362" y="810565"/>
                  </a:lnTo>
                  <a:lnTo>
                    <a:pt x="3159225" y="812624"/>
                  </a:lnTo>
                  <a:lnTo>
                    <a:pt x="3092088" y="810565"/>
                  </a:lnTo>
                  <a:lnTo>
                    <a:pt x="3028898" y="804629"/>
                  </a:lnTo>
                  <a:lnTo>
                    <a:pt x="2970712" y="795176"/>
                  </a:lnTo>
                  <a:lnTo>
                    <a:pt x="2918583" y="782568"/>
                  </a:lnTo>
                  <a:lnTo>
                    <a:pt x="2873567" y="767164"/>
                  </a:lnTo>
                  <a:lnTo>
                    <a:pt x="2836718" y="749328"/>
                  </a:lnTo>
                  <a:lnTo>
                    <a:pt x="2791742" y="707797"/>
                  </a:lnTo>
                  <a:lnTo>
                    <a:pt x="2785725" y="684824"/>
                  </a:lnTo>
                  <a:close/>
                </a:path>
                <a:path w="5890895" h="1354454">
                  <a:moveTo>
                    <a:pt x="5059206" y="1202985"/>
                  </a:moveTo>
                  <a:lnTo>
                    <a:pt x="5064646" y="1178460"/>
                  </a:lnTo>
                  <a:lnTo>
                    <a:pt x="5080396" y="1155195"/>
                  </a:lnTo>
                  <a:lnTo>
                    <a:pt x="5139403" y="1113689"/>
                  </a:lnTo>
                  <a:lnTo>
                    <a:pt x="5180947" y="1096071"/>
                  </a:lnTo>
                  <a:lnTo>
                    <a:pt x="5229379" y="1080958"/>
                  </a:lnTo>
                  <a:lnTo>
                    <a:pt x="5283841" y="1068662"/>
                  </a:lnTo>
                  <a:lnTo>
                    <a:pt x="5343479" y="1059494"/>
                  </a:lnTo>
                  <a:lnTo>
                    <a:pt x="5407436" y="1053764"/>
                  </a:lnTo>
                  <a:lnTo>
                    <a:pt x="5474856" y="1051785"/>
                  </a:lnTo>
                  <a:lnTo>
                    <a:pt x="5542277" y="1053764"/>
                  </a:lnTo>
                  <a:lnTo>
                    <a:pt x="5606234" y="1059494"/>
                  </a:lnTo>
                  <a:lnTo>
                    <a:pt x="5665871" y="1068662"/>
                  </a:lnTo>
                  <a:lnTo>
                    <a:pt x="5720334" y="1080958"/>
                  </a:lnTo>
                  <a:lnTo>
                    <a:pt x="5768765" y="1096071"/>
                  </a:lnTo>
                  <a:lnTo>
                    <a:pt x="5810310" y="1113689"/>
                  </a:lnTo>
                  <a:lnTo>
                    <a:pt x="5844112" y="1133500"/>
                  </a:lnTo>
                  <a:lnTo>
                    <a:pt x="5885066" y="1178460"/>
                  </a:lnTo>
                  <a:lnTo>
                    <a:pt x="5890506" y="1202985"/>
                  </a:lnTo>
                  <a:lnTo>
                    <a:pt x="5869316" y="1250776"/>
                  </a:lnTo>
                  <a:lnTo>
                    <a:pt x="5810310" y="1292282"/>
                  </a:lnTo>
                  <a:lnTo>
                    <a:pt x="5768765" y="1309900"/>
                  </a:lnTo>
                  <a:lnTo>
                    <a:pt x="5720334" y="1325013"/>
                  </a:lnTo>
                  <a:lnTo>
                    <a:pt x="5665871" y="1337309"/>
                  </a:lnTo>
                  <a:lnTo>
                    <a:pt x="5606234" y="1346477"/>
                  </a:lnTo>
                  <a:lnTo>
                    <a:pt x="5542277" y="1352207"/>
                  </a:lnTo>
                  <a:lnTo>
                    <a:pt x="5474856" y="1354185"/>
                  </a:lnTo>
                  <a:lnTo>
                    <a:pt x="5407436" y="1352207"/>
                  </a:lnTo>
                  <a:lnTo>
                    <a:pt x="5343479" y="1346477"/>
                  </a:lnTo>
                  <a:lnTo>
                    <a:pt x="5283841" y="1337309"/>
                  </a:lnTo>
                  <a:lnTo>
                    <a:pt x="5229379" y="1325013"/>
                  </a:lnTo>
                  <a:lnTo>
                    <a:pt x="5180947" y="1309900"/>
                  </a:lnTo>
                  <a:lnTo>
                    <a:pt x="5139403" y="1292282"/>
                  </a:lnTo>
                  <a:lnTo>
                    <a:pt x="5105600" y="1272471"/>
                  </a:lnTo>
                  <a:lnTo>
                    <a:pt x="5064646" y="1227511"/>
                  </a:lnTo>
                  <a:lnTo>
                    <a:pt x="5059206" y="1202985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00522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487" y="355505"/>
            <a:ext cx="1402080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b="1" spc="1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Процесс</a:t>
            </a:r>
            <a:r>
              <a:rPr b="1" spc="-37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работы</a:t>
            </a:r>
            <a:r>
              <a:rPr b="1" spc="-37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14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</a:t>
            </a:r>
            <a:r>
              <a:rPr b="1" spc="-3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12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данными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5410" y="3623640"/>
            <a:ext cx="2664460" cy="2171534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438562" marR="428403" algn="ctr">
              <a:spcBef>
                <a:spcPts val="133"/>
              </a:spcBef>
            </a:pP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Сбор</a:t>
            </a:r>
            <a:r>
              <a:rPr sz="2000" spc="3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53" dirty="0">
                <a:solidFill>
                  <a:srgbClr val="181818"/>
                </a:solidFill>
                <a:latin typeface="Verdana"/>
                <a:cs typeface="Verdana"/>
              </a:rPr>
              <a:t>данных,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приведение</a:t>
            </a:r>
            <a:endParaRPr sz="2000" dirty="0">
              <a:latin typeface="Verdana"/>
              <a:cs typeface="Verdana"/>
            </a:endParaRPr>
          </a:p>
          <a:p>
            <a:pPr marL="16933" marR="6773" indent="-847" algn="ctr"/>
            <a:r>
              <a:rPr sz="2000" spc="-33" dirty="0">
                <a:solidFill>
                  <a:srgbClr val="181818"/>
                </a:solidFill>
                <a:latin typeface="Verdana"/>
                <a:cs typeface="Verdana"/>
              </a:rPr>
              <a:t>к</a:t>
            </a:r>
            <a:r>
              <a:rPr sz="2000" spc="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единому</a:t>
            </a:r>
            <a:r>
              <a:rPr sz="20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формату хранения,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перекладка</a:t>
            </a:r>
            <a:r>
              <a:rPr sz="2000" spc="-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данных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из</a:t>
            </a:r>
            <a:r>
              <a:rPr sz="2000" spc="-10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разных</a:t>
            </a:r>
            <a:r>
              <a:rPr sz="2000" spc="-10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33" dirty="0">
                <a:solidFill>
                  <a:srgbClr val="181818"/>
                </a:solidFill>
                <a:latin typeface="Verdana"/>
                <a:cs typeface="Verdana"/>
              </a:rPr>
              <a:t>баз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1193" y="2384521"/>
            <a:ext cx="2373207" cy="855789"/>
          </a:xfrm>
          <a:prstGeom prst="rect">
            <a:avLst/>
          </a:prstGeom>
        </p:spPr>
        <p:txBody>
          <a:bodyPr vert="horz" wrap="square" lIns="0" tIns="85513" rIns="0" bIns="0" rtlCol="0">
            <a:spAutoFit/>
          </a:bodyPr>
          <a:lstStyle/>
          <a:p>
            <a:pPr marL="16933" marR="6773" indent="718802">
              <a:lnSpc>
                <a:spcPts val="2987"/>
              </a:lnSpc>
              <a:spcBef>
                <a:spcPts val="673"/>
              </a:spcBef>
            </a:pPr>
            <a:r>
              <a:rPr sz="2933" spc="-27" dirty="0">
                <a:latin typeface="Verdana"/>
                <a:cs typeface="Verdana"/>
              </a:rPr>
              <a:t>Data </a:t>
            </a:r>
            <a:r>
              <a:rPr sz="2933" spc="67" dirty="0">
                <a:latin typeface="Verdana"/>
                <a:cs typeface="Verdana"/>
              </a:rPr>
              <a:t>Engineering</a:t>
            </a:r>
            <a:endParaRPr sz="2933" dirty="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1527" y="2273321"/>
            <a:ext cx="2499360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933" dirty="0">
                <a:latin typeface="Verdana"/>
                <a:cs typeface="Verdana"/>
              </a:rPr>
              <a:t>Data</a:t>
            </a:r>
            <a:r>
              <a:rPr sz="2933" spc="-120" dirty="0">
                <a:latin typeface="Verdana"/>
                <a:cs typeface="Verdana"/>
              </a:rPr>
              <a:t> </a:t>
            </a:r>
            <a:r>
              <a:rPr sz="2933" spc="-13" dirty="0">
                <a:latin typeface="Verdana"/>
                <a:cs typeface="Verdana"/>
              </a:rPr>
              <a:t>Science</a:t>
            </a:r>
            <a:endParaRPr sz="2933" dirty="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33270" y="2653305"/>
            <a:ext cx="3196167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933" spc="-60" dirty="0">
                <a:latin typeface="Verdana"/>
                <a:cs typeface="Verdana"/>
              </a:rPr>
              <a:t>(Data</a:t>
            </a:r>
            <a:r>
              <a:rPr sz="2933" spc="-87" dirty="0">
                <a:latin typeface="Verdana"/>
                <a:cs typeface="Verdana"/>
              </a:rPr>
              <a:t> </a:t>
            </a:r>
            <a:r>
              <a:rPr sz="2933" dirty="0">
                <a:latin typeface="Verdana"/>
                <a:cs typeface="Verdana"/>
              </a:rPr>
              <a:t>Analytics</a:t>
            </a:r>
            <a:r>
              <a:rPr sz="2933" spc="-87" dirty="0">
                <a:latin typeface="Verdana"/>
                <a:cs typeface="Verdana"/>
              </a:rPr>
              <a:t> </a:t>
            </a:r>
            <a:r>
              <a:rPr sz="2933" spc="-767" dirty="0">
                <a:latin typeface="Verdana"/>
                <a:cs typeface="Verdana"/>
              </a:rPr>
              <a:t>+</a:t>
            </a:r>
            <a:endParaRPr sz="2933" dirty="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389785" y="2658993"/>
            <a:ext cx="1360592" cy="46844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933" spc="100" dirty="0">
                <a:latin typeface="Verdana"/>
                <a:cs typeface="Verdana"/>
              </a:rPr>
              <a:t>MLOps</a:t>
            </a:r>
            <a:endParaRPr sz="2933" dirty="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090899" y="2855729"/>
            <a:ext cx="1090507" cy="110067"/>
            <a:chOff x="2318174" y="2141797"/>
            <a:chExt cx="817880" cy="82550"/>
          </a:xfrm>
        </p:grpSpPr>
        <p:sp>
          <p:nvSpPr>
            <p:cNvPr id="9" name="object 9"/>
            <p:cNvSpPr/>
            <p:nvPr/>
          </p:nvSpPr>
          <p:spPr>
            <a:xfrm>
              <a:off x="2327699" y="2177099"/>
              <a:ext cx="712470" cy="5715"/>
            </a:xfrm>
            <a:custGeom>
              <a:avLst/>
              <a:gdLst/>
              <a:ahLst/>
              <a:cxnLst/>
              <a:rect l="l" t="t" r="r" b="b"/>
              <a:pathLst>
                <a:path w="712469" h="5714">
                  <a:moveTo>
                    <a:pt x="0" y="0"/>
                  </a:moveTo>
                  <a:lnTo>
                    <a:pt x="712203" y="5687"/>
                  </a:lnTo>
                </a:path>
              </a:pathLst>
            </a:custGeom>
            <a:ln w="19049">
              <a:solidFill>
                <a:srgbClr val="14309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0127" y="2141797"/>
              <a:ext cx="105749" cy="81978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7761467" y="2855604"/>
            <a:ext cx="1323340" cy="110067"/>
            <a:chOff x="5821100" y="2141703"/>
            <a:chExt cx="992505" cy="82550"/>
          </a:xfrm>
        </p:grpSpPr>
        <p:sp>
          <p:nvSpPr>
            <p:cNvPr id="12" name="object 12"/>
            <p:cNvSpPr/>
            <p:nvPr/>
          </p:nvSpPr>
          <p:spPr>
            <a:xfrm>
              <a:off x="5830625" y="2176049"/>
              <a:ext cx="887094" cy="6985"/>
            </a:xfrm>
            <a:custGeom>
              <a:avLst/>
              <a:gdLst/>
              <a:ahLst/>
              <a:cxnLst/>
              <a:rect l="l" t="t" r="r" b="b"/>
              <a:pathLst>
                <a:path w="887095" h="6985">
                  <a:moveTo>
                    <a:pt x="0" y="0"/>
                  </a:moveTo>
                  <a:lnTo>
                    <a:pt x="886502" y="6643"/>
                  </a:lnTo>
                </a:path>
              </a:pathLst>
            </a:custGeom>
            <a:ln w="19049">
              <a:solidFill>
                <a:srgbClr val="14309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07367" y="2141703"/>
              <a:ext cx="105733" cy="81978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983515" y="3033289"/>
            <a:ext cx="4372465" cy="225098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algn="ctr">
              <a:spcBef>
                <a:spcPts val="133"/>
              </a:spcBef>
            </a:pPr>
            <a:r>
              <a:rPr sz="2933" dirty="0">
                <a:latin typeface="Verdana"/>
                <a:cs typeface="Verdana"/>
              </a:rPr>
              <a:t>ML,</a:t>
            </a:r>
            <a:r>
              <a:rPr sz="2933" spc="-200" dirty="0">
                <a:latin typeface="Verdana"/>
                <a:cs typeface="Verdana"/>
              </a:rPr>
              <a:t> </a:t>
            </a:r>
            <a:r>
              <a:rPr sz="2933" spc="113" dirty="0">
                <a:latin typeface="Verdana"/>
                <a:cs typeface="Verdana"/>
              </a:rPr>
              <a:t>DL</a:t>
            </a:r>
            <a:r>
              <a:rPr sz="2933" spc="-200" dirty="0">
                <a:latin typeface="Verdana"/>
                <a:cs typeface="Verdana"/>
              </a:rPr>
              <a:t> </a:t>
            </a:r>
            <a:r>
              <a:rPr sz="2933" spc="-13" dirty="0">
                <a:latin typeface="Verdana"/>
                <a:cs typeface="Verdana"/>
              </a:rPr>
              <a:t>development)</a:t>
            </a:r>
            <a:endParaRPr sz="2933" dirty="0">
              <a:latin typeface="Verdana"/>
              <a:cs typeface="Verdana"/>
            </a:endParaRPr>
          </a:p>
          <a:p>
            <a:pPr marL="544393" marR="494441" algn="ctr">
              <a:spcBef>
                <a:spcPts val="1927"/>
              </a:spcBef>
            </a:pP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Исследование</a:t>
            </a:r>
            <a:r>
              <a:rPr sz="2000" spc="3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40" dirty="0">
                <a:solidFill>
                  <a:srgbClr val="181818"/>
                </a:solidFill>
                <a:latin typeface="Verdana"/>
                <a:cs typeface="Verdana"/>
              </a:rPr>
              <a:t>данных,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более</a:t>
            </a:r>
            <a:r>
              <a:rPr sz="2000" spc="4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“ювелирная”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обработка</a:t>
            </a:r>
            <a:r>
              <a:rPr sz="2000" spc="-8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на</a:t>
            </a:r>
            <a:r>
              <a:rPr sz="2000" spc="-8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Python,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обучение</a:t>
            </a:r>
            <a:r>
              <a:rPr sz="2000" spc="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87" dirty="0">
                <a:solidFill>
                  <a:srgbClr val="181818"/>
                </a:solidFill>
                <a:latin typeface="Verdana"/>
                <a:cs typeface="Verdana"/>
              </a:rPr>
              <a:t>ML-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моделей </a:t>
            </a:r>
            <a:r>
              <a:rPr sz="2000" spc="87" dirty="0">
                <a:solidFill>
                  <a:srgbClr val="181818"/>
                </a:solidFill>
                <a:latin typeface="Verdana"/>
                <a:cs typeface="Verdana"/>
              </a:rPr>
              <a:t>и</a:t>
            </a:r>
            <a:r>
              <a:rPr sz="2000" spc="-11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оценка</a:t>
            </a:r>
            <a:r>
              <a:rPr sz="2000" spc="-11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33" dirty="0">
                <a:solidFill>
                  <a:srgbClr val="181818"/>
                </a:solidFill>
                <a:latin typeface="Verdana"/>
                <a:cs typeface="Verdana"/>
              </a:rPr>
              <a:t>их</a:t>
            </a:r>
            <a:r>
              <a:rPr sz="2000" spc="-10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качества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88496" y="3725241"/>
            <a:ext cx="2843953" cy="1555981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algn="ctr">
              <a:spcBef>
                <a:spcPts val="133"/>
              </a:spcBef>
            </a:pP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Обёртка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полученных </a:t>
            </a:r>
            <a:r>
              <a:rPr sz="2000" spc="60" dirty="0">
                <a:solidFill>
                  <a:srgbClr val="181818"/>
                </a:solidFill>
                <a:latin typeface="Verdana"/>
                <a:cs typeface="Verdana"/>
              </a:rPr>
              <a:t>моделей</a:t>
            </a:r>
            <a:r>
              <a:rPr sz="2000" spc="-17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в</a:t>
            </a:r>
            <a:r>
              <a:rPr sz="2000" spc="-1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сервисы,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модули</a:t>
            </a:r>
            <a:r>
              <a:rPr sz="2000" spc="-6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52" dirty="0">
                <a:solidFill>
                  <a:srgbClr val="181818"/>
                </a:solidFill>
                <a:latin typeface="Verdana"/>
                <a:cs typeface="Verdana"/>
              </a:rPr>
              <a:t>-</a:t>
            </a:r>
            <a:r>
              <a:rPr sz="2000" spc="-6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подготовка </a:t>
            </a:r>
            <a:r>
              <a:rPr sz="2000" spc="87" dirty="0">
                <a:solidFill>
                  <a:srgbClr val="181818"/>
                </a:solidFill>
                <a:latin typeface="Verdana"/>
                <a:cs typeface="Verdana"/>
              </a:rPr>
              <a:t>и</a:t>
            </a:r>
            <a:r>
              <a:rPr sz="2000" spc="-16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60" dirty="0">
                <a:solidFill>
                  <a:srgbClr val="181818"/>
                </a:solidFill>
                <a:latin typeface="Verdana"/>
                <a:cs typeface="Verdana"/>
              </a:rPr>
              <a:t>внедрение</a:t>
            </a:r>
            <a:r>
              <a:rPr sz="2000" spc="-152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181818"/>
                </a:solidFill>
                <a:latin typeface="Verdana"/>
                <a:cs typeface="Verdana"/>
              </a:rPr>
              <a:t>на</a:t>
            </a:r>
            <a:r>
              <a:rPr sz="2000" spc="-152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000" spc="-27" dirty="0">
                <a:solidFill>
                  <a:srgbClr val="181818"/>
                </a:solidFill>
                <a:latin typeface="Verdana"/>
                <a:cs typeface="Verdana"/>
              </a:rPr>
              <a:t>всех </a:t>
            </a:r>
            <a:r>
              <a:rPr sz="2000" spc="-13" dirty="0">
                <a:solidFill>
                  <a:srgbClr val="181818"/>
                </a:solidFill>
                <a:latin typeface="Verdana"/>
                <a:cs typeface="Verdana"/>
              </a:rPr>
              <a:t>пользователей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031207" y="5325266"/>
            <a:ext cx="4156287" cy="363220"/>
            <a:chOff x="4474705" y="3944151"/>
            <a:chExt cx="3117215" cy="272415"/>
          </a:xfrm>
        </p:grpSpPr>
        <p:sp>
          <p:nvSpPr>
            <p:cNvPr id="17" name="object 17"/>
            <p:cNvSpPr/>
            <p:nvPr/>
          </p:nvSpPr>
          <p:spPr>
            <a:xfrm>
              <a:off x="4538119" y="3968649"/>
              <a:ext cx="3044190" cy="238125"/>
            </a:xfrm>
            <a:custGeom>
              <a:avLst/>
              <a:gdLst/>
              <a:ahLst/>
              <a:cxnLst/>
              <a:rect l="l" t="t" r="r" b="b"/>
              <a:pathLst>
                <a:path w="3044190" h="238125">
                  <a:moveTo>
                    <a:pt x="0" y="0"/>
                  </a:moveTo>
                  <a:lnTo>
                    <a:pt x="19439" y="33386"/>
                  </a:lnTo>
                  <a:lnTo>
                    <a:pt x="52836" y="55351"/>
                  </a:lnTo>
                  <a:lnTo>
                    <a:pt x="101282" y="76880"/>
                  </a:lnTo>
                  <a:lnTo>
                    <a:pt x="163664" y="97797"/>
                  </a:lnTo>
                  <a:lnTo>
                    <a:pt x="238865" y="117929"/>
                  </a:lnTo>
                  <a:lnTo>
                    <a:pt x="280925" y="127646"/>
                  </a:lnTo>
                  <a:lnTo>
                    <a:pt x="325772" y="137102"/>
                  </a:lnTo>
                  <a:lnTo>
                    <a:pt x="373266" y="146274"/>
                  </a:lnTo>
                  <a:lnTo>
                    <a:pt x="423269" y="155142"/>
                  </a:lnTo>
                  <a:lnTo>
                    <a:pt x="475640" y="163682"/>
                  </a:lnTo>
                  <a:lnTo>
                    <a:pt x="530241" y="171874"/>
                  </a:lnTo>
                  <a:lnTo>
                    <a:pt x="586933" y="179696"/>
                  </a:lnTo>
                  <a:lnTo>
                    <a:pt x="645575" y="187125"/>
                  </a:lnTo>
                  <a:lnTo>
                    <a:pt x="706029" y="194141"/>
                  </a:lnTo>
                  <a:lnTo>
                    <a:pt x="768154" y="200721"/>
                  </a:lnTo>
                  <a:lnTo>
                    <a:pt x="831813" y="206843"/>
                  </a:lnTo>
                  <a:lnTo>
                    <a:pt x="896865" y="212487"/>
                  </a:lnTo>
                  <a:lnTo>
                    <a:pt x="963172" y="217629"/>
                  </a:lnTo>
                  <a:lnTo>
                    <a:pt x="1030593" y="222249"/>
                  </a:lnTo>
                  <a:lnTo>
                    <a:pt x="1098989" y="226324"/>
                  </a:lnTo>
                  <a:lnTo>
                    <a:pt x="1168222" y="229833"/>
                  </a:lnTo>
                  <a:lnTo>
                    <a:pt x="1238151" y="232754"/>
                  </a:lnTo>
                  <a:lnTo>
                    <a:pt x="1308638" y="235066"/>
                  </a:lnTo>
                  <a:lnTo>
                    <a:pt x="1379543" y="236746"/>
                  </a:lnTo>
                  <a:lnTo>
                    <a:pt x="1450727" y="237773"/>
                  </a:lnTo>
                  <a:lnTo>
                    <a:pt x="1522049" y="238124"/>
                  </a:lnTo>
                  <a:lnTo>
                    <a:pt x="1593372" y="237787"/>
                  </a:lnTo>
                  <a:lnTo>
                    <a:pt x="1664556" y="236774"/>
                  </a:lnTo>
                  <a:lnTo>
                    <a:pt x="1735461" y="235108"/>
                  </a:lnTo>
                  <a:lnTo>
                    <a:pt x="1805947" y="232811"/>
                  </a:lnTo>
                  <a:lnTo>
                    <a:pt x="1875877" y="229904"/>
                  </a:lnTo>
                  <a:lnTo>
                    <a:pt x="1945109" y="226409"/>
                  </a:lnTo>
                  <a:lnTo>
                    <a:pt x="2013506" y="222349"/>
                  </a:lnTo>
                  <a:lnTo>
                    <a:pt x="2080927" y="217744"/>
                  </a:lnTo>
                  <a:lnTo>
                    <a:pt x="2147233" y="212616"/>
                  </a:lnTo>
                  <a:lnTo>
                    <a:pt x="2212285" y="206988"/>
                  </a:lnTo>
                  <a:lnTo>
                    <a:pt x="2275944" y="200881"/>
                  </a:lnTo>
                  <a:lnTo>
                    <a:pt x="2338070" y="194317"/>
                  </a:lnTo>
                  <a:lnTo>
                    <a:pt x="2398524" y="187318"/>
                  </a:lnTo>
                  <a:lnTo>
                    <a:pt x="2457166" y="179905"/>
                  </a:lnTo>
                  <a:lnTo>
                    <a:pt x="2513857" y="172101"/>
                  </a:lnTo>
                  <a:lnTo>
                    <a:pt x="2568458" y="163926"/>
                  </a:lnTo>
                  <a:lnTo>
                    <a:pt x="2620830" y="155403"/>
                  </a:lnTo>
                  <a:lnTo>
                    <a:pt x="2670833" y="146554"/>
                  </a:lnTo>
                  <a:lnTo>
                    <a:pt x="2718327" y="137401"/>
                  </a:lnTo>
                  <a:lnTo>
                    <a:pt x="2763174" y="127964"/>
                  </a:lnTo>
                  <a:lnTo>
                    <a:pt x="2805234" y="118267"/>
                  </a:lnTo>
                  <a:lnTo>
                    <a:pt x="2844367" y="108330"/>
                  </a:lnTo>
                  <a:lnTo>
                    <a:pt x="2913298" y="87826"/>
                  </a:lnTo>
                  <a:lnTo>
                    <a:pt x="2968851" y="66627"/>
                  </a:lnTo>
                  <a:lnTo>
                    <a:pt x="3009912" y="44907"/>
                  </a:lnTo>
                  <a:lnTo>
                    <a:pt x="3041893" y="11730"/>
                  </a:lnTo>
                  <a:lnTo>
                    <a:pt x="3044099" y="599"/>
                  </a:lnTo>
                </a:path>
              </a:pathLst>
            </a:custGeom>
            <a:ln w="19049">
              <a:solidFill>
                <a:srgbClr val="143091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74705" y="3944151"/>
              <a:ext cx="188105" cy="12106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7314353" y="5749091"/>
            <a:ext cx="1627293" cy="345330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</a:pPr>
            <a:r>
              <a:rPr sz="2133" i="1" spc="-13" dirty="0">
                <a:latin typeface="Arial"/>
                <a:cs typeface="Arial"/>
              </a:rPr>
              <a:t>мониторинг</a:t>
            </a:r>
            <a:endParaRPr sz="2133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0487" y="355505"/>
            <a:ext cx="11221858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16933">
              <a:lnSpc>
                <a:spcPct val="100000"/>
              </a:lnSpc>
              <a:spcBef>
                <a:spcPts val="133"/>
              </a:spcBef>
            </a:pPr>
            <a:r>
              <a:rPr lang="ru-RU" b="1" spc="18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Основные термины</a:t>
            </a:r>
            <a:endParaRPr b="1" spc="127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5354" y="1642440"/>
            <a:ext cx="11287881" cy="317180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781462" marR="42840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181818"/>
                </a:solidFill>
                <a:latin typeface="Verdana"/>
                <a:cs typeface="Verdana"/>
              </a:rPr>
              <a:t>Деплой</a:t>
            </a:r>
            <a:r>
              <a:rPr lang="ru-RU" sz="2000" dirty="0">
                <a:solidFill>
                  <a:srgbClr val="181818"/>
                </a:solidFill>
                <a:latin typeface="Verdana"/>
                <a:cs typeface="Verdana"/>
              </a:rPr>
              <a:t> (развёртывание программного обеспечения) - это все действия, которые делают программную систему готовой к использованию</a:t>
            </a:r>
          </a:p>
          <a:p>
            <a:pPr marL="781462" marR="42840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endParaRPr lang="ru-RU" sz="200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781462" marR="42840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srgbClr val="181818"/>
                </a:solidFill>
                <a:latin typeface="Verdana"/>
                <a:cs typeface="Verdana"/>
              </a:rPr>
              <a:t>Инференс</a:t>
            </a:r>
            <a:r>
              <a:rPr lang="ru-RU" sz="2000" dirty="0">
                <a:solidFill>
                  <a:srgbClr val="181818"/>
                </a:solidFill>
                <a:latin typeface="Verdana"/>
                <a:cs typeface="Verdana"/>
              </a:rPr>
              <a:t> - это непрерывная работа какой-либо модели на конечном устройстве (аналогично работе на реальных данных в </a:t>
            </a:r>
            <a:r>
              <a:rPr lang="ru-RU" sz="2000" u="sng" dirty="0" err="1">
                <a:solidFill>
                  <a:srgbClr val="181818"/>
                </a:solidFill>
                <a:latin typeface="Verdana"/>
                <a:cs typeface="Verdana"/>
              </a:rPr>
              <a:t>production</a:t>
            </a:r>
            <a:r>
              <a:rPr lang="ru-RU" sz="2000" dirty="0">
                <a:solidFill>
                  <a:srgbClr val="181818"/>
                </a:solidFill>
                <a:latin typeface="Verdana"/>
                <a:cs typeface="Verdana"/>
              </a:rPr>
              <a:t>)</a:t>
            </a:r>
          </a:p>
          <a:p>
            <a:pPr marL="781462" marR="42840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endParaRPr lang="ru-RU" sz="200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781462" marR="42840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lang="ru-RU" sz="2000" b="1" dirty="0">
                <a:solidFill>
                  <a:srgbClr val="181818"/>
                </a:solidFill>
                <a:latin typeface="Verdana"/>
                <a:cs typeface="Verdana"/>
              </a:rPr>
              <a:t>Production</a:t>
            </a:r>
            <a:r>
              <a:rPr lang="ru-RU" sz="2000" dirty="0">
                <a:solidFill>
                  <a:srgbClr val="181818"/>
                </a:solidFill>
                <a:latin typeface="Verdana"/>
                <a:cs typeface="Verdana"/>
              </a:rPr>
              <a:t> - рабочая версия кода, которая попадает заказчику или публикуется для скачивания пользователями</a:t>
            </a:r>
          </a:p>
          <a:p>
            <a:pPr marL="781462" marR="42840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endParaRPr lang="ru-RU" sz="2000" dirty="0">
              <a:solidFill>
                <a:srgbClr val="181818"/>
              </a:solidFill>
              <a:latin typeface="Verdana"/>
              <a:cs typeface="Verdana"/>
            </a:endParaRPr>
          </a:p>
          <a:p>
            <a:pPr marL="781462" marR="428403" indent="-342900">
              <a:spcBef>
                <a:spcPts val="133"/>
              </a:spcBef>
              <a:buFont typeface="Arial" panose="020B0604020202020204" pitchFamily="34" charset="0"/>
              <a:buChar char="•"/>
            </a:pPr>
            <a:r>
              <a:rPr lang="ru-RU" sz="2000" b="1" dirty="0" err="1">
                <a:solidFill>
                  <a:srgbClr val="181818"/>
                </a:solidFill>
                <a:latin typeface="Verdana"/>
                <a:cs typeface="Verdana"/>
              </a:rPr>
              <a:t>MLOps</a:t>
            </a:r>
            <a:r>
              <a:rPr lang="ru-RU" sz="2000" dirty="0">
                <a:solidFill>
                  <a:srgbClr val="181818"/>
                </a:solidFill>
                <a:latin typeface="Verdana"/>
                <a:cs typeface="Verdana"/>
              </a:rPr>
              <a:t> = ML + </a:t>
            </a:r>
            <a:r>
              <a:rPr lang="ru-RU" sz="2000" dirty="0" err="1">
                <a:solidFill>
                  <a:srgbClr val="181818"/>
                </a:solidFill>
                <a:latin typeface="Verdana"/>
                <a:cs typeface="Verdana"/>
              </a:rPr>
              <a:t>DevOps</a:t>
            </a:r>
            <a:endParaRPr lang="ru-RU" sz="2000" dirty="0">
              <a:solidFill>
                <a:srgbClr val="181818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377036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619" y="274633"/>
            <a:ext cx="11506661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67732">
              <a:lnSpc>
                <a:spcPct val="100000"/>
              </a:lnSpc>
              <a:spcBef>
                <a:spcPts val="133"/>
              </a:spcBef>
            </a:pPr>
            <a:r>
              <a:rPr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Сохранение</a:t>
            </a:r>
            <a:r>
              <a:rPr b="1" spc="1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152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моделей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067" y="1309274"/>
            <a:ext cx="11214100" cy="4579886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>
              <a:spcBef>
                <a:spcPts val="133"/>
              </a:spcBef>
              <a:tabLst>
                <a:tab pos="401310" algn="l"/>
              </a:tabLst>
            </a:pP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2400" spc="-16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точки</a:t>
            </a:r>
            <a:r>
              <a:rPr sz="2400" spc="-1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зрения</a:t>
            </a:r>
            <a:r>
              <a:rPr sz="2400" spc="-1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питона</a:t>
            </a:r>
            <a:r>
              <a:rPr sz="2400" spc="-1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b="1" spc="-1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модель</a:t>
            </a:r>
            <a:r>
              <a:rPr sz="2400" b="1" spc="-8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b="1" spc="-24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-</a:t>
            </a:r>
            <a:r>
              <a:rPr sz="2400" b="1" spc="-8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это</a:t>
            </a:r>
            <a:r>
              <a:rPr sz="2400" b="1" spc="-8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b="1" spc="-9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объект</a:t>
            </a:r>
            <a:r>
              <a:rPr sz="2400" b="1" i="1" spc="-152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6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(но</a:t>
            </a:r>
            <a:r>
              <a:rPr sz="2400" spc="-1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сложный:</a:t>
            </a:r>
            <a:r>
              <a:rPr sz="2400" spc="-1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включает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себя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много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зависимостей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0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3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подклассов;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же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гиперпараметры</a:t>
            </a:r>
            <a:r>
              <a:rPr sz="2400" spc="-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4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параметры)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>
              <a:spcBef>
                <a:spcPts val="1292"/>
              </a:spcBef>
              <a:buClr>
                <a:srgbClr val="181818"/>
              </a:buClr>
              <a:buFont typeface="Verdana"/>
              <a:buChar char="—"/>
            </a:pP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6933" marR="212508">
              <a:tabLst>
                <a:tab pos="401310" algn="l"/>
              </a:tabLst>
            </a:pPr>
            <a:r>
              <a:rPr sz="2400" b="1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Сериализация</a:t>
            </a:r>
            <a:r>
              <a:rPr sz="2400" b="1" i="1" spc="-7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7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-</a:t>
            </a:r>
            <a:r>
              <a:rPr sz="2400" spc="-8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это</a:t>
            </a:r>
            <a:r>
              <a:rPr sz="2400" spc="-8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процесс</a:t>
            </a:r>
            <a:r>
              <a:rPr sz="2400" spc="-9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трансформации</a:t>
            </a:r>
            <a:r>
              <a:rPr sz="2400" spc="-8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i="1" u="heavy" spc="80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любой</a:t>
            </a:r>
            <a:r>
              <a:rPr sz="2400" i="1" u="heavy" spc="-87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i="1" u="heavy" spc="-13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структуры</a:t>
            </a:r>
            <a:r>
              <a:rPr sz="2400" i="1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i="1" u="heavy" spc="-33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данных</a:t>
            </a:r>
            <a:r>
              <a:rPr sz="2400" spc="-3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sz="2400" spc="-1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поддерживаемой</a:t>
            </a:r>
            <a:r>
              <a:rPr sz="2400" spc="-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</a:t>
            </a:r>
            <a:r>
              <a:rPr sz="2400" spc="-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8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языке,</a:t>
            </a:r>
            <a:r>
              <a:rPr sz="2400" spc="-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</a:t>
            </a:r>
            <a:r>
              <a:rPr sz="2400" spc="-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последовательность</a:t>
            </a:r>
            <a:r>
              <a:rPr sz="2400" spc="-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битов</a:t>
            </a:r>
            <a:r>
              <a:rPr sz="2400" spc="-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(или </a:t>
            </a:r>
            <a:r>
              <a:rPr sz="2400" spc="-8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байтов).</a:t>
            </a:r>
            <a:r>
              <a:rPr sz="2400" spc="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Обратная</a:t>
            </a:r>
            <a:r>
              <a:rPr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операция</a:t>
            </a:r>
            <a:r>
              <a:rPr sz="2400" spc="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7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-</a:t>
            </a:r>
            <a:r>
              <a:rPr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b="1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десериализация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>
              <a:spcBef>
                <a:spcPts val="2627"/>
              </a:spcBef>
              <a:buClr>
                <a:srgbClr val="181818"/>
              </a:buClr>
            </a:pP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9833" indent="-342900">
              <a:spcBef>
                <a:spcPts val="7"/>
              </a:spcBef>
              <a:buFont typeface="Arial" panose="020B0604020202020204" pitchFamily="34" charset="0"/>
              <a:buChar char="•"/>
              <a:tabLst>
                <a:tab pos="401310" algn="l"/>
              </a:tabLst>
            </a:pP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гарантированно</a:t>
            </a:r>
            <a:r>
              <a:rPr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получаем</a:t>
            </a:r>
            <a:r>
              <a:rPr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</a:t>
            </a:r>
            <a:r>
              <a:rPr sz="2400" spc="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же</a:t>
            </a:r>
            <a:r>
              <a:rPr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данные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9833" indent="-342900">
              <a:buFont typeface="Arial" panose="020B0604020202020204" pitchFamily="34" charset="0"/>
              <a:buChar char="•"/>
              <a:tabLst>
                <a:tab pos="401310" algn="l"/>
              </a:tabLst>
            </a:pPr>
            <a:r>
              <a:rPr lang="en-US"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i</a:t>
            </a:r>
            <a:r>
              <a:rPr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d</a:t>
            </a:r>
            <a:r>
              <a:rPr sz="2400" spc="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при</a:t>
            </a:r>
            <a:r>
              <a:rPr sz="2400" spc="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сериализации-десериализации</a:t>
            </a:r>
            <a:r>
              <a:rPr sz="2400" spc="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меняется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359833" indent="-342900">
              <a:buFont typeface="Arial" panose="020B0604020202020204" pitchFamily="34" charset="0"/>
              <a:buChar char="•"/>
              <a:tabLst>
                <a:tab pos="401310" algn="l"/>
              </a:tabLst>
            </a:pP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сериализовать</a:t>
            </a:r>
            <a:r>
              <a:rPr sz="2400" spc="-9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8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можно</a:t>
            </a:r>
            <a:r>
              <a:rPr sz="2400" spc="-9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73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любой</a:t>
            </a:r>
            <a:r>
              <a:rPr sz="2400" spc="-8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80" dirty="0" err="1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объект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721633" y="2209458"/>
            <a:ext cx="164252" cy="591820"/>
            <a:chOff x="4291224" y="1657093"/>
            <a:chExt cx="123189" cy="443865"/>
          </a:xfrm>
        </p:grpSpPr>
        <p:sp>
          <p:nvSpPr>
            <p:cNvPr id="5" name="object 5"/>
            <p:cNvSpPr/>
            <p:nvPr/>
          </p:nvSpPr>
          <p:spPr>
            <a:xfrm>
              <a:off x="4352703" y="1671380"/>
              <a:ext cx="5080" cy="285750"/>
            </a:xfrm>
            <a:custGeom>
              <a:avLst/>
              <a:gdLst/>
              <a:ahLst/>
              <a:cxnLst/>
              <a:rect l="l" t="t" r="r" b="b"/>
              <a:pathLst>
                <a:path w="5079" h="285750">
                  <a:moveTo>
                    <a:pt x="4871" y="0"/>
                  </a:moveTo>
                  <a:lnTo>
                    <a:pt x="0" y="285174"/>
                  </a:lnTo>
                </a:path>
              </a:pathLst>
            </a:custGeom>
            <a:ln w="28574">
              <a:solidFill>
                <a:srgbClr val="20124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91224" y="1941462"/>
              <a:ext cx="122957" cy="159038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5721633" y="4137706"/>
            <a:ext cx="164252" cy="591820"/>
            <a:chOff x="4291224" y="3103279"/>
            <a:chExt cx="123189" cy="443865"/>
          </a:xfrm>
        </p:grpSpPr>
        <p:sp>
          <p:nvSpPr>
            <p:cNvPr id="8" name="object 8"/>
            <p:cNvSpPr/>
            <p:nvPr/>
          </p:nvSpPr>
          <p:spPr>
            <a:xfrm>
              <a:off x="4352703" y="3117567"/>
              <a:ext cx="5080" cy="285750"/>
            </a:xfrm>
            <a:custGeom>
              <a:avLst/>
              <a:gdLst/>
              <a:ahLst/>
              <a:cxnLst/>
              <a:rect l="l" t="t" r="r" b="b"/>
              <a:pathLst>
                <a:path w="5079" h="285750">
                  <a:moveTo>
                    <a:pt x="4871" y="0"/>
                  </a:moveTo>
                  <a:lnTo>
                    <a:pt x="0" y="285175"/>
                  </a:lnTo>
                </a:path>
              </a:pathLst>
            </a:custGeom>
            <a:ln w="28574">
              <a:solidFill>
                <a:srgbClr val="20124D"/>
              </a:solidFill>
            </a:ln>
          </p:spPr>
          <p:txBody>
            <a:bodyPr wrap="square" lIns="0" tIns="0" rIns="0" bIns="0" rtlCol="0"/>
            <a:lstStyle/>
            <a:p>
              <a:endParaRPr sz="2400"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1224" y="3387648"/>
              <a:ext cx="122957" cy="15903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067" y="347402"/>
            <a:ext cx="11170920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67732">
              <a:lnSpc>
                <a:spcPct val="100000"/>
              </a:lnSpc>
              <a:spcBef>
                <a:spcPts val="133"/>
              </a:spcBef>
            </a:pPr>
            <a:r>
              <a:rPr b="1" spc="11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Pickle</a:t>
            </a:r>
            <a:r>
              <a:rPr b="1" spc="-4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23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</a:t>
            </a:r>
            <a:r>
              <a:rPr b="1" spc="-4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-1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joblib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067" y="1309273"/>
            <a:ext cx="11170920" cy="50800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>
              <a:spcBef>
                <a:spcPts val="133"/>
              </a:spcBef>
              <a:tabLst>
                <a:tab pos="401310" algn="l"/>
              </a:tabLst>
            </a:pP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Преобразовываем</a:t>
            </a:r>
            <a:r>
              <a:rPr sz="2400" spc="10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и</a:t>
            </a:r>
            <a:r>
              <a:rPr sz="2400" spc="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исследуем</a:t>
            </a:r>
            <a:r>
              <a:rPr sz="2400" spc="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данные,</a:t>
            </a:r>
            <a:r>
              <a:rPr sz="2400" spc="10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обучаем</a:t>
            </a:r>
            <a:r>
              <a:rPr sz="2400" spc="1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модель.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>
              <a:spcBef>
                <a:spcPts val="2627"/>
              </a:spcBef>
              <a:buClr>
                <a:srgbClr val="181818"/>
              </a:buClr>
              <a:buFont typeface="Verdana"/>
              <a:buChar char="—"/>
            </a:pP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6933" marR="251454">
              <a:tabLst>
                <a:tab pos="401310" algn="l"/>
              </a:tabLst>
            </a:pP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Сериализуем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модель,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сохраняя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её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бинарный</a:t>
            </a:r>
            <a:r>
              <a:rPr sz="2400" spc="-4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файл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при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8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помощи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библиотек.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>
              <a:spcBef>
                <a:spcPts val="2627"/>
              </a:spcBef>
              <a:buClr>
                <a:srgbClr val="181818"/>
              </a:buClr>
              <a:buFont typeface="Verdana"/>
              <a:buChar char="—"/>
            </a:pP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6933" marR="6773">
              <a:spcBef>
                <a:spcPts val="7"/>
              </a:spcBef>
              <a:tabLst>
                <a:tab pos="401310" algn="l"/>
              </a:tabLst>
            </a:pP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Далее</a:t>
            </a:r>
            <a:r>
              <a:rPr sz="2400" spc="-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4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этот</a:t>
            </a:r>
            <a:r>
              <a:rPr sz="2400" spc="-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файл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может</a:t>
            </a:r>
            <a:r>
              <a:rPr sz="2400" spc="-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быть</a:t>
            </a:r>
            <a:r>
              <a:rPr sz="2400" spc="-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использован</a:t>
            </a:r>
            <a:r>
              <a:rPr sz="2400" spc="-5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для</a:t>
            </a:r>
            <a:r>
              <a:rPr sz="2400" spc="-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инференса</a:t>
            </a:r>
            <a:r>
              <a:rPr sz="2400" spc="-6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моделей,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работы</a:t>
            </a:r>
            <a:r>
              <a:rPr sz="2400" spc="-13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</a:t>
            </a:r>
            <a:r>
              <a:rPr sz="2400" spc="-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сервисах</a:t>
            </a:r>
            <a:r>
              <a:rPr sz="2400" spc="-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10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2400" spc="-13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приложениях.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>
              <a:spcBef>
                <a:spcPts val="2627"/>
              </a:spcBef>
              <a:buClr>
                <a:srgbClr val="181818"/>
              </a:buClr>
              <a:buFont typeface="Verdana"/>
              <a:buChar char="—"/>
            </a:pP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marL="16933" marR="977876">
              <a:tabLst>
                <a:tab pos="401310" algn="l"/>
              </a:tabLst>
            </a:pP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Для</a:t>
            </a:r>
            <a:r>
              <a:rPr sz="2400" spc="1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воспроизведения</a:t>
            </a:r>
            <a:r>
              <a:rPr sz="2400" spc="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предобработки</a:t>
            </a:r>
            <a:r>
              <a:rPr sz="2400" spc="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данных</a:t>
            </a:r>
            <a:r>
              <a:rPr sz="2400" spc="12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</a:t>
            </a:r>
            <a:r>
              <a:rPr sz="2400" spc="12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инференсе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используем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Pipeline</a:t>
            </a:r>
            <a:r>
              <a:rPr sz="2400" spc="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9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(это</a:t>
            </a:r>
            <a:r>
              <a:rPr sz="2400" spc="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слово </a:t>
            </a:r>
            <a:r>
              <a:rPr sz="2400" spc="-3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уже</a:t>
            </a:r>
            <a:r>
              <a:rPr sz="2400" spc="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получило</a:t>
            </a:r>
            <a:r>
              <a:rPr sz="2400" spc="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нарицательное </a:t>
            </a:r>
            <a:r>
              <a:rPr sz="2400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название</a:t>
            </a:r>
            <a:r>
              <a:rPr sz="2400" spc="7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“пайплайн”)</a:t>
            </a:r>
            <a:endParaRPr sz="24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7752" y="1786667"/>
            <a:ext cx="163961" cy="487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7752" y="3235889"/>
            <a:ext cx="163961" cy="487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7752" y="4658290"/>
            <a:ext cx="163961" cy="48735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116" y="199092"/>
            <a:ext cx="11458786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67732">
              <a:lnSpc>
                <a:spcPct val="100000"/>
              </a:lnSpc>
              <a:spcBef>
                <a:spcPts val="133"/>
              </a:spcBef>
            </a:pPr>
            <a:r>
              <a:rPr b="1" spc="11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Pickle</a:t>
            </a:r>
            <a:r>
              <a:rPr b="1" spc="-4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1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или</a:t>
            </a:r>
            <a:r>
              <a:rPr b="1" spc="-4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-1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joblib?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915999"/>
              </p:ext>
            </p:extLst>
          </p:nvPr>
        </p:nvGraphicFramePr>
        <p:xfrm>
          <a:off x="315116" y="1292050"/>
          <a:ext cx="11458786" cy="55566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293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9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843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pickle</a:t>
                      </a:r>
                      <a:endParaRPr sz="2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5164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B4E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joblib</a:t>
                      </a:r>
                      <a:endParaRPr sz="270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5164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  <a:solidFill>
                      <a:srgbClr val="B4E91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7953">
                <a:tc>
                  <a:txBody>
                    <a:bodyPr/>
                    <a:lstStyle/>
                    <a:p>
                      <a:pPr marL="85725" marR="416559" algn="just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менее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эффективен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5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при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работе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</a:t>
                      </a:r>
                      <a:r>
                        <a:rPr sz="1700" spc="-3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большими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массивами</a:t>
                      </a:r>
                      <a:r>
                        <a:rPr sz="17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данных,</a:t>
                      </a:r>
                      <a:r>
                        <a:rPr sz="17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не</a:t>
                      </a:r>
                      <a:r>
                        <a:rPr sz="1700" spc="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делает</a:t>
                      </a:r>
                      <a:r>
                        <a:rPr sz="1700" spc="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специальную </a:t>
                      </a:r>
                      <a:r>
                        <a:rPr sz="1700" spc="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оптимизацию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них;</a:t>
                      </a:r>
                      <a:endParaRPr sz="1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медленнее</a:t>
                      </a:r>
                      <a:endParaRPr sz="1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34925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оптимизирован</a:t>
                      </a:r>
                      <a:r>
                        <a:rPr sz="1700" spc="3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</a:t>
                      </a:r>
                      <a:r>
                        <a:rPr sz="1700" spc="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работы</a:t>
                      </a:r>
                      <a:r>
                        <a:rPr sz="1700" spc="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</a:t>
                      </a:r>
                      <a:r>
                        <a:rPr sz="1700" spc="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большими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массивами</a:t>
                      </a:r>
                      <a:r>
                        <a:rPr sz="17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числовых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данных,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т.к.</a:t>
                      </a:r>
                      <a:r>
                        <a:rPr sz="17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использует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numpy</a:t>
                      </a:r>
                      <a:r>
                        <a:rPr sz="17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</a:t>
                      </a:r>
                      <a:r>
                        <a:rPr sz="17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хранения;</a:t>
                      </a:r>
                      <a:endParaRPr sz="1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  <a:p>
                      <a:pPr marL="85725" marR="8058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быстрее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числовых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массивов,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т.к.</a:t>
                      </a:r>
                      <a:r>
                        <a:rPr sz="1700" spc="-5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не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требуются</a:t>
                      </a:r>
                      <a:r>
                        <a:rPr sz="1700" spc="5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доп.</a:t>
                      </a:r>
                      <a:r>
                        <a:rPr sz="1700" spc="5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преобразования</a:t>
                      </a:r>
                      <a:r>
                        <a:rPr sz="1700" spc="5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при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сериализации</a:t>
                      </a:r>
                      <a:endParaRPr sz="1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9633">
                <a:tc>
                  <a:txBody>
                    <a:bodyPr/>
                    <a:lstStyle/>
                    <a:p>
                      <a:pPr marL="85725" marR="17081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сохраняет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объекты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без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компрессии,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что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может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привести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к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более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тяжелым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файлам,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особенно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если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объект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включает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большие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числовые массивы</a:t>
                      </a:r>
                      <a:endParaRPr sz="170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 marR="47307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сохраняет</a:t>
                      </a:r>
                      <a:r>
                        <a:rPr sz="1700" spc="-6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данные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в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сжатом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виде,</a:t>
                      </a:r>
                      <a:r>
                        <a:rPr sz="1700" spc="-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что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позволяет</a:t>
                      </a:r>
                      <a:r>
                        <a:rPr sz="17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снизить</a:t>
                      </a:r>
                      <a:r>
                        <a:rPr sz="17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их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объем,</a:t>
                      </a:r>
                      <a:r>
                        <a:rPr sz="17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особенно</a:t>
                      </a:r>
                      <a:r>
                        <a:rPr sz="1700" spc="-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больших</a:t>
                      </a:r>
                      <a:r>
                        <a:rPr sz="1700" spc="-3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моделей;</a:t>
                      </a:r>
                      <a:r>
                        <a:rPr sz="1700" spc="-3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полезно</a:t>
                      </a:r>
                      <a:r>
                        <a:rPr sz="1700" spc="-3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</a:t>
                      </a:r>
                      <a:r>
                        <a:rPr sz="1700" spc="-3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5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ML</a:t>
                      </a:r>
                      <a:endParaRPr sz="1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0653">
                <a:tc>
                  <a:txBody>
                    <a:bodyPr/>
                    <a:lstStyle/>
                    <a:p>
                      <a:pPr marL="85725" marR="533400">
                        <a:lnSpc>
                          <a:spcPct val="114999"/>
                        </a:lnSpc>
                        <a:spcBef>
                          <a:spcPts val="390"/>
                        </a:spcBef>
                      </a:pP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pickle</a:t>
                      </a:r>
                      <a:r>
                        <a:rPr sz="1700" spc="-4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лучше</a:t>
                      </a:r>
                      <a:r>
                        <a:rPr sz="1700" spc="-4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использовать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</a:t>
                      </a:r>
                      <a:r>
                        <a:rPr sz="1700" spc="-4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объектов</a:t>
                      </a:r>
                      <a:r>
                        <a:rPr sz="1700" spc="-4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5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более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сложными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структурами,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которые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не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связаны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</a:t>
                      </a:r>
                      <a:r>
                        <a:rPr sz="17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5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машинным</a:t>
                      </a:r>
                      <a:r>
                        <a:rPr sz="17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обучением</a:t>
                      </a:r>
                      <a:r>
                        <a:rPr sz="1700" spc="-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или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не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включают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большие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массивы</a:t>
                      </a:r>
                      <a:r>
                        <a:rPr sz="1700" spc="1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2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чисел</a:t>
                      </a:r>
                      <a:endParaRPr sz="1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6604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5725" marR="345440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joblib</a:t>
                      </a:r>
                      <a:r>
                        <a:rPr sz="1700" spc="-7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лучше</a:t>
                      </a:r>
                      <a:r>
                        <a:rPr sz="1700" spc="-7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всего</a:t>
                      </a:r>
                      <a:r>
                        <a:rPr sz="1700" spc="-7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подходит</a:t>
                      </a:r>
                      <a:r>
                        <a:rPr sz="1700" spc="-7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для</a:t>
                      </a:r>
                      <a:r>
                        <a:rPr sz="1700" spc="-7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сохранения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моделей</a:t>
                      </a:r>
                      <a:r>
                        <a:rPr sz="1700" spc="7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машинного</a:t>
                      </a:r>
                      <a:r>
                        <a:rPr sz="1700" spc="7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обучения,</a:t>
                      </a:r>
                      <a:r>
                        <a:rPr sz="1700" spc="8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содержащих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большие</a:t>
                      </a:r>
                      <a:r>
                        <a:rPr sz="1700" spc="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массивы</a:t>
                      </a:r>
                      <a:r>
                        <a:rPr sz="1700" spc="6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4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данных,</a:t>
                      </a:r>
                      <a:r>
                        <a:rPr sz="1700" spc="65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особенно</a:t>
                      </a:r>
                      <a:r>
                        <a:rPr sz="1700" spc="6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 </a:t>
                      </a:r>
                      <a:r>
                        <a:rPr sz="1700" spc="-5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– </a:t>
                      </a:r>
                      <a:r>
                        <a:rPr sz="1700" spc="-1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/>
                        </a:rPr>
                        <a:t>числовые</a:t>
                      </a:r>
                      <a:endParaRPr sz="17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/>
                      </a:endParaRPr>
                    </a:p>
                  </a:txBody>
                  <a:tcPr marL="0" marR="0" marT="104987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067" y="192166"/>
            <a:ext cx="11458769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67732">
              <a:lnSpc>
                <a:spcPct val="100000"/>
              </a:lnSpc>
              <a:spcBef>
                <a:spcPts val="133"/>
              </a:spcBef>
            </a:pPr>
            <a:r>
              <a:rPr b="1" spc="4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PMML</a:t>
            </a:r>
            <a:r>
              <a:rPr b="1" spc="-4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23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</a:t>
            </a:r>
            <a:r>
              <a:rPr b="1" spc="-4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12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ONNX-</a:t>
            </a:r>
            <a:r>
              <a:rPr b="1" spc="7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3067" y="1309274"/>
            <a:ext cx="11315700" cy="5080023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512221">
              <a:spcBef>
                <a:spcPts val="133"/>
              </a:spcBef>
              <a:tabLst>
                <a:tab pos="401310" algn="l"/>
              </a:tabLst>
            </a:pPr>
            <a:r>
              <a:rPr sz="2400" b="1" u="heavy" spc="-33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PMML</a:t>
            </a:r>
            <a:r>
              <a:rPr sz="2400" b="1" spc="-7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(Predictive</a:t>
            </a:r>
            <a:r>
              <a:rPr sz="2400" spc="-8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80" dirty="0">
                <a:solidFill>
                  <a:srgbClr val="181818"/>
                </a:solidFill>
                <a:latin typeface="Verdana"/>
                <a:cs typeface="Verdana"/>
              </a:rPr>
              <a:t>Model</a:t>
            </a:r>
            <a:r>
              <a:rPr sz="2400" spc="-9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Markup</a:t>
            </a:r>
            <a:r>
              <a:rPr sz="2400" spc="-9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Language)</a:t>
            </a:r>
            <a:r>
              <a:rPr sz="2400" spc="-9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73" dirty="0">
                <a:solidFill>
                  <a:srgbClr val="181818"/>
                </a:solidFill>
                <a:latin typeface="Verdana"/>
                <a:cs typeface="Verdana"/>
              </a:rPr>
              <a:t>-</a:t>
            </a:r>
            <a:r>
              <a:rPr sz="2400" spc="-9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27" dirty="0">
                <a:solidFill>
                  <a:srgbClr val="181818"/>
                </a:solidFill>
                <a:latin typeface="Verdana"/>
                <a:cs typeface="Verdana"/>
              </a:rPr>
              <a:t>это</a:t>
            </a:r>
            <a:r>
              <a:rPr sz="2400" spc="-9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XML-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диалект,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который</a:t>
            </a:r>
            <a:r>
              <a:rPr sz="2400" spc="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применяется</a:t>
            </a:r>
            <a:r>
              <a:rPr sz="2400" spc="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для</a:t>
            </a:r>
            <a:r>
              <a:rPr sz="2400" spc="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описания</a:t>
            </a:r>
            <a:r>
              <a:rPr sz="2400" spc="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статистических</a:t>
            </a:r>
            <a:r>
              <a:rPr sz="2400" spc="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07" dirty="0">
                <a:solidFill>
                  <a:srgbClr val="181818"/>
                </a:solidFill>
                <a:latin typeface="Verdana"/>
                <a:cs typeface="Verdana"/>
              </a:rPr>
              <a:t>и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DS-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моделей.</a:t>
            </a:r>
            <a:endParaRPr sz="2400" dirty="0">
              <a:latin typeface="Verdana"/>
              <a:cs typeface="Verdana"/>
            </a:endParaRPr>
          </a:p>
          <a:p>
            <a:pPr marL="16933" marR="403850">
              <a:spcBef>
                <a:spcPts val="1333"/>
              </a:spcBef>
              <a:tabLst>
                <a:tab pos="401310" algn="l"/>
              </a:tabLst>
            </a:pPr>
            <a:r>
              <a:rPr sz="2400" spc="147" dirty="0">
                <a:solidFill>
                  <a:srgbClr val="181818"/>
                </a:solidFill>
                <a:latin typeface="Verdana"/>
                <a:cs typeface="Verdana"/>
              </a:rPr>
              <a:t>PMML-</a:t>
            </a: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совместимые</a:t>
            </a:r>
            <a:r>
              <a:rPr sz="2400" spc="5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приложения</a:t>
            </a:r>
            <a:r>
              <a:rPr sz="2400" spc="5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позволяют</a:t>
            </a:r>
            <a:r>
              <a:rPr sz="2400" spc="5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легко</a:t>
            </a:r>
            <a:r>
              <a:rPr sz="2400" spc="5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обмениваться </a:t>
            </a:r>
            <a:r>
              <a:rPr sz="2400" spc="87" dirty="0">
                <a:solidFill>
                  <a:srgbClr val="181818"/>
                </a:solidFill>
                <a:latin typeface="Verdana"/>
                <a:cs typeface="Verdana"/>
              </a:rPr>
              <a:t>моделями</a:t>
            </a:r>
            <a:r>
              <a:rPr sz="2400" spc="-1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данных</a:t>
            </a:r>
            <a:r>
              <a:rPr sz="2400" spc="-1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между</a:t>
            </a:r>
            <a:r>
              <a:rPr sz="2400" spc="-1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собой.</a:t>
            </a:r>
            <a:endParaRPr sz="2400" dirty="0">
              <a:latin typeface="Verdana"/>
              <a:cs typeface="Verdana"/>
            </a:endParaRPr>
          </a:p>
          <a:p>
            <a:pPr marL="16933">
              <a:spcBef>
                <a:spcPts val="1333"/>
              </a:spcBef>
              <a:tabLst>
                <a:tab pos="401310" algn="l"/>
              </a:tabLst>
            </a:pP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Могут</a:t>
            </a:r>
            <a:r>
              <a:rPr sz="2400" spc="-4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быть</a:t>
            </a:r>
            <a:r>
              <a:rPr sz="2400" spc="-4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интегрированы</a:t>
            </a:r>
            <a:r>
              <a:rPr sz="2400" spc="-4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с</a:t>
            </a:r>
            <a:r>
              <a:rPr sz="2400" spc="-4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/>
                <a:cs typeface="Verdana"/>
              </a:rPr>
              <a:t>другими</a:t>
            </a:r>
            <a:r>
              <a:rPr sz="2400" spc="-4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3" dirty="0">
                <a:solidFill>
                  <a:srgbClr val="181818"/>
                </a:solidFill>
                <a:latin typeface="Verdana"/>
                <a:cs typeface="Verdana"/>
              </a:rPr>
              <a:t>языками</a:t>
            </a:r>
            <a:r>
              <a:rPr sz="2400" spc="-4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программирования.</a:t>
            </a:r>
            <a:endParaRPr sz="2400" dirty="0">
              <a:latin typeface="Verdana"/>
              <a:cs typeface="Verdana"/>
            </a:endParaRPr>
          </a:p>
          <a:p>
            <a:pPr>
              <a:spcBef>
                <a:spcPts val="2627"/>
              </a:spcBef>
            </a:pPr>
            <a:endParaRPr sz="2400" dirty="0">
              <a:latin typeface="Verdana"/>
              <a:cs typeface="Verdana"/>
            </a:endParaRPr>
          </a:p>
          <a:p>
            <a:pPr marL="16933"/>
            <a:r>
              <a:rPr sz="2400" i="1" u="heavy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Пример:</a:t>
            </a:r>
            <a:r>
              <a:rPr sz="2400" i="1" spc="-8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“перенести”</a:t>
            </a:r>
            <a:r>
              <a:rPr sz="2400" spc="-8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в</a:t>
            </a:r>
            <a:r>
              <a:rPr sz="2400" spc="-8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93" dirty="0">
                <a:solidFill>
                  <a:srgbClr val="181818"/>
                </a:solidFill>
                <a:latin typeface="Verdana"/>
                <a:cs typeface="Verdana"/>
              </a:rPr>
              <a:t>SAS</a:t>
            </a:r>
            <a:r>
              <a:rPr sz="2400" spc="-8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модель,</a:t>
            </a:r>
            <a:r>
              <a:rPr sz="2400" spc="-73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разработанную</a:t>
            </a:r>
            <a:r>
              <a:rPr sz="2400" spc="-8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на</a:t>
            </a:r>
            <a:r>
              <a:rPr sz="2400" spc="-8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Python.</a:t>
            </a:r>
            <a:endParaRPr sz="2400" dirty="0">
              <a:latin typeface="Verdana"/>
              <a:cs typeface="Verdana"/>
            </a:endParaRPr>
          </a:p>
          <a:p>
            <a:pPr marL="16933">
              <a:spcBef>
                <a:spcPts val="1333"/>
              </a:spcBef>
            </a:pPr>
            <a:r>
              <a:rPr sz="2400" i="1" u="heavy" spc="-107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Где</a:t>
            </a:r>
            <a:r>
              <a:rPr sz="2400" i="1" u="heavy" spc="-147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 </a:t>
            </a:r>
            <a:r>
              <a:rPr sz="2400" i="1" u="heavy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лучше</a:t>
            </a:r>
            <a:r>
              <a:rPr sz="2400" i="1" u="heavy" spc="-147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 </a:t>
            </a:r>
            <a:r>
              <a:rPr sz="2400" i="1" u="heavy" spc="-13" dirty="0">
                <a:solidFill>
                  <a:srgbClr val="181818"/>
                </a:solidFill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применить?</a:t>
            </a:r>
            <a:endParaRPr sz="2400" dirty="0">
              <a:latin typeface="Verdana"/>
              <a:cs typeface="Verdana"/>
            </a:endParaRPr>
          </a:p>
          <a:p>
            <a:pPr marL="16933" marR="182029">
              <a:spcBef>
                <a:spcPts val="1333"/>
              </a:spcBef>
            </a:pP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Подходит</a:t>
            </a:r>
            <a:r>
              <a:rPr sz="2400" spc="-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для</a:t>
            </a:r>
            <a:r>
              <a:rPr sz="2400" spc="-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традиционных</a:t>
            </a:r>
            <a:r>
              <a:rPr sz="2400" spc="-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/>
                <a:cs typeface="Verdana"/>
              </a:rPr>
              <a:t>моделей</a:t>
            </a:r>
            <a:r>
              <a:rPr sz="2400" spc="-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/>
                <a:cs typeface="Verdana"/>
              </a:rPr>
              <a:t>машинного</a:t>
            </a:r>
            <a:r>
              <a:rPr sz="2400" spc="-6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обучения</a:t>
            </a:r>
            <a:r>
              <a:rPr sz="2400" spc="-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107" dirty="0">
                <a:solidFill>
                  <a:srgbClr val="181818"/>
                </a:solidFill>
                <a:latin typeface="Verdana"/>
                <a:cs typeface="Verdana"/>
              </a:rPr>
              <a:t>и</a:t>
            </a:r>
            <a:r>
              <a:rPr sz="2400" spc="-6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/>
                <a:cs typeface="Verdana"/>
              </a:rPr>
              <a:t>при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необходимости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в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интеграции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со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старыми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67" dirty="0">
                <a:solidFill>
                  <a:srgbClr val="181818"/>
                </a:solidFill>
                <a:latin typeface="Verdana"/>
                <a:cs typeface="Verdana"/>
              </a:rPr>
              <a:t>системами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80" dirty="0">
                <a:solidFill>
                  <a:srgbClr val="181818"/>
                </a:solidFill>
                <a:latin typeface="Verdana"/>
                <a:cs typeface="Verdana"/>
              </a:rPr>
              <a:t>(где</a:t>
            </a:r>
            <a:r>
              <a:rPr sz="2400" spc="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нейронные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сети</a:t>
            </a:r>
            <a:r>
              <a:rPr sz="2400" spc="-127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dirty="0">
                <a:solidFill>
                  <a:srgbClr val="181818"/>
                </a:solidFill>
                <a:latin typeface="Verdana"/>
                <a:cs typeface="Verdana"/>
              </a:rPr>
              <a:t>не</a:t>
            </a:r>
            <a:r>
              <a:rPr sz="2400" spc="-120" dirty="0">
                <a:solidFill>
                  <a:srgbClr val="181818"/>
                </a:solidFill>
                <a:latin typeface="Verdana"/>
                <a:cs typeface="Verdana"/>
              </a:rPr>
              <a:t> </a:t>
            </a:r>
            <a:r>
              <a:rPr sz="2400" spc="-13" dirty="0">
                <a:solidFill>
                  <a:srgbClr val="181818"/>
                </a:solidFill>
                <a:latin typeface="Verdana"/>
                <a:cs typeface="Verdana"/>
              </a:rPr>
              <a:t>используются).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118" y="289147"/>
            <a:ext cx="11711708" cy="694207"/>
          </a:xfrm>
          <a:prstGeom prst="rect">
            <a:avLst/>
          </a:prstGeom>
        </p:spPr>
        <p:txBody>
          <a:bodyPr vert="horz" wrap="square" lIns="0" tIns="16933" rIns="0" bIns="0" rtlCol="0" anchor="ctr">
            <a:spAutoFit/>
          </a:bodyPr>
          <a:lstStyle/>
          <a:p>
            <a:pPr marL="67732">
              <a:lnSpc>
                <a:spcPct val="100000"/>
              </a:lnSpc>
              <a:spcBef>
                <a:spcPts val="133"/>
              </a:spcBef>
            </a:pPr>
            <a:r>
              <a:rPr b="1" spc="46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PMML</a:t>
            </a:r>
            <a:r>
              <a:rPr b="1" spc="-4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23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и</a:t>
            </a:r>
            <a:r>
              <a:rPr b="1" spc="-46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b="1" spc="127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ONNX-</a:t>
            </a:r>
            <a:r>
              <a:rPr b="1" spc="73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ML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195118" y="1606364"/>
            <a:ext cx="11801764" cy="4031018"/>
          </a:xfrm>
          <a:prstGeom prst="rect">
            <a:avLst/>
          </a:prstGeom>
        </p:spPr>
        <p:txBody>
          <a:bodyPr vert="horz" wrap="square" lIns="0" tIns="16933" rIns="0" bIns="0" rtlCol="0">
            <a:spAutoFit/>
          </a:bodyPr>
          <a:lstStyle/>
          <a:p>
            <a:pPr marL="16933" marR="6773" indent="0">
              <a:lnSpc>
                <a:spcPct val="100000"/>
              </a:lnSpc>
              <a:spcBef>
                <a:spcPts val="133"/>
              </a:spcBef>
              <a:buNone/>
              <a:tabLst>
                <a:tab pos="358131" algn="l"/>
              </a:tabLst>
            </a:pPr>
            <a:r>
              <a:rPr sz="2000" b="1" u="heavy" spc="-107" dirty="0"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ONNX</a:t>
            </a:r>
            <a:r>
              <a:rPr sz="2000" b="1" spc="-127" dirty="0">
                <a:latin typeface="Verdana"/>
                <a:cs typeface="Verdana"/>
              </a:rPr>
              <a:t> </a:t>
            </a:r>
            <a:r>
              <a:rPr sz="2000" dirty="0"/>
              <a:t>(Open</a:t>
            </a:r>
            <a:r>
              <a:rPr sz="2000" spc="-133" dirty="0"/>
              <a:t> </a:t>
            </a:r>
            <a:r>
              <a:rPr sz="2000" dirty="0"/>
              <a:t>Neural</a:t>
            </a:r>
            <a:r>
              <a:rPr sz="2000" spc="-133" dirty="0"/>
              <a:t> </a:t>
            </a:r>
            <a:r>
              <a:rPr sz="2000" dirty="0"/>
              <a:t>Network</a:t>
            </a:r>
            <a:r>
              <a:rPr sz="2000" spc="-140" dirty="0"/>
              <a:t> </a:t>
            </a:r>
            <a:r>
              <a:rPr sz="2000" spc="-13" dirty="0"/>
              <a:t>Exchange)</a:t>
            </a:r>
            <a:r>
              <a:rPr sz="2000" spc="-133" dirty="0"/>
              <a:t> </a:t>
            </a:r>
            <a:r>
              <a:rPr sz="2000" spc="-167" dirty="0"/>
              <a:t>-</a:t>
            </a:r>
            <a:r>
              <a:rPr sz="2000" spc="-133" dirty="0"/>
              <a:t> </a:t>
            </a:r>
            <a:r>
              <a:rPr sz="2000" spc="-33" dirty="0"/>
              <a:t>это</a:t>
            </a:r>
            <a:r>
              <a:rPr sz="2000" spc="-140" dirty="0"/>
              <a:t> </a:t>
            </a:r>
            <a:r>
              <a:rPr sz="2000" dirty="0"/>
              <a:t>открытый</a:t>
            </a:r>
            <a:r>
              <a:rPr sz="2000" spc="-133" dirty="0"/>
              <a:t> </a:t>
            </a:r>
            <a:r>
              <a:rPr sz="2000" spc="-13" dirty="0"/>
              <a:t>стандарт</a:t>
            </a:r>
            <a:r>
              <a:rPr sz="2000" spc="-133" dirty="0"/>
              <a:t> </a:t>
            </a:r>
            <a:r>
              <a:rPr sz="2000" spc="-33" dirty="0"/>
              <a:t>для </a:t>
            </a:r>
            <a:r>
              <a:rPr sz="2000" dirty="0"/>
              <a:t>обеспечения</a:t>
            </a:r>
            <a:r>
              <a:rPr sz="2000" spc="160" dirty="0"/>
              <a:t> </a:t>
            </a:r>
            <a:r>
              <a:rPr sz="2000" dirty="0"/>
              <a:t>совместимости</a:t>
            </a:r>
            <a:r>
              <a:rPr sz="2000" spc="160" dirty="0"/>
              <a:t> </a:t>
            </a:r>
            <a:r>
              <a:rPr sz="2000" spc="67" dirty="0"/>
              <a:t>моделей</a:t>
            </a:r>
            <a:r>
              <a:rPr sz="2000" spc="160" dirty="0"/>
              <a:t> </a:t>
            </a:r>
            <a:r>
              <a:rPr sz="2000" dirty="0"/>
              <a:t>машинного</a:t>
            </a:r>
            <a:r>
              <a:rPr sz="2000" spc="160" dirty="0"/>
              <a:t> </a:t>
            </a:r>
            <a:r>
              <a:rPr sz="2000" dirty="0"/>
              <a:t>обучения</a:t>
            </a:r>
            <a:r>
              <a:rPr sz="2000" spc="167" dirty="0"/>
              <a:t> </a:t>
            </a:r>
            <a:r>
              <a:rPr sz="2000" spc="-47" dirty="0"/>
              <a:t>(Microsoft,</a:t>
            </a:r>
            <a:r>
              <a:rPr sz="2000" spc="160" dirty="0"/>
              <a:t> </a:t>
            </a:r>
            <a:r>
              <a:rPr sz="2000" spc="-13" dirty="0"/>
              <a:t>Amazon, Facebook).</a:t>
            </a:r>
          </a:p>
          <a:p>
            <a:pPr marL="16933" marR="239601" indent="0">
              <a:lnSpc>
                <a:spcPct val="100000"/>
              </a:lnSpc>
              <a:spcBef>
                <a:spcPts val="1333"/>
              </a:spcBef>
              <a:buNone/>
              <a:tabLst>
                <a:tab pos="358131" algn="l"/>
              </a:tabLst>
            </a:pPr>
            <a:r>
              <a:rPr sz="2000" dirty="0"/>
              <a:t>Используется</a:t>
            </a:r>
            <a:r>
              <a:rPr sz="2000" spc="-27" dirty="0"/>
              <a:t> </a:t>
            </a:r>
            <a:r>
              <a:rPr sz="2000" dirty="0"/>
              <a:t>для</a:t>
            </a:r>
            <a:r>
              <a:rPr sz="2000" spc="-20" dirty="0"/>
              <a:t> </a:t>
            </a:r>
            <a:r>
              <a:rPr sz="2000" dirty="0"/>
              <a:t>конвертации</a:t>
            </a:r>
            <a:r>
              <a:rPr sz="2000" spc="-20" dirty="0"/>
              <a:t> </a:t>
            </a:r>
            <a:r>
              <a:rPr sz="2000" dirty="0"/>
              <a:t>из</a:t>
            </a:r>
            <a:r>
              <a:rPr sz="2000" spc="-20" dirty="0"/>
              <a:t> </a:t>
            </a:r>
            <a:r>
              <a:rPr sz="2000" dirty="0"/>
              <a:t>одного</a:t>
            </a:r>
            <a:r>
              <a:rPr sz="2000" spc="-27" dirty="0"/>
              <a:t> </a:t>
            </a:r>
            <a:r>
              <a:rPr sz="2000" dirty="0"/>
              <a:t>фреймворка</a:t>
            </a:r>
            <a:r>
              <a:rPr sz="2000" spc="-20" dirty="0"/>
              <a:t> </a:t>
            </a:r>
            <a:r>
              <a:rPr sz="2000" dirty="0"/>
              <a:t>в</a:t>
            </a:r>
            <a:r>
              <a:rPr sz="2000" spc="-20" dirty="0"/>
              <a:t> </a:t>
            </a:r>
            <a:r>
              <a:rPr sz="2000" dirty="0"/>
              <a:t>другой</a:t>
            </a:r>
            <a:r>
              <a:rPr sz="2000" spc="-20" dirty="0"/>
              <a:t> </a:t>
            </a:r>
            <a:r>
              <a:rPr sz="2000" spc="-13" dirty="0"/>
              <a:t>(например, </a:t>
            </a:r>
            <a:r>
              <a:rPr sz="2000" dirty="0"/>
              <a:t>из</a:t>
            </a:r>
            <a:r>
              <a:rPr sz="2000" spc="-140" dirty="0"/>
              <a:t> </a:t>
            </a:r>
            <a:r>
              <a:rPr sz="2000" spc="-27" dirty="0"/>
              <a:t>PyTorch</a:t>
            </a:r>
            <a:r>
              <a:rPr sz="2000" spc="-133" dirty="0"/>
              <a:t> </a:t>
            </a:r>
            <a:r>
              <a:rPr sz="2000" dirty="0"/>
              <a:t>в</a:t>
            </a:r>
            <a:r>
              <a:rPr sz="2000" spc="-133" dirty="0"/>
              <a:t> </a:t>
            </a:r>
            <a:r>
              <a:rPr sz="2000" spc="-13" dirty="0"/>
              <a:t>TensorFlow</a:t>
            </a:r>
            <a:r>
              <a:rPr sz="2000" spc="-133" dirty="0"/>
              <a:t> </a:t>
            </a:r>
            <a:r>
              <a:rPr sz="2000" spc="93" dirty="0"/>
              <a:t>и</a:t>
            </a:r>
            <a:r>
              <a:rPr sz="2000" spc="-140" dirty="0"/>
              <a:t> </a:t>
            </a:r>
            <a:r>
              <a:rPr sz="2000" spc="-13" dirty="0"/>
              <a:t>наоборот).</a:t>
            </a:r>
          </a:p>
          <a:p>
            <a:pPr marL="16933" marR="508834" indent="0">
              <a:lnSpc>
                <a:spcPct val="100000"/>
              </a:lnSpc>
              <a:spcBef>
                <a:spcPts val="1333"/>
              </a:spcBef>
              <a:buNone/>
              <a:tabLst>
                <a:tab pos="358131" algn="l"/>
              </a:tabLst>
            </a:pPr>
            <a:r>
              <a:rPr sz="2000" dirty="0"/>
              <a:t>Используется</a:t>
            </a:r>
            <a:r>
              <a:rPr sz="2000" spc="33" dirty="0"/>
              <a:t> </a:t>
            </a:r>
            <a:r>
              <a:rPr sz="2000" dirty="0"/>
              <a:t>для</a:t>
            </a:r>
            <a:r>
              <a:rPr sz="2000" spc="40" dirty="0"/>
              <a:t> </a:t>
            </a:r>
            <a:r>
              <a:rPr sz="2000" dirty="0"/>
              <a:t>переноса</a:t>
            </a:r>
            <a:r>
              <a:rPr sz="2000" spc="40" dirty="0"/>
              <a:t> </a:t>
            </a:r>
            <a:r>
              <a:rPr sz="2000" dirty="0"/>
              <a:t>DL-моделей</a:t>
            </a:r>
            <a:r>
              <a:rPr sz="2000" spc="40" dirty="0"/>
              <a:t> </a:t>
            </a:r>
            <a:r>
              <a:rPr sz="2000" dirty="0"/>
              <a:t>в</a:t>
            </a:r>
            <a:r>
              <a:rPr sz="2000" spc="40" dirty="0"/>
              <a:t> </a:t>
            </a:r>
            <a:r>
              <a:rPr sz="2000" dirty="0"/>
              <a:t>приложения</a:t>
            </a:r>
            <a:r>
              <a:rPr sz="2000" spc="40" dirty="0"/>
              <a:t> </a:t>
            </a:r>
            <a:r>
              <a:rPr sz="2000" dirty="0"/>
              <a:t>с</a:t>
            </a:r>
            <a:r>
              <a:rPr sz="2000" spc="33" dirty="0"/>
              <a:t> </a:t>
            </a:r>
            <a:r>
              <a:rPr sz="2000" spc="-13" dirty="0"/>
              <a:t>ограниченными </a:t>
            </a:r>
            <a:r>
              <a:rPr sz="2000" dirty="0"/>
              <a:t>вычислительными</a:t>
            </a:r>
            <a:r>
              <a:rPr sz="2000" spc="93" dirty="0"/>
              <a:t> </a:t>
            </a:r>
            <a:r>
              <a:rPr sz="2000" dirty="0"/>
              <a:t>ресурсами</a:t>
            </a:r>
            <a:r>
              <a:rPr sz="2000" spc="93" dirty="0"/>
              <a:t> </a:t>
            </a:r>
            <a:r>
              <a:rPr sz="2000" spc="-13" dirty="0"/>
              <a:t>(например,</a:t>
            </a:r>
            <a:r>
              <a:rPr sz="2000" spc="93" dirty="0"/>
              <a:t> </a:t>
            </a:r>
            <a:r>
              <a:rPr sz="2000" dirty="0"/>
              <a:t>для</a:t>
            </a:r>
            <a:r>
              <a:rPr sz="2000" spc="93" dirty="0"/>
              <a:t> </a:t>
            </a:r>
            <a:r>
              <a:rPr sz="2000" dirty="0"/>
              <a:t>мобильных</a:t>
            </a:r>
            <a:r>
              <a:rPr sz="2000" spc="93" dirty="0"/>
              <a:t> </a:t>
            </a:r>
            <a:r>
              <a:rPr sz="2000" spc="-13" dirty="0"/>
              <a:t>устройств).</a:t>
            </a:r>
          </a:p>
          <a:p>
            <a:pPr marL="0" indent="0">
              <a:lnSpc>
                <a:spcPct val="100000"/>
              </a:lnSpc>
              <a:spcBef>
                <a:spcPts val="40"/>
              </a:spcBef>
              <a:buNone/>
            </a:pPr>
            <a:endParaRPr sz="2000" spc="-13" dirty="0"/>
          </a:p>
          <a:p>
            <a:pPr marL="16933" marR="1687364">
              <a:lnSpc>
                <a:spcPct val="100000"/>
              </a:lnSpc>
            </a:pPr>
            <a:r>
              <a:rPr sz="2000" i="1" u="heavy" spc="67" dirty="0"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ONNX</a:t>
            </a:r>
            <a:r>
              <a:rPr sz="2000" i="1" u="heavy" spc="133" dirty="0"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 </a:t>
            </a:r>
            <a:r>
              <a:rPr sz="2000" i="1" u="heavy" dirty="0">
                <a:uFill>
                  <a:solidFill>
                    <a:srgbClr val="181818"/>
                  </a:solidFill>
                </a:uFill>
                <a:latin typeface="Verdana"/>
                <a:cs typeface="Verdana"/>
              </a:rPr>
              <a:t>Runtime</a:t>
            </a:r>
            <a:r>
              <a:rPr sz="2000" i="1" spc="120" dirty="0">
                <a:latin typeface="Verdana"/>
                <a:cs typeface="Verdana"/>
              </a:rPr>
              <a:t> </a:t>
            </a:r>
            <a:r>
              <a:rPr sz="2000" dirty="0"/>
              <a:t>—</a:t>
            </a:r>
            <a:r>
              <a:rPr sz="2000" spc="140" dirty="0"/>
              <a:t> </a:t>
            </a:r>
            <a:r>
              <a:rPr sz="2000" dirty="0"/>
              <a:t>высокооптимизированная</a:t>
            </a:r>
            <a:r>
              <a:rPr sz="2000" spc="133" dirty="0"/>
              <a:t> </a:t>
            </a:r>
            <a:r>
              <a:rPr sz="2000" dirty="0"/>
              <a:t>среда</a:t>
            </a:r>
            <a:r>
              <a:rPr sz="2000" spc="133" dirty="0"/>
              <a:t> </a:t>
            </a:r>
            <a:r>
              <a:rPr sz="2000" dirty="0"/>
              <a:t>выполнения</a:t>
            </a:r>
            <a:r>
              <a:rPr sz="2000" spc="140" dirty="0"/>
              <a:t> </a:t>
            </a:r>
            <a:r>
              <a:rPr sz="2000" spc="-33" dirty="0"/>
              <a:t>для </a:t>
            </a:r>
            <a:r>
              <a:rPr sz="2000" dirty="0"/>
              <a:t>ускоренного</a:t>
            </a:r>
            <a:r>
              <a:rPr sz="2000" spc="-87" dirty="0"/>
              <a:t> </a:t>
            </a:r>
            <a:r>
              <a:rPr sz="2000" dirty="0"/>
              <a:t>вывода</a:t>
            </a:r>
            <a:r>
              <a:rPr sz="2000" spc="-80" dirty="0"/>
              <a:t> </a:t>
            </a:r>
            <a:r>
              <a:rPr sz="2000" spc="67" dirty="0"/>
              <a:t>моделей</a:t>
            </a:r>
            <a:r>
              <a:rPr sz="2000" spc="-80" dirty="0"/>
              <a:t> </a:t>
            </a:r>
            <a:r>
              <a:rPr sz="2000" dirty="0"/>
              <a:t>в</a:t>
            </a:r>
            <a:r>
              <a:rPr sz="2000" spc="-87" dirty="0"/>
              <a:t> </a:t>
            </a:r>
            <a:r>
              <a:rPr sz="2000" dirty="0"/>
              <a:t>формате</a:t>
            </a:r>
            <a:r>
              <a:rPr sz="2000" spc="-80" dirty="0"/>
              <a:t> </a:t>
            </a:r>
            <a:r>
              <a:rPr sz="2000" spc="-13" dirty="0"/>
              <a:t>ONNX.</a:t>
            </a:r>
          </a:p>
          <a:p>
            <a:pPr marL="16933" marR="215048">
              <a:lnSpc>
                <a:spcPct val="100000"/>
              </a:lnSpc>
              <a:spcBef>
                <a:spcPts val="1333"/>
              </a:spcBef>
            </a:pPr>
            <a:r>
              <a:rPr sz="2000" dirty="0"/>
              <a:t>Лучше</a:t>
            </a:r>
            <a:r>
              <a:rPr sz="2000" spc="-100" dirty="0"/>
              <a:t> </a:t>
            </a:r>
            <a:r>
              <a:rPr sz="2000" dirty="0"/>
              <a:t>для</a:t>
            </a:r>
            <a:r>
              <a:rPr sz="2000" spc="-100" dirty="0"/>
              <a:t> </a:t>
            </a:r>
            <a:r>
              <a:rPr sz="2000" dirty="0"/>
              <a:t>нейронных</a:t>
            </a:r>
            <a:r>
              <a:rPr sz="2000" spc="-100" dirty="0"/>
              <a:t> </a:t>
            </a:r>
            <a:r>
              <a:rPr sz="2000" dirty="0"/>
              <a:t>сетей</a:t>
            </a:r>
            <a:r>
              <a:rPr sz="2000" spc="-100" dirty="0"/>
              <a:t> </a:t>
            </a:r>
            <a:r>
              <a:rPr sz="2000" spc="93" dirty="0"/>
              <a:t>и</a:t>
            </a:r>
            <a:r>
              <a:rPr sz="2000" spc="-100" dirty="0"/>
              <a:t> </a:t>
            </a:r>
            <a:r>
              <a:rPr sz="2000" spc="-13" dirty="0"/>
              <a:t>сложных</a:t>
            </a:r>
            <a:r>
              <a:rPr sz="2000" spc="-100" dirty="0"/>
              <a:t> </a:t>
            </a:r>
            <a:r>
              <a:rPr sz="2000" spc="67" dirty="0"/>
              <a:t>моделей</a:t>
            </a:r>
            <a:r>
              <a:rPr sz="2000" spc="-93" dirty="0"/>
              <a:t> </a:t>
            </a:r>
            <a:r>
              <a:rPr sz="2000" dirty="0"/>
              <a:t>глубокого</a:t>
            </a:r>
            <a:r>
              <a:rPr sz="2000" spc="-100" dirty="0"/>
              <a:t> </a:t>
            </a:r>
            <a:r>
              <a:rPr sz="2000" spc="-13" dirty="0"/>
              <a:t>обучения, </a:t>
            </a:r>
            <a:r>
              <a:rPr sz="2000" dirty="0"/>
              <a:t>особенно</a:t>
            </a:r>
            <a:r>
              <a:rPr sz="2000" spc="-20" dirty="0"/>
              <a:t> </a:t>
            </a:r>
            <a:r>
              <a:rPr sz="2000" dirty="0"/>
              <a:t>если</a:t>
            </a:r>
            <a:r>
              <a:rPr sz="2000" spc="-20" dirty="0"/>
              <a:t> </a:t>
            </a:r>
            <a:r>
              <a:rPr sz="2000" spc="-13" dirty="0"/>
              <a:t>требуется </a:t>
            </a:r>
            <a:r>
              <a:rPr sz="2000" dirty="0"/>
              <a:t>оптимизация</a:t>
            </a:r>
            <a:r>
              <a:rPr sz="2000" spc="-20" dirty="0"/>
              <a:t> </a:t>
            </a:r>
            <a:r>
              <a:rPr sz="2000" spc="67" dirty="0"/>
              <a:t>или</a:t>
            </a:r>
            <a:r>
              <a:rPr sz="2000" spc="-13" dirty="0"/>
              <a:t> </a:t>
            </a:r>
            <a:r>
              <a:rPr sz="2000" dirty="0"/>
              <a:t>работа</a:t>
            </a:r>
            <a:r>
              <a:rPr sz="2000" spc="-20" dirty="0"/>
              <a:t> </a:t>
            </a:r>
            <a:r>
              <a:rPr sz="2000" dirty="0"/>
              <a:t>с</a:t>
            </a:r>
            <a:r>
              <a:rPr sz="2000" spc="-20" dirty="0"/>
              <a:t> </a:t>
            </a:r>
            <a:r>
              <a:rPr sz="2000" spc="60" dirty="0"/>
              <a:t>разными</a:t>
            </a:r>
            <a:r>
              <a:rPr sz="2000" spc="-13" dirty="0"/>
              <a:t> фреймворками.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7"/>
          <p:cNvSpPr txBox="1"/>
          <p:nvPr/>
        </p:nvSpPr>
        <p:spPr>
          <a:xfrm>
            <a:off x="720000" y="672001"/>
            <a:ext cx="10080000" cy="65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000" tIns="48000" rIns="48000" bIns="48000" anchor="t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1100"/>
            </a:pPr>
            <a:r>
              <a:rPr lang="ru" sz="4000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внимание!</a:t>
            </a:r>
            <a:endParaRPr sz="4000"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27585"/>
            <a:ext cx="12192000" cy="4356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1039</Words>
  <Application>Microsoft Office PowerPoint</Application>
  <PresentationFormat>Широкоэкранный</PresentationFormat>
  <Paragraphs>133</Paragraphs>
  <Slides>26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5" baseType="lpstr">
      <vt:lpstr>MS PGothic</vt:lpstr>
      <vt:lpstr>Arial</vt:lpstr>
      <vt:lpstr>Calibri</vt:lpstr>
      <vt:lpstr>Calibri Light</vt:lpstr>
      <vt:lpstr>Montserrat</vt:lpstr>
      <vt:lpstr>Symbol</vt:lpstr>
      <vt:lpstr>Tahoma</vt:lpstr>
      <vt:lpstr>Verdana</vt:lpstr>
      <vt:lpstr>Тема Office</vt:lpstr>
      <vt:lpstr>Презентация PowerPoint</vt:lpstr>
      <vt:lpstr>План занятия</vt:lpstr>
      <vt:lpstr>Презентация PowerPoint</vt:lpstr>
      <vt:lpstr>Кратко о себе</vt:lpstr>
      <vt:lpstr>Силлабус курса</vt:lpstr>
      <vt:lpstr>Программа курса:</vt:lpstr>
      <vt:lpstr>Презентация PowerPoint</vt:lpstr>
      <vt:lpstr>Презентация PowerPoint</vt:lpstr>
      <vt:lpstr>Без MLOps:  • Разработка модели на ноутбуке дата-сайентиста.  • Ручное тестирование и корректировка кода.  • Ручное внедрение модели в продакшн.  • Трудности с обновлением модели при изменении данных. </vt:lpstr>
      <vt:lpstr>ML Pipeline</vt:lpstr>
      <vt:lpstr>Разработка модели</vt:lpstr>
      <vt:lpstr>Тестирование</vt:lpstr>
      <vt:lpstr>CI/CD (Continuous Integration/Continuous Deployment)</vt:lpstr>
      <vt:lpstr>Внедрение и деплой</vt:lpstr>
      <vt:lpstr>Мониторинг и сопровождение</vt:lpstr>
      <vt:lpstr>Презентация PowerPoint</vt:lpstr>
      <vt:lpstr>Презентация PowerPoint</vt:lpstr>
      <vt:lpstr>Презентация PowerPoint</vt:lpstr>
      <vt:lpstr>Процесс работы с данными</vt:lpstr>
      <vt:lpstr>Основные термины</vt:lpstr>
      <vt:lpstr>Сохранение моделей</vt:lpstr>
      <vt:lpstr>Pickle и joblib</vt:lpstr>
      <vt:lpstr>Pickle или joblib?</vt:lpstr>
      <vt:lpstr>PMML и ONNX-ML</vt:lpstr>
      <vt:lpstr>PMML и ONNX-ML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в продуктивной среде</dc:title>
  <dc:creator>NeKon</dc:creator>
  <cp:lastModifiedBy>Константин Некрасов</cp:lastModifiedBy>
  <cp:revision>39</cp:revision>
  <dcterms:created xsi:type="dcterms:W3CDTF">2025-09-30T05:17:12Z</dcterms:created>
  <dcterms:modified xsi:type="dcterms:W3CDTF">2026-03-03T16:30:16Z</dcterms:modified>
</cp:coreProperties>
</file>