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8" r:id="rId2"/>
    <p:sldId id="257" r:id="rId3"/>
    <p:sldId id="367" r:id="rId4"/>
    <p:sldId id="361" r:id="rId5"/>
    <p:sldId id="403" r:id="rId6"/>
    <p:sldId id="427" r:id="rId7"/>
    <p:sldId id="362" r:id="rId8"/>
    <p:sldId id="428" r:id="rId9"/>
    <p:sldId id="429" r:id="rId10"/>
    <p:sldId id="430" r:id="rId11"/>
    <p:sldId id="445" r:id="rId12"/>
    <p:sldId id="446" r:id="rId13"/>
    <p:sldId id="447" r:id="rId14"/>
    <p:sldId id="448" r:id="rId15"/>
    <p:sldId id="449" r:id="rId16"/>
    <p:sldId id="450" r:id="rId17"/>
    <p:sldId id="451" r:id="rId18"/>
    <p:sldId id="452" r:id="rId19"/>
    <p:sldId id="431" r:id="rId20"/>
    <p:sldId id="432" r:id="rId21"/>
    <p:sldId id="433" r:id="rId22"/>
    <p:sldId id="435" r:id="rId23"/>
    <p:sldId id="434" r:id="rId24"/>
    <p:sldId id="436" r:id="rId25"/>
    <p:sldId id="437" r:id="rId26"/>
    <p:sldId id="453" r:id="rId27"/>
    <p:sldId id="454" r:id="rId28"/>
    <p:sldId id="455" r:id="rId29"/>
    <p:sldId id="438" r:id="rId30"/>
    <p:sldId id="439" r:id="rId31"/>
    <p:sldId id="440" r:id="rId32"/>
    <p:sldId id="327" r:id="rId33"/>
    <p:sldId id="277" r:id="rId34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B4E915"/>
    <a:srgbClr val="4F81BD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>
      <p:cViewPr varScale="1">
        <p:scale>
          <a:sx n="197" d="100"/>
          <a:sy n="197" d="100"/>
        </p:scale>
        <p:origin x="690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209" d="100"/>
          <a:sy n="209" d="100"/>
        </p:scale>
        <p:origin x="1548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CC549-C811-42A3-8FC6-68EFE77B0B5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C1C1D-08B1-4652-A7D0-87014F6F73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11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4C1C1D-08B1-4652-A7D0-87014F6F739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808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F6232-28EE-440E-A8DA-8388027DAD9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248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1" y="4283051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3" y="3694919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40" y="4159928"/>
            <a:ext cx="30080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2558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docker.com/engine/install/ubuntu/#install-using-the-repositor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docker.com/reference/dockerfil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1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30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174211" y="2824093"/>
            <a:ext cx="7560000" cy="73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Контейнеризация</a:t>
            </a:r>
            <a:r>
              <a:rPr lang="en-US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ML-</a:t>
            </a: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моделей с </a:t>
            </a:r>
            <a:r>
              <a:rPr lang="en-US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Docker</a:t>
            </a: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038350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6689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</a:t>
            </a:r>
            <a:r>
              <a:rPr b="1" spc="-2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 spc="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8283240" cy="800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Docker</a:t>
            </a: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 для контейнеризации и развертывания моделей в </a:t>
            </a: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продакшене</a:t>
            </a:r>
            <a:endParaRPr lang="ru-RU" sz="1800" spc="16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Docker </a:t>
            </a: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для контейнеризации</a:t>
            </a:r>
            <a:endParaRPr lang="en-US" sz="3200" b="1" spc="160" dirty="0">
              <a:solidFill>
                <a:srgbClr val="18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Docker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1393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инструмент, который помогает упаковывать приложения и их зависимости в отдельные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контейнеры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делая их легкими для переноса и запуска на любой системе.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Picture 2" descr="Что такое Docker? | AWS">
            <a:extLst>
              <a:ext uri="{FF2B5EF4-FFF2-40B4-BE49-F238E27FC236}">
                <a16:creationId xmlns:a16="http://schemas.microsoft.com/office/drawing/2014/main" id="{C09A7788-B249-45E4-832F-34F35E083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160367"/>
            <a:ext cx="4029075" cy="189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66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55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это тип виртуализации, который выводит виртуализацию на уровень операционной системы.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Контейнерезация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Что такое контейнеризация | Xelent">
            <a:extLst>
              <a:ext uri="{FF2B5EF4-FFF2-40B4-BE49-F238E27FC236}">
                <a16:creationId xmlns:a16="http://schemas.microsoft.com/office/drawing/2014/main" id="{5CC73D35-8CDE-417D-8D40-A17F88582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7E0FF"/>
              </a:clrFrom>
              <a:clrTo>
                <a:srgbClr val="C7E0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853" y="1892300"/>
            <a:ext cx="48768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077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Различия с виртуализацией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6E2F8E6-9D28-4933-A1C6-5AF6F7F48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663" y="971550"/>
            <a:ext cx="5750674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51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33860" y="223233"/>
            <a:ext cx="4833940" cy="3500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Недостатки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Снижение производительности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Управление данными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Сложность сетевой конфигурации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Безопасность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Зависимость от </a:t>
            </a:r>
            <a:r>
              <a:rPr lang="ru-R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Docker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Hub</a:t>
            </a:r>
            <a:endParaRPr lang="ru-RU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ru-RU" sz="1800" b="1" dirty="0">
              <a:latin typeface="Tahoma"/>
              <a:cs typeface="Tahoma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ED2DE0F0-A307-479B-9215-83C7A415F104}"/>
              </a:ext>
            </a:extLst>
          </p:cNvPr>
          <p:cNvSpPr txBox="1"/>
          <p:nvPr/>
        </p:nvSpPr>
        <p:spPr>
          <a:xfrm>
            <a:off x="228600" y="223233"/>
            <a:ext cx="3429000" cy="4817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Преимущества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Docker</a:t>
            </a:r>
            <a:r>
              <a:rPr lang="ru-RU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решает проблемы зависимостей и рабочего окружения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Изоляция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Ускорение и автоматизация развертывания приложений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Контейнеры приближают к </a:t>
            </a:r>
            <a:r>
              <a:rPr lang="ru-RU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микросервисной</a:t>
            </a:r>
            <a:r>
              <a:rPr lang="ru-RU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архитектуре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Масштабируемость</a:t>
            </a: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ru-RU" sz="18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4352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Docker-</a:t>
            </a: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объекты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F54A90E-CE3A-4DD3-8D6D-85BA64789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71550"/>
            <a:ext cx="6781800" cy="358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00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423504" y="1371121"/>
            <a:ext cx="7989570" cy="3369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Для установки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 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переходим на сайт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docker.com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и следуем инструкциям.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Но если, нет времени разбираться в разделах и искать самый оптимальный способ, то можно перейти по 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  <a:hlinkClick r:id="rId2"/>
              </a:rPr>
              <a:t>ссылке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 ввести команды: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P.S. 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Ссылка актуальна для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OS –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linux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 дистрибутивом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Ubuntu.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C2DC1D-10E8-4553-A056-E581E13F0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85" y="2419350"/>
            <a:ext cx="858322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11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 с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 descr="Загруженное изображение">
            <a:extLst>
              <a:ext uri="{FF2B5EF4-FFF2-40B4-BE49-F238E27FC236}">
                <a16:creationId xmlns:a16="http://schemas.microsoft.com/office/drawing/2014/main" id="{865FE92A-D12A-4DB5-92B9-8EC5F3707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29" y="1352550"/>
            <a:ext cx="8100942" cy="279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484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Создание </a:t>
            </a:r>
            <a:r>
              <a:rPr lang="en-US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Dockerfile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328250" y="1352550"/>
            <a:ext cx="7989570" cy="1734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Список всех команд с примерами содержится в </a:t>
            </a:r>
            <a:r>
              <a:rPr lang="ru-RU" sz="1600" dirty="0">
                <a:latin typeface="Verdana"/>
                <a:cs typeface="Verdana"/>
                <a:hlinkClick r:id="rId2"/>
              </a:rPr>
              <a:t>документации</a:t>
            </a:r>
            <a:r>
              <a:rPr lang="ru-RU" sz="1600" dirty="0">
                <a:latin typeface="Verdana"/>
                <a:cs typeface="Verdana"/>
              </a:rPr>
              <a:t> к </a:t>
            </a:r>
            <a:r>
              <a:rPr lang="en-US" sz="1600" dirty="0">
                <a:latin typeface="Verdana"/>
                <a:cs typeface="Verdana"/>
              </a:rPr>
              <a:t>docker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Пример -</a:t>
            </a:r>
            <a:r>
              <a:rPr lang="en-US" sz="1600" dirty="0">
                <a:latin typeface="Verdana"/>
                <a:cs typeface="Verdana"/>
              </a:rPr>
              <a:t>&gt;</a:t>
            </a:r>
            <a:endParaRPr lang="ru-RU" sz="1600" dirty="0">
              <a:latin typeface="Verdana"/>
              <a:cs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464299-D207-4572-B53F-F894DC0D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885950"/>
            <a:ext cx="3555928" cy="315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6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(docker build)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363550"/>
              </p:ext>
            </p:extLst>
          </p:nvPr>
        </p:nvGraphicFramePr>
        <p:xfrm>
          <a:off x="1219200" y="1687117"/>
          <a:ext cx="6096000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&lt;context&gt;</a:t>
                      </a:r>
                      <a:endParaRPr lang="ru-RU" sz="1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путь до базовой папки (чаще всего используется </a:t>
                      </a:r>
                      <a:r>
                        <a:rPr lang="ru-RU" sz="14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4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</a:t>
                      </a:r>
                      <a:r>
                        <a:rPr lang="ru-RU" sz="1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.</a:t>
                      </a:r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-f </a:t>
                      </a:r>
                      <a:r>
                        <a:rPr lang="en-US" sz="14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Dockerfile.debug</a:t>
                      </a:r>
                      <a:endParaRPr lang="ru-RU" sz="1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Параметр </a:t>
                      </a:r>
                      <a:r>
                        <a:rPr lang="ru-RU" sz="1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-f</a:t>
                      </a:r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указывает путь к файлу </a:t>
                      </a:r>
                      <a:r>
                        <a:rPr lang="ru-RU" sz="14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Dockerfile</a:t>
                      </a:r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содержащему инструкции для сборки контейнера.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-t &lt;</a:t>
                      </a:r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имя&gt;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4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-t</a:t>
                      </a:r>
                      <a:r>
                        <a:rPr lang="ru-RU" sz="1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используется для установки тега (имени) для собранного контейнера, чтобы можно было легко идентифицировать его в дальнейшем.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18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328250" y="1123950"/>
            <a:ext cx="8739550" cy="56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400" b="1" dirty="0">
                <a:latin typeface="Verdana"/>
                <a:cs typeface="Verdana"/>
              </a:rPr>
              <a:t>docker build &lt;context&gt;</a:t>
            </a:r>
            <a:r>
              <a:rPr lang="ru-RU" sz="1400" dirty="0">
                <a:latin typeface="Verdana"/>
                <a:cs typeface="Verdana"/>
              </a:rPr>
              <a:t>. Этот командный шаблон используется для сборки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-контейнера в соответствии с инструкциями, указанными в файле </a:t>
            </a:r>
            <a:r>
              <a:rPr lang="ru-RU" sz="1400" dirty="0" err="1">
                <a:latin typeface="Verdana"/>
                <a:cs typeface="Verdana"/>
              </a:rPr>
              <a:t>Dockerfile</a:t>
            </a:r>
            <a:r>
              <a:rPr lang="ru-RU" sz="1400" dirty="0">
                <a:latin typeface="Verdana"/>
                <a:cs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63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(docker run)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562579"/>
              </p:ext>
            </p:extLst>
          </p:nvPr>
        </p:nvGraphicFramePr>
        <p:xfrm>
          <a:off x="1219200" y="1657350"/>
          <a:ext cx="60960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--rm 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автоматически удаляет контейнер после его остановки, что полезно для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избежания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накопления неиспользуемых контейнеров.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-it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используется для запуска контейнера в интерактивном режиме, обеспечивая доступ к его стандартному вводу/выводу.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-p 8080:80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Этот флаг пробрасывает порт контейнера на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хостовую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машину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18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31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run</a:t>
            </a:r>
            <a:r>
              <a:rPr lang="en-US" sz="1400" b="1" dirty="0">
                <a:latin typeface="Verdana"/>
                <a:cs typeface="Verdana"/>
              </a:rPr>
              <a:t>.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Данная команда запускает собранный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-контейнер</a:t>
            </a:r>
          </a:p>
        </p:txBody>
      </p:sp>
    </p:spTree>
    <p:extLst>
      <p:ext uri="{BB962C8B-B14F-4D97-AF65-F5344CB8AC3E}">
        <p14:creationId xmlns:p14="http://schemas.microsoft.com/office/powerpoint/2010/main" val="109556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(docker run)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35028"/>
              </p:ext>
            </p:extLst>
          </p:nvPr>
        </p:nvGraphicFramePr>
        <p:xfrm>
          <a:off x="1219200" y="1657350"/>
          <a:ext cx="60960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-v ./data/:/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workdir</a:t>
                      </a:r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/data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флаг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-v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используется для создания привязки тома, позволяя контейнеру доступ к файлам на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хостовой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машине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--name &lt;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название&gt;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name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позволяет задать пользовательское имя контейнера для удобства идентификации его в дальнейшем.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--net &lt;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тип&gt;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net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позволяет настраивать сетевое окружение контейнера. Значение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&lt;тип&gt;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определяет тип сети, в которой будет работать контейнер.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18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31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run</a:t>
            </a:r>
            <a:r>
              <a:rPr lang="en-US" sz="1400" b="1" dirty="0">
                <a:latin typeface="Verdana"/>
                <a:cs typeface="Verdana"/>
              </a:rPr>
              <a:t>.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Данная команда запускает собранный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-контейнер</a:t>
            </a:r>
          </a:p>
        </p:txBody>
      </p:sp>
    </p:spTree>
    <p:extLst>
      <p:ext uri="{BB962C8B-B14F-4D97-AF65-F5344CB8AC3E}">
        <p14:creationId xmlns:p14="http://schemas.microsoft.com/office/powerpoint/2010/main" val="1705715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(docker run)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873772"/>
              </p:ext>
            </p:extLst>
          </p:nvPr>
        </p:nvGraphicFramePr>
        <p:xfrm>
          <a:off x="1219200" y="1657350"/>
          <a:ext cx="60960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-e &lt;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переменная=значение&gt;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-e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позволяет передавать переменные среды в контейнер во время его выполнения.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-d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запуск в тихом режиме, без отображения событий внутри работающего контейнера.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-m 4GB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установка ограничения используемой контейнером памяти.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18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31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run</a:t>
            </a:r>
            <a:r>
              <a:rPr lang="en-US" sz="1400" b="1" dirty="0">
                <a:latin typeface="Verdana"/>
                <a:cs typeface="Verdana"/>
              </a:rPr>
              <a:t>.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Данная команда запускает собранный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-контейнер</a:t>
            </a:r>
          </a:p>
        </p:txBody>
      </p:sp>
    </p:spTree>
    <p:extLst>
      <p:ext uri="{BB962C8B-B14F-4D97-AF65-F5344CB8AC3E}">
        <p14:creationId xmlns:p14="http://schemas.microsoft.com/office/powerpoint/2010/main" val="3301907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(docker </a:t>
            </a:r>
            <a:r>
              <a:rPr lang="en-US" b="1" spc="9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614170"/>
              </p:ext>
            </p:extLst>
          </p:nvPr>
        </p:nvGraphicFramePr>
        <p:xfrm>
          <a:off x="1219200" y="1657350"/>
          <a:ext cx="60960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-a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-a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показывает все контейнеры, включая остановленные.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-q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показывает только идентификаторы контейнеров. Полезно для комбинаций команд, например команда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stop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$(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ps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-q)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останавливает все запущенные контейнеры.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31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ps</a:t>
            </a:r>
            <a:r>
              <a:rPr lang="ru-RU" sz="1400" b="1" dirty="0">
                <a:latin typeface="Verdana"/>
                <a:cs typeface="Verdana"/>
              </a:rPr>
              <a:t>. </a:t>
            </a:r>
            <a:r>
              <a:rPr lang="ru-RU" sz="1400" dirty="0">
                <a:latin typeface="Verdana"/>
                <a:cs typeface="Verdana"/>
              </a:rPr>
              <a:t>Эта команда отображает список запущенных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-контейнеров.</a:t>
            </a:r>
          </a:p>
        </p:txBody>
      </p:sp>
    </p:spTree>
    <p:extLst>
      <p:ext uri="{BB962C8B-B14F-4D97-AF65-F5344CB8AC3E}">
        <p14:creationId xmlns:p14="http://schemas.microsoft.com/office/powerpoint/2010/main" val="1848653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(docker logs)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510790"/>
              </p:ext>
            </p:extLst>
          </p:nvPr>
        </p:nvGraphicFramePr>
        <p:xfrm>
          <a:off x="1219200" y="1657350"/>
          <a:ext cx="6096000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-f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-f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позволяет отслеживать живую потоковую передачу журналов, т.е. вывод в реальном времени.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-n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&lt;число&gt;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Опция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-n 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позволяет указать количество последних строк журнала для отображения.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56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logs</a:t>
            </a:r>
            <a:r>
              <a:rPr lang="ru-RU" sz="1400" b="1" dirty="0">
                <a:latin typeface="Verdana"/>
                <a:cs typeface="Verdana"/>
              </a:rPr>
              <a:t> &lt;</a:t>
            </a:r>
            <a:r>
              <a:rPr lang="ru-RU" sz="1400" b="1" dirty="0" err="1">
                <a:latin typeface="Verdana"/>
                <a:cs typeface="Verdana"/>
              </a:rPr>
              <a:t>идентификатор_контейнера|имя_контейнера</a:t>
            </a:r>
            <a:r>
              <a:rPr lang="ru-RU" sz="1400" b="1" dirty="0">
                <a:latin typeface="Verdana"/>
                <a:cs typeface="Verdana"/>
              </a:rPr>
              <a:t>&gt;. </a:t>
            </a:r>
            <a:r>
              <a:rPr lang="ru-RU" sz="1400" dirty="0">
                <a:latin typeface="Verdana"/>
                <a:cs typeface="Verdana"/>
              </a:rPr>
              <a:t>Команда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 </a:t>
            </a:r>
            <a:r>
              <a:rPr lang="ru-RU" sz="1400" dirty="0" err="1">
                <a:latin typeface="Verdana"/>
                <a:cs typeface="Verdana"/>
              </a:rPr>
              <a:t>logs</a:t>
            </a:r>
            <a:r>
              <a:rPr lang="ru-RU" sz="1400" dirty="0">
                <a:latin typeface="Verdana"/>
                <a:cs typeface="Verdana"/>
              </a:rPr>
              <a:t> используется для просмотра журналов вывода контейнера.</a:t>
            </a:r>
          </a:p>
        </p:txBody>
      </p:sp>
    </p:spTree>
    <p:extLst>
      <p:ext uri="{BB962C8B-B14F-4D97-AF65-F5344CB8AC3E}">
        <p14:creationId xmlns:p14="http://schemas.microsoft.com/office/powerpoint/2010/main" val="3650427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D3E0AE3-3210-499D-B0CD-4BC1323B6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768982"/>
              </p:ext>
            </p:extLst>
          </p:nvPr>
        </p:nvGraphicFramePr>
        <p:xfrm>
          <a:off x="228600" y="971550"/>
          <a:ext cx="8686800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stop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&lt;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идентификатор_контейнера|имя_контейнера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 используется для остановки запущенного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-контейнера.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rm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&lt;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идентификатор_контейнера|имя_контейнера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удаляет указанный контейнер.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exec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-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&lt;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идентификатор_контейнера|имя_контейнера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используется для выполнения команд внутри работающего контейнера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&lt;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идентификатор_контейнера|имя_контейнера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предоставляет подробную информацию о контейнере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включая его настройки и параметры.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3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stats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[ &lt;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идентификатор_контейнера|имя_контейнера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 | --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all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позволяет в режиме реального времени мониторить ресурсы потребляемые одним контейнером, или всеми контейнерами при использовании флага --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all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31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 &lt;object&gt; prune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очистка неиспользуемых объектов. Вместо &lt;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object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 может находиться: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container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image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volume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а в случае если нужно сразу очистить всё неиспользуемое -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system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22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051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Volumes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4" name="Picture 2" descr="What is Docker Volume - Javatpoint">
            <a:extLst>
              <a:ext uri="{FF2B5EF4-FFF2-40B4-BE49-F238E27FC236}">
                <a16:creationId xmlns:a16="http://schemas.microsoft.com/office/drawing/2014/main" id="{C8B67DA7-0612-4234-9F41-3634C1718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200150"/>
            <a:ext cx="571500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950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 с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volumes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304800" y="819150"/>
            <a:ext cx="7989570" cy="419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volumes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— это способ управления данными между хостом и контейнером, а также между самими контейнерами. Они помогают сохранять данные, обеспечивая их долговечность вне зависимости от жизненного цикла контейнера, а также позволяют контейнерам обмениваться файлами.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 run -v &lt;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volume_name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&gt;:&lt;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path_inside_container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&gt;: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rw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...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Bind-mount: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docker run -v /path/to/local/file:&lt;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path_inside_container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&gt;: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rw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...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Доступы к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volume: 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Tx/>
              <a:buChar char="-"/>
              <a:tabLst>
                <a:tab pos="393065" algn="l"/>
                <a:tab pos="393700" algn="l"/>
              </a:tabLst>
            </a:pPr>
            <a:r>
              <a:rPr lang="en-US" sz="1600" b="1" dirty="0" err="1">
                <a:latin typeface="Verdana"/>
                <a:cs typeface="Verdana"/>
              </a:rPr>
              <a:t>rw</a:t>
            </a:r>
            <a:r>
              <a:rPr lang="en-US" sz="1600" dirty="0">
                <a:latin typeface="Verdana"/>
                <a:cs typeface="Verdana"/>
              </a:rPr>
              <a:t>: </a:t>
            </a:r>
            <a:r>
              <a:rPr lang="ru-RU" sz="1600" dirty="0">
                <a:latin typeface="Verdana"/>
                <a:cs typeface="Verdana"/>
              </a:rPr>
              <a:t>доступ на чтение и запись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Tx/>
              <a:buChar char="-"/>
              <a:tabLst>
                <a:tab pos="393065" algn="l"/>
                <a:tab pos="393700" algn="l"/>
              </a:tabLst>
            </a:pPr>
            <a:r>
              <a:rPr lang="en-US" sz="1600" b="1" dirty="0" err="1">
                <a:latin typeface="Verdana"/>
                <a:cs typeface="Verdana"/>
              </a:rPr>
              <a:t>ro</a:t>
            </a:r>
            <a:r>
              <a:rPr lang="en-US" sz="1600" dirty="0">
                <a:latin typeface="Verdana"/>
                <a:cs typeface="Verdana"/>
              </a:rPr>
              <a:t>: </a:t>
            </a:r>
            <a:r>
              <a:rPr lang="ru-RU" sz="1600" dirty="0">
                <a:latin typeface="Verdana"/>
                <a:cs typeface="Verdana"/>
              </a:rPr>
              <a:t>только чтение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Просмотр существующих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volume: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- docker volume ls</a:t>
            </a:r>
            <a:endParaRPr lang="ru-RU" sz="16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85199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различия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volume | bind-mount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423504" y="1371121"/>
            <a:ext cx="7989570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Управление и создание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Гибкость и интеграция с хостом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Безопасность и изоляция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Переносимость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2999865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6477000" cy="25135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Взаимодействие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между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docker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containers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218" name="Picture 2" descr="Изображение от Mike Wheatley">
            <a:extLst>
              <a:ext uri="{FF2B5EF4-FFF2-40B4-BE49-F238E27FC236}">
                <a16:creationId xmlns:a16="http://schemas.microsoft.com/office/drawing/2014/main" id="{67A68B96-2369-409F-B5D7-C38A7C70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28750"/>
            <a:ext cx="6629400" cy="358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087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457200" y="1253953"/>
            <a:ext cx="7989570" cy="2635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Bridge Network (</a:t>
            </a:r>
            <a:r>
              <a:rPr lang="ru-RU" sz="1600" dirty="0">
                <a:latin typeface="Verdana"/>
                <a:cs typeface="Verdana"/>
              </a:rPr>
              <a:t>Мост)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Host Network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Container Network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61C8399-3E92-4B2C-9469-E3961BFA5FAE}"/>
              </a:ext>
            </a:extLst>
          </p:cNvPr>
          <p:cNvSpPr/>
          <p:nvPr/>
        </p:nvSpPr>
        <p:spPr>
          <a:xfrm>
            <a:off x="457200" y="1634953"/>
            <a:ext cx="6248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docker network create </a:t>
            </a:r>
            <a:r>
              <a:rPr lang="en-US" dirty="0" err="1"/>
              <a:t>my_network</a:t>
            </a:r>
            <a:endParaRPr lang="en-US" dirty="0"/>
          </a:p>
          <a:p>
            <a:r>
              <a:rPr lang="en-US" dirty="0"/>
              <a:t>docker run --network </a:t>
            </a:r>
            <a:r>
              <a:rPr lang="en-US" dirty="0" err="1"/>
              <a:t>my_network</a:t>
            </a:r>
            <a:r>
              <a:rPr lang="en-US" dirty="0"/>
              <a:t> --name container1 </a:t>
            </a:r>
            <a:r>
              <a:rPr lang="en-US" dirty="0" err="1"/>
              <a:t>my_image</a:t>
            </a:r>
            <a:endParaRPr lang="en-US" dirty="0"/>
          </a:p>
          <a:p>
            <a:r>
              <a:rPr lang="en-US" dirty="0"/>
              <a:t>docker run --network </a:t>
            </a:r>
            <a:r>
              <a:rPr lang="en-US" dirty="0" err="1"/>
              <a:t>my_network</a:t>
            </a:r>
            <a:r>
              <a:rPr lang="en-US" dirty="0"/>
              <a:t> --name container2 </a:t>
            </a:r>
            <a:r>
              <a:rPr lang="en-US" dirty="0" err="1"/>
              <a:t>my_image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6F3579F-AB30-423E-B6CF-3933FD87BAB0}"/>
              </a:ext>
            </a:extLst>
          </p:cNvPr>
          <p:cNvSpPr/>
          <p:nvPr/>
        </p:nvSpPr>
        <p:spPr>
          <a:xfrm>
            <a:off x="457200" y="3082753"/>
            <a:ext cx="6248400" cy="2998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docker run --network host </a:t>
            </a:r>
            <a:r>
              <a:rPr lang="en-US" dirty="0" err="1"/>
              <a:t>my_image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8E25665-2102-48E0-9B9F-375EEEF1FE0A}"/>
              </a:ext>
            </a:extLst>
          </p:cNvPr>
          <p:cNvSpPr/>
          <p:nvPr/>
        </p:nvSpPr>
        <p:spPr>
          <a:xfrm>
            <a:off x="457200" y="3970688"/>
            <a:ext cx="6248400" cy="2998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docker run --network </a:t>
            </a:r>
            <a:r>
              <a:rPr lang="en-US" dirty="0" err="1"/>
              <a:t>container:container_name</a:t>
            </a:r>
            <a:r>
              <a:rPr lang="en-US" dirty="0"/>
              <a:t> </a:t>
            </a:r>
            <a:r>
              <a:rPr lang="en-US" dirty="0" err="1"/>
              <a:t>my_image</a:t>
            </a:r>
            <a:endParaRPr lang="ru-RU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D4641406-1B1E-403D-A46F-F15241F47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29475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Сеть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Networking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9752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457200" y="1253953"/>
            <a:ext cx="7989570" cy="172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Контейнеры могут делиться данными с помощью </a:t>
            </a:r>
            <a:r>
              <a:rPr lang="ru-RU" sz="1600" dirty="0" err="1">
                <a:latin typeface="Verdana"/>
                <a:cs typeface="Verdana"/>
              </a:rPr>
              <a:t>volume</a:t>
            </a:r>
            <a:r>
              <a:rPr lang="ru-RU" sz="1600" dirty="0">
                <a:latin typeface="Verdana"/>
                <a:cs typeface="Verdana"/>
              </a:rPr>
              <a:t>. </a:t>
            </a:r>
            <a:r>
              <a:rPr lang="ru-RU" sz="1600" dirty="0" err="1">
                <a:latin typeface="Verdana"/>
                <a:cs typeface="Verdana"/>
              </a:rPr>
              <a:t>Volume</a:t>
            </a:r>
            <a:r>
              <a:rPr lang="ru-RU" sz="1600" dirty="0">
                <a:latin typeface="Verdana"/>
                <a:cs typeface="Verdana"/>
              </a:rPr>
              <a:t> позволяет одному контейнеру сохранить файлы, которые затем могут использоваться другим контейнером.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61C8399-3E92-4B2C-9469-E3961BFA5FAE}"/>
              </a:ext>
            </a:extLst>
          </p:cNvPr>
          <p:cNvSpPr/>
          <p:nvPr/>
        </p:nvSpPr>
        <p:spPr>
          <a:xfrm>
            <a:off x="421341" y="2266950"/>
            <a:ext cx="6629400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docker run -v </a:t>
            </a:r>
            <a:r>
              <a:rPr lang="en-US" dirty="0" err="1"/>
              <a:t>shared_volume</a:t>
            </a:r>
            <a:r>
              <a:rPr lang="en-US" dirty="0"/>
              <a:t>:/data --name container1 </a:t>
            </a:r>
            <a:r>
              <a:rPr lang="en-US" dirty="0" err="1"/>
              <a:t>my_image</a:t>
            </a:r>
            <a:endParaRPr lang="en-US" dirty="0"/>
          </a:p>
          <a:p>
            <a:r>
              <a:rPr lang="en-US" dirty="0"/>
              <a:t>docker run -v </a:t>
            </a:r>
            <a:r>
              <a:rPr lang="en-US" dirty="0" err="1"/>
              <a:t>shared_volume</a:t>
            </a:r>
            <a:r>
              <a:rPr lang="en-US" dirty="0"/>
              <a:t>:/data --name container2 </a:t>
            </a:r>
            <a:r>
              <a:rPr lang="en-US" dirty="0" err="1"/>
              <a:t>my_image</a:t>
            </a:r>
            <a:endParaRPr lang="ru-RU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D4641406-1B1E-403D-A46F-F15241F47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29475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Volume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052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0DDD369-84E6-4462-8B66-99C02623C7DB}"/>
              </a:ext>
            </a:extLst>
          </p:cNvPr>
          <p:cNvSpPr txBox="1"/>
          <p:nvPr/>
        </p:nvSpPr>
        <p:spPr>
          <a:xfrm>
            <a:off x="457200" y="1253953"/>
            <a:ext cx="7989570" cy="172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Когда требуется запускать несколько связанных контейнеров одновременно (например, сервис с базой данных), используется </a:t>
            </a:r>
            <a:r>
              <a:rPr lang="ru-RU" sz="1600" dirty="0" err="1">
                <a:latin typeface="Verdana"/>
                <a:cs typeface="Verdana"/>
              </a:rPr>
              <a:t>Docker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dirty="0" err="1">
                <a:latin typeface="Verdana"/>
                <a:cs typeface="Verdana"/>
              </a:rPr>
              <a:t>Compose</a:t>
            </a:r>
            <a:r>
              <a:rPr lang="ru-RU" sz="1600" dirty="0">
                <a:latin typeface="Verdana"/>
                <a:cs typeface="Verdana"/>
              </a:rPr>
              <a:t>. С помощью единого файла </a:t>
            </a:r>
            <a:r>
              <a:rPr lang="ru-RU" sz="1600" dirty="0" err="1">
                <a:latin typeface="Verdana"/>
                <a:cs typeface="Verdana"/>
              </a:rPr>
              <a:t>docker-compose.yml</a:t>
            </a:r>
            <a:r>
              <a:rPr lang="ru-RU" sz="1600" dirty="0">
                <a:latin typeface="Verdana"/>
                <a:cs typeface="Verdana"/>
              </a:rPr>
              <a:t> можно описать все сервисы и их взаимодействие.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D4641406-1B1E-403D-A46F-F15241F47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29475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Compose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F218E04-1981-4A5A-80FE-A3F5EC560B20}"/>
              </a:ext>
            </a:extLst>
          </p:cNvPr>
          <p:cNvSpPr/>
          <p:nvPr/>
        </p:nvSpPr>
        <p:spPr>
          <a:xfrm>
            <a:off x="672577" y="2343150"/>
            <a:ext cx="2209800" cy="2800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467B65-04D9-4D0A-8C27-3035CCC1E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1750"/>
            <a:ext cx="2005588" cy="2376666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05F9174-CEEC-4379-B10F-76CDB36AB3E2}"/>
              </a:ext>
            </a:extLst>
          </p:cNvPr>
          <p:cNvSpPr/>
          <p:nvPr/>
        </p:nvSpPr>
        <p:spPr>
          <a:xfrm>
            <a:off x="4876800" y="3488581"/>
            <a:ext cx="2209800" cy="2715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docker-compose up</a:t>
            </a:r>
            <a:endParaRPr lang="ru-RU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ECCAD58A-DC71-4862-A8A3-507426EB533F}"/>
              </a:ext>
            </a:extLst>
          </p:cNvPr>
          <p:cNvSpPr txBox="1"/>
          <p:nvPr/>
        </p:nvSpPr>
        <p:spPr>
          <a:xfrm>
            <a:off x="3874770" y="3012942"/>
            <a:ext cx="4572000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Команда для запуска всех сервисов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16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744270"/>
              </p:ext>
            </p:extLst>
          </p:nvPr>
        </p:nvGraphicFramePr>
        <p:xfrm>
          <a:off x="1219200" y="2005300"/>
          <a:ext cx="6096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-d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позволяет запустить сервисы в фоновом режиме, без вывода логов в терминал.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--build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используется для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пересборки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образов перед запуском контейнеров.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56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docker-compose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up</a:t>
            </a:r>
            <a:r>
              <a:rPr lang="ru-RU" sz="1400" b="1" dirty="0">
                <a:latin typeface="Verdana"/>
                <a:cs typeface="Verdana"/>
              </a:rPr>
              <a:t>. </a:t>
            </a:r>
            <a:r>
              <a:rPr lang="ru-RU" sz="1400" dirty="0">
                <a:latin typeface="Verdana"/>
                <a:cs typeface="Verdana"/>
              </a:rPr>
              <a:t>Эта команда используется для запуска сервисов, описанных в файле </a:t>
            </a:r>
            <a:r>
              <a:rPr lang="ru-RU" sz="1400" dirty="0" err="1">
                <a:latin typeface="Verdana"/>
                <a:cs typeface="Verdana"/>
              </a:rPr>
              <a:t>docker-compose.yml</a:t>
            </a:r>
            <a:r>
              <a:rPr lang="ru-RU" sz="1400" dirty="0">
                <a:latin typeface="Verdana"/>
                <a:cs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5652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8795FC37-D0BB-48A0-9D74-8F2BDA26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64215"/>
              </p:ext>
            </p:extLst>
          </p:nvPr>
        </p:nvGraphicFramePr>
        <p:xfrm>
          <a:off x="1219200" y="1581150"/>
          <a:ext cx="609600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--volumes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удаляет также и тома данных, связанные с контейнерами.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AD450E-17DC-4034-B1D0-B0EA78D4DAE0}"/>
              </a:ext>
            </a:extLst>
          </p:cNvPr>
          <p:cNvSpPr txBox="1"/>
          <p:nvPr/>
        </p:nvSpPr>
        <p:spPr>
          <a:xfrm>
            <a:off x="228600" y="924034"/>
            <a:ext cx="8739550" cy="56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docker-compose</a:t>
            </a:r>
            <a:r>
              <a:rPr lang="ru-RU" sz="1400" b="1" dirty="0">
                <a:latin typeface="Verdana"/>
                <a:cs typeface="Verdana"/>
              </a:rPr>
              <a:t> </a:t>
            </a:r>
            <a:r>
              <a:rPr lang="ru-RU" sz="1400" b="1" dirty="0" err="1">
                <a:latin typeface="Verdana"/>
                <a:cs typeface="Verdana"/>
              </a:rPr>
              <a:t>down</a:t>
            </a:r>
            <a:r>
              <a:rPr lang="en-US" sz="1400" b="1" dirty="0">
                <a:latin typeface="Verdana"/>
                <a:cs typeface="Verdana"/>
              </a:rPr>
              <a:t>. </a:t>
            </a:r>
            <a:r>
              <a:rPr lang="ru-RU" sz="1400" dirty="0">
                <a:latin typeface="Verdana"/>
                <a:cs typeface="Verdana"/>
              </a:rPr>
              <a:t>Данная команда останавливает и удаляет все контейнеры, созданные с помощью </a:t>
            </a:r>
            <a:r>
              <a:rPr lang="ru-RU" sz="1400" dirty="0" err="1">
                <a:latin typeface="Verdana"/>
                <a:cs typeface="Verdana"/>
              </a:rPr>
              <a:t>docker-compose</a:t>
            </a:r>
            <a:r>
              <a:rPr lang="ru-RU" sz="1400" dirty="0">
                <a:latin typeface="Verdana"/>
                <a:cs typeface="Verdana"/>
              </a:rPr>
              <a:t> </a:t>
            </a:r>
            <a:r>
              <a:rPr lang="ru-RU" sz="1400" dirty="0" err="1">
                <a:latin typeface="Verdana"/>
                <a:cs typeface="Verdana"/>
              </a:rPr>
              <a:t>up</a:t>
            </a:r>
            <a:r>
              <a:rPr lang="ru-RU" sz="1400" dirty="0">
                <a:latin typeface="Verdana"/>
                <a:cs typeface="Verdan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D6B59-3A26-49B9-A687-53F0B6406002}"/>
              </a:ext>
            </a:extLst>
          </p:cNvPr>
          <p:cNvSpPr txBox="1"/>
          <p:nvPr/>
        </p:nvSpPr>
        <p:spPr>
          <a:xfrm>
            <a:off x="202225" y="2571750"/>
            <a:ext cx="8739550" cy="56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400" b="1" dirty="0">
                <a:latin typeface="Verdana"/>
                <a:cs typeface="Verdana"/>
              </a:rPr>
              <a:t>docker-compose logs &lt;service&gt;</a:t>
            </a:r>
            <a:r>
              <a:rPr lang="ru-RU" sz="1400" b="1" dirty="0">
                <a:latin typeface="Verdana"/>
                <a:cs typeface="Verdana"/>
              </a:rPr>
              <a:t>.</a:t>
            </a:r>
            <a:r>
              <a:rPr lang="en-US" sz="1400" b="1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Команда </a:t>
            </a:r>
            <a:r>
              <a:rPr lang="en-US" sz="1400" dirty="0">
                <a:latin typeface="Verdana"/>
                <a:cs typeface="Verdana"/>
              </a:rPr>
              <a:t>docker-compose logs </a:t>
            </a:r>
            <a:r>
              <a:rPr lang="ru-RU" sz="1400" dirty="0">
                <a:latin typeface="Verdana"/>
                <a:cs typeface="Verdana"/>
              </a:rPr>
              <a:t>позволяет просматривать </a:t>
            </a:r>
            <a:r>
              <a:rPr lang="ru-RU" sz="1400" dirty="0" err="1">
                <a:latin typeface="Verdana"/>
                <a:cs typeface="Verdana"/>
              </a:rPr>
              <a:t>логи</a:t>
            </a:r>
            <a:r>
              <a:rPr lang="ru-RU" sz="1400" dirty="0">
                <a:latin typeface="Verdana"/>
                <a:cs typeface="Verdana"/>
              </a:rPr>
              <a:t> для определенного сервиса из вашего </a:t>
            </a:r>
            <a:r>
              <a:rPr lang="en-US" sz="1400" dirty="0">
                <a:latin typeface="Verdana"/>
                <a:cs typeface="Verdana"/>
              </a:rPr>
              <a:t>docker-</a:t>
            </a:r>
            <a:r>
              <a:rPr lang="en-US" sz="1400" dirty="0" err="1">
                <a:latin typeface="Verdana"/>
                <a:cs typeface="Verdana"/>
              </a:rPr>
              <a:t>compose.yml</a:t>
            </a:r>
            <a:r>
              <a:rPr lang="en-US" sz="1400" dirty="0">
                <a:latin typeface="Verdana"/>
                <a:cs typeface="Verdana"/>
              </a:rPr>
              <a:t>.</a:t>
            </a:r>
            <a:endParaRPr lang="ru-RU" sz="1400" dirty="0">
              <a:latin typeface="Verdana"/>
              <a:cs typeface="Verdana"/>
            </a:endParaRPr>
          </a:p>
        </p:txBody>
      </p:sp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F6E996C5-B7BA-4BFE-8C45-16E617AD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98133"/>
              </p:ext>
            </p:extLst>
          </p:nvPr>
        </p:nvGraphicFramePr>
        <p:xfrm>
          <a:off x="1220056" y="3376217"/>
          <a:ext cx="609600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--follow 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(или 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-f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 отображает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логи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в реальном времени.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386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команды 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r>
              <a:rPr lang="ru-RU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b="1" spc="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D3E0AE3-3210-499D-B0CD-4BC1323B6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12608"/>
              </p:ext>
            </p:extLst>
          </p:nvPr>
        </p:nvGraphicFramePr>
        <p:xfrm>
          <a:off x="228600" y="971550"/>
          <a:ext cx="86868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384516671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85831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Что делает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783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</a:t>
                      </a:r>
                      <a:r>
                        <a:rPr lang="en-US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ps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показывает статус всех сервисов, запущенных с помощью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8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exec &lt;service&gt; &lt;command&gt;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используется для выполнения команд внутри контейнера сервиса.</a:t>
                      </a:r>
                    </a:p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Пример: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exec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webserver</a:t>
                      </a:r>
                      <a:r>
                        <a:rPr lang="ru-RU" sz="12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ru-RU" sz="1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bash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запускает интерактивный терминал в контейнере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webserver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4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restart &lt;service&gt;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перезапускает указанный сервис.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stop &lt;service&gt;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останавливает указанный сервис без его удаления.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3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start &lt;service&gt;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запускает остановленный сервис.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31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build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используется для сборки образов, описанных в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docker-compose.yml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2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 config</a:t>
                      </a:r>
                      <a:endParaRPr lang="ru-RU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проверяет конфигурационный файл </a:t>
                      </a:r>
                      <a:r>
                        <a:rPr lang="ru-RU" sz="12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docker-compose.yml</a:t>
                      </a:r>
                      <a:r>
                        <a:rPr lang="ru-RU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и выводит его валидность, а также объединяет все файлы конфигурации в один.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4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405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0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делать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316" name="Picture 4" descr="What is Container Deployment? Definition &amp; Related FAQs | Avi Networks">
            <a:extLst>
              <a:ext uri="{FF2B5EF4-FFF2-40B4-BE49-F238E27FC236}">
                <a16:creationId xmlns:a16="http://schemas.microsoft.com/office/drawing/2014/main" id="{AEAE4955-34DE-4A26-98FA-4A91D9944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25624"/>
            <a:ext cx="7010400" cy="405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056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37DAE37-D47F-4574-BE6F-9043BC32A50C}"/>
              </a:ext>
            </a:extLst>
          </p:cNvPr>
          <p:cNvSpPr/>
          <p:nvPr/>
        </p:nvSpPr>
        <p:spPr>
          <a:xfrm>
            <a:off x="3352800" y="438150"/>
            <a:ext cx="2514600" cy="914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Локальное / на сервер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4574BFB-E33D-4E17-B6CF-58E058EAACEC}"/>
              </a:ext>
            </a:extLst>
          </p:cNvPr>
          <p:cNvSpPr/>
          <p:nvPr/>
        </p:nvSpPr>
        <p:spPr>
          <a:xfrm>
            <a:off x="1600200" y="2724150"/>
            <a:ext cx="6096000" cy="1447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docker build -t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my_app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docker run -d -p 80:80 --name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my_app_container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my_app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или 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docker run -d -p 80:80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my_app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A7F40AE6-98D2-4B0D-A979-5DECAAFB5132}"/>
              </a:ext>
            </a:extLst>
          </p:cNvPr>
          <p:cNvSpPr/>
          <p:nvPr/>
        </p:nvSpPr>
        <p:spPr>
          <a:xfrm>
            <a:off x="4419600" y="1504950"/>
            <a:ext cx="381000" cy="106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142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37DAE37-D47F-4574-BE6F-9043BC32A50C}"/>
              </a:ext>
            </a:extLst>
          </p:cNvPr>
          <p:cNvSpPr/>
          <p:nvPr/>
        </p:nvSpPr>
        <p:spPr>
          <a:xfrm>
            <a:off x="3352800" y="438150"/>
            <a:ext cx="2514600" cy="914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Непрерывное развертывание (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CI/CD)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4574BFB-E33D-4E17-B6CF-58E058EAACEC}"/>
              </a:ext>
            </a:extLst>
          </p:cNvPr>
          <p:cNvSpPr/>
          <p:nvPr/>
        </p:nvSpPr>
        <p:spPr>
          <a:xfrm>
            <a:off x="1295400" y="2724150"/>
            <a:ext cx="6858000" cy="24193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A7F40AE6-98D2-4B0D-A979-5DECAAFB5132}"/>
              </a:ext>
            </a:extLst>
          </p:cNvPr>
          <p:cNvSpPr/>
          <p:nvPr/>
        </p:nvSpPr>
        <p:spPr>
          <a:xfrm>
            <a:off x="4419600" y="1504950"/>
            <a:ext cx="381000" cy="106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094023-6F24-40B5-BBE2-9BFCA9CA4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701" y="2952750"/>
            <a:ext cx="6077798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91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2FF43ED-EAAF-4AB0-B326-7ED7BAFCB3D6}"/>
              </a:ext>
            </a:extLst>
          </p:cNvPr>
          <p:cNvSpPr txBox="1">
            <a:spLocks/>
          </p:cNvSpPr>
          <p:nvPr/>
        </p:nvSpPr>
        <p:spPr>
          <a:xfrm>
            <a:off x="838200" y="209550"/>
            <a:ext cx="30841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2800" kern="0" spc="70" dirty="0">
                <a:solidFill>
                  <a:srgbClr val="FDFAEE"/>
                </a:solidFill>
              </a:rPr>
              <a:t>Заключение</a:t>
            </a:r>
            <a:endParaRPr lang="ru-RU" sz="2800" kern="0" spc="50" dirty="0">
              <a:solidFill>
                <a:srgbClr val="FDFAEE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BC903D-09AE-46B1-A67B-8BFCE6AB49FE}"/>
              </a:ext>
            </a:extLst>
          </p:cNvPr>
          <p:cNvSpPr txBox="1">
            <a:spLocks/>
          </p:cNvSpPr>
          <p:nvPr/>
        </p:nvSpPr>
        <p:spPr>
          <a:xfrm>
            <a:off x="2057400" y="1809750"/>
            <a:ext cx="5781675" cy="19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ru-RU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Познакомились с </a:t>
            </a:r>
            <a:r>
              <a:rPr lang="en-US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docker </a:t>
            </a:r>
            <a:r>
              <a:rPr lang="ru-RU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для контейнеризации </a:t>
            </a:r>
            <a:r>
              <a:rPr lang="en-US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ML-</a:t>
            </a:r>
            <a:r>
              <a:rPr lang="ru-RU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приложений. Обсудили основные команды для начала работы с </a:t>
            </a:r>
            <a:r>
              <a:rPr lang="en-US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docker. </a:t>
            </a:r>
            <a:r>
              <a:rPr lang="ru-RU" sz="2100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Разобрались с основными шагами по работе </a:t>
            </a:r>
            <a:r>
              <a:rPr lang="en-US" sz="2100" kern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docker.</a:t>
            </a:r>
            <a:endParaRPr lang="ru-RU" sz="2100" kern="0" dirty="0">
              <a:solidFill>
                <a:sysClr val="windowText" lastClr="000000"/>
              </a:solidFill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12700" marR="5080">
              <a:spcBef>
                <a:spcPts val="100"/>
              </a:spcBef>
            </a:pPr>
            <a:endParaRPr lang="ru-RU" sz="2100" kern="0" dirty="0">
              <a:solidFill>
                <a:sysClr val="windowText" lastClr="000000"/>
              </a:solidFill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57628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1"/>
            <a:ext cx="7560000" cy="48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9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1989</TotalTime>
  <Words>1391</Words>
  <Application>Microsoft Office PowerPoint</Application>
  <PresentationFormat>Экран (16:9)</PresentationFormat>
  <Paragraphs>219</Paragraphs>
  <Slides>33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Montserrat</vt:lpstr>
      <vt:lpstr>Symbol</vt:lpstr>
      <vt:lpstr>Tahoma</vt:lpstr>
      <vt:lpstr>Verdana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Контейнерезация</vt:lpstr>
      <vt:lpstr>Различия с виртуализацией</vt:lpstr>
      <vt:lpstr>Презентация PowerPoint</vt:lpstr>
      <vt:lpstr>Docker-объекты</vt:lpstr>
      <vt:lpstr>Установка docker</vt:lpstr>
      <vt:lpstr>Работа с docker</vt:lpstr>
      <vt:lpstr>Создание Dockerfile</vt:lpstr>
      <vt:lpstr>Основные команды docker (docker build)</vt:lpstr>
      <vt:lpstr>Основные команды docker (docker run)</vt:lpstr>
      <vt:lpstr>Основные команды docker (docker run)</vt:lpstr>
      <vt:lpstr>Основные команды docker (docker run)</vt:lpstr>
      <vt:lpstr>Основные команды docker (docker ps)</vt:lpstr>
      <vt:lpstr>Основные команды docker (docker logs)</vt:lpstr>
      <vt:lpstr>Основные команды docker</vt:lpstr>
      <vt:lpstr>Docker Volumes</vt:lpstr>
      <vt:lpstr>Работа с docker volumes</vt:lpstr>
      <vt:lpstr>Основные различия volume | bind-mount</vt:lpstr>
      <vt:lpstr>Презентация PowerPoint</vt:lpstr>
      <vt:lpstr>Сеть Networking</vt:lpstr>
      <vt:lpstr>Volume</vt:lpstr>
      <vt:lpstr>Docker Compose</vt:lpstr>
      <vt:lpstr>Основные команды Docker-Compose</vt:lpstr>
      <vt:lpstr>Основные команды Docker-Compose</vt:lpstr>
      <vt:lpstr>Основные команды Docker-Compose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282</cp:revision>
  <dcterms:created xsi:type="dcterms:W3CDTF">2024-04-17T14:30:02Z</dcterms:created>
  <dcterms:modified xsi:type="dcterms:W3CDTF">2026-03-12T14:57:19Z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