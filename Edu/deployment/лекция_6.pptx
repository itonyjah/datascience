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8" r:id="rId2"/>
    <p:sldId id="427" r:id="rId3"/>
    <p:sldId id="367" r:id="rId4"/>
    <p:sldId id="492" r:id="rId5"/>
    <p:sldId id="493" r:id="rId6"/>
    <p:sldId id="458" r:id="rId7"/>
    <p:sldId id="403" r:id="rId8"/>
    <p:sldId id="494" r:id="rId9"/>
    <p:sldId id="495" r:id="rId10"/>
    <p:sldId id="496" r:id="rId11"/>
    <p:sldId id="497" r:id="rId12"/>
    <p:sldId id="498" r:id="rId13"/>
    <p:sldId id="500" r:id="rId14"/>
    <p:sldId id="499" r:id="rId15"/>
    <p:sldId id="501" r:id="rId16"/>
    <p:sldId id="502" r:id="rId17"/>
    <p:sldId id="503" r:id="rId18"/>
    <p:sldId id="504" r:id="rId19"/>
    <p:sldId id="505" r:id="rId20"/>
    <p:sldId id="506" r:id="rId21"/>
    <p:sldId id="507" r:id="rId22"/>
    <p:sldId id="508" r:id="rId23"/>
    <p:sldId id="429" r:id="rId24"/>
    <p:sldId id="511" r:id="rId25"/>
    <p:sldId id="512" r:id="rId26"/>
    <p:sldId id="513" r:id="rId27"/>
    <p:sldId id="515" r:id="rId28"/>
    <p:sldId id="516" r:id="rId29"/>
    <p:sldId id="517" r:id="rId30"/>
    <p:sldId id="518" r:id="rId31"/>
    <p:sldId id="519" r:id="rId32"/>
    <p:sldId id="520" r:id="rId33"/>
    <p:sldId id="521" r:id="rId34"/>
    <p:sldId id="522" r:id="rId35"/>
    <p:sldId id="428" r:id="rId36"/>
    <p:sldId id="523" r:id="rId37"/>
    <p:sldId id="524" r:id="rId38"/>
    <p:sldId id="526" r:id="rId39"/>
    <p:sldId id="525" r:id="rId40"/>
    <p:sldId id="527" r:id="rId41"/>
    <p:sldId id="528" r:id="rId42"/>
    <p:sldId id="529" r:id="rId43"/>
    <p:sldId id="277" r:id="rId44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E915"/>
    <a:srgbClr val="FE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97" d="100"/>
          <a:sy n="197" d="100"/>
        </p:scale>
        <p:origin x="666" y="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3D4D0-1964-467A-84AE-EA9A33292BC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B40BD-6527-4D2E-BAF4-A8B483AFAC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31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1450" y="302400"/>
            <a:ext cx="2683774" cy="393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7575" y="195145"/>
            <a:ext cx="8568849" cy="106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7B7B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4450" y="298800"/>
            <a:ext cx="2709550" cy="3971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4309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273" y="540000"/>
            <a:ext cx="7821455" cy="40635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Титульный слайд">
    <p:bg>
      <p:bgPr>
        <a:solidFill>
          <a:srgbClr val="005FAF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Skillfactory_длинный_инверс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25631" y="4283051"/>
            <a:ext cx="1743925" cy="1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 title="Без-коня-без-дескриптора-(инверсия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3703" y="3694919"/>
            <a:ext cx="1542424" cy="108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"/>
          <p:cNvSpPr txBox="1"/>
          <p:nvPr/>
        </p:nvSpPr>
        <p:spPr>
          <a:xfrm rot="2700000">
            <a:off x="7308740" y="4159928"/>
            <a:ext cx="30080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283125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8250" y="249282"/>
            <a:ext cx="8487499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0725" y="913921"/>
            <a:ext cx="8342548" cy="2339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B7B7B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8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6ZjYcy76wsY1MTF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0.0.0.0:8000/" TargetMode="External"/><Relationship Id="rId2" Type="http://schemas.openxmlformats.org/officeDocument/2006/relationships/hyperlink" Target="http://127.0.0.1:8000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rfc-editor.org/rfc/rfc9110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/>
        </p:nvSpPr>
        <p:spPr>
          <a:xfrm>
            <a:off x="1371601" y="4078856"/>
            <a:ext cx="3901199" cy="112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Некрасов Константин Олегович</a:t>
            </a: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Директор по разработке ML-моделей  </a:t>
            </a: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АО «Газпромбанк»</a:t>
            </a:r>
            <a:endParaRPr lang="en-US" sz="12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Блог: </a:t>
            </a:r>
            <a:r>
              <a:rPr lang="en-US" sz="1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Labalgo</a:t>
            </a:r>
            <a:endParaRPr lang="en-US" sz="1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endParaRPr lang="ru-RU" sz="12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8"/>
          <p:cNvSpPr txBox="1"/>
          <p:nvPr/>
        </p:nvSpPr>
        <p:spPr>
          <a:xfrm>
            <a:off x="414000" y="200730"/>
            <a:ext cx="8316000" cy="62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-RU" sz="4000" b="1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Внедрение моделей </a:t>
            </a:r>
            <a:r>
              <a:rPr lang="en-US" sz="4000" b="1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ML</a:t>
            </a:r>
          </a:p>
        </p:txBody>
      </p:sp>
      <p:sp>
        <p:nvSpPr>
          <p:cNvPr id="39" name="Google Shape;39;p8"/>
          <p:cNvSpPr txBox="1"/>
          <p:nvPr/>
        </p:nvSpPr>
        <p:spPr>
          <a:xfrm>
            <a:off x="152400" y="3182227"/>
            <a:ext cx="7560000" cy="40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-RU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Организация взаимодействия</a:t>
            </a:r>
          </a:p>
        </p:txBody>
      </p:sp>
      <p:pic>
        <p:nvPicPr>
          <p:cNvPr id="40" name="Google Shape;4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055952"/>
            <a:ext cx="9144000" cy="22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2900" y="236882"/>
            <a:ext cx="2202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План</a:t>
            </a:r>
            <a:r>
              <a:rPr spc="-215" dirty="0"/>
              <a:t> </a:t>
            </a:r>
            <a:r>
              <a:rPr spc="20" dirty="0"/>
              <a:t>занятия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7360" y="794030"/>
            <a:ext cx="8283240" cy="20855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r>
              <a:rPr lang="ru-RU" sz="1800" spc="160" dirty="0">
                <a:solidFill>
                  <a:srgbClr val="181818"/>
                </a:solidFill>
                <a:latin typeface="Verdana"/>
                <a:cs typeface="Verdana"/>
              </a:rPr>
              <a:t>Основы разработки с </a:t>
            </a:r>
            <a:r>
              <a:rPr lang="ru-RU" sz="1800" spc="160" dirty="0" err="1">
                <a:solidFill>
                  <a:srgbClr val="181818"/>
                </a:solidFill>
                <a:latin typeface="Verdana"/>
                <a:cs typeface="Verdana"/>
              </a:rPr>
              <a:t>FastAPI</a:t>
            </a:r>
            <a:endParaRPr lang="ru-RU" sz="1800" spc="160" dirty="0">
              <a:solidFill>
                <a:srgbClr val="181818"/>
              </a:solidFill>
              <a:latin typeface="Verdana"/>
              <a:cs typeface="Verdana"/>
            </a:endParaRPr>
          </a:p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r>
              <a:rPr lang="ru-RU" sz="1800" spc="160" dirty="0">
                <a:solidFill>
                  <a:srgbClr val="181818"/>
                </a:solidFill>
                <a:latin typeface="Verdana"/>
                <a:cs typeface="Verdana"/>
              </a:rPr>
              <a:t>Брокер сообщений </a:t>
            </a:r>
            <a:r>
              <a:rPr lang="ru-RU" sz="1800" spc="160" dirty="0" err="1">
                <a:solidFill>
                  <a:srgbClr val="181818"/>
                </a:solidFill>
                <a:latin typeface="Verdana"/>
                <a:cs typeface="Verdana"/>
              </a:rPr>
              <a:t>RabbitMQ</a:t>
            </a:r>
            <a:r>
              <a:rPr lang="ru-RU" sz="1800" spc="16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</a:p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r>
              <a:rPr lang="ru-RU" sz="1800" spc="160" dirty="0">
                <a:solidFill>
                  <a:srgbClr val="181818"/>
                </a:solidFill>
                <a:latin typeface="Verdana"/>
                <a:cs typeface="Verdana"/>
              </a:rPr>
              <a:t>Брокер сообщений </a:t>
            </a:r>
            <a:r>
              <a:rPr lang="ru-RU" sz="1800" spc="160" dirty="0" err="1">
                <a:solidFill>
                  <a:srgbClr val="181818"/>
                </a:solidFill>
                <a:latin typeface="Verdana"/>
                <a:cs typeface="Verdana"/>
              </a:rPr>
              <a:t>Celery</a:t>
            </a:r>
            <a:endParaRPr lang="ru-RU" sz="1800" spc="160" dirty="0">
              <a:solidFill>
                <a:srgbClr val="181818"/>
              </a:solidFill>
              <a:latin typeface="Verdana"/>
              <a:cs typeface="Verdana"/>
            </a:endParaRPr>
          </a:p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en-US" sz="1800" spc="160" dirty="0">
              <a:solidFill>
                <a:srgbClr val="181818"/>
              </a:solidFill>
              <a:latin typeface="Verdana"/>
              <a:cs typeface="Verdana"/>
            </a:endParaRPr>
          </a:p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en-US" sz="1800" spc="160" dirty="0">
              <a:solidFill>
                <a:srgbClr val="181818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876300" y="2114550"/>
            <a:ext cx="7391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1. Основы разработки с 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FastAPI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32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66719"/>
            <a:ext cx="6477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FastAPI</a:t>
            </a:r>
            <a:endParaRPr lang="en-US" sz="4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271462" y="1885950"/>
            <a:ext cx="5062538" cy="2809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это современный веб-фреймворк для Python, который был разработан с целью обеспечения высокой производительности и эффективности в разработке веб-сервисов. Он основан на стандартах Python 3.6+ и полностью совместим с асинхронными возможностями языка.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GitHub - mjhea0/awesome-fastapi: A curated list of awesome things related  to FastAPI">
            <a:extLst>
              <a:ext uri="{FF2B5EF4-FFF2-40B4-BE49-F238E27FC236}">
                <a16:creationId xmlns:a16="http://schemas.microsoft.com/office/drawing/2014/main" id="{DEB06075-45BB-4719-9FC9-5C21C8F14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419350"/>
            <a:ext cx="3995738" cy="2101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0090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500" y="232072"/>
            <a:ext cx="3084195" cy="2967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50" dirty="0">
                <a:solidFill>
                  <a:srgbClr val="FDFAEE"/>
                </a:solidFill>
              </a:rPr>
              <a:t>Преимущества</a:t>
            </a:r>
            <a:br>
              <a:rPr lang="ru-RU" spc="50" dirty="0">
                <a:solidFill>
                  <a:srgbClr val="FDFAEE"/>
                </a:solidFill>
              </a:rPr>
            </a:br>
            <a:br>
              <a:rPr lang="en-US" spc="50" dirty="0">
                <a:solidFill>
                  <a:srgbClr val="FDFAEE"/>
                </a:solidFill>
              </a:rPr>
            </a:br>
            <a:r>
              <a:rPr lang="ru-RU" sz="1600" spc="50" dirty="0">
                <a:solidFill>
                  <a:srgbClr val="FDFAEE"/>
                </a:solidFill>
              </a:rPr>
              <a:t>•</a:t>
            </a:r>
            <a:r>
              <a:rPr lang="en-US" sz="1600" spc="50" dirty="0">
                <a:solidFill>
                  <a:srgbClr val="FDFAEE"/>
                </a:solidFill>
              </a:rPr>
              <a:t> </a:t>
            </a:r>
            <a:r>
              <a:rPr lang="ru-RU" sz="1600" spc="50" dirty="0">
                <a:solidFill>
                  <a:srgbClr val="FDFAEE"/>
                </a:solidFill>
              </a:rPr>
              <a:t>Простота использования</a:t>
            </a:r>
            <a:br>
              <a:rPr lang="ru-RU" sz="1600" spc="50" dirty="0">
                <a:solidFill>
                  <a:srgbClr val="FDFAEE"/>
                </a:solidFill>
              </a:rPr>
            </a:br>
            <a:br>
              <a:rPr lang="ru-RU" sz="1600" spc="50" dirty="0">
                <a:solidFill>
                  <a:srgbClr val="FDFAEE"/>
                </a:solidFill>
              </a:rPr>
            </a:br>
            <a:r>
              <a:rPr lang="ru-RU" sz="1600" spc="50" dirty="0">
                <a:solidFill>
                  <a:srgbClr val="FDFAEE"/>
                </a:solidFill>
              </a:rPr>
              <a:t>•</a:t>
            </a:r>
            <a:r>
              <a:rPr lang="en-US" sz="1600" spc="50" dirty="0">
                <a:solidFill>
                  <a:srgbClr val="FDFAEE"/>
                </a:solidFill>
              </a:rPr>
              <a:t> </a:t>
            </a:r>
            <a:r>
              <a:rPr lang="ru-RU" sz="1600" spc="50" dirty="0">
                <a:solidFill>
                  <a:srgbClr val="FDFAEE"/>
                </a:solidFill>
              </a:rPr>
              <a:t>Производительность</a:t>
            </a:r>
            <a:br>
              <a:rPr lang="ru-RU" sz="1600" spc="50" dirty="0">
                <a:solidFill>
                  <a:srgbClr val="FDFAEE"/>
                </a:solidFill>
              </a:rPr>
            </a:br>
            <a:br>
              <a:rPr lang="ru-RU" sz="1600" spc="50" dirty="0">
                <a:solidFill>
                  <a:srgbClr val="FDFAEE"/>
                </a:solidFill>
              </a:rPr>
            </a:br>
            <a:r>
              <a:rPr lang="ru-RU" sz="1600" spc="50" dirty="0">
                <a:solidFill>
                  <a:srgbClr val="FDFAEE"/>
                </a:solidFill>
              </a:rPr>
              <a:t>•</a:t>
            </a:r>
            <a:r>
              <a:rPr lang="en-US" sz="1600" spc="50" dirty="0">
                <a:solidFill>
                  <a:srgbClr val="FDFAEE"/>
                </a:solidFill>
              </a:rPr>
              <a:t> </a:t>
            </a:r>
            <a:r>
              <a:rPr lang="ru-RU" sz="1600" spc="50" dirty="0">
                <a:solidFill>
                  <a:srgbClr val="FDFAEE"/>
                </a:solidFill>
              </a:rPr>
              <a:t>Поддержка валидации данных</a:t>
            </a:r>
            <a:br>
              <a:rPr lang="ru-RU" sz="1600" spc="50" dirty="0">
                <a:solidFill>
                  <a:srgbClr val="FDFAEE"/>
                </a:solidFill>
              </a:rPr>
            </a:br>
            <a:br>
              <a:rPr lang="ru-RU" sz="1600" spc="50" dirty="0">
                <a:solidFill>
                  <a:srgbClr val="FDFAEE"/>
                </a:solidFill>
              </a:rPr>
            </a:br>
            <a:r>
              <a:rPr lang="ru-RU" sz="1600" spc="50" dirty="0">
                <a:solidFill>
                  <a:srgbClr val="FDFAEE"/>
                </a:solidFill>
              </a:rPr>
              <a:t>•</a:t>
            </a:r>
            <a:r>
              <a:rPr lang="en-US" sz="1600" spc="50" dirty="0">
                <a:solidFill>
                  <a:srgbClr val="FDFAEE"/>
                </a:solidFill>
              </a:rPr>
              <a:t> </a:t>
            </a:r>
            <a:r>
              <a:rPr lang="ru-RU" sz="1600" spc="50" dirty="0">
                <a:solidFill>
                  <a:srgbClr val="FDFAEE"/>
                </a:solidFill>
              </a:rPr>
              <a:t>Интерактивная документация</a:t>
            </a:r>
            <a:endParaRPr lang="en-US" spc="50" dirty="0">
              <a:solidFill>
                <a:srgbClr val="FDFAEE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33860" y="223233"/>
            <a:ext cx="4833940" cy="22896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89" marR="625475">
              <a:spcBef>
                <a:spcPts val="100"/>
              </a:spcBef>
              <a:tabLst>
                <a:tab pos="445134" algn="l"/>
                <a:tab pos="445770" algn="l"/>
              </a:tabLst>
            </a:pP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Недостатки</a:t>
            </a: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85089" marR="625475">
              <a:spcBef>
                <a:spcPts val="100"/>
              </a:spcBef>
              <a:tabLst>
                <a:tab pos="445134" algn="l"/>
                <a:tab pos="445770" algn="l"/>
              </a:tabLst>
            </a:pP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Относительная новизна</a:t>
            </a: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85089" marR="625475">
              <a:spcBef>
                <a:spcPts val="100"/>
              </a:spcBef>
              <a:tabLst>
                <a:tab pos="445134" algn="l"/>
                <a:tab pos="445770" algn="l"/>
              </a:tabLst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445134" marR="625475" indent="-360045"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en-US" b="1" dirty="0">
              <a:latin typeface="Tahoma"/>
              <a:cs typeface="Tahoma"/>
            </a:endParaRPr>
          </a:p>
          <a:p>
            <a:pPr marL="445134" marR="625475" indent="-360045"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en-US" b="1" dirty="0">
              <a:latin typeface="Tahoma"/>
              <a:cs typeface="Tahoma"/>
            </a:endParaRPr>
          </a:p>
          <a:p>
            <a:pPr marL="445134" marR="625475" indent="-360045"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ru-RU" sz="1800" b="1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543084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29187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Для начала работы потребуется установить</a:t>
            </a:r>
            <a:r>
              <a:rPr lang="en-US" sz="1600" dirty="0">
                <a:latin typeface="Verdana"/>
                <a:cs typeface="Verdana"/>
              </a:rPr>
              <a:t>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FastAPI</a:t>
            </a:r>
            <a:r>
              <a:rPr lang="en-US" sz="1600" dirty="0">
                <a:latin typeface="Verdana"/>
                <a:cs typeface="Verdana"/>
              </a:rPr>
              <a:t> </a:t>
            </a:r>
            <a:r>
              <a:rPr lang="ru-RU" sz="1600" dirty="0">
                <a:latin typeface="Verdana"/>
                <a:cs typeface="Verdana"/>
              </a:rPr>
              <a:t>и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Uvicorn</a:t>
            </a:r>
            <a:r>
              <a:rPr lang="en-US" sz="1600" dirty="0">
                <a:latin typeface="Verdana"/>
                <a:cs typeface="Verdana"/>
              </a:rPr>
              <a:t>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pip install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fastapi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fastapi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-cli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uvicorn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Простой пример использования </a:t>
            </a:r>
            <a:r>
              <a:rPr lang="ru-RU" sz="1600" dirty="0" err="1">
                <a:latin typeface="Verdana"/>
                <a:cs typeface="Verdana"/>
              </a:rPr>
              <a:t>FastAPI</a:t>
            </a:r>
            <a:r>
              <a:rPr lang="ru-RU" sz="1600" dirty="0">
                <a:latin typeface="Verdana"/>
                <a:cs typeface="Verdana"/>
              </a:rPr>
              <a:t> для создания минимального веб-приложения (файл </a:t>
            </a:r>
            <a:r>
              <a:rPr lang="en-US" sz="1600" dirty="0">
                <a:latin typeface="Verdana"/>
                <a:cs typeface="Verdana"/>
              </a:rPr>
              <a:t>main.py)</a:t>
            </a:r>
            <a:r>
              <a:rPr lang="ru-RU" sz="1600" dirty="0">
                <a:latin typeface="Verdana"/>
                <a:cs typeface="Verdana"/>
              </a:rPr>
              <a:t>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Начало работы с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FastAPI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C105398-A2E8-40BF-89F8-707E2803F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04" y="2952750"/>
            <a:ext cx="3248478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698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4800" y="437831"/>
            <a:ext cx="7989570" cy="4077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После этого прописываем команду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uvicorn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main:app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ru-RU" sz="1600" dirty="0">
                <a:latin typeface="Verdana"/>
                <a:cs typeface="Verdana"/>
              </a:rPr>
              <a:t>для запуска приложения. В браузере прописываем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  <a:hlinkClick r:id="rId2"/>
              </a:rPr>
              <a:t>http://127.0.0.1:8000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FontTx/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Можно также прописать 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fastapi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run main.py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.</a:t>
            </a:r>
            <a:r>
              <a:rPr lang="ru-RU" sz="1600" dirty="0">
                <a:latin typeface="Verdana"/>
                <a:cs typeface="Verdana"/>
              </a:rPr>
              <a:t> В браузере прописываем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  <a:hlinkClick r:id="rId3"/>
              </a:rPr>
              <a:t>http://0.0.0.0:8000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DB4878-E8D4-4801-86F6-0BE4529B8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82" y="1533254"/>
            <a:ext cx="9144000" cy="188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77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54540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Маршруты (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Routes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APIRouter</a:t>
            </a: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Методы HTTP запросов (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Methods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Модели 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Pydantic</a:t>
            </a: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Ответы (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Responses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Статусы ответов (Response 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Statuses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Фоновые задачи (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Background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Tasks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Работа с файлами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События запуска и завершения (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Startup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/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Shutdown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Events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Миддлвари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(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Middleware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819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Основные объекты и функции </a:t>
            </a:r>
            <a:r>
              <a:rPr lang="ru-RU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FastAPI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подробно с примерами кода:</a:t>
            </a:r>
          </a:p>
        </p:txBody>
      </p:sp>
    </p:spTree>
    <p:extLst>
      <p:ext uri="{BB962C8B-B14F-4D97-AF65-F5344CB8AC3E}">
        <p14:creationId xmlns:p14="http://schemas.microsoft.com/office/powerpoint/2010/main" val="1002436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289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Маршруты определяют, как приложение обрабатывает запросы. Они связывают функции обработчики с конкретными </a:t>
            </a:r>
            <a:r>
              <a:rPr lang="ru-RU" sz="1600" dirty="0" err="1">
                <a:latin typeface="Verdana"/>
                <a:cs typeface="Verdana"/>
              </a:rPr>
              <a:t>path’ами</a:t>
            </a:r>
            <a:r>
              <a:rPr lang="ru-RU" sz="1600" dirty="0">
                <a:latin typeface="Verdana"/>
                <a:cs typeface="Verdana"/>
              </a:rPr>
              <a:t> (сервиса). В </a:t>
            </a:r>
            <a:r>
              <a:rPr lang="ru-RU" sz="1600" dirty="0" err="1">
                <a:latin typeface="Verdana"/>
                <a:cs typeface="Verdana"/>
              </a:rPr>
              <a:t>FastAPI</a:t>
            </a:r>
            <a:r>
              <a:rPr lang="ru-RU" sz="1600" dirty="0">
                <a:latin typeface="Verdana"/>
                <a:cs typeface="Verdana"/>
              </a:rPr>
              <a:t> они определяются с помощью декораторов и объектами API.</a:t>
            </a: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Маршруты (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Routes)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B74C84-00E9-4557-A28E-0E384A75A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68821"/>
            <a:ext cx="2991267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119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17348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 err="1">
                <a:latin typeface="Verdana"/>
                <a:cs typeface="Verdana"/>
              </a:rPr>
              <a:t>FastAPI</a:t>
            </a:r>
            <a:r>
              <a:rPr lang="ru-RU" sz="1600" dirty="0">
                <a:latin typeface="Verdana"/>
                <a:cs typeface="Verdana"/>
              </a:rPr>
              <a:t> предоставляет удобный инструмент для структурирования вашего приложения, сохраняя при этом всю гибкость. </a:t>
            </a: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APIRouter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3047729-06D2-44AC-887C-531C394B7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762345"/>
            <a:ext cx="2717877" cy="335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726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38066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600" dirty="0" err="1">
                <a:latin typeface="Verdana"/>
                <a:cs typeface="Verdana"/>
              </a:rPr>
              <a:t>FastAPI</a:t>
            </a:r>
            <a:r>
              <a:rPr lang="en-US" sz="1600" dirty="0">
                <a:latin typeface="Verdana"/>
                <a:cs typeface="Verdana"/>
              </a:rPr>
              <a:t> </a:t>
            </a:r>
            <a:r>
              <a:rPr lang="ru-RU" sz="1600" dirty="0">
                <a:latin typeface="Verdana"/>
                <a:cs typeface="Verdana"/>
              </a:rPr>
              <a:t>поддерживает следующие методы </a:t>
            </a:r>
            <a:r>
              <a:rPr lang="en-US" sz="1600" dirty="0">
                <a:latin typeface="Verdana"/>
                <a:cs typeface="Verdana"/>
              </a:rPr>
              <a:t>HTTP:</a:t>
            </a:r>
            <a:endParaRPr lang="ru-RU" sz="1600" dirty="0">
              <a:latin typeface="Verdana"/>
              <a:cs typeface="Verdana"/>
            </a:endParaRP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GET </a:t>
            </a:r>
            <a:endParaRPr lang="ru-RU" sz="1600" dirty="0">
              <a:latin typeface="Verdana"/>
              <a:cs typeface="Verdana"/>
            </a:endParaRP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POST</a:t>
            </a:r>
            <a:endParaRPr lang="ru-RU" sz="1600" dirty="0">
              <a:latin typeface="Verdana"/>
              <a:cs typeface="Verdana"/>
            </a:endParaRP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PUT</a:t>
            </a:r>
            <a:endParaRPr lang="ru-RU" sz="1600" dirty="0">
              <a:latin typeface="Verdana"/>
              <a:cs typeface="Verdana"/>
            </a:endParaRP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DELETE</a:t>
            </a:r>
            <a:endParaRPr lang="ru-RU" sz="1600" dirty="0">
              <a:latin typeface="Verdana"/>
              <a:cs typeface="Verdana"/>
            </a:endParaRP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PATCH</a:t>
            </a:r>
            <a:endParaRPr lang="ru-RU" sz="1600" dirty="0">
              <a:latin typeface="Verdana"/>
              <a:cs typeface="Verdana"/>
            </a:endParaRP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OPTIONS</a:t>
            </a:r>
            <a:endParaRPr lang="ru-RU" sz="1600" dirty="0">
              <a:latin typeface="Verdana"/>
              <a:cs typeface="Verdana"/>
            </a:endParaRP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HEAD</a:t>
            </a: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Полный список методов можно найти в </a:t>
            </a:r>
            <a:r>
              <a:rPr lang="ru-RU" sz="1600" dirty="0">
                <a:latin typeface="Verdana"/>
                <a:cs typeface="Verdana"/>
                <a:hlinkClick r:id="rId2"/>
              </a:rPr>
              <a:t>RFC 9110</a:t>
            </a:r>
            <a:r>
              <a:rPr lang="ru-RU" sz="1600" dirty="0">
                <a:latin typeface="Verdana"/>
                <a:cs typeface="Verdana"/>
              </a:rPr>
              <a:t>. Это документ, который описывает стандарты.</a:t>
            </a: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Методы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HTTP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запросов (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Methods)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F0BD89-FED6-4F12-854C-B5F8C28BA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171950"/>
            <a:ext cx="2543530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65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17091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Модели </a:t>
            </a:r>
            <a:r>
              <a:rPr lang="ru-RU" sz="1600" dirty="0" err="1">
                <a:latin typeface="Verdana"/>
                <a:cs typeface="Verdana"/>
              </a:rPr>
              <a:t>Pydantic</a:t>
            </a:r>
            <a:r>
              <a:rPr lang="ru-RU" sz="1600" dirty="0">
                <a:latin typeface="Verdana"/>
                <a:cs typeface="Verdana"/>
              </a:rPr>
              <a:t> используются для определения структуры данных входящих и исходящих запросов. Они обеспечивают валидацию данных и автоматическую </a:t>
            </a:r>
            <a:r>
              <a:rPr lang="ru-RU" sz="1600" dirty="0" err="1">
                <a:latin typeface="Verdana"/>
                <a:cs typeface="Verdana"/>
              </a:rPr>
              <a:t>сериализацию</a:t>
            </a:r>
            <a:r>
              <a:rPr lang="ru-RU" sz="1600" dirty="0">
                <a:latin typeface="Verdana"/>
                <a:cs typeface="Verdana"/>
              </a:rPr>
              <a:t> между форматами JSON и Python.</a:t>
            </a: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Модели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Pydantic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CA7292-8CD1-4EE1-B872-1232E2F4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993111"/>
            <a:ext cx="4639322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54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819"/>
            <a:ext cx="6477000" cy="18851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Передача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параметров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 </a:t>
            </a: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FastAPI</a:t>
            </a:r>
            <a:endParaRPr lang="en-US" sz="4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2198521" y="2647950"/>
            <a:ext cx="5062538" cy="1039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FastAPI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 позволяет определять параметры входящих запросов. Вот несколько примеров: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660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41026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Определяются в URL-адресе и используются для передачи данных.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Отправка запроса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 err="1">
                <a:latin typeface="Verdana"/>
                <a:cs typeface="Verdana"/>
              </a:rPr>
              <a:t>FastAPI</a:t>
            </a:r>
            <a:r>
              <a:rPr lang="ru-RU" sz="1600" dirty="0">
                <a:latin typeface="Verdana"/>
                <a:cs typeface="Verdana"/>
              </a:rPr>
              <a:t> самостоятельно </a:t>
            </a:r>
            <a:r>
              <a:rPr lang="ru-RU" sz="1600" dirty="0" err="1">
                <a:latin typeface="Verdana"/>
                <a:cs typeface="Verdana"/>
              </a:rPr>
              <a:t>парсит</a:t>
            </a:r>
            <a:r>
              <a:rPr lang="ru-RU" sz="1600" dirty="0">
                <a:latin typeface="Verdana"/>
                <a:cs typeface="Verdana"/>
              </a:rPr>
              <a:t> параметры полученные из запроса, сопоставляя типы на основе аннотаций.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1. Параметры пути (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Path parameters)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3E3025-399C-44C1-A88E-C31E445F4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01983"/>
            <a:ext cx="3124636" cy="12574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754275E-92E0-46BA-A831-50C918E57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206367"/>
            <a:ext cx="3296110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804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26355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Передаются в URL-адресе через символ вопроса и амперсанд.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Отправка запроса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2. Параметры запроса (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Query parameters)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B06FF1-04FA-4DA3-9F91-4C109EA02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71" y="1504950"/>
            <a:ext cx="4248743" cy="124794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EB12855-0CCA-4B05-BAE5-CBA4608E2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257550"/>
            <a:ext cx="4810796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808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38066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Передается в теле HTTP-запроса и используется для передачи структурированных данных, например, JSON или формы.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Отправка запроса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3. Тело запроса (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Request Body)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6F02C7-19F0-4037-8117-976CED696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733550"/>
            <a:ext cx="3189338" cy="2286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24FA1F2-0139-47C8-B200-E653E01F1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4171950"/>
            <a:ext cx="6400800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239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11300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 err="1">
                <a:latin typeface="Verdana"/>
                <a:cs typeface="Verdana"/>
              </a:rPr>
              <a:t>FastAPI</a:t>
            </a:r>
            <a:r>
              <a:rPr lang="ru-RU" sz="1600" dirty="0">
                <a:latin typeface="Verdana"/>
                <a:cs typeface="Verdana"/>
              </a:rPr>
              <a:t> предоставляет удобные методы для создания ответов на запросы. Например, </a:t>
            </a:r>
            <a:r>
              <a:rPr lang="ru-RU" sz="1600" dirty="0" err="1">
                <a:latin typeface="Verdana"/>
                <a:cs typeface="Verdana"/>
              </a:rPr>
              <a:t>JSONResponse</a:t>
            </a:r>
            <a:r>
              <a:rPr lang="ru-RU" sz="1600" dirty="0">
                <a:latin typeface="Verdana"/>
                <a:cs typeface="Verdana"/>
              </a:rPr>
              <a:t> для возврата JSON-данных или </a:t>
            </a:r>
            <a:r>
              <a:rPr lang="ru-RU" sz="1600" dirty="0" err="1">
                <a:latin typeface="Verdana"/>
                <a:cs typeface="Verdana"/>
              </a:rPr>
              <a:t>HTMLResponse</a:t>
            </a:r>
            <a:r>
              <a:rPr lang="ru-RU" sz="1600" dirty="0">
                <a:latin typeface="Verdana"/>
                <a:cs typeface="Verdana"/>
              </a:rPr>
              <a:t> для возврата HTML-контента.</a:t>
            </a: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Ответы (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Responses)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E97D3EF-6433-403D-8E28-D30363CB1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006428"/>
            <a:ext cx="4677300" cy="285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980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26227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 err="1">
                <a:latin typeface="Verdana"/>
                <a:cs typeface="Verdana"/>
              </a:rPr>
              <a:t>FastAPI</a:t>
            </a:r>
            <a:r>
              <a:rPr lang="ru-RU" sz="1600" dirty="0">
                <a:latin typeface="Verdana"/>
                <a:cs typeface="Verdana"/>
              </a:rPr>
              <a:t> предоставляет простой доступ к кодам статуса ответов HTTP, таким как 200 (OK), 404 (</a:t>
            </a:r>
            <a:r>
              <a:rPr lang="ru-RU" sz="1600" dirty="0" err="1">
                <a:latin typeface="Verdana"/>
                <a:cs typeface="Verdana"/>
              </a:rPr>
              <a:t>Not</a:t>
            </a:r>
            <a:r>
              <a:rPr lang="ru-RU" sz="1600" dirty="0">
                <a:latin typeface="Verdana"/>
                <a:cs typeface="Verdana"/>
              </a:rPr>
              <a:t> </a:t>
            </a:r>
            <a:r>
              <a:rPr lang="ru-RU" sz="1600" dirty="0" err="1">
                <a:latin typeface="Verdana"/>
                <a:cs typeface="Verdana"/>
              </a:rPr>
              <a:t>Found</a:t>
            </a:r>
            <a:r>
              <a:rPr lang="ru-RU" sz="1600" dirty="0">
                <a:latin typeface="Verdana"/>
                <a:cs typeface="Verdana"/>
              </a:rPr>
              <a:t>) и т. д.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Статусы ответов (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Response Statuses)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DFD1801-07E7-4FA9-8A20-231E333CD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809750"/>
            <a:ext cx="4906060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48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38066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Фоновые задачи позволяют выполнять асинхронные операции в фоне во время обработки запросов.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Особенности и пример использования фоновых задач в </a:t>
            </a:r>
            <a:r>
              <a:rPr lang="ru-RU" sz="1600" dirty="0" err="1">
                <a:latin typeface="Verdana"/>
                <a:cs typeface="Verdana"/>
              </a:rPr>
              <a:t>FastAPI</a:t>
            </a:r>
            <a:r>
              <a:rPr lang="ru-RU" sz="1600" dirty="0">
                <a:latin typeface="Verdana"/>
                <a:cs typeface="Verdana"/>
              </a:rPr>
              <a:t>:\</a:t>
            </a: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Обработка в фоне</a:t>
            </a: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Очередь задач</a:t>
            </a: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Взаимодействие с запросами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Фоновые задачи (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Background Tasks)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FCE307-FBD2-4183-83AA-B084B03AD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94" y="3181350"/>
            <a:ext cx="5257800" cy="188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577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34850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 err="1">
                <a:latin typeface="Verdana"/>
                <a:cs typeface="Verdana"/>
              </a:rPr>
              <a:t>FastAPI</a:t>
            </a:r>
            <a:r>
              <a:rPr lang="ru-RU" sz="1600" dirty="0">
                <a:latin typeface="Verdana"/>
                <a:cs typeface="Verdana"/>
              </a:rPr>
              <a:t> предоставляет удобные методы для получения файлов из запросов и их обработки.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Этот пример позволяет загружать файлы и возвращать их содержимое.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Необходимо будет установить модуль </a:t>
            </a:r>
            <a:r>
              <a:rPr lang="ru-R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python-multipart</a:t>
            </a: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,</a:t>
            </a:r>
            <a:r>
              <a:rPr lang="ru-RU" sz="1600" dirty="0">
                <a:latin typeface="Verdana"/>
                <a:cs typeface="Verdana"/>
              </a:rPr>
              <a:t> который скачивает </a:t>
            </a:r>
            <a:r>
              <a:rPr lang="ru-RU" sz="1600" dirty="0" err="1">
                <a:latin typeface="Verdana"/>
                <a:cs typeface="Verdana"/>
              </a:rPr>
              <a:t>батчами</a:t>
            </a:r>
            <a:r>
              <a:rPr lang="ru-RU" sz="1600" dirty="0">
                <a:latin typeface="Verdana"/>
                <a:cs typeface="Verdana"/>
              </a:rPr>
              <a:t> файлы.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81000" y="285750"/>
            <a:ext cx="798957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Работа с файлами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BD084C-FE9E-4293-81A3-1F829B28D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809750"/>
            <a:ext cx="5268060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058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1155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 События при запуске и остановке приложения в </a:t>
            </a:r>
            <a:r>
              <a:rPr lang="ru-RU" sz="1600" dirty="0" err="1">
                <a:latin typeface="Verdana"/>
                <a:cs typeface="Verdana"/>
              </a:rPr>
              <a:t>FastAPI</a:t>
            </a:r>
            <a:r>
              <a:rPr lang="ru-RU" sz="1600" dirty="0">
                <a:latin typeface="Verdana"/>
                <a:cs typeface="Verdana"/>
              </a:rPr>
              <a:t>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 err="1">
                <a:latin typeface="Verdana"/>
                <a:cs typeface="Verdana"/>
              </a:rPr>
              <a:t>Startup</a:t>
            </a:r>
            <a:r>
              <a:rPr lang="ru-RU" sz="1600" dirty="0">
                <a:latin typeface="Verdana"/>
                <a:cs typeface="Verdana"/>
              </a:rPr>
              <a:t> </a:t>
            </a:r>
            <a:r>
              <a:rPr lang="ru-RU" sz="1600" dirty="0" err="1">
                <a:latin typeface="Verdana"/>
                <a:cs typeface="Verdana"/>
              </a:rPr>
              <a:t>Events</a:t>
            </a:r>
            <a:r>
              <a:rPr lang="ru-RU" sz="1600" dirty="0">
                <a:latin typeface="Verdana"/>
                <a:cs typeface="Verdana"/>
              </a:rPr>
              <a:t> (События при запуске)</a:t>
            </a: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 err="1">
                <a:latin typeface="Verdana"/>
                <a:cs typeface="Verdana"/>
              </a:rPr>
              <a:t>Shutdown</a:t>
            </a:r>
            <a:r>
              <a:rPr lang="ru-RU" sz="1600" dirty="0">
                <a:latin typeface="Verdana"/>
                <a:cs typeface="Verdana"/>
              </a:rPr>
              <a:t> </a:t>
            </a:r>
            <a:r>
              <a:rPr lang="ru-RU" sz="1600" dirty="0" err="1">
                <a:latin typeface="Verdana"/>
                <a:cs typeface="Verdana"/>
              </a:rPr>
              <a:t>Events</a:t>
            </a:r>
            <a:r>
              <a:rPr lang="ru-RU" sz="1600" dirty="0">
                <a:latin typeface="Verdana"/>
                <a:cs typeface="Verdana"/>
              </a:rPr>
              <a:t> (События при остановке)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51865" y="124541"/>
            <a:ext cx="8534400" cy="819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События запуска и завершения (</a:t>
            </a:r>
            <a:r>
              <a:rPr lang="ru-RU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Startup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/</a:t>
            </a:r>
            <a:r>
              <a:rPr lang="ru-RU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Shutdown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ru-RU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Events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FAB545C-8EA1-4B6E-8A63-D78A3BB2E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459156"/>
            <a:ext cx="4420217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321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3886200" cy="3716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Middleware</a:t>
            </a:r>
            <a:r>
              <a:rPr lang="ru-RU" sz="1600" dirty="0">
                <a:latin typeface="Verdana"/>
                <a:cs typeface="Verdana"/>
              </a:rPr>
              <a:t> - представляет собой механизм для обработки запросов до и после их обработки соответствующим обработчиком маршрута.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Типы </a:t>
            </a:r>
            <a:r>
              <a:rPr lang="en-US" sz="1600" dirty="0">
                <a:latin typeface="Verdana"/>
                <a:cs typeface="Verdana"/>
              </a:rPr>
              <a:t>middleware:</a:t>
            </a:r>
            <a:endParaRPr lang="ru-RU" sz="1600" dirty="0"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Промежуточное ПО до обработки запроса (</a:t>
            </a:r>
            <a:r>
              <a:rPr lang="ru-RU" sz="1600" dirty="0" err="1">
                <a:latin typeface="Verdana"/>
                <a:cs typeface="Verdana"/>
              </a:rPr>
              <a:t>Request</a:t>
            </a:r>
            <a:r>
              <a:rPr lang="ru-RU" sz="1600" dirty="0">
                <a:latin typeface="Verdana"/>
                <a:cs typeface="Verdana"/>
              </a:rPr>
              <a:t> </a:t>
            </a:r>
            <a:r>
              <a:rPr lang="ru-RU" sz="1600" dirty="0" err="1">
                <a:latin typeface="Verdana"/>
                <a:cs typeface="Verdana"/>
              </a:rPr>
              <a:t>Middleware</a:t>
            </a:r>
            <a:r>
              <a:rPr lang="ru-RU" sz="1600" dirty="0">
                <a:latin typeface="Verdana"/>
                <a:cs typeface="Verdana"/>
              </a:rPr>
              <a:t>)</a:t>
            </a: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Промежуточное ПО после обработки запроса (Response </a:t>
            </a:r>
            <a:r>
              <a:rPr lang="ru-RU" sz="1600" dirty="0" err="1">
                <a:latin typeface="Verdana"/>
                <a:cs typeface="Verdana"/>
              </a:rPr>
              <a:t>Middleware</a:t>
            </a:r>
            <a:r>
              <a:rPr lang="ru-RU" sz="1600" dirty="0">
                <a:latin typeface="Verdana"/>
                <a:cs typeface="Verdana"/>
              </a:rPr>
              <a:t>)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51865" y="124541"/>
            <a:ext cx="853440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Миддлвари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(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Middleware)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66C050-504E-4D06-88C7-351465B75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586" y="666750"/>
            <a:ext cx="4486414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4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876300" y="2114550"/>
            <a:ext cx="7391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2. Брокер сообщений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RabbitMQ</a:t>
            </a:r>
          </a:p>
          <a:p>
            <a:pPr algn="ctr"/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307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66719"/>
            <a:ext cx="6477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Брокер сообщений</a:t>
            </a:r>
            <a:endParaRPr lang="en-US" sz="4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304800" y="2190750"/>
            <a:ext cx="7958138" cy="21011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это промежуточное программное обеспечение, которое обеспечивает передачу сообщений между различными компонентами приложения или системы. Он играет роль посредника между отправителями и получателями сообщений, обеспечивая их доставку и обработку в соответствии с определенными правилами и механизмами.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31790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322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Получение сообщений</a:t>
            </a: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2. Хранение сообщений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3. Маршрутизация сообщений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4. Доставка сообщений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5. Управление очередями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6. Обеспечение надежности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51865" y="124541"/>
            <a:ext cx="853440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Основные функции брокера сообщений</a:t>
            </a:r>
          </a:p>
        </p:txBody>
      </p:sp>
    </p:spTree>
    <p:extLst>
      <p:ext uri="{BB962C8B-B14F-4D97-AF65-F5344CB8AC3E}">
        <p14:creationId xmlns:p14="http://schemas.microsoft.com/office/powerpoint/2010/main" val="19909023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67553" y="1028014"/>
            <a:ext cx="7989570" cy="411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Паттерн обмена сообщениями (</a:t>
            </a:r>
            <a:r>
              <a:rPr lang="en-US" sz="1600" dirty="0">
                <a:latin typeface="Verdana"/>
                <a:cs typeface="Verdana"/>
              </a:rPr>
              <a:t>Message Exchange Pattern)</a:t>
            </a:r>
            <a:r>
              <a:rPr lang="ru-RU" sz="1600" dirty="0">
                <a:latin typeface="Verdana"/>
                <a:cs typeface="Verdana"/>
              </a:rPr>
              <a:t>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- </a:t>
            </a:r>
            <a:r>
              <a:rPr lang="en-US" sz="1600" dirty="0">
                <a:latin typeface="Verdana"/>
                <a:cs typeface="Verdana"/>
              </a:rPr>
              <a:t>Point-to-Point (P2P)</a:t>
            </a: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- </a:t>
            </a:r>
            <a:r>
              <a:rPr lang="en-US" sz="1600" dirty="0">
                <a:latin typeface="Verdana"/>
                <a:cs typeface="Verdana"/>
              </a:rPr>
              <a:t>Publish-Subscribe (Pub/Sub)</a:t>
            </a: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2. Типы общения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- </a:t>
            </a:r>
            <a:r>
              <a:rPr lang="en-US" sz="1600" dirty="0">
                <a:latin typeface="Verdana"/>
                <a:cs typeface="Verdana"/>
              </a:rPr>
              <a:t>Direct</a:t>
            </a: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- </a:t>
            </a:r>
            <a:r>
              <a:rPr lang="en-US" sz="1600" dirty="0">
                <a:latin typeface="Verdana"/>
                <a:cs typeface="Verdana"/>
              </a:rPr>
              <a:t>Fanout</a:t>
            </a: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- </a:t>
            </a:r>
            <a:r>
              <a:rPr lang="en-US" sz="1600" dirty="0">
                <a:latin typeface="Verdana"/>
                <a:cs typeface="Verdana"/>
              </a:rPr>
              <a:t>Topic</a:t>
            </a: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3. Коммуникационные модели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- </a:t>
            </a:r>
            <a:r>
              <a:rPr lang="en-US" sz="1600" dirty="0">
                <a:latin typeface="Verdana"/>
                <a:cs typeface="Verdana"/>
              </a:rPr>
              <a:t>Push-based</a:t>
            </a: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- </a:t>
            </a:r>
            <a:r>
              <a:rPr lang="en-US" sz="1600" dirty="0">
                <a:latin typeface="Verdana"/>
                <a:cs typeface="Verdana"/>
              </a:rPr>
              <a:t>Pull-based</a:t>
            </a: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4. Гарантии доставки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- </a:t>
            </a:r>
            <a:r>
              <a:rPr lang="en-US" sz="1600" dirty="0">
                <a:latin typeface="Verdana"/>
                <a:cs typeface="Verdana"/>
              </a:rPr>
              <a:t>At most once</a:t>
            </a: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- </a:t>
            </a:r>
            <a:r>
              <a:rPr lang="en-US" sz="1600" dirty="0">
                <a:latin typeface="Verdana"/>
                <a:cs typeface="Verdana"/>
              </a:rPr>
              <a:t>At least once</a:t>
            </a: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- </a:t>
            </a:r>
            <a:r>
              <a:rPr lang="en-US" sz="1600" dirty="0">
                <a:latin typeface="Verdana"/>
                <a:cs typeface="Verdana"/>
              </a:rPr>
              <a:t>Exactly once</a:t>
            </a: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51865" y="124541"/>
            <a:ext cx="8534400" cy="819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Основные виды общения и паттерны обмена сообщениями</a:t>
            </a:r>
          </a:p>
        </p:txBody>
      </p:sp>
    </p:spTree>
    <p:extLst>
      <p:ext uri="{BB962C8B-B14F-4D97-AF65-F5344CB8AC3E}">
        <p14:creationId xmlns:p14="http://schemas.microsoft.com/office/powerpoint/2010/main" val="13920386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66719"/>
            <a:ext cx="6477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RabbitMQ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215153" y="1885950"/>
            <a:ext cx="6096000" cy="31629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это мощный и гибкий брокер сообщений, который широко используется в распределенных системах для обмена данными между различными компонентами приложений. Он реализует стандартный протокол AMQP (Advanced Message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Queuing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 Protocol), что делает его совместимым с широким спектром языков программирования и платформ.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290" name="Picture 2" descr="Introduction to RabbitMQ: A Powerful and Reliable Message Broker">
            <a:extLst>
              <a:ext uri="{FF2B5EF4-FFF2-40B4-BE49-F238E27FC236}">
                <a16:creationId xmlns:a16="http://schemas.microsoft.com/office/drawing/2014/main" id="{EA98129E-18FC-48F6-90FD-6346EE7E9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952750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9002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67553" y="1028014"/>
            <a:ext cx="7989570" cy="38195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Виртуальный хост (</a:t>
            </a:r>
            <a:r>
              <a:rPr lang="en-US" sz="1600" dirty="0">
                <a:latin typeface="Verdana"/>
                <a:cs typeface="Verdana"/>
              </a:rPr>
              <a:t>Virtual Host)</a:t>
            </a: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Канал (</a:t>
            </a:r>
            <a:r>
              <a:rPr lang="en-US" sz="1600" dirty="0">
                <a:latin typeface="Verdana"/>
                <a:cs typeface="Verdana"/>
              </a:rPr>
              <a:t>Channel)</a:t>
            </a: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Exchange</a:t>
            </a: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Очередь (</a:t>
            </a:r>
            <a:r>
              <a:rPr lang="en-US" sz="1600" dirty="0">
                <a:latin typeface="Verdana"/>
                <a:cs typeface="Verdana"/>
              </a:rPr>
              <a:t>Queue)</a:t>
            </a: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Маршрутизация</a:t>
            </a:r>
            <a:endParaRPr lang="en-US" sz="1600" dirty="0"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Сообщение (</a:t>
            </a:r>
            <a:r>
              <a:rPr lang="en-US" sz="1600" dirty="0">
                <a:latin typeface="Verdana"/>
                <a:cs typeface="Verdana"/>
              </a:rPr>
              <a:t>Message)</a:t>
            </a: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Издатель (</a:t>
            </a:r>
            <a:r>
              <a:rPr lang="en-US" sz="1600" dirty="0">
                <a:latin typeface="Verdana"/>
                <a:cs typeface="Verdana"/>
              </a:rPr>
              <a:t>Publisher) </a:t>
            </a:r>
            <a:r>
              <a:rPr lang="ru-RU" sz="1600" dirty="0">
                <a:latin typeface="Verdana"/>
                <a:cs typeface="Verdana"/>
              </a:rPr>
              <a:t>и Потребитель (</a:t>
            </a:r>
            <a:r>
              <a:rPr lang="en-US" sz="1600" dirty="0">
                <a:latin typeface="Verdana"/>
                <a:cs typeface="Verdana"/>
              </a:rPr>
              <a:t>Consumer)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51865" y="124541"/>
            <a:ext cx="853440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Основные объекты и понятия </a:t>
            </a:r>
            <a:r>
              <a:rPr lang="ru-RU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RabbitMQ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22531" name="Picture 3">
            <a:extLst>
              <a:ext uri="{FF2B5EF4-FFF2-40B4-BE49-F238E27FC236}">
                <a16:creationId xmlns:a16="http://schemas.microsoft.com/office/drawing/2014/main" id="{410BD2A8-540A-46C9-AFBE-AB1A10BFA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581150"/>
            <a:ext cx="5996902" cy="224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9588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1155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Direct Exchange</a:t>
            </a: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Fanout Exchange</a:t>
            </a:r>
            <a:endParaRPr lang="ru-RU" sz="1600" dirty="0"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Topic Exchange</a:t>
            </a:r>
            <a:endParaRPr lang="ru-RU" sz="1600" dirty="0">
              <a:latin typeface="Verdana"/>
              <a:cs typeface="Verdana"/>
            </a:endParaRPr>
          </a:p>
          <a:p>
            <a:pPr marL="355600" marR="556260" indent="-34290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Headers Exchange</a:t>
            </a: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51865" y="124541"/>
            <a:ext cx="853440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Exchange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788B0E9-5770-4A97-973D-87A6880D3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65" y="2495550"/>
            <a:ext cx="6315956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6535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20051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Очередь - это базовый элемент </a:t>
            </a:r>
            <a:r>
              <a:rPr lang="ru-RU" sz="1600" dirty="0" err="1">
                <a:latin typeface="Verdana"/>
                <a:cs typeface="Verdana"/>
              </a:rPr>
              <a:t>RabbitMQ</a:t>
            </a:r>
            <a:r>
              <a:rPr lang="ru-RU" sz="1600" dirty="0">
                <a:latin typeface="Verdana"/>
                <a:cs typeface="Verdana"/>
              </a:rPr>
              <a:t>, который хранит сообщения, ожидающие обработки.</a:t>
            </a: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Сообщения помещаются в очередь издателями и отправляются потребителям.</a:t>
            </a: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Очередь имеет название и может быть долговременной (</a:t>
            </a:r>
            <a:r>
              <a:rPr lang="ru-RU" sz="1600" dirty="0" err="1">
                <a:latin typeface="Verdana"/>
                <a:cs typeface="Verdana"/>
              </a:rPr>
              <a:t>persistent</a:t>
            </a:r>
            <a:r>
              <a:rPr lang="ru-RU" sz="1600" dirty="0">
                <a:latin typeface="Verdana"/>
                <a:cs typeface="Verdana"/>
              </a:rPr>
              <a:t>) или временной (</a:t>
            </a:r>
            <a:r>
              <a:rPr lang="ru-RU" sz="1600" dirty="0" err="1">
                <a:latin typeface="Verdana"/>
                <a:cs typeface="Verdana"/>
              </a:rPr>
              <a:t>temporary</a:t>
            </a:r>
            <a:r>
              <a:rPr lang="ru-RU" sz="1600" dirty="0">
                <a:latin typeface="Verdana"/>
                <a:cs typeface="Verdana"/>
              </a:rPr>
              <a:t>).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51865" y="124541"/>
            <a:ext cx="853440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Очередь (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Queue)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885E296-DFAB-4E63-B49E-20A274942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28950"/>
            <a:ext cx="6630325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606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8340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Маршрутизация - процесс направления сообщений от обменов к очередям в соответствии с правилами, определенными для каждого обмена.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51865" y="124541"/>
            <a:ext cx="853440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Маршрутизация (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Routing)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C0D04D-083E-4570-A3CD-58B85B16A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66950"/>
            <a:ext cx="7582958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9568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2609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– это данные, которые передаются между издателями и потребителями через </a:t>
            </a:r>
            <a:r>
              <a:rPr lang="ru-RU" sz="1600" dirty="0" err="1">
                <a:latin typeface="Verdana"/>
                <a:cs typeface="Verdana"/>
              </a:rPr>
              <a:t>RabbitMQ</a:t>
            </a:r>
            <a:r>
              <a:rPr lang="ru-RU" sz="1600" dirty="0">
                <a:latin typeface="Verdana"/>
                <a:cs typeface="Verdana"/>
              </a:rPr>
              <a:t>. Оно состоит из заголовка и тела, где заголовок содержит метаданные, а тело - собственно данные.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Концепции, связанные с обработкой сообщений в системе:</a:t>
            </a: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Durable (</a:t>
            </a:r>
            <a:r>
              <a:rPr lang="ru-RU" sz="1600" dirty="0">
                <a:latin typeface="Verdana"/>
                <a:cs typeface="Verdana"/>
              </a:rPr>
              <a:t>Сохранение)</a:t>
            </a: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TTL &amp; expiration (</a:t>
            </a:r>
            <a:r>
              <a:rPr lang="ru-RU" sz="1600" dirty="0">
                <a:latin typeface="Verdana"/>
                <a:cs typeface="Verdana"/>
              </a:rPr>
              <a:t>Время жизни)</a:t>
            </a: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ACK (</a:t>
            </a:r>
            <a:r>
              <a:rPr lang="ru-RU" sz="1600" dirty="0">
                <a:latin typeface="Verdana"/>
                <a:cs typeface="Verdana"/>
              </a:rPr>
              <a:t>Подтверждение)</a:t>
            </a: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Dead lettering (</a:t>
            </a:r>
            <a:r>
              <a:rPr lang="ru-RU" sz="1600" dirty="0">
                <a:latin typeface="Verdana"/>
                <a:cs typeface="Verdana"/>
              </a:rPr>
              <a:t>Обработка ошибок)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51865" y="124541"/>
            <a:ext cx="853440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Сообщение (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Message)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9974794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11428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- это приложение, которое отправляет сообщения в обмены </a:t>
            </a:r>
            <a:r>
              <a:rPr lang="ru-RU" sz="1600" dirty="0" err="1">
                <a:latin typeface="Verdana"/>
                <a:cs typeface="Verdana"/>
              </a:rPr>
              <a:t>RabbitMQ</a:t>
            </a:r>
            <a:r>
              <a:rPr lang="ru-RU" sz="1600" dirty="0">
                <a:latin typeface="Verdana"/>
                <a:cs typeface="Verdana"/>
              </a:rPr>
              <a:t>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Отправка сообщения (</a:t>
            </a:r>
            <a:r>
              <a:rPr lang="ru-RU" sz="1600" dirty="0" err="1">
                <a:latin typeface="Verdana"/>
                <a:cs typeface="Verdana"/>
              </a:rPr>
              <a:t>Publish</a:t>
            </a:r>
            <a:r>
              <a:rPr lang="ru-RU" sz="1600" dirty="0">
                <a:latin typeface="Verdana"/>
                <a:cs typeface="Verdana"/>
              </a:rPr>
              <a:t>) в обмен: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51865" y="124541"/>
            <a:ext cx="853440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Издатель (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Publisher)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A2CD33-6500-478B-901B-82430BC17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65" y="2419350"/>
            <a:ext cx="6335009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428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51865" y="863979"/>
            <a:ext cx="7989570" cy="8468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Tx/>
              <a:buChar char="-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это приложение, которое принимает сообщения из очередей </a:t>
            </a:r>
            <a:r>
              <a:rPr lang="ru-RU" sz="1600" dirty="0" err="1">
                <a:latin typeface="Verdana"/>
                <a:cs typeface="Verdana"/>
              </a:rPr>
              <a:t>RabbitMQ</a:t>
            </a:r>
            <a:r>
              <a:rPr lang="ru-RU" sz="1600" dirty="0">
                <a:latin typeface="Verdana"/>
                <a:cs typeface="Verdana"/>
              </a:rPr>
              <a:t> для последующей обработки.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Получение сообщения (</a:t>
            </a:r>
            <a:r>
              <a:rPr lang="ru-RU" sz="1600" dirty="0" err="1">
                <a:latin typeface="Verdana"/>
                <a:cs typeface="Verdana"/>
              </a:rPr>
              <a:t>Consume</a:t>
            </a:r>
            <a:r>
              <a:rPr lang="ru-RU" sz="1600" dirty="0">
                <a:latin typeface="Verdana"/>
                <a:cs typeface="Verdana"/>
              </a:rPr>
              <a:t>) из очереди: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51865" y="124541"/>
            <a:ext cx="853440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Потребитель (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Consumer)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0E7288-DE99-4D13-A61F-5FC8F98E5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65" y="1999113"/>
            <a:ext cx="6878010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542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876300" y="2114550"/>
            <a:ext cx="7391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3. Брокер сообщений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Celery</a:t>
            </a:r>
          </a:p>
          <a:p>
            <a:pPr algn="ctr"/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4322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66719"/>
            <a:ext cx="6477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Celery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304800" y="2190750"/>
            <a:ext cx="7958138" cy="1393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это мощный инструмент для асинхронной обработки задач. Он предоставляет возможность выполнять задачи в фоновом режиме и эффективно управлять их выполнением через распределенную очередь. 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554" name="Picture 2" descr="celery (@celeryq) / X">
            <a:extLst>
              <a:ext uri="{FF2B5EF4-FFF2-40B4-BE49-F238E27FC236}">
                <a16:creationId xmlns:a16="http://schemas.microsoft.com/office/drawing/2014/main" id="{0B0713FE-F870-46BA-A34A-30A40FB78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91197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26854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11172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Задача в </a:t>
            </a:r>
            <a:r>
              <a:rPr lang="ru-RU" sz="1600" dirty="0" err="1">
                <a:latin typeface="Verdana"/>
                <a:cs typeface="Verdana"/>
              </a:rPr>
              <a:t>Celery</a:t>
            </a:r>
            <a:r>
              <a:rPr lang="ru-RU" sz="1600" dirty="0">
                <a:latin typeface="Verdana"/>
                <a:cs typeface="Verdana"/>
              </a:rPr>
              <a:t> представляет собой отдельную единицу работы, которую нужно выполнить. Она может быть любой функцией или методом Python. Для создания задачи используется декоратор </a:t>
            </a: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@task</a:t>
            </a:r>
            <a:r>
              <a:rPr lang="ru-RU" sz="1600" dirty="0">
                <a:latin typeface="Verdana"/>
                <a:cs typeface="Verdana"/>
              </a:rPr>
              <a:t>.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51865" y="124541"/>
            <a:ext cx="853440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Задача (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Task)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42412BA-6952-4289-B49C-3E20113BF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419350"/>
            <a:ext cx="4258269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5455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4800" y="742950"/>
            <a:ext cx="7989570" cy="322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Shared </a:t>
            </a:r>
            <a:r>
              <a:rPr lang="ru-RU" sz="1600" dirty="0">
                <a:latin typeface="Verdana"/>
                <a:cs typeface="Verdana"/>
              </a:rPr>
              <a:t>задачи: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Частичная сигнатура задачи: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Задание задачи с определенным приоритетом: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1FB198-57AE-488F-B065-C7535AB8E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47750"/>
            <a:ext cx="3286584" cy="8954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6EE81B2-4B48-48CA-ABDA-6F68C1990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12" y="2571750"/>
            <a:ext cx="6011114" cy="55252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03CF88C-E845-4445-99EA-379125FCA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790907"/>
            <a:ext cx="2476846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3075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322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Chain: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Group: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cs typeface="Verdana"/>
              </a:rPr>
              <a:t>Chord: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/>
              <a:cs typeface="Verdan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51865" y="124541"/>
            <a:ext cx="853440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Агрегационные функции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6C2D56E-4FBD-4917-B19A-00F8E888E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65" y="1504950"/>
            <a:ext cx="4953691" cy="69542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2825217-3EA6-4F4B-9BA5-D570E293B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65" y="2737725"/>
            <a:ext cx="5010849" cy="75258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577CC48-9319-48F0-B480-FE8033405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865" y="4170330"/>
            <a:ext cx="5372850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8598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20051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Рабочие процессы отвечают за выполнение задач из очередей. Они могут быть запущены на разных узлах и обрабатывать задачи параллельно.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 err="1">
                <a:latin typeface="Verdana"/>
                <a:cs typeface="Verdana"/>
              </a:rPr>
              <a:t>tasks</a:t>
            </a:r>
            <a:r>
              <a:rPr lang="ru-RU" sz="1600" dirty="0">
                <a:latin typeface="Verdana"/>
                <a:cs typeface="Verdana"/>
              </a:rPr>
              <a:t> здесь это название файла в котором определена переменная-</a:t>
            </a:r>
            <a:r>
              <a:rPr lang="ru-RU" sz="1600" dirty="0" err="1">
                <a:latin typeface="Verdana"/>
                <a:cs typeface="Verdana"/>
              </a:rPr>
              <a:t>singleton</a:t>
            </a:r>
            <a:r>
              <a:rPr lang="ru-RU" sz="1600" dirty="0">
                <a:latin typeface="Verdana"/>
                <a:cs typeface="Verdana"/>
              </a:rPr>
              <a:t> </a:t>
            </a:r>
            <a:r>
              <a:rPr lang="ru-RU" sz="1600" dirty="0" err="1">
                <a:latin typeface="Verdana"/>
                <a:cs typeface="Verdana"/>
              </a:rPr>
              <a:t>app</a:t>
            </a: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51865" y="124541"/>
            <a:ext cx="853440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Рабочие процессы (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Workers)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487099-899D-4E1C-9898-B2483A86D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14550"/>
            <a:ext cx="3372321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9336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25842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 err="1">
                <a:latin typeface="Verdana"/>
                <a:cs typeface="Verdana"/>
              </a:rPr>
              <a:t>Бекенд</a:t>
            </a:r>
            <a:r>
              <a:rPr lang="ru-RU" sz="1600" dirty="0">
                <a:latin typeface="Verdana"/>
                <a:cs typeface="Verdana"/>
              </a:rPr>
              <a:t> в </a:t>
            </a:r>
            <a:r>
              <a:rPr lang="ru-RU" sz="1600" dirty="0" err="1">
                <a:latin typeface="Verdana"/>
                <a:cs typeface="Verdana"/>
              </a:rPr>
              <a:t>Celery</a:t>
            </a:r>
            <a:r>
              <a:rPr lang="ru-RU" sz="1600" dirty="0">
                <a:latin typeface="Verdana"/>
                <a:cs typeface="Verdana"/>
              </a:rPr>
              <a:t> - это хранилище результатов выполнения задач. </a:t>
            </a:r>
            <a:r>
              <a:rPr lang="ru-RU" sz="1600" dirty="0" err="1">
                <a:latin typeface="Verdana"/>
                <a:cs typeface="Verdana"/>
              </a:rPr>
              <a:t>Celery</a:t>
            </a:r>
            <a:r>
              <a:rPr lang="ru-RU" sz="1600" dirty="0">
                <a:latin typeface="Verdana"/>
                <a:cs typeface="Verdana"/>
              </a:rPr>
              <a:t> поддерживает различные </a:t>
            </a:r>
            <a:r>
              <a:rPr lang="ru-RU" sz="1600" dirty="0" err="1">
                <a:latin typeface="Verdana"/>
                <a:cs typeface="Verdana"/>
              </a:rPr>
              <a:t>бекенды</a:t>
            </a:r>
            <a:r>
              <a:rPr lang="ru-RU" sz="1600" dirty="0">
                <a:latin typeface="Verdana"/>
                <a:cs typeface="Verdana"/>
              </a:rPr>
              <a:t>, такие как </a:t>
            </a:r>
            <a:r>
              <a:rPr lang="ru-RU" sz="1600" dirty="0" err="1">
                <a:latin typeface="Verdana"/>
                <a:cs typeface="Verdana"/>
              </a:rPr>
              <a:t>Redis</a:t>
            </a:r>
            <a:r>
              <a:rPr lang="ru-RU" sz="1600" dirty="0">
                <a:latin typeface="Verdana"/>
                <a:cs typeface="Verdana"/>
              </a:rPr>
              <a:t>, </a:t>
            </a:r>
            <a:r>
              <a:rPr lang="ru-RU" sz="1600" dirty="0" err="1">
                <a:latin typeface="Verdana"/>
                <a:cs typeface="Verdana"/>
              </a:rPr>
              <a:t>SQLAlchemy</a:t>
            </a:r>
            <a:r>
              <a:rPr lang="ru-RU" sz="1600" dirty="0">
                <a:latin typeface="Verdana"/>
                <a:cs typeface="Verdana"/>
              </a:rPr>
              <a:t>. </a:t>
            </a:r>
            <a:r>
              <a:rPr lang="ru-RU" sz="1600" dirty="0" err="1">
                <a:latin typeface="Verdana"/>
                <a:cs typeface="Verdana"/>
              </a:rPr>
              <a:t>Бекенд</a:t>
            </a:r>
            <a:r>
              <a:rPr lang="ru-RU" sz="1600" dirty="0">
                <a:latin typeface="Verdana"/>
                <a:cs typeface="Verdana"/>
              </a:rPr>
              <a:t> используется для хранения результатов задач и для отслеживания их выполнения.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Пример настройки </a:t>
            </a:r>
            <a:r>
              <a:rPr lang="ru-RU" sz="1600" dirty="0" err="1">
                <a:latin typeface="Verdana"/>
                <a:cs typeface="Verdana"/>
              </a:rPr>
              <a:t>бекенда</a:t>
            </a:r>
            <a:r>
              <a:rPr lang="ru-RU" sz="1600" dirty="0">
                <a:latin typeface="Verdana"/>
                <a:cs typeface="Verdana"/>
              </a:rPr>
              <a:t>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app = Celery('tasks', broker='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redis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://localhost:6379/0', backend='</a:t>
            </a: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redis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://localhost:6379/1')</a:t>
            </a:r>
            <a:endParaRPr lang="ru-RU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51865" y="124541"/>
            <a:ext cx="853440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Бекенд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(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Backend)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1213532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1123950"/>
            <a:ext cx="7989570" cy="20179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Результат задачи представляет собой объект, который предоставляет информацию о статусе выполнения задачи и ее результате.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Более универсальный вариант: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BDF17F-D51E-4D40-B549-FEB7EA1036CB}"/>
              </a:ext>
            </a:extLst>
          </p:cNvPr>
          <p:cNvSpPr txBox="1"/>
          <p:nvPr/>
        </p:nvSpPr>
        <p:spPr>
          <a:xfrm>
            <a:off x="351865" y="124541"/>
            <a:ext cx="8534400" cy="39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Результат задачи (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Task Result)</a:t>
            </a: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55DD8A7-8BDD-47FE-AAD8-53CA71A2D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65" y="2043317"/>
            <a:ext cx="3972479" cy="54300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D3521FD-DA46-44C3-B7D4-EE3520282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65" y="3141938"/>
            <a:ext cx="4505954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1200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/>
        </p:nvSpPr>
        <p:spPr>
          <a:xfrm>
            <a:off x="540000" y="504001"/>
            <a:ext cx="7560000" cy="48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"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  <a:endParaRPr sz="3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1" name="Google Shape;22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45689"/>
            <a:ext cx="9144000" cy="3267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1078</TotalTime>
  <Words>1246</Words>
  <Application>Microsoft Office PowerPoint</Application>
  <PresentationFormat>Экран (16:9)</PresentationFormat>
  <Paragraphs>266</Paragraphs>
  <Slides>43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50" baseType="lpstr">
      <vt:lpstr>Arial</vt:lpstr>
      <vt:lpstr>Calibri</vt:lpstr>
      <vt:lpstr>Montserrat</vt:lpstr>
      <vt:lpstr>Symbol</vt:lpstr>
      <vt:lpstr>Tahoma</vt:lpstr>
      <vt:lpstr>Verdana</vt:lpstr>
      <vt:lpstr>Office Theme</vt:lpstr>
      <vt:lpstr>Презентация PowerPoint</vt:lpstr>
      <vt:lpstr>План занятия</vt:lpstr>
      <vt:lpstr>Презентация PowerPoint</vt:lpstr>
      <vt:lpstr>Презентация PowerPoint</vt:lpstr>
      <vt:lpstr>Преимущества  • Простота использования  • Производительность  • Поддержка валидации данных  • Интерактивная документация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Формирование рабочего процесса: Acceptance criterias, DoR и DoD и ограничения гибких методологий</dc:title>
  <cp:lastModifiedBy>Константин Некрасов</cp:lastModifiedBy>
  <cp:revision>190</cp:revision>
  <dcterms:created xsi:type="dcterms:W3CDTF">2024-04-17T14:30:02Z</dcterms:created>
  <dcterms:modified xsi:type="dcterms:W3CDTF">2026-03-19T14:22:37Z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