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8" r:id="rId2"/>
    <p:sldId id="257" r:id="rId3"/>
    <p:sldId id="367" r:id="rId4"/>
    <p:sldId id="361" r:id="rId5"/>
    <p:sldId id="362" r:id="rId6"/>
    <p:sldId id="363" r:id="rId7"/>
    <p:sldId id="364" r:id="rId8"/>
    <p:sldId id="389" r:id="rId9"/>
    <p:sldId id="365" r:id="rId10"/>
    <p:sldId id="390" r:id="rId11"/>
    <p:sldId id="369" r:id="rId12"/>
    <p:sldId id="370" r:id="rId13"/>
    <p:sldId id="330" r:id="rId14"/>
    <p:sldId id="371" r:id="rId15"/>
    <p:sldId id="373" r:id="rId16"/>
    <p:sldId id="374" r:id="rId17"/>
    <p:sldId id="375" r:id="rId18"/>
    <p:sldId id="376" r:id="rId19"/>
    <p:sldId id="377" r:id="rId20"/>
    <p:sldId id="378" r:id="rId21"/>
    <p:sldId id="379" r:id="rId22"/>
    <p:sldId id="380" r:id="rId23"/>
    <p:sldId id="381" r:id="rId24"/>
    <p:sldId id="382" r:id="rId25"/>
    <p:sldId id="383" r:id="rId26"/>
    <p:sldId id="384" r:id="rId27"/>
    <p:sldId id="385" r:id="rId28"/>
    <p:sldId id="386" r:id="rId29"/>
    <p:sldId id="372" r:id="rId30"/>
    <p:sldId id="366" r:id="rId31"/>
    <p:sldId id="391" r:id="rId32"/>
    <p:sldId id="392" r:id="rId33"/>
    <p:sldId id="393" r:id="rId34"/>
    <p:sldId id="394" r:id="rId35"/>
    <p:sldId id="395" r:id="rId36"/>
    <p:sldId id="396" r:id="rId37"/>
    <p:sldId id="397" r:id="rId38"/>
    <p:sldId id="398" r:id="rId39"/>
    <p:sldId id="399" r:id="rId40"/>
    <p:sldId id="368" r:id="rId41"/>
    <p:sldId id="400" r:id="rId42"/>
    <p:sldId id="401" r:id="rId43"/>
    <p:sldId id="402" r:id="rId44"/>
    <p:sldId id="277" r:id="rId4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4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1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266B5-8DC8-4562-8150-40E8F32471BE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3D6E4-79C9-4E2D-9905-72C794A74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499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ADEED-C88D-4D94-AC11-8AAE61BEC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7A179C-3449-4612-BED6-E328368E37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4781B0-A377-4CF1-9BAA-BCFFB161C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2C6C19-D855-4B9F-8103-7B41DCAFC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D2B05B-EECF-4011-8E7C-8A4170AFD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245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CE6C47-F209-4943-8ED4-867A802E7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B22F2A-CD8B-4FF0-A518-E8F3E6651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B9E6CF-6173-43AC-8BE0-16F58ADE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851B22-D56B-4BB5-9185-9630E29E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C8B6D9-64FC-48FE-B601-4D968F57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57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55A05C-0854-402F-A8A3-30D52B782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812A29-1580-4C78-9521-F20C536C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79129F-4DC2-452F-9C57-00F06F315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306992-BE7F-495B-9CA0-C06EFF3B0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82677D-8528-4216-9B51-7D134DD15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462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951E5-1C94-45D6-AF0F-033AD711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08D4D0-995B-4049-9E9F-20F7BD76F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93939C-214B-4EE6-8085-A87E6C532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DC0346-3F4C-4602-882E-74E888D62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7E9903-1C31-47D1-A904-E7EFCB733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879D94-71F8-4BD2-88A5-12E6B3465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073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3C854-9FBE-425D-B16F-08D4E0D45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643A85-1168-441D-BEF3-689F06002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8B99B6-AEF3-4968-8F26-C5B906A94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8D42A25-5B0B-4B55-9BD4-1C4C4F82A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6BDB74-126E-4E24-B068-DE2EF64E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CDA66AE-5FA9-4FDA-8491-3A0E8DAD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37F4ADB-6C43-4AF9-B806-80CD6BD1C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FE89BA-FC8C-4D0D-99E7-BFC7B5456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336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B5A11F-CAAB-4578-B213-055F512DB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9A15A9-D091-4641-91C3-7F15EDCA9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A279BC5-5D59-47C3-B2CB-92E9410F5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9828E90-F583-429E-8144-52D601C8C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543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2AE7253-0C27-4AAE-9847-20C1A0D8F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362BEC8-31E4-4A44-8652-EB30F90CA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C46D88-CF7C-4EA4-A7EB-3BAEF5D2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6319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EBCF4-4CDD-4181-A6BD-BA48ADF36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F5FFB7-A05B-4DAF-8141-2C9B206E6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FF93A4-0E08-4AB2-B51B-EFF7F57A9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EE2304-E4DE-40BC-A6E3-541CBD47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535334-AE7E-4789-975D-A8C23BC2C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9B6AE7-709B-473E-8CCB-384DE501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01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DA68A-DC6A-4053-A119-363F15287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67FC59A-020F-451A-A8C3-47F524F23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929CBFA-7D95-40D1-AC2D-5483BB711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D81A639-BD9F-4F87-A210-1FC69B70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4CF02E-0252-4A29-993D-D5A44055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73321F-1847-4AF1-8C96-EC92381C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740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66FED0-1F06-44D6-BB0E-7BAB3ED1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677CFA-2422-4D06-9508-36039B318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EBFA82-88F1-4522-B501-D1F3D24D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1F5F5A-0AAD-47DD-903A-D20A2E7A9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B351B4-FDA3-465D-BC04-7957791C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63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E6B8811-45D0-44A5-B87B-E62897213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6E2902A-3C52-4A09-AAB9-111497351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524F4D-C137-489D-B608-BC563E618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9258D7-4029-479A-B13C-15A956E01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A288E4-37CF-4475-97D0-853DD022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904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5267" y="403200"/>
            <a:ext cx="3578365" cy="5244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434" y="667541"/>
            <a:ext cx="11425132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3798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1_Титульный слайд">
    <p:bg>
      <p:bgPr>
        <a:solidFill>
          <a:srgbClr val="005FAF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67508" y="5710734"/>
            <a:ext cx="2325233" cy="197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31603" y="4926558"/>
            <a:ext cx="2056565" cy="145326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"/>
          <p:cNvSpPr txBox="1"/>
          <p:nvPr/>
        </p:nvSpPr>
        <p:spPr>
          <a:xfrm rot="2700000">
            <a:off x="9744986" y="5546537"/>
            <a:ext cx="401071" cy="53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867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sz="1867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10720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76EB23-55F7-4C71-8883-51563E79B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2434C9-32CA-4594-9243-DE8E3F30A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9A14B7-9110-478E-95D1-401E6CA588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A495D-740F-4A7A-B0B6-291FC27862D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F9A458-3381-4A47-803C-C6D795FFB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95835C-83A9-4083-AF3D-2E216949C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864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17" r:id="rId12"/>
    <p:sldLayoutId id="214748371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6ZjYcy76wsY1MTF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repo.anaconda.com/miniconda/Miniconda3-latest-Linux-x86_64.sh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/>
        </p:nvSpPr>
        <p:spPr>
          <a:xfrm>
            <a:off x="1828801" y="5438475"/>
            <a:ext cx="5201599" cy="150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00" tIns="48000" rIns="48000" bIns="48000" anchor="t" anchorCtr="0">
            <a:spAutoFit/>
          </a:bodyPr>
          <a:lstStyle/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Некрасов Константин Олегович</a:t>
            </a: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Директор по разработке ML-моделей  </a:t>
            </a: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АО «Газпромбанк»</a:t>
            </a:r>
            <a:endParaRPr lang="en-US" sz="16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Блог: </a:t>
            </a:r>
            <a:r>
              <a:rPr lang="en-US" sz="16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Labalgo</a:t>
            </a:r>
            <a:endParaRPr lang="en-US" sz="16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endParaRPr lang="ru-RU" sz="1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8"/>
          <p:cNvSpPr txBox="1"/>
          <p:nvPr/>
        </p:nvSpPr>
        <p:spPr>
          <a:xfrm>
            <a:off x="552000" y="267639"/>
            <a:ext cx="11088000" cy="835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00" tIns="48000" rIns="48000" bIns="48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-RU" sz="5333" b="1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Внедрение моделей </a:t>
            </a:r>
            <a:r>
              <a:rPr lang="en-US" sz="5333" b="1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ML</a:t>
            </a:r>
          </a:p>
        </p:txBody>
      </p:sp>
      <p:sp>
        <p:nvSpPr>
          <p:cNvPr id="39" name="Google Shape;39;p8"/>
          <p:cNvSpPr txBox="1"/>
          <p:nvPr/>
        </p:nvSpPr>
        <p:spPr>
          <a:xfrm>
            <a:off x="232281" y="3765457"/>
            <a:ext cx="10080000" cy="142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00" tIns="48000" rIns="48000" bIns="48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-RU" sz="3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Изоляция и управление 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-RU" sz="3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средами и инструменты для 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-RU" sz="3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управления зависимостями</a:t>
            </a:r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929844"/>
            <a:ext cx="12192000" cy="30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3867" y="229514"/>
            <a:ext cx="52180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План</a:t>
            </a:r>
            <a:r>
              <a:rPr b="1" spc="-28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b="1" spc="2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занятия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3867" y="1431240"/>
            <a:ext cx="11044320" cy="26408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93497" indent="-480048">
              <a:lnSpc>
                <a:spcPct val="150000"/>
              </a:lnSpc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r>
              <a:rPr lang="ru-RU" sz="2400" spc="213" dirty="0">
                <a:solidFill>
                  <a:srgbClr val="181818"/>
                </a:solidFill>
                <a:latin typeface="Verdana"/>
                <a:cs typeface="Verdana"/>
              </a:rPr>
              <a:t>Изоляция и управление средами и инструменты для управления зависимостями</a:t>
            </a:r>
          </a:p>
          <a:p>
            <a:pPr marL="593497" indent="-480048">
              <a:lnSpc>
                <a:spcPct val="150000"/>
              </a:lnSpc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r>
              <a:rPr lang="ru-RU" sz="2400" spc="213" dirty="0">
                <a:solidFill>
                  <a:srgbClr val="181818"/>
                </a:solidFill>
                <a:latin typeface="Verdana"/>
                <a:cs typeface="Verdana"/>
              </a:rPr>
              <a:t>Интеграция с CI/CD и автоматизация</a:t>
            </a:r>
          </a:p>
          <a:p>
            <a:pPr marL="593497" indent="-480048">
              <a:lnSpc>
                <a:spcPct val="150000"/>
              </a:lnSpc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r>
              <a:rPr lang="ru-RU" sz="2400" spc="213" dirty="0">
                <a:solidFill>
                  <a:srgbClr val="181818"/>
                </a:solidFill>
                <a:latin typeface="Verdana"/>
                <a:cs typeface="Verdana"/>
              </a:rPr>
              <a:t>Лучшие практики</a:t>
            </a:r>
          </a:p>
          <a:p>
            <a:pPr marL="593497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1299029" y="2203581"/>
            <a:ext cx="9855200" cy="2718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267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ru-RU" sz="4267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Изоляция и управление средами и инструменты для управления зависимостями</a:t>
            </a:r>
          </a:p>
          <a:p>
            <a:pPr algn="ctr"/>
            <a:endParaRPr lang="ru-RU" sz="4267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32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200" y="222292"/>
            <a:ext cx="863600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Среда разработки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406400" y="2867213"/>
            <a:ext cx="10464800" cy="12489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4999"/>
              </a:lnSpc>
              <a:spcBef>
                <a:spcPts val="133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это совокупность настроек и зависимостей (библиотек, версий Python и т.д.), необходимых для запуска вашего приложения или модели.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7508497" y="312271"/>
            <a:ext cx="4345833" cy="666708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896667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2667" y="309430"/>
            <a:ext cx="4112260" cy="247931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ru-RU" sz="32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Почему нужна изоляция среды для проекта?</a:t>
            </a:r>
            <a:br>
              <a:rPr lang="en-US" sz="32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ru-RU" sz="32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3200" spc="67" dirty="0">
              <a:solidFill>
                <a:srgbClr val="FDFAE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45147" y="297645"/>
            <a:ext cx="6445253" cy="55254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7189" indent="-457189">
              <a:lnSpc>
                <a:spcPct val="107000"/>
              </a:lnSpc>
              <a:spcAft>
                <a:spcPts val="1067"/>
              </a:spcAft>
              <a:buSzPts val="1000"/>
              <a:buFont typeface="Symbol" panose="05050102010706020507" pitchFamily="18" charset="2"/>
              <a:buChar char=""/>
              <a:tabLst>
                <a:tab pos="609585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Конфликты версий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 Разные проекты могут требовать разные версии одних и тех же библиотек.</a:t>
            </a:r>
          </a:p>
          <a:p>
            <a:pPr marL="457189" indent="-457189">
              <a:lnSpc>
                <a:spcPct val="107000"/>
              </a:lnSpc>
              <a:spcAft>
                <a:spcPts val="1067"/>
              </a:spcAft>
              <a:buSzPts val="1000"/>
              <a:buFont typeface="Symbol" panose="05050102010706020507" pitchFamily="18" charset="2"/>
              <a:buChar char=""/>
              <a:tabLst>
                <a:tab pos="609585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Репродуктивность</a:t>
            </a: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Гарантия того, что код будет работать одинаково на разных системах.</a:t>
            </a:r>
          </a:p>
          <a:p>
            <a:pPr marL="457189" indent="-457189">
              <a:lnSpc>
                <a:spcPct val="107000"/>
              </a:lnSpc>
              <a:spcAft>
                <a:spcPts val="1067"/>
              </a:spcAft>
              <a:buSzPts val="1000"/>
              <a:buFont typeface="Symbol" panose="05050102010706020507" pitchFamily="18" charset="2"/>
              <a:buChar char=""/>
              <a:tabLst>
                <a:tab pos="609585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Безопасность.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Изоляция помогает ограничить воздействие потенциально вредоносного кода.</a:t>
            </a: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113449" marR="833946">
              <a:spcBef>
                <a:spcPts val="133"/>
              </a:spcBef>
              <a:tabLst>
                <a:tab pos="593497" algn="l"/>
                <a:tab pos="594345" algn="l"/>
              </a:tabLst>
            </a:pP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endParaRPr lang="ru-RU" sz="24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443523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200" y="222293"/>
            <a:ext cx="863600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Виртуальные окружения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662310" y="2538003"/>
            <a:ext cx="10464800" cy="12489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4999"/>
              </a:lnSpc>
              <a:spcBef>
                <a:spcPts val="133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позволяют создать изолированную среду для Python-проектов, где устанавливаются зависимости, не влияющие на систему в целом.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7508497" y="312271"/>
            <a:ext cx="4345833" cy="666708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83E94A-D533-4508-879D-49EA88131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0" y="3505200"/>
            <a:ext cx="48768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80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46298" y="1905000"/>
            <a:ext cx="8202099" cy="82417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741661">
              <a:lnSpc>
                <a:spcPct val="114999"/>
              </a:lnSpc>
              <a:spcBef>
                <a:spcPts val="133"/>
              </a:spcBef>
              <a:tabLst>
                <a:tab pos="524074" algn="l"/>
                <a:tab pos="524920" algn="l"/>
              </a:tabLst>
            </a:pPr>
            <a:r>
              <a:rPr lang="ru-RU" sz="2400" dirty="0">
                <a:latin typeface="Verdana"/>
                <a:cs typeface="Verdana"/>
              </a:rPr>
              <a:t>Рассмотрим </a:t>
            </a: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3 инструмента</a:t>
            </a:r>
            <a:r>
              <a:rPr lang="ru-RU" sz="2400" dirty="0">
                <a:latin typeface="Verdana"/>
                <a:cs typeface="Verdana"/>
              </a:rPr>
              <a:t> для создания виртуального окружения в </a:t>
            </a:r>
            <a:r>
              <a:rPr lang="en-US" sz="2400" dirty="0">
                <a:latin typeface="Verdana"/>
                <a:cs typeface="Verdana"/>
              </a:rPr>
              <a:t>Python</a:t>
            </a:r>
            <a:endParaRPr lang="ru-RU" sz="2400" dirty="0">
              <a:latin typeface="Verdana"/>
              <a:cs typeface="Verdana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D2F4196C-EF3D-4D8C-8139-66E5F9836ECC}"/>
              </a:ext>
            </a:extLst>
          </p:cNvPr>
          <p:cNvSpPr/>
          <p:nvPr/>
        </p:nvSpPr>
        <p:spPr>
          <a:xfrm>
            <a:off x="753035" y="3674565"/>
            <a:ext cx="2540000" cy="1117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venv</a:t>
            </a:r>
            <a:r>
              <a:rPr lang="en-US" sz="2400" dirty="0"/>
              <a:t> / </a:t>
            </a:r>
            <a:r>
              <a:rPr lang="en-US" sz="2400" dirty="0" err="1"/>
              <a:t>virtualenv</a:t>
            </a:r>
            <a:endParaRPr lang="ru-RU" sz="2400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2105CB1-7828-4C13-8C15-F8DA5045C694}"/>
              </a:ext>
            </a:extLst>
          </p:cNvPr>
          <p:cNvSpPr/>
          <p:nvPr/>
        </p:nvSpPr>
        <p:spPr>
          <a:xfrm>
            <a:off x="8422520" y="3674565"/>
            <a:ext cx="2540000" cy="1117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Conda</a:t>
            </a:r>
            <a:endParaRPr lang="ru-RU" sz="2400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6B13122-2F4D-4F1D-AEEE-FC25E81B1446}"/>
              </a:ext>
            </a:extLst>
          </p:cNvPr>
          <p:cNvSpPr/>
          <p:nvPr/>
        </p:nvSpPr>
        <p:spPr>
          <a:xfrm>
            <a:off x="4587777" y="3674565"/>
            <a:ext cx="2540000" cy="1117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Poetry</a:t>
            </a:r>
            <a:endParaRPr lang="ru-RU" sz="2400" dirty="0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D81E1463-7EA5-4EA1-A271-AD13E1AD6079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 flipH="1">
            <a:off x="2023035" y="2729179"/>
            <a:ext cx="3824313" cy="945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198E05C8-70A2-48B8-93DC-005A9B3E0641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5847348" y="2729179"/>
            <a:ext cx="3845172" cy="945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AE85AC9A-2D1A-449C-848E-76072264A069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>
            <a:off x="5847348" y="2729179"/>
            <a:ext cx="10429" cy="945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623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2667" y="32431"/>
            <a:ext cx="4112260" cy="598796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4000" b="1" spc="67" dirty="0" err="1">
                <a:solidFill>
                  <a:srgbClr val="FDFAE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venv</a:t>
            </a:r>
            <a:br>
              <a:rPr lang="en-US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US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ru-RU" sz="24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Встроенный инструмент Python для создания виртуальных окружений.</a:t>
            </a:r>
            <a:br>
              <a:rPr lang="en-US" sz="24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US" sz="24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ru-RU" sz="24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Простой в использовании и интегрируется в любую версию Python.</a:t>
            </a:r>
            <a:br>
              <a:rPr lang="en-US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ru-RU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pc="67" dirty="0">
              <a:solidFill>
                <a:srgbClr val="FDFAE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45147" y="297644"/>
            <a:ext cx="6445253" cy="495639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1067"/>
              </a:spcAft>
              <a:buSzPts val="1000"/>
              <a:tabLst>
                <a:tab pos="609585" algn="l"/>
              </a:tabLst>
            </a:pP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virtualenv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113449" marR="833946">
              <a:spcBef>
                <a:spcPts val="133"/>
              </a:spcBef>
              <a:tabLst>
                <a:tab pos="593497" algn="l"/>
                <a:tab pos="594345" algn="l"/>
              </a:tabLst>
            </a:pP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Больше возможностей (например, поддержка различных интерпретаторов Python).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Быстрая активация и настройка виртуальных окружений.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endParaRPr lang="en-US" sz="2400" b="1" dirty="0">
              <a:latin typeface="Tahoma"/>
              <a:cs typeface="Tahoma"/>
            </a:endParaRP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endParaRPr lang="ru-RU" sz="2400" b="1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077943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200" y="222292"/>
            <a:ext cx="863600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venv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406400" y="2867212"/>
            <a:ext cx="10464800" cy="82417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4999"/>
              </a:lnSpc>
              <a:spcBef>
                <a:spcPts val="133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это встроенный в Python модуль для создания виртуальных окружений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7508497" y="312271"/>
            <a:ext cx="4345833" cy="666708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1026" name="Picture 2" descr="Как создать и подключить виртуальное среду(venv) для работы с Python в WSL  в Windows 11. | BU11ZY - Канал про программирование! | Дзен">
            <a:extLst>
              <a:ext uri="{FF2B5EF4-FFF2-40B4-BE49-F238E27FC236}">
                <a16:creationId xmlns:a16="http://schemas.microsoft.com/office/drawing/2014/main" id="{B1589649-4A08-4D33-8295-A345469F1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564153"/>
            <a:ext cx="58928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7218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200" y="222292"/>
            <a:ext cx="863600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virtualenv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406400" y="2867213"/>
            <a:ext cx="10464800" cy="12626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4999"/>
              </a:lnSpc>
              <a:spcBef>
                <a:spcPts val="133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это сторонний модуль для создания виртуальных окружений в Python, который предлагает дополнительные возможности по сравнению со встроенным модулем.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7508497" y="312271"/>
            <a:ext cx="4345833" cy="666708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1706349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4672" y="1828162"/>
            <a:ext cx="10652760" cy="41197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Совместимость с разными версиями Python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Быстрая скорость создания окружений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Дополнительные опции и гибкость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Копирование вместо символических ссылок (</a:t>
            </a:r>
            <a:r>
              <a:rPr lang="en-US" sz="1600" dirty="0" err="1">
                <a:latin typeface="Verdana"/>
                <a:cs typeface="Verdana"/>
              </a:rPr>
              <a:t>virtualenv</a:t>
            </a:r>
            <a:r>
              <a:rPr lang="en-US" sz="1600" dirty="0">
                <a:latin typeface="Verdana"/>
                <a:cs typeface="Verdana"/>
              </a:rPr>
              <a:t> --copies </a:t>
            </a:r>
            <a:r>
              <a:rPr lang="en-US" sz="1600" dirty="0" err="1">
                <a:latin typeface="Verdana"/>
                <a:cs typeface="Verdana"/>
              </a:rPr>
              <a:t>myenv</a:t>
            </a:r>
            <a:r>
              <a:rPr lang="ru-RU" sz="1600" dirty="0">
                <a:latin typeface="Verdana"/>
                <a:cs typeface="Verdana"/>
              </a:rPr>
              <a:t>)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Поддержка плагинов и расширений:</a:t>
            </a:r>
          </a:p>
          <a:p>
            <a:pPr marL="16933" marR="741661">
              <a:lnSpc>
                <a:spcPct val="114999"/>
              </a:lnSpc>
              <a:spcBef>
                <a:spcPts val="133"/>
              </a:spcBef>
              <a:tabLst>
                <a:tab pos="524074" algn="l"/>
                <a:tab pos="52492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6933" marR="741661">
              <a:lnSpc>
                <a:spcPct val="114999"/>
              </a:lnSpc>
              <a:spcBef>
                <a:spcPts val="133"/>
              </a:spcBef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- </a:t>
            </a:r>
            <a:r>
              <a:rPr lang="en-US" sz="1600" dirty="0" err="1">
                <a:latin typeface="Verdana"/>
                <a:cs typeface="Verdana"/>
              </a:rPr>
              <a:t>virtualenvwrapper</a:t>
            </a:r>
            <a:endParaRPr lang="ru-RU" sz="1600" dirty="0">
              <a:latin typeface="Verdana"/>
              <a:cs typeface="Verdana"/>
            </a:endParaRPr>
          </a:p>
          <a:p>
            <a:pPr marL="16933" marR="741661">
              <a:lnSpc>
                <a:spcPct val="114999"/>
              </a:lnSpc>
              <a:spcBef>
                <a:spcPts val="133"/>
              </a:spcBef>
              <a:tabLst>
                <a:tab pos="524074" algn="l"/>
                <a:tab pos="524920" algn="l"/>
              </a:tabLst>
            </a:pP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mkvirtualenv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myenv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6933" marR="741661">
              <a:lnSpc>
                <a:spcPct val="114999"/>
              </a:lnSpc>
              <a:spcBef>
                <a:spcPts val="133"/>
              </a:spcBef>
              <a:tabLst>
                <a:tab pos="524074" algn="l"/>
                <a:tab pos="524920" algn="l"/>
              </a:tabLst>
            </a:pP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workon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myenv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6933" marR="741661">
              <a:lnSpc>
                <a:spcPct val="114999"/>
              </a:lnSpc>
              <a:spcBef>
                <a:spcPts val="133"/>
              </a:spcBef>
              <a:tabLst>
                <a:tab pos="524074" algn="l"/>
                <a:tab pos="524920" algn="l"/>
              </a:tabLst>
            </a:pP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rmvirtualenv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myenv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245527" marR="741661" indent="-228594">
              <a:lnSpc>
                <a:spcPct val="114999"/>
              </a:lnSpc>
              <a:spcBef>
                <a:spcPts val="133"/>
              </a:spcBef>
              <a:buFontTx/>
              <a:buChar char="-"/>
              <a:tabLst>
                <a:tab pos="524074" algn="l"/>
                <a:tab pos="524920" algn="l"/>
              </a:tabLst>
            </a:pPr>
            <a:r>
              <a:rPr lang="en-US" sz="1600" dirty="0" err="1">
                <a:latin typeface="Verdana"/>
                <a:cs typeface="Verdana"/>
              </a:rPr>
              <a:t>virtualenv</a:t>
            </a:r>
            <a:r>
              <a:rPr lang="en-US" sz="1600" dirty="0">
                <a:latin typeface="Verdana"/>
                <a:cs typeface="Verdana"/>
              </a:rPr>
              <a:t>-clone</a:t>
            </a:r>
            <a:endParaRPr lang="ru-RU" sz="1600" dirty="0">
              <a:latin typeface="Verdana"/>
              <a:cs typeface="Verdana"/>
            </a:endParaRPr>
          </a:p>
          <a:p>
            <a:pPr marL="16933" marR="741661">
              <a:lnSpc>
                <a:spcPct val="114999"/>
              </a:lnSpc>
              <a:spcBef>
                <a:spcPts val="133"/>
              </a:spcBef>
              <a:tabLst>
                <a:tab pos="524074" algn="l"/>
                <a:tab pos="524920" algn="l"/>
              </a:tabLst>
            </a:pP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virtualenv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-clone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old_env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new_env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6933" marR="741661">
              <a:lnSpc>
                <a:spcPct val="114999"/>
              </a:lnSpc>
              <a:spcBef>
                <a:spcPts val="133"/>
              </a:spcBef>
              <a:tabLst>
                <a:tab pos="524074" algn="l"/>
                <a:tab pos="52492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70821"/>
            <a:ext cx="1089998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virtualenv</a:t>
            </a: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доп. возможности</a:t>
            </a:r>
            <a:endParaRPr sz="4000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684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4672" y="1828162"/>
            <a:ext cx="10652760" cy="204791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Создание переносимых окружений: </a:t>
            </a:r>
            <a:r>
              <a:rPr lang="en-US" sz="1600" b="1" dirty="0" err="1">
                <a:latin typeface="Verdana"/>
                <a:cs typeface="Verdana"/>
              </a:rPr>
              <a:t>virtualenv</a:t>
            </a:r>
            <a:r>
              <a:rPr lang="en-US" sz="1600" b="1" dirty="0">
                <a:latin typeface="Verdana"/>
                <a:cs typeface="Verdana"/>
              </a:rPr>
              <a:t> --relocatable </a:t>
            </a:r>
            <a:r>
              <a:rPr lang="en-US" sz="1600" b="1" dirty="0" err="1">
                <a:latin typeface="Verdana"/>
                <a:cs typeface="Verdana"/>
              </a:rPr>
              <a:t>myenv</a:t>
            </a:r>
            <a:endParaRPr lang="ru-RU" sz="1600" b="1" dirty="0">
              <a:latin typeface="Verdana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Совместимость с более старыми проектами и инструментами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Более тонкий контроль над окружением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Поддержка оболочек </a:t>
            </a:r>
            <a:r>
              <a:rPr lang="en-US" sz="1600" dirty="0">
                <a:latin typeface="Verdana"/>
                <a:cs typeface="Verdana"/>
              </a:rPr>
              <a:t>Windows</a:t>
            </a:r>
            <a:endParaRPr lang="ru-RU" sz="1600" dirty="0">
              <a:latin typeface="Verdana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Совместимость с альтернативными реализациями Python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Интеграция с инструментами автоматизации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70821"/>
            <a:ext cx="1089998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virtualenv</a:t>
            </a: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доп. возможности</a:t>
            </a:r>
            <a:endParaRPr sz="4000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23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4672" y="1828162"/>
            <a:ext cx="10652760" cy="8639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Создание виртуального окружения: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python3 -m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venv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(/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virtualenv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)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myenv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Активация виртуального окружения:</a:t>
            </a:r>
            <a:r>
              <a:rPr lang="en-US" sz="1600" dirty="0">
                <a:latin typeface="Verdana"/>
                <a:cs typeface="Verdana"/>
              </a:rPr>
              <a:t>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source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myenv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/bin/activate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Деактивация виртуального окружения:</a:t>
            </a:r>
            <a:r>
              <a:rPr lang="en-US" sz="1600" dirty="0">
                <a:latin typeface="Verdana"/>
                <a:cs typeface="Verdana"/>
              </a:rPr>
              <a:t>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deactivate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70821"/>
            <a:ext cx="1089998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en-US" sz="4000" b="1" spc="12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venv</a:t>
            </a:r>
            <a:r>
              <a:rPr lang="ru-RU" sz="4000" b="1" spc="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/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virtualenv</a:t>
            </a:r>
            <a:endParaRPr sz="4000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025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200" y="222292"/>
            <a:ext cx="863600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Poetry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406400" y="2867212"/>
            <a:ext cx="10464800" cy="8379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4999"/>
              </a:lnSpc>
              <a:spcBef>
                <a:spcPts val="133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современный инструмент для управления зависимостями и упаковки Python-проектов.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7508497" y="312271"/>
            <a:ext cx="4345833" cy="666708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3074" name="Picture 2" descr="Introduction to Python Poetry: Why It's a Game-Changer for Python  Developers | by Akshat Gadodia | Aug, 2024 | Medium">
            <a:extLst>
              <a:ext uri="{FF2B5EF4-FFF2-40B4-BE49-F238E27FC236}">
                <a16:creationId xmlns:a16="http://schemas.microsoft.com/office/drawing/2014/main" id="{63253FA6-6293-4A36-90E7-8C2F510F8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0" y="4241800"/>
            <a:ext cx="39370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4836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4672" y="1828162"/>
            <a:ext cx="10652760" cy="8639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Управление зависимостями и виртуальными окружениями в одном инструменте.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Автоматическое разрешение конфликтов версий.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Поддержка публикации пакетов.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70821"/>
            <a:ext cx="1089998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en-US" sz="4000" b="1" spc="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Poetry: </a:t>
            </a:r>
            <a:r>
              <a:rPr lang="ru-RU" sz="4000" b="1" spc="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особенности</a:t>
            </a:r>
            <a:endParaRPr sz="4000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5122" name="Picture 2" descr="Moving Beyond Conda and Pip: A Deep Dive into Poetry for Python Dependency  Management | by Husein Ghadiali | Medium">
            <a:extLst>
              <a:ext uri="{FF2B5EF4-FFF2-40B4-BE49-F238E27FC236}">
                <a16:creationId xmlns:a16="http://schemas.microsoft.com/office/drawing/2014/main" id="{696A5BDB-32AB-4818-AE0C-7D0312161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3124201"/>
            <a:ext cx="5524500" cy="280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8389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4672" y="1828162"/>
            <a:ext cx="10652760" cy="8639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Установка </a:t>
            </a:r>
            <a:r>
              <a:rPr lang="en-US" sz="1600" dirty="0">
                <a:latin typeface="Verdana"/>
                <a:cs typeface="Verdana"/>
              </a:rPr>
              <a:t>Poetry: curl -</a:t>
            </a:r>
            <a:r>
              <a:rPr lang="en-US" sz="1600" dirty="0" err="1">
                <a:latin typeface="Verdana"/>
                <a:cs typeface="Verdana"/>
              </a:rPr>
              <a:t>sSL</a:t>
            </a:r>
            <a:r>
              <a:rPr lang="en-US" sz="1600" dirty="0">
                <a:latin typeface="Verdana"/>
                <a:cs typeface="Verdana"/>
              </a:rPr>
              <a:t> https://install.python-poetry.org | python3 -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Создание нового проекта:</a:t>
            </a:r>
            <a:r>
              <a:rPr lang="en-US" sz="1600" dirty="0">
                <a:latin typeface="Verdana"/>
                <a:cs typeface="Verdana"/>
              </a:rPr>
              <a:t>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poetry new first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-36955"/>
            <a:ext cx="1089998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4000" b="1" spc="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Создание и настройка проекта с </a:t>
            </a:r>
            <a:r>
              <a:rPr lang="ru-RU" sz="4000" b="1" spc="12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Poetry</a:t>
            </a:r>
            <a:endParaRPr lang="ru-RU" sz="4000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2805F7-BC94-45DA-B4B4-485DB68A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0" y="2616200"/>
            <a:ext cx="3963344" cy="37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732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4672" y="1828162"/>
            <a:ext cx="10652760" cy="8639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Добавление зависимости: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poetry add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numpy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Добавление зависимости для разработки: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poetry add --dev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pytest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Команду обновления окружения можно вызвать: </a:t>
            </a: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poetry</a:t>
            </a: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install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70821"/>
            <a:ext cx="1089998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4000" b="1" spc="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Управление зависимостями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6F80A00-4A80-4111-9690-65914F58D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2921001"/>
            <a:ext cx="5156920" cy="334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127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4672" y="1828162"/>
            <a:ext cx="10652760" cy="8639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Активация виртуального окружения: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poetry shell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Выполнение команды в окружении: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poetry run python script.py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Деактивация виртуального окружения: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exit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-36955"/>
            <a:ext cx="1089998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4000" b="1" spc="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Управление виртуальными окружениями</a:t>
            </a:r>
          </a:p>
        </p:txBody>
      </p:sp>
    </p:spTree>
    <p:extLst>
      <p:ext uri="{BB962C8B-B14F-4D97-AF65-F5344CB8AC3E}">
        <p14:creationId xmlns:p14="http://schemas.microsoft.com/office/powerpoint/2010/main" val="773881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2667" y="370985"/>
            <a:ext cx="4112260" cy="5926408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ru-RU" sz="3600" b="1" spc="67" dirty="0">
                <a:solidFill>
                  <a:srgbClr val="FDFAE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Плюсы </a:t>
            </a:r>
            <a:r>
              <a:rPr lang="en-US" sz="3600" b="1" spc="67" dirty="0">
                <a:solidFill>
                  <a:srgbClr val="FDFAE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Poetry</a:t>
            </a:r>
            <a:br>
              <a:rPr lang="en-US" spc="67" dirty="0">
                <a:solidFill>
                  <a:srgbClr val="FDFAEE"/>
                </a:solidFill>
              </a:rPr>
            </a:br>
            <a:br>
              <a:rPr lang="en-US" spc="67" dirty="0">
                <a:solidFill>
                  <a:srgbClr val="FDFAEE"/>
                </a:solidFill>
              </a:rPr>
            </a:br>
            <a:r>
              <a:rPr lang="en-US" sz="2400" spc="67" dirty="0">
                <a:solidFill>
                  <a:srgbClr val="FDFAEE"/>
                </a:solidFill>
              </a:rPr>
              <a:t>1. </a:t>
            </a:r>
            <a:r>
              <a:rPr lang="ru-RU" sz="2400" spc="67" dirty="0">
                <a:solidFill>
                  <a:srgbClr val="FDFAEE"/>
                </a:solidFill>
              </a:rPr>
              <a:t>Интегрированное управление зависимостями и окружениями.</a:t>
            </a:r>
            <a:br>
              <a:rPr lang="en-US" sz="2400" spc="67" dirty="0">
                <a:solidFill>
                  <a:srgbClr val="FDFAEE"/>
                </a:solidFill>
              </a:rPr>
            </a:br>
            <a:br>
              <a:rPr lang="en-US" sz="2400" spc="67" dirty="0">
                <a:solidFill>
                  <a:srgbClr val="FDFAEE"/>
                </a:solidFill>
              </a:rPr>
            </a:br>
            <a:r>
              <a:rPr lang="en-US" sz="2400" spc="67" dirty="0">
                <a:solidFill>
                  <a:srgbClr val="FDFAEE"/>
                </a:solidFill>
              </a:rPr>
              <a:t>2. </a:t>
            </a:r>
            <a:r>
              <a:rPr lang="ru-RU" sz="2400" spc="67" dirty="0">
                <a:solidFill>
                  <a:srgbClr val="FDFAEE"/>
                </a:solidFill>
              </a:rPr>
              <a:t>Простая публикация пакетов.</a:t>
            </a:r>
            <a:br>
              <a:rPr lang="ru-RU" sz="2400" spc="67" dirty="0">
                <a:solidFill>
                  <a:srgbClr val="FDFAEE"/>
                </a:solidFill>
              </a:rPr>
            </a:br>
            <a:br>
              <a:rPr lang="ru-RU" sz="2400" spc="67" dirty="0">
                <a:solidFill>
                  <a:srgbClr val="FDFAEE"/>
                </a:solidFill>
              </a:rPr>
            </a:br>
            <a:r>
              <a:rPr lang="ru-RU" sz="2400" spc="67" dirty="0">
                <a:solidFill>
                  <a:srgbClr val="FDFAEE"/>
                </a:solidFill>
              </a:rPr>
              <a:t>3. Автоматическое разрешение зависимостей.</a:t>
            </a:r>
            <a:br>
              <a:rPr lang="en-US" spc="67" dirty="0">
                <a:solidFill>
                  <a:srgbClr val="FDFAEE"/>
                </a:solidFill>
              </a:rPr>
            </a:br>
            <a:br>
              <a:rPr lang="ru-RU" spc="67" dirty="0">
                <a:solidFill>
                  <a:srgbClr val="FDFAEE"/>
                </a:solidFill>
              </a:rPr>
            </a:br>
            <a:endParaRPr lang="en-US" spc="67" dirty="0">
              <a:solidFill>
                <a:srgbClr val="FDFAEE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45147" y="297645"/>
            <a:ext cx="6445253" cy="34003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1067"/>
              </a:spcAft>
              <a:buSzPts val="1000"/>
              <a:tabLst>
                <a:tab pos="609585" algn="l"/>
              </a:tabLst>
            </a:pPr>
            <a:r>
              <a:rPr lang="ru-RU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Минусы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Poetry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endParaRPr lang="en-US" sz="2400" dirty="0">
              <a:latin typeface="Tahoma"/>
              <a:cs typeface="Tahoma"/>
            </a:endParaRP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r>
              <a:rPr lang="ru-RU" sz="2400" dirty="0">
                <a:latin typeface="Tahoma"/>
                <a:cs typeface="Tahoma"/>
              </a:rPr>
              <a:t>Может быть избыточным для простых проектов.</a:t>
            </a: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endParaRPr lang="en-US" sz="2400" dirty="0">
              <a:latin typeface="Tahoma"/>
              <a:cs typeface="Tahoma"/>
            </a:endParaRP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r>
              <a:rPr lang="ru-RU" sz="2400" dirty="0">
                <a:latin typeface="Tahoma"/>
                <a:cs typeface="Tahoma"/>
              </a:rPr>
              <a:t>Требует изучения нового инструмента </a:t>
            </a:r>
            <a:r>
              <a:rPr lang="ru-RU" sz="2400" dirty="0">
                <a:latin typeface="Tahoma"/>
                <a:cs typeface="Tahoma"/>
                <a:sym typeface="Wingdings" panose="05000000000000000000" pitchFamily="2" charset="2"/>
              </a:rPr>
              <a:t></a:t>
            </a:r>
            <a:endParaRPr lang="en-US" sz="2400" b="1" dirty="0">
              <a:latin typeface="Tahoma"/>
              <a:cs typeface="Tahoma"/>
            </a:endParaRP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endParaRPr lang="ru-RU" sz="2400" b="1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928467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200" y="222292"/>
            <a:ext cx="863600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Conda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406400" y="2867212"/>
            <a:ext cx="10464800" cy="8379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4999"/>
              </a:lnSpc>
              <a:spcBef>
                <a:spcPts val="133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это кроссплатформенный менеджер пакетов и сред, не зависящий от языка программирования.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7508497" y="312271"/>
            <a:ext cx="4345833" cy="666708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EF443A5-11F1-484E-AFA8-1FDC030D6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092" y="4456600"/>
            <a:ext cx="8274237" cy="171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636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46316" y="2164190"/>
            <a:ext cx="8940800" cy="20094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0" tIns="16933" rIns="0" bIns="0" rtlCol="0">
            <a:spAutoFit/>
          </a:bodyPr>
          <a:lstStyle/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Поддержка бинарных пакетов (ускоряет установку и исключает необходимость компиляции).</a:t>
            </a:r>
            <a:endParaRPr lang="en-US" sz="1600" dirty="0">
              <a:latin typeface="Verdana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Поддержка Python, R и других языков.</a:t>
            </a:r>
            <a:endParaRPr lang="en-US" sz="1600" dirty="0">
              <a:latin typeface="Verdana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Возможность создания и управления несколькими изолированными средами для разных проектов.</a:t>
            </a:r>
            <a:endParaRPr lang="en-US" sz="1600" dirty="0">
              <a:latin typeface="Verdana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Удобен для работы с большими проектами, особенно для науки о данных (</a:t>
            </a:r>
            <a:r>
              <a:rPr lang="ru-RU" sz="1600" dirty="0" err="1">
                <a:latin typeface="Verdana"/>
                <a:cs typeface="Verdana"/>
              </a:rPr>
              <a:t>Anaconda</a:t>
            </a:r>
            <a:r>
              <a:rPr lang="ru-RU" sz="1600" dirty="0">
                <a:latin typeface="Verdana"/>
                <a:cs typeface="Verdana"/>
              </a:rPr>
              <a:t>).</a:t>
            </a:r>
            <a:endParaRPr lang="en-US" sz="16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70821"/>
            <a:ext cx="1089998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4000" b="1" spc="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Особенности </a:t>
            </a:r>
            <a:r>
              <a:rPr lang="en-US" sz="4000" b="1" spc="12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Conda</a:t>
            </a:r>
            <a:endParaRPr sz="4000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FEF13E22-09B6-4AC2-A15D-52CE54B8FA4E}"/>
              </a:ext>
            </a:extLst>
          </p:cNvPr>
          <p:cNvCxnSpPr>
            <a:cxnSpLocks/>
          </p:cNvCxnSpPr>
          <p:nvPr/>
        </p:nvCxnSpPr>
        <p:spPr>
          <a:xfrm flipV="1">
            <a:off x="1117600" y="1498600"/>
            <a:ext cx="0" cy="40640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7FB7FD97-A3D0-4095-920F-662E8D4012A9}"/>
              </a:ext>
            </a:extLst>
          </p:cNvPr>
          <p:cNvCxnSpPr/>
          <p:nvPr/>
        </p:nvCxnSpPr>
        <p:spPr>
          <a:xfrm>
            <a:off x="1117600" y="1498600"/>
            <a:ext cx="32512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25D58FA-CA8F-445C-95C6-6DD1F6FFE252}"/>
              </a:ext>
            </a:extLst>
          </p:cNvPr>
          <p:cNvCxnSpPr>
            <a:cxnSpLocks/>
          </p:cNvCxnSpPr>
          <p:nvPr/>
        </p:nvCxnSpPr>
        <p:spPr>
          <a:xfrm flipV="1">
            <a:off x="4368800" y="1092200"/>
            <a:ext cx="0" cy="4064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076ECC36-FCDA-45E7-A36D-845C7FCE2A14}"/>
              </a:ext>
            </a:extLst>
          </p:cNvPr>
          <p:cNvCxnSpPr/>
          <p:nvPr/>
        </p:nvCxnSpPr>
        <p:spPr>
          <a:xfrm>
            <a:off x="4368800" y="1092200"/>
            <a:ext cx="34544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F5F1F3EA-0502-4E39-9900-561D2DDF28A3}"/>
              </a:ext>
            </a:extLst>
          </p:cNvPr>
          <p:cNvCxnSpPr>
            <a:cxnSpLocks/>
          </p:cNvCxnSpPr>
          <p:nvPr/>
        </p:nvCxnSpPr>
        <p:spPr>
          <a:xfrm flipV="1">
            <a:off x="7823200" y="1092200"/>
            <a:ext cx="0" cy="4064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70F3D881-E428-4B67-AE8D-F6FD3FFAE241}"/>
              </a:ext>
            </a:extLst>
          </p:cNvPr>
          <p:cNvCxnSpPr/>
          <p:nvPr/>
        </p:nvCxnSpPr>
        <p:spPr>
          <a:xfrm>
            <a:off x="7823200" y="1485153"/>
            <a:ext cx="32512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945D822-F65E-4EE9-A237-26773310A775}"/>
              </a:ext>
            </a:extLst>
          </p:cNvPr>
          <p:cNvCxnSpPr/>
          <p:nvPr/>
        </p:nvCxnSpPr>
        <p:spPr>
          <a:xfrm>
            <a:off x="11115832" y="1498600"/>
            <a:ext cx="0" cy="26416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B4A6BEA1-3A0E-4386-8914-F448D267B3ED}"/>
              </a:ext>
            </a:extLst>
          </p:cNvPr>
          <p:cNvCxnSpPr/>
          <p:nvPr/>
        </p:nvCxnSpPr>
        <p:spPr>
          <a:xfrm flipH="1">
            <a:off x="9956800" y="4140200"/>
            <a:ext cx="1159032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4AF0FEAD-B046-43AF-9744-AF144D25ECB5}"/>
              </a:ext>
            </a:extLst>
          </p:cNvPr>
          <p:cNvCxnSpPr/>
          <p:nvPr/>
        </p:nvCxnSpPr>
        <p:spPr>
          <a:xfrm>
            <a:off x="9956800" y="4140200"/>
            <a:ext cx="0" cy="21336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7DF0493B-EAF1-41A7-927D-0EE7345A40F7}"/>
              </a:ext>
            </a:extLst>
          </p:cNvPr>
          <p:cNvCxnSpPr>
            <a:cxnSpLocks/>
          </p:cNvCxnSpPr>
          <p:nvPr/>
        </p:nvCxnSpPr>
        <p:spPr>
          <a:xfrm flipH="1">
            <a:off x="1117600" y="6273800"/>
            <a:ext cx="88392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DC75272E-370B-4F3F-B30F-156F9D215F65}"/>
              </a:ext>
            </a:extLst>
          </p:cNvPr>
          <p:cNvCxnSpPr/>
          <p:nvPr/>
        </p:nvCxnSpPr>
        <p:spPr>
          <a:xfrm>
            <a:off x="1117600" y="5562600"/>
            <a:ext cx="0" cy="7112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1657976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4672" y="1828161"/>
            <a:ext cx="10652760" cy="56801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Anaconda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.</a:t>
            </a:r>
            <a:r>
              <a:rPr lang="ru-RU" sz="1600" dirty="0">
                <a:latin typeface="Verdana"/>
                <a:cs typeface="Verdana"/>
              </a:rPr>
              <a:t> Полная дистрибуция с множеством пакетов.</a:t>
            </a:r>
            <a:endParaRPr lang="en-US" sz="1600" dirty="0">
              <a:latin typeface="Verdana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Miniconda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.</a:t>
            </a:r>
            <a:r>
              <a:rPr lang="en-US" sz="1600" dirty="0">
                <a:latin typeface="Verdana"/>
                <a:cs typeface="Verdana"/>
              </a:rPr>
              <a:t> </a:t>
            </a:r>
            <a:r>
              <a:rPr lang="ru-RU" sz="1600" dirty="0">
                <a:latin typeface="Verdana"/>
                <a:cs typeface="Verdana"/>
              </a:rPr>
              <a:t>Минимальная установка </a:t>
            </a:r>
            <a:r>
              <a:rPr lang="en-US" sz="1600" dirty="0" err="1">
                <a:latin typeface="Verdana"/>
                <a:cs typeface="Verdana"/>
              </a:rPr>
              <a:t>Conda</a:t>
            </a:r>
            <a:r>
              <a:rPr lang="en-US" sz="1600" dirty="0">
                <a:latin typeface="Verdana"/>
                <a:cs typeface="Verdana"/>
              </a:rPr>
              <a:t>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70821"/>
            <a:ext cx="1089998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4000" b="1" spc="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Установка </a:t>
            </a:r>
            <a:r>
              <a:rPr lang="en-US" sz="4000" b="1" spc="12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Conda</a:t>
            </a:r>
            <a:endParaRPr lang="ru-RU" sz="4000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5831A1A-A3B7-468A-9929-74279825A036}"/>
              </a:ext>
            </a:extLst>
          </p:cNvPr>
          <p:cNvSpPr txBox="1"/>
          <p:nvPr/>
        </p:nvSpPr>
        <p:spPr>
          <a:xfrm>
            <a:off x="561280" y="2921001"/>
            <a:ext cx="10652760" cy="8511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21725" marR="741661" indent="-304792">
              <a:lnSpc>
                <a:spcPct val="114999"/>
              </a:lnSpc>
              <a:spcBef>
                <a:spcPts val="133"/>
              </a:spcBef>
              <a:buAutoNum type="arabicPeriod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Скачивание </a:t>
            </a:r>
            <a:r>
              <a:rPr lang="en-US" sz="1600" dirty="0" err="1">
                <a:latin typeface="Verdana"/>
                <a:cs typeface="Verdana"/>
              </a:rPr>
              <a:t>Miniconda</a:t>
            </a:r>
            <a:r>
              <a:rPr lang="en-US" sz="1600" dirty="0">
                <a:latin typeface="Verdana"/>
                <a:cs typeface="Verdana"/>
              </a:rPr>
              <a:t>: </a:t>
            </a:r>
            <a:r>
              <a:rPr lang="da-DK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wget </a:t>
            </a:r>
            <a:r>
              <a:rPr lang="da-DK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  <a:hlinkClick r:id="rId2"/>
              </a:rPr>
              <a:t>https://repo.anaconda.com/miniconda/Miniconda3-latest-Linux-x86_64.sh</a:t>
            </a:r>
            <a:endParaRPr lang="da-DK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321725" marR="741661" indent="-304792">
              <a:lnSpc>
                <a:spcPct val="114999"/>
              </a:lnSpc>
              <a:spcBef>
                <a:spcPts val="133"/>
              </a:spcBef>
              <a:buAutoNum type="arabicPeriod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Установка</a:t>
            </a:r>
            <a:r>
              <a:rPr lang="en-US" sz="1600" dirty="0">
                <a:latin typeface="Verdana"/>
                <a:cs typeface="Verdana"/>
              </a:rPr>
              <a:t>: bash Miniconda3-latest-Linux-x86_64.sh</a:t>
            </a:r>
          </a:p>
        </p:txBody>
      </p:sp>
    </p:spTree>
    <p:extLst>
      <p:ext uri="{BB962C8B-B14F-4D97-AF65-F5344CB8AC3E}">
        <p14:creationId xmlns:p14="http://schemas.microsoft.com/office/powerpoint/2010/main" val="6358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4672" y="1828162"/>
            <a:ext cx="10652760" cy="8639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Создание окружения: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conda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create -n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myenv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python=3.9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Активация окружения: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conda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activate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myenv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Удаление окружения: </a:t>
            </a:r>
            <a:r>
              <a: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conda remove -n myenv --all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70821"/>
            <a:ext cx="1089998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4000" b="1" spc="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Управление ВО с </a:t>
            </a:r>
            <a:r>
              <a:rPr lang="en-US" sz="4000" b="1" spc="12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Conda</a:t>
            </a:r>
            <a:endParaRPr lang="ru-RU" sz="4000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817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4672" y="1828162"/>
            <a:ext cx="10652760" cy="14431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Установка пакета из каналов </a:t>
            </a:r>
            <a:r>
              <a:rPr lang="ru-RU" sz="1600" dirty="0" err="1">
                <a:latin typeface="Verdana"/>
                <a:cs typeface="Verdana"/>
              </a:rPr>
              <a:t>Conda</a:t>
            </a:r>
            <a:r>
              <a:rPr lang="en-US" sz="1600" dirty="0">
                <a:latin typeface="Verdana"/>
                <a:cs typeface="Verdana"/>
              </a:rPr>
              <a:t>: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conda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install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numpy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Установка пакета из канала </a:t>
            </a:r>
            <a:r>
              <a:rPr lang="ru-RU" sz="1600" dirty="0" err="1">
                <a:latin typeface="Verdana"/>
                <a:cs typeface="Verdana"/>
              </a:rPr>
              <a:t>conda-forge</a:t>
            </a:r>
            <a:r>
              <a:rPr lang="ru-RU" sz="1600" dirty="0">
                <a:latin typeface="Verdana"/>
                <a:cs typeface="Verdana"/>
              </a:rPr>
              <a:t>:</a:t>
            </a:r>
            <a:r>
              <a:rPr lang="en-US" sz="1600" dirty="0">
                <a:latin typeface="Verdana"/>
                <a:cs typeface="Verdana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conda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install -c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conda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-forge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package_name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Установка пакета с помощью </a:t>
            </a:r>
            <a:r>
              <a:rPr lang="ru-RU" sz="1600" dirty="0" err="1">
                <a:latin typeface="Verdana"/>
                <a:cs typeface="Verdana"/>
              </a:rPr>
              <a:t>pip</a:t>
            </a:r>
            <a:r>
              <a:rPr lang="ru-RU" sz="1600" dirty="0">
                <a:latin typeface="Verdana"/>
                <a:cs typeface="Verdana"/>
              </a:rPr>
              <a:t> внутри </a:t>
            </a:r>
            <a:r>
              <a:rPr lang="ru-RU" sz="1600" dirty="0" err="1">
                <a:latin typeface="Verdana"/>
                <a:cs typeface="Verdana"/>
              </a:rPr>
              <a:t>Conda</a:t>
            </a:r>
            <a:r>
              <a:rPr lang="ru-RU" sz="1600" dirty="0">
                <a:latin typeface="Verdana"/>
                <a:cs typeface="Verdana"/>
              </a:rPr>
              <a:t>-окружения</a:t>
            </a:r>
            <a:r>
              <a:rPr lang="en-US" sz="1600" dirty="0">
                <a:latin typeface="Verdana"/>
                <a:cs typeface="Verdana"/>
              </a:rPr>
              <a:t>: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pip install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package_name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70821"/>
            <a:ext cx="1089998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4000" b="1" spc="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Управление пакетами с </a:t>
            </a:r>
            <a:r>
              <a:rPr lang="en-US" sz="4000" b="1" spc="12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Conda</a:t>
            </a:r>
            <a:endParaRPr lang="ru-RU" sz="4000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056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2667" y="32431"/>
            <a:ext cx="4112260" cy="6972849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ru-RU" sz="3200" b="1" spc="67" dirty="0">
                <a:solidFill>
                  <a:srgbClr val="FDFAE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Плюсы </a:t>
            </a:r>
            <a:r>
              <a:rPr lang="en-US" sz="3200" b="1" spc="67" dirty="0" err="1">
                <a:solidFill>
                  <a:srgbClr val="FDFAE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Conda</a:t>
            </a:r>
            <a:br>
              <a:rPr lang="en-US" spc="67" dirty="0">
                <a:solidFill>
                  <a:srgbClr val="FDFAEE"/>
                </a:solidFill>
              </a:rPr>
            </a:br>
            <a:br>
              <a:rPr lang="en-US" spc="67" dirty="0">
                <a:solidFill>
                  <a:srgbClr val="FDFAEE"/>
                </a:solidFill>
              </a:rPr>
            </a:br>
            <a:r>
              <a:rPr lang="en-US" sz="24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ru-RU" sz="24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Управление как Python, так и системными зависимостями.</a:t>
            </a:r>
            <a:br>
              <a:rPr lang="en-US" sz="24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US" sz="24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ru-RU" sz="24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Упрощенная установка сложных пакетов (например, </a:t>
            </a:r>
            <a:r>
              <a:rPr lang="ru-RU" sz="2400" spc="67" dirty="0" err="1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TensorFlow</a:t>
            </a:r>
            <a:r>
              <a:rPr lang="ru-RU" sz="24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2400" spc="67" dirty="0" err="1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PyTorch</a:t>
            </a:r>
            <a:r>
              <a:rPr lang="ru-RU" sz="24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  <a:br>
              <a:rPr lang="en-US" sz="24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US" sz="24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ru-RU" sz="2400" spc="67" dirty="0">
                <a:solidFill>
                  <a:srgbClr val="FD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Поддержка нескольких языков.</a:t>
            </a:r>
            <a:br>
              <a:rPr lang="en-US" spc="67" dirty="0">
                <a:solidFill>
                  <a:srgbClr val="FDFAEE"/>
                </a:solidFill>
              </a:rPr>
            </a:br>
            <a:br>
              <a:rPr lang="ru-RU" spc="67" dirty="0">
                <a:solidFill>
                  <a:srgbClr val="FDFAEE"/>
                </a:solidFill>
              </a:rPr>
            </a:br>
            <a:endParaRPr lang="en-US" spc="67" dirty="0">
              <a:solidFill>
                <a:srgbClr val="FDFAEE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45147" y="297644"/>
            <a:ext cx="6445253" cy="27371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1067"/>
              </a:spcAft>
              <a:buSzPts val="1000"/>
              <a:tabLst>
                <a:tab pos="609585" algn="l"/>
              </a:tabLs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Минусы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Conda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067"/>
              </a:spcAft>
              <a:buSzPts val="1000"/>
              <a:tabLst>
                <a:tab pos="609585" algn="l"/>
              </a:tabLst>
            </a:pP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Большой размер установки.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Возможные конфликты между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pip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и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Conda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-пакетами.</a:t>
            </a:r>
            <a:endParaRPr lang="ru-RU" sz="24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5007112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70821"/>
            <a:ext cx="1089998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4000" b="1" spc="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Сравнение </a:t>
            </a:r>
            <a:r>
              <a:rPr lang="en-US" sz="4000" b="1" spc="12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venv</a:t>
            </a:r>
            <a:r>
              <a:rPr lang="en-US" sz="4000" b="1" spc="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, Poetry </a:t>
            </a:r>
            <a:r>
              <a:rPr lang="ru-RU" sz="4000" b="1" spc="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и </a:t>
            </a:r>
            <a:r>
              <a:rPr lang="en-US" sz="4000" b="1" spc="12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Conda</a:t>
            </a:r>
            <a:endParaRPr lang="ru-RU" sz="4000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5C712EE-2A75-4677-94F5-111CF769FD14}"/>
              </a:ext>
            </a:extLst>
          </p:cNvPr>
          <p:cNvGraphicFramePr>
            <a:graphicFrameLocks noGrp="1"/>
          </p:cNvGraphicFramePr>
          <p:nvPr/>
        </p:nvGraphicFramePr>
        <p:xfrm>
          <a:off x="2235200" y="1498601"/>
          <a:ext cx="7518400" cy="44703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9964">
                  <a:extLst>
                    <a:ext uri="{9D8B030D-6E8A-4147-A177-3AD203B41FA5}">
                      <a16:colId xmlns:a16="http://schemas.microsoft.com/office/drawing/2014/main" val="1214646064"/>
                    </a:ext>
                  </a:extLst>
                </a:gridCol>
                <a:gridCol w="2072256">
                  <a:extLst>
                    <a:ext uri="{9D8B030D-6E8A-4147-A177-3AD203B41FA5}">
                      <a16:colId xmlns:a16="http://schemas.microsoft.com/office/drawing/2014/main" val="114763599"/>
                    </a:ext>
                  </a:extLst>
                </a:gridCol>
                <a:gridCol w="1767892">
                  <a:extLst>
                    <a:ext uri="{9D8B030D-6E8A-4147-A177-3AD203B41FA5}">
                      <a16:colId xmlns:a16="http://schemas.microsoft.com/office/drawing/2014/main" val="2796379455"/>
                    </a:ext>
                  </a:extLst>
                </a:gridCol>
                <a:gridCol w="1528288">
                  <a:extLst>
                    <a:ext uri="{9D8B030D-6E8A-4147-A177-3AD203B41FA5}">
                      <a16:colId xmlns:a16="http://schemas.microsoft.com/office/drawing/2014/main" val="3892606521"/>
                    </a:ext>
                  </a:extLst>
                </a:gridCol>
              </a:tblGrid>
              <a:tr h="29802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Особенность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venv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Poetry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Conda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610765"/>
                  </a:ext>
                </a:extLst>
              </a:tr>
              <a:tr h="59605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Управление зависимостями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Да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Да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Да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/>
                </a:tc>
                <a:extLst>
                  <a:ext uri="{0D108BD9-81ED-4DB2-BD59-A6C34878D82A}">
                    <a16:rowId xmlns:a16="http://schemas.microsoft.com/office/drawing/2014/main" val="2072461929"/>
                  </a:ext>
                </a:extLst>
              </a:tr>
              <a:tr h="59605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Управление окружениями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Нет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Да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Да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/>
                </a:tc>
                <a:extLst>
                  <a:ext uri="{0D108BD9-81ED-4DB2-BD59-A6C34878D82A}">
                    <a16:rowId xmlns:a16="http://schemas.microsoft.com/office/drawing/2014/main" val="325331339"/>
                  </a:ext>
                </a:extLst>
              </a:tr>
              <a:tr h="8940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Поддержка системных пакетов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Нет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Нет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/>
                </a:tc>
                <a:extLst>
                  <a:ext uri="{0D108BD9-81ED-4DB2-BD59-A6C34878D82A}">
                    <a16:rowId xmlns:a16="http://schemas.microsoft.com/office/drawing/2014/main" val="3623946849"/>
                  </a:ext>
                </a:extLst>
              </a:tr>
              <a:tr h="8940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Автоматическое разрешение зависимостей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Ограничено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Да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/>
                </a:tc>
                <a:extLst>
                  <a:ext uri="{0D108BD9-81ED-4DB2-BD59-A6C34878D82A}">
                    <a16:rowId xmlns:a16="http://schemas.microsoft.com/office/drawing/2014/main" val="3578634250"/>
                  </a:ext>
                </a:extLst>
              </a:tr>
              <a:tr h="59605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Размер установки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Маленький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Маленький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Большой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/>
                </a:tc>
                <a:extLst>
                  <a:ext uri="{0D108BD9-81ED-4DB2-BD59-A6C34878D82A}">
                    <a16:rowId xmlns:a16="http://schemas.microsoft.com/office/drawing/2014/main" val="3047620738"/>
                  </a:ext>
                </a:extLst>
              </a:tr>
              <a:tr h="59605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Простота использования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Простая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Средняя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Средняя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0393" marR="10393" marT="10393" marB="0" anchor="ctr"/>
                </a:tc>
                <a:extLst>
                  <a:ext uri="{0D108BD9-81ED-4DB2-BD59-A6C34878D82A}">
                    <a16:rowId xmlns:a16="http://schemas.microsoft.com/office/drawing/2014/main" val="3507385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960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301598"/>
            <a:ext cx="10899987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3600" b="1" spc="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Какие еще есть инструменты?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579222AD-4CC5-4459-A90E-64D7C2F2FB28}"/>
              </a:ext>
            </a:extLst>
          </p:cNvPr>
          <p:cNvSpPr txBox="1"/>
          <p:nvPr/>
        </p:nvSpPr>
        <p:spPr>
          <a:xfrm>
            <a:off x="564672" y="1828162"/>
            <a:ext cx="10652760" cy="204791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741661">
              <a:lnSpc>
                <a:spcPct val="114999"/>
              </a:lnSpc>
              <a:spcBef>
                <a:spcPts val="133"/>
              </a:spcBef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Помимо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venv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/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virtualenv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, Poetry,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Conda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есть также инструменты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245527" marR="741661" indent="-228594">
              <a:lnSpc>
                <a:spcPct val="114999"/>
              </a:lnSpc>
              <a:spcBef>
                <a:spcPts val="133"/>
              </a:spcBef>
              <a:buFontTx/>
              <a:buChar char="-"/>
              <a:tabLst>
                <a:tab pos="524074" algn="l"/>
                <a:tab pos="524920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hatch</a:t>
            </a:r>
          </a:p>
          <a:p>
            <a:pPr marL="245527" marR="741661" indent="-228594">
              <a:lnSpc>
                <a:spcPct val="114999"/>
              </a:lnSpc>
              <a:spcBef>
                <a:spcPts val="133"/>
              </a:spcBef>
              <a:buFontTx/>
              <a:buChar char="-"/>
              <a:tabLst>
                <a:tab pos="524074" algn="l"/>
                <a:tab pos="524920" algn="l"/>
              </a:tabLst>
            </a:pP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pixi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245527" marR="741661" indent="-228594">
              <a:lnSpc>
                <a:spcPct val="114999"/>
              </a:lnSpc>
              <a:spcBef>
                <a:spcPts val="133"/>
              </a:spcBef>
              <a:buFontTx/>
              <a:buChar char="-"/>
              <a:tabLst>
                <a:tab pos="524074" algn="l"/>
                <a:tab pos="524920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rye(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uv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245527" marR="741661" indent="-228594">
              <a:lnSpc>
                <a:spcPct val="114999"/>
              </a:lnSpc>
              <a:spcBef>
                <a:spcPts val="133"/>
              </a:spcBef>
              <a:buFontTx/>
              <a:buChar char="-"/>
              <a:tabLst>
                <a:tab pos="524074" algn="l"/>
                <a:tab pos="524920" algn="l"/>
              </a:tabLst>
            </a:pP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pdm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245527" marR="741661" indent="-228594">
              <a:lnSpc>
                <a:spcPct val="114999"/>
              </a:lnSpc>
              <a:spcBef>
                <a:spcPts val="133"/>
              </a:spcBef>
              <a:buFontTx/>
              <a:buChar char="-"/>
              <a:tabLst>
                <a:tab pos="524074" algn="l"/>
                <a:tab pos="524920" algn="l"/>
              </a:tabLst>
            </a:pP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2052" name="Picture 4" descr="Почему Python – это отличный выбор для новичков? - стаття на itProger">
            <a:extLst>
              <a:ext uri="{FF2B5EF4-FFF2-40B4-BE49-F238E27FC236}">
                <a16:creationId xmlns:a16="http://schemas.microsoft.com/office/drawing/2014/main" id="{734A87DB-B0B6-4FC8-BEDF-B5B0CEF33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0" y="3429000"/>
            <a:ext cx="977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79838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70821"/>
            <a:ext cx="1089998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4000" b="1" spc="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Общее сравнение инструментов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4BD6204-498D-46B7-889F-8EB7B6ECBCC3}"/>
              </a:ext>
            </a:extLst>
          </p:cNvPr>
          <p:cNvGraphicFramePr>
            <a:graphicFrameLocks noGrp="1"/>
          </p:cNvGraphicFramePr>
          <p:nvPr/>
        </p:nvGraphicFramePr>
        <p:xfrm>
          <a:off x="1930401" y="990601"/>
          <a:ext cx="8737602" cy="57382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0035">
                  <a:extLst>
                    <a:ext uri="{9D8B030D-6E8A-4147-A177-3AD203B41FA5}">
                      <a16:colId xmlns:a16="http://schemas.microsoft.com/office/drawing/2014/main" val="2760127509"/>
                    </a:ext>
                  </a:extLst>
                </a:gridCol>
                <a:gridCol w="1161624">
                  <a:extLst>
                    <a:ext uri="{9D8B030D-6E8A-4147-A177-3AD203B41FA5}">
                      <a16:colId xmlns:a16="http://schemas.microsoft.com/office/drawing/2014/main" val="4003955739"/>
                    </a:ext>
                  </a:extLst>
                </a:gridCol>
                <a:gridCol w="991012">
                  <a:extLst>
                    <a:ext uri="{9D8B030D-6E8A-4147-A177-3AD203B41FA5}">
                      <a16:colId xmlns:a16="http://schemas.microsoft.com/office/drawing/2014/main" val="3401575153"/>
                    </a:ext>
                  </a:extLst>
                </a:gridCol>
                <a:gridCol w="856700">
                  <a:extLst>
                    <a:ext uri="{9D8B030D-6E8A-4147-A177-3AD203B41FA5}">
                      <a16:colId xmlns:a16="http://schemas.microsoft.com/office/drawing/2014/main" val="218700688"/>
                    </a:ext>
                  </a:extLst>
                </a:gridCol>
                <a:gridCol w="696976">
                  <a:extLst>
                    <a:ext uri="{9D8B030D-6E8A-4147-A177-3AD203B41FA5}">
                      <a16:colId xmlns:a16="http://schemas.microsoft.com/office/drawing/2014/main" val="1697094656"/>
                    </a:ext>
                  </a:extLst>
                </a:gridCol>
                <a:gridCol w="900260">
                  <a:extLst>
                    <a:ext uri="{9D8B030D-6E8A-4147-A177-3AD203B41FA5}">
                      <a16:colId xmlns:a16="http://schemas.microsoft.com/office/drawing/2014/main" val="2874434897"/>
                    </a:ext>
                  </a:extLst>
                </a:gridCol>
                <a:gridCol w="991012">
                  <a:extLst>
                    <a:ext uri="{9D8B030D-6E8A-4147-A177-3AD203B41FA5}">
                      <a16:colId xmlns:a16="http://schemas.microsoft.com/office/drawing/2014/main" val="2550426231"/>
                    </a:ext>
                  </a:extLst>
                </a:gridCol>
                <a:gridCol w="1059983">
                  <a:extLst>
                    <a:ext uri="{9D8B030D-6E8A-4147-A177-3AD203B41FA5}">
                      <a16:colId xmlns:a16="http://schemas.microsoft.com/office/drawing/2014/main" val="3771320533"/>
                    </a:ext>
                  </a:extLst>
                </a:gridCol>
              </a:tblGrid>
              <a:tr h="475705">
                <a:tc>
                  <a:txBody>
                    <a:bodyPr/>
                    <a:lstStyle/>
                    <a:p>
                      <a:pPr algn="l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Категория/Инструмент</a:t>
                      </a:r>
                      <a:endParaRPr lang="ru-RU" sz="1300" b="1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pipenv</a:t>
                      </a:r>
                      <a:endParaRPr lang="en-US" sz="1300" b="1" i="0" u="none" strike="noStrike" dirty="0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poetry</a:t>
                      </a:r>
                      <a:endParaRPr lang="en-US" sz="1300" b="1" i="0" u="none" strike="noStrike" dirty="0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conda</a:t>
                      </a:r>
                      <a:endParaRPr lang="en-US" sz="1300" b="1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hatch</a:t>
                      </a:r>
                      <a:endParaRPr lang="en-US" sz="1300" b="1" i="0" u="none" strike="noStrike" dirty="0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pixi</a:t>
                      </a:r>
                      <a:endParaRPr lang="en-US" sz="1300" b="1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rye(uv)</a:t>
                      </a:r>
                      <a:endParaRPr lang="en-US" sz="1300" b="1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pdm</a:t>
                      </a:r>
                      <a:endParaRPr lang="en-US" sz="1300" b="1" i="0" u="none" strike="noStrike" dirty="0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647554"/>
                  </a:ext>
                </a:extLst>
              </a:tr>
              <a:tr h="457741">
                <a:tc>
                  <a:txBody>
                    <a:bodyPr/>
                    <a:lstStyle/>
                    <a:p>
                      <a:pPr algn="l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Управление версией </a:t>
                      </a:r>
                      <a:r>
                        <a:rPr lang="en-US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Python</a:t>
                      </a:r>
                      <a:endParaRPr lang="en-US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 dirty="0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 dirty="0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extLst>
                  <a:ext uri="{0D108BD9-81ED-4DB2-BD59-A6C34878D82A}">
                    <a16:rowId xmlns:a16="http://schemas.microsoft.com/office/drawing/2014/main" val="2413349254"/>
                  </a:ext>
                </a:extLst>
              </a:tr>
              <a:tr h="457741">
                <a:tc>
                  <a:txBody>
                    <a:bodyPr/>
                    <a:lstStyle/>
                    <a:p>
                      <a:pPr algn="l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Виртуальные окружения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extLst>
                  <a:ext uri="{0D108BD9-81ED-4DB2-BD59-A6C34878D82A}">
                    <a16:rowId xmlns:a16="http://schemas.microsoft.com/office/drawing/2014/main" val="3530672011"/>
                  </a:ext>
                </a:extLst>
              </a:tr>
              <a:tr h="457741">
                <a:tc>
                  <a:txBody>
                    <a:bodyPr/>
                    <a:lstStyle/>
                    <a:p>
                      <a:pPr algn="l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Управление пакетами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extLst>
                  <a:ext uri="{0D108BD9-81ED-4DB2-BD59-A6C34878D82A}">
                    <a16:rowId xmlns:a16="http://schemas.microsoft.com/office/drawing/2014/main" val="4201011161"/>
                  </a:ext>
                </a:extLst>
              </a:tr>
              <a:tr h="457741">
                <a:tc>
                  <a:txBody>
                    <a:bodyPr/>
                    <a:lstStyle/>
                    <a:p>
                      <a:pPr algn="l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Управление научными пакетами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extLst>
                  <a:ext uri="{0D108BD9-81ED-4DB2-BD59-A6C34878D82A}">
                    <a16:rowId xmlns:a16="http://schemas.microsoft.com/office/drawing/2014/main" val="2045934181"/>
                  </a:ext>
                </a:extLst>
              </a:tr>
              <a:tr h="457741">
                <a:tc>
                  <a:txBody>
                    <a:bodyPr/>
                    <a:lstStyle/>
                    <a:p>
                      <a:pPr algn="l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Воспроизводимые зависимости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extLst>
                  <a:ext uri="{0D108BD9-81ED-4DB2-BD59-A6C34878D82A}">
                    <a16:rowId xmlns:a16="http://schemas.microsoft.com/office/drawing/2014/main" val="625019161"/>
                  </a:ext>
                </a:extLst>
              </a:tr>
              <a:tr h="68611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Сборка и публикация пакетов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extLst>
                  <a:ext uri="{0D108BD9-81ED-4DB2-BD59-A6C34878D82A}">
                    <a16:rowId xmlns:a16="http://schemas.microsoft.com/office/drawing/2014/main" val="3598312261"/>
                  </a:ext>
                </a:extLst>
              </a:tr>
              <a:tr h="68611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Сборка и публикация научных пакетов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extLst>
                  <a:ext uri="{0D108BD9-81ED-4DB2-BD59-A6C34878D82A}">
                    <a16:rowId xmlns:a16="http://schemas.microsoft.com/office/drawing/2014/main" val="1877302512"/>
                  </a:ext>
                </a:extLst>
              </a:tr>
              <a:tr h="457741">
                <a:tc>
                  <a:txBody>
                    <a:bodyPr/>
                    <a:lstStyle/>
                    <a:p>
                      <a:pPr algn="l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Единый файл мета данный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extLst>
                  <a:ext uri="{0D108BD9-81ED-4DB2-BD59-A6C34878D82A}">
                    <a16:rowId xmlns:a16="http://schemas.microsoft.com/office/drawing/2014/main" val="1431118101"/>
                  </a:ext>
                </a:extLst>
              </a:tr>
              <a:tr h="68611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Автоматизация выполнения команд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extLst>
                  <a:ext uri="{0D108BD9-81ED-4DB2-BD59-A6C34878D82A}">
                    <a16:rowId xmlns:a16="http://schemas.microsoft.com/office/drawing/2014/main" val="1931332026"/>
                  </a:ext>
                </a:extLst>
              </a:tr>
              <a:tr h="457741">
                <a:tc>
                  <a:txBody>
                    <a:bodyPr/>
                    <a:lstStyle/>
                    <a:p>
                      <a:pPr algn="l" fontAlgn="ctr"/>
                      <a:r>
                        <a:rPr lang="ru-RU" sz="13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Шаблонизация структуры проекта</a:t>
                      </a:r>
                      <a:endParaRPr lang="ru-RU" sz="1300" b="0" i="0" u="none" strike="noStrike" dirty="0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  <a:endParaRPr lang="ru-RU" sz="1300" b="0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3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  <a:endParaRPr lang="ru-RU" sz="1300" b="0" i="0" u="none" strike="noStrike" dirty="0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972" marR="4972" marT="4972" marB="0" anchor="ctr"/>
                </a:tc>
                <a:extLst>
                  <a:ext uri="{0D108BD9-81ED-4DB2-BD59-A6C34878D82A}">
                    <a16:rowId xmlns:a16="http://schemas.microsoft.com/office/drawing/2014/main" val="2322955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0327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46316" y="2164189"/>
            <a:ext cx="8940800" cy="17134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0" tIns="16933" rIns="0" bIns="0" rtlCol="0">
            <a:spAutoFit/>
          </a:bodyPr>
          <a:lstStyle/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Один проект — </a:t>
            </a: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одно окружение</a:t>
            </a:r>
            <a:r>
              <a:rPr lang="ru-RU" sz="1600" dirty="0">
                <a:latin typeface="Verdana"/>
                <a:cs typeface="Verdana"/>
              </a:rPr>
              <a:t>. Это упрощает управление зависимостями.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Не храните окружения в системе контроля версий. Добавьте папку окружения в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.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gitignore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Используйте понятные имена окружений</a:t>
            </a:r>
            <a:r>
              <a:rPr lang="en-US" sz="1600" dirty="0">
                <a:latin typeface="Verdana"/>
                <a:cs typeface="Verdana"/>
              </a:rPr>
              <a:t>.</a:t>
            </a:r>
            <a:r>
              <a:rPr lang="ru-RU" sz="1600" dirty="0">
                <a:latin typeface="Verdana"/>
                <a:cs typeface="Verdana"/>
              </a:rPr>
              <a:t> Например,</a:t>
            </a:r>
            <a:r>
              <a:rPr lang="en-US" sz="1600" dirty="0">
                <a:latin typeface="Verdana"/>
                <a:cs typeface="Verdana"/>
              </a:rPr>
              <a:t>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env,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venv</a:t>
            </a:r>
            <a:r>
              <a:rPr lang="en-US" sz="1600" dirty="0">
                <a:latin typeface="Verdana"/>
                <a:cs typeface="Verdana"/>
              </a:rPr>
              <a:t> </a:t>
            </a:r>
            <a:r>
              <a:rPr lang="ru-RU" sz="1600" dirty="0">
                <a:latin typeface="Verdana"/>
                <a:cs typeface="Verdana"/>
              </a:rPr>
              <a:t>или имя проекта.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70821"/>
            <a:ext cx="1089998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4000" b="1" spc="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Рекомендации при работе с ВО</a:t>
            </a:r>
            <a:endParaRPr sz="4000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FEF13E22-09B6-4AC2-A15D-52CE54B8FA4E}"/>
              </a:ext>
            </a:extLst>
          </p:cNvPr>
          <p:cNvCxnSpPr>
            <a:cxnSpLocks/>
          </p:cNvCxnSpPr>
          <p:nvPr/>
        </p:nvCxnSpPr>
        <p:spPr>
          <a:xfrm flipV="1">
            <a:off x="1117600" y="1498600"/>
            <a:ext cx="0" cy="40640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7FB7FD97-A3D0-4095-920F-662E8D4012A9}"/>
              </a:ext>
            </a:extLst>
          </p:cNvPr>
          <p:cNvCxnSpPr/>
          <p:nvPr/>
        </p:nvCxnSpPr>
        <p:spPr>
          <a:xfrm>
            <a:off x="1117600" y="1498600"/>
            <a:ext cx="32512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25D58FA-CA8F-445C-95C6-6DD1F6FFE252}"/>
              </a:ext>
            </a:extLst>
          </p:cNvPr>
          <p:cNvCxnSpPr>
            <a:cxnSpLocks/>
          </p:cNvCxnSpPr>
          <p:nvPr/>
        </p:nvCxnSpPr>
        <p:spPr>
          <a:xfrm flipV="1">
            <a:off x="4368800" y="1092200"/>
            <a:ext cx="0" cy="4064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076ECC36-FCDA-45E7-A36D-845C7FCE2A14}"/>
              </a:ext>
            </a:extLst>
          </p:cNvPr>
          <p:cNvCxnSpPr/>
          <p:nvPr/>
        </p:nvCxnSpPr>
        <p:spPr>
          <a:xfrm>
            <a:off x="4368800" y="1092200"/>
            <a:ext cx="34544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F5F1F3EA-0502-4E39-9900-561D2DDF28A3}"/>
              </a:ext>
            </a:extLst>
          </p:cNvPr>
          <p:cNvCxnSpPr>
            <a:cxnSpLocks/>
          </p:cNvCxnSpPr>
          <p:nvPr/>
        </p:nvCxnSpPr>
        <p:spPr>
          <a:xfrm flipV="1">
            <a:off x="7823200" y="1092200"/>
            <a:ext cx="0" cy="4064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70F3D881-E428-4B67-AE8D-F6FD3FFAE241}"/>
              </a:ext>
            </a:extLst>
          </p:cNvPr>
          <p:cNvCxnSpPr/>
          <p:nvPr/>
        </p:nvCxnSpPr>
        <p:spPr>
          <a:xfrm>
            <a:off x="7823200" y="1485153"/>
            <a:ext cx="32512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945D822-F65E-4EE9-A237-26773310A775}"/>
              </a:ext>
            </a:extLst>
          </p:cNvPr>
          <p:cNvCxnSpPr/>
          <p:nvPr/>
        </p:nvCxnSpPr>
        <p:spPr>
          <a:xfrm>
            <a:off x="11115832" y="1498600"/>
            <a:ext cx="0" cy="26416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B4A6BEA1-3A0E-4386-8914-F448D267B3ED}"/>
              </a:ext>
            </a:extLst>
          </p:cNvPr>
          <p:cNvCxnSpPr/>
          <p:nvPr/>
        </p:nvCxnSpPr>
        <p:spPr>
          <a:xfrm flipH="1">
            <a:off x="9956800" y="4140200"/>
            <a:ext cx="1159032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4AF0FEAD-B046-43AF-9744-AF144D25ECB5}"/>
              </a:ext>
            </a:extLst>
          </p:cNvPr>
          <p:cNvCxnSpPr/>
          <p:nvPr/>
        </p:nvCxnSpPr>
        <p:spPr>
          <a:xfrm>
            <a:off x="9956800" y="4140200"/>
            <a:ext cx="0" cy="21336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7DF0493B-EAF1-41A7-927D-0EE7345A40F7}"/>
              </a:ext>
            </a:extLst>
          </p:cNvPr>
          <p:cNvCxnSpPr>
            <a:cxnSpLocks/>
          </p:cNvCxnSpPr>
          <p:nvPr/>
        </p:nvCxnSpPr>
        <p:spPr>
          <a:xfrm flipH="1">
            <a:off x="1117600" y="6273800"/>
            <a:ext cx="88392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DC75272E-370B-4F3F-B30F-156F9D215F65}"/>
              </a:ext>
            </a:extLst>
          </p:cNvPr>
          <p:cNvCxnSpPr/>
          <p:nvPr/>
        </p:nvCxnSpPr>
        <p:spPr>
          <a:xfrm>
            <a:off x="1117600" y="5562600"/>
            <a:ext cx="0" cy="7112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5021147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1168400" y="2819400"/>
            <a:ext cx="9855200" cy="206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267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ru-RU" sz="4267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Интеграция с CI/CD и автоматизация</a:t>
            </a:r>
          </a:p>
          <a:p>
            <a:pPr algn="ctr"/>
            <a:endParaRPr lang="ru-RU" sz="4267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6856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200" y="222293"/>
            <a:ext cx="863600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Установка зависимостей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406400" y="2867212"/>
            <a:ext cx="10464800" cy="25231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4999"/>
              </a:lnSpc>
              <a:spcBef>
                <a:spcPts val="133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При каждом запуске CI/CD конвейера, особенно в больших проектах с множеством зависимостей, установка пакетов может занимать значительное время. Кэширование зависимостей позволяет сохранить ранее установленные пакеты и использовать их в последующих сборках, значительно ускоряя процесс.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7508497" y="312271"/>
            <a:ext cx="4345833" cy="666708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25973952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7445" y="155550"/>
            <a:ext cx="1089998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Установка зависимостей в конвейерах</a:t>
            </a:r>
            <a:endParaRPr lang="ru-RU" sz="4000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579222AD-4CC5-4459-A90E-64D7C2F2FB28}"/>
              </a:ext>
            </a:extLst>
          </p:cNvPr>
          <p:cNvSpPr txBox="1"/>
          <p:nvPr/>
        </p:nvSpPr>
        <p:spPr>
          <a:xfrm>
            <a:off x="564672" y="1766286"/>
            <a:ext cx="10652760" cy="4132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741661">
              <a:lnSpc>
                <a:spcPct val="114999"/>
              </a:lnSpc>
              <a:spcBef>
                <a:spcPts val="133"/>
              </a:spcBef>
              <a:tabLst>
                <a:tab pos="524074" algn="l"/>
                <a:tab pos="524920" algn="l"/>
              </a:tabLst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Примеры кэширования в </a:t>
            </a:r>
            <a:r>
              <a:rPr lang="en-US" sz="2400" dirty="0"/>
              <a:t>GitLab CI/CD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99397E-9FFC-4A38-95E0-6CA5B43CC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311400"/>
            <a:ext cx="6643027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2590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70821"/>
            <a:ext cx="1089998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Рекомендации по кэшированию</a:t>
            </a:r>
            <a:endParaRPr lang="ru-RU" sz="4000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579222AD-4CC5-4459-A90E-64D7C2F2FB28}"/>
              </a:ext>
            </a:extLst>
          </p:cNvPr>
          <p:cNvSpPr txBox="1"/>
          <p:nvPr/>
        </p:nvSpPr>
        <p:spPr>
          <a:xfrm>
            <a:off x="564672" y="1828161"/>
            <a:ext cx="10652760" cy="143030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45527" marR="741661" indent="-228594">
              <a:lnSpc>
                <a:spcPct val="114999"/>
              </a:lnSpc>
              <a:spcBef>
                <a:spcPts val="133"/>
              </a:spcBef>
              <a:buFontTx/>
              <a:buChar char="-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Фиксируйте версии зависимостей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.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Используйте </a:t>
            </a: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requirements.txt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или </a:t>
            </a: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poetry.lock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, чтобы гарантировать, что кэш соответствует необходимым версиям.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245527" marR="741661" indent="-228594">
              <a:lnSpc>
                <a:spcPct val="114999"/>
              </a:lnSpc>
              <a:spcBef>
                <a:spcPts val="133"/>
              </a:spcBef>
              <a:buFontTx/>
              <a:buChar char="-"/>
              <a:tabLst>
                <a:tab pos="524074" algn="l"/>
                <a:tab pos="52492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245527" marR="741661" indent="-228594">
              <a:lnSpc>
                <a:spcPct val="114999"/>
              </a:lnSpc>
              <a:spcBef>
                <a:spcPts val="133"/>
              </a:spcBef>
              <a:buFontTx/>
              <a:buChar char="-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Обновляйте кэш при изменении зависимостей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.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Используйте хэш файла зависимостей в качестве ключа кэша.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088345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200" y="0"/>
            <a:ext cx="8636000" cy="187658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Использовать контейнер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6933">
              <a:spcBef>
                <a:spcPts val="133"/>
              </a:spcBef>
            </a:pP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для </a:t>
            </a:r>
            <a:r>
              <a:rPr lang="ru-RU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консистентности</a:t>
            </a: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окружений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406400" y="2867213"/>
            <a:ext cx="10464800" cy="209837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4999"/>
              </a:lnSpc>
              <a:spcBef>
                <a:spcPts val="133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Контейнеризация позволяет создать единое окружение разработки и производства, обеспечивая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консистентность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 и воспроизводимость. Контейнеры включают в себя все необходимые зависимости и конфигурации, что упрощает развёртывание и тестирование.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7846168" y="381001"/>
            <a:ext cx="4345833" cy="666708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42562375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70821"/>
            <a:ext cx="1089998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Docker</a:t>
            </a: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в CI/CD конвейере</a:t>
            </a:r>
            <a:endParaRPr lang="ru-RU" sz="4000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579222AD-4CC5-4459-A90E-64D7C2F2FB28}"/>
              </a:ext>
            </a:extLst>
          </p:cNvPr>
          <p:cNvSpPr txBox="1"/>
          <p:nvPr/>
        </p:nvSpPr>
        <p:spPr>
          <a:xfrm>
            <a:off x="564672" y="1828162"/>
            <a:ext cx="10652760" cy="2720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741661">
              <a:lnSpc>
                <a:spcPct val="114999"/>
              </a:lnSpc>
              <a:spcBef>
                <a:spcPts val="133"/>
              </a:spcBef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Пример использования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GitLab CI/CD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Docker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0FF548-3C5B-4B9B-977C-3EE269C6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1" y="2616201"/>
            <a:ext cx="4915585" cy="374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493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0075" y="299015"/>
            <a:ext cx="8636000" cy="12482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Управление секретами и переменными окружения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406400" y="2867212"/>
            <a:ext cx="10464800" cy="12489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4999"/>
              </a:lnSpc>
              <a:spcBef>
                <a:spcPts val="133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В процессе разработки и особенно при развёртывании приложений важно безопасно управлять конфиденциальной информацией, такой как API-ключи, пароли и другие секреты.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7846168" y="381001"/>
            <a:ext cx="4345833" cy="666708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453529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70821"/>
            <a:ext cx="1089998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Безопасное хранение секретов</a:t>
            </a:r>
            <a:endParaRPr lang="ru-RU" sz="4000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579222AD-4CC5-4459-A90E-64D7C2F2FB28}"/>
              </a:ext>
            </a:extLst>
          </p:cNvPr>
          <p:cNvSpPr txBox="1"/>
          <p:nvPr/>
        </p:nvSpPr>
        <p:spPr>
          <a:xfrm>
            <a:off x="564672" y="1828162"/>
            <a:ext cx="10652760" cy="8639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45527" marR="741661" indent="-228594">
              <a:lnSpc>
                <a:spcPct val="114999"/>
              </a:lnSpc>
              <a:spcBef>
                <a:spcPts val="133"/>
              </a:spcBef>
              <a:buFontTx/>
              <a:buChar char="-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Добавьте .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env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в .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gitignore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, чтобы предотвратить его коммит.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245527" marR="741661" indent="-228594">
              <a:lnSpc>
                <a:spcPct val="114999"/>
              </a:lnSpc>
              <a:spcBef>
                <a:spcPts val="133"/>
              </a:spcBef>
              <a:buFontTx/>
              <a:buChar char="-"/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Используйте .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env.example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для указания необходимых переменных без значений.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245527" marR="741661" indent="-228594">
              <a:lnSpc>
                <a:spcPct val="114999"/>
              </a:lnSpc>
              <a:spcBef>
                <a:spcPts val="133"/>
              </a:spcBef>
              <a:buFontTx/>
              <a:buChar char="-"/>
              <a:tabLst>
                <a:tab pos="524074" algn="l"/>
                <a:tab pos="524920" algn="l"/>
              </a:tabLst>
            </a:pP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4098" name="Picture 2" descr="Что такое безопасность сайта и почему она важна?">
            <a:extLst>
              <a:ext uri="{FF2B5EF4-FFF2-40B4-BE49-F238E27FC236}">
                <a16:creationId xmlns:a16="http://schemas.microsoft.com/office/drawing/2014/main" id="{BEECAA1D-7948-4323-B749-A7C9F90E3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534" y="2700709"/>
            <a:ext cx="7128933" cy="413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26814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700" y="235702"/>
            <a:ext cx="8636000" cy="12482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Передача переменных окружения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406400" y="2867212"/>
            <a:ext cx="10464800" cy="82417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4999"/>
              </a:lnSpc>
              <a:spcBef>
                <a:spcPts val="133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Использование переменных окружения позволяет конфигурировать приложение без изменения кода.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7846168" y="381001"/>
            <a:ext cx="4345833" cy="666708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8022508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1058" y="215151"/>
            <a:ext cx="1089998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Шифрование переменных в CI/CD системах</a:t>
            </a:r>
            <a:endParaRPr lang="ru-RU" sz="4000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579222AD-4CC5-4459-A90E-64D7C2F2FB28}"/>
              </a:ext>
            </a:extLst>
          </p:cNvPr>
          <p:cNvSpPr txBox="1"/>
          <p:nvPr/>
        </p:nvSpPr>
        <p:spPr>
          <a:xfrm>
            <a:off x="564672" y="1828162"/>
            <a:ext cx="10652760" cy="2720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741661">
              <a:lnSpc>
                <a:spcPct val="114999"/>
              </a:lnSpc>
              <a:spcBef>
                <a:spcPts val="133"/>
              </a:spcBef>
              <a:tabLst>
                <a:tab pos="524074" algn="l"/>
                <a:tab pos="524920" algn="l"/>
              </a:tabLst>
            </a:pPr>
            <a:r>
              <a:rPr lang="ru-RU" sz="1600" dirty="0">
                <a:latin typeface="Verdana"/>
                <a:cs typeface="Verdana"/>
              </a:rPr>
              <a:t>Пример использования </a:t>
            </a:r>
            <a:r>
              <a:rPr lang="en-US" sz="1600" dirty="0">
                <a:latin typeface="Verdana"/>
                <a:cs typeface="Verdana"/>
              </a:rPr>
              <a:t>GitLab CI/CD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9BE0F0C-2F48-4622-ACF9-B817D74F0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1" y="2514601"/>
            <a:ext cx="4432919" cy="13336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7CF63F-69E9-477E-8AF5-A438DDABD397}"/>
              </a:ext>
            </a:extLst>
          </p:cNvPr>
          <p:cNvSpPr txBox="1"/>
          <p:nvPr/>
        </p:nvSpPr>
        <p:spPr>
          <a:xfrm>
            <a:off x="482492" y="4078019"/>
            <a:ext cx="110578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Где SECRET_KEY — это защищённая переменная, заданная в настройках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9249307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1168400" y="2819401"/>
            <a:ext cx="9855200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267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3. Лучшие практики</a:t>
            </a:r>
          </a:p>
        </p:txBody>
      </p:sp>
    </p:spTree>
    <p:extLst>
      <p:ext uri="{BB962C8B-B14F-4D97-AF65-F5344CB8AC3E}">
        <p14:creationId xmlns:p14="http://schemas.microsoft.com/office/powerpoint/2010/main" val="27871525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87CF63F-69E9-477E-8AF5-A438DDABD397}"/>
              </a:ext>
            </a:extLst>
          </p:cNvPr>
          <p:cNvSpPr txBox="1"/>
          <p:nvPr/>
        </p:nvSpPr>
        <p:spPr>
          <a:xfrm>
            <a:off x="406401" y="1092200"/>
            <a:ext cx="1105783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buFont typeface="Wingdings" panose="05000000000000000000" pitchFamily="2" charset="2"/>
              <a:buChar char="q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Управление зависимостями в больших командах</a:t>
            </a:r>
          </a:p>
          <a:p>
            <a:pPr marL="228594" indent="-228594">
              <a:buFont typeface="Wingdings" panose="05000000000000000000" pitchFamily="2" charset="2"/>
              <a:buChar char="q"/>
            </a:pP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594" indent="-228594">
              <a:buFont typeface="Wingdings" panose="05000000000000000000" pitchFamily="2" charset="2"/>
              <a:buChar char="q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Миграция между инструментами</a:t>
            </a:r>
          </a:p>
          <a:p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8194" name="Picture 2" descr="Управление зависимостями в Python в 2017">
            <a:extLst>
              <a:ext uri="{FF2B5EF4-FFF2-40B4-BE49-F238E27FC236}">
                <a16:creationId xmlns:a16="http://schemas.microsoft.com/office/drawing/2014/main" id="{D789ADD3-533C-49F9-8339-46B8CC79B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709" y="3733801"/>
            <a:ext cx="7772583" cy="298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5071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87CF63F-69E9-477E-8AF5-A438DDABD397}"/>
              </a:ext>
            </a:extLst>
          </p:cNvPr>
          <p:cNvSpPr txBox="1"/>
          <p:nvPr/>
        </p:nvSpPr>
        <p:spPr>
          <a:xfrm>
            <a:off x="437667" y="2082228"/>
            <a:ext cx="1105783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Проблема:</a:t>
            </a: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- При обновлении зависимостей могут возникать конфликты версий, приводящие к поломке приложения или несовместимостям.</a:t>
            </a:r>
          </a:p>
          <a:p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Решение:</a:t>
            </a:r>
          </a:p>
          <a:p>
            <a:pPr marL="380990" indent="-380990">
              <a:buFontTx/>
              <a:buChar char="-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Создание изолированных окружений для тестирования обновлений</a:t>
            </a:r>
          </a:p>
          <a:p>
            <a:pPr marL="380990" indent="-380990">
              <a:buFontTx/>
              <a:buChar char="-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Постепенное обновление и проверка совместимости</a:t>
            </a:r>
          </a:p>
          <a:p>
            <a:pPr marL="380990" indent="-380990">
              <a:buFontTx/>
              <a:buChar char="-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Использование инструментов для разрешения конфликтов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45C1DB2B-9DA5-4363-865C-A962ED73EB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354930"/>
            <a:ext cx="1089998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4000" b="1" spc="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Конфликты версий при обновлении</a:t>
            </a:r>
          </a:p>
        </p:txBody>
      </p:sp>
    </p:spTree>
    <p:extLst>
      <p:ext uri="{BB962C8B-B14F-4D97-AF65-F5344CB8AC3E}">
        <p14:creationId xmlns:p14="http://schemas.microsoft.com/office/powerpoint/2010/main" val="6183925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87CF63F-69E9-477E-8AF5-A438DDABD397}"/>
              </a:ext>
            </a:extLst>
          </p:cNvPr>
          <p:cNvSpPr txBox="1"/>
          <p:nvPr/>
        </p:nvSpPr>
        <p:spPr>
          <a:xfrm>
            <a:off x="279821" y="2886624"/>
            <a:ext cx="110578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Проблема:</a:t>
            </a: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- Приложение работает на одной операционной системе, но не работает на другой из-за различий в зависимостях или окружении.</a:t>
            </a:r>
          </a:p>
          <a:p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Решение:</a:t>
            </a:r>
          </a:p>
          <a:p>
            <a:pPr marL="380990" indent="-380990">
              <a:buFontTx/>
              <a:buChar char="-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Тестирование на разных операционных системах</a:t>
            </a:r>
          </a:p>
          <a:p>
            <a:pPr marL="380990" indent="-380990">
              <a:buFontTx/>
              <a:buChar char="-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Использование контейнеризации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45C1DB2B-9DA5-4363-865C-A962ED73EB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743" y="705887"/>
            <a:ext cx="10899987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Проблемы с совместимостью платформ</a:t>
            </a:r>
            <a:endParaRPr lang="ru-RU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3477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/>
        </p:nvSpPr>
        <p:spPr>
          <a:xfrm>
            <a:off x="720000" y="672001"/>
            <a:ext cx="10080000" cy="65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00" tIns="48000" rIns="48000" bIns="48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" sz="4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 sz="4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1" name="Google Shape;22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27585"/>
            <a:ext cx="12192000" cy="4356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1301</Words>
  <Application>Microsoft Office PowerPoint</Application>
  <PresentationFormat>Широкоэкранный</PresentationFormat>
  <Paragraphs>282</Paragraphs>
  <Slides>44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5" baseType="lpstr">
      <vt:lpstr>MS PGothic</vt:lpstr>
      <vt:lpstr>Arial</vt:lpstr>
      <vt:lpstr>Arial Black</vt:lpstr>
      <vt:lpstr>Calibri</vt:lpstr>
      <vt:lpstr>Calibri Light</vt:lpstr>
      <vt:lpstr>Montserrat</vt:lpstr>
      <vt:lpstr>Symbol</vt:lpstr>
      <vt:lpstr>Tahoma</vt:lpstr>
      <vt:lpstr>Verdana</vt:lpstr>
      <vt:lpstr>Wingdings</vt:lpstr>
      <vt:lpstr>Тема Office</vt:lpstr>
      <vt:lpstr>Презентация PowerPoint</vt:lpstr>
      <vt:lpstr>План занятия</vt:lpstr>
      <vt:lpstr>Презентация PowerPoint</vt:lpstr>
      <vt:lpstr>Презентация PowerPoint</vt:lpstr>
      <vt:lpstr>Почему нужна изоляция среды для проекта?  </vt:lpstr>
      <vt:lpstr>Презентация PowerPoint</vt:lpstr>
      <vt:lpstr>Презентация PowerPoint</vt:lpstr>
      <vt:lpstr>venv  1. Встроенный инструмент Python для создания виртуальных окружений.  2. Простой в использовании и интегрируется в любую версию Python.  </vt:lpstr>
      <vt:lpstr>Презентация PowerPoint</vt:lpstr>
      <vt:lpstr>Презентация PowerPoint</vt:lpstr>
      <vt:lpstr>virtualenv доп. возможности</vt:lpstr>
      <vt:lpstr>virtualenv доп. возможности</vt:lpstr>
      <vt:lpstr>venv / virtualenv</vt:lpstr>
      <vt:lpstr>Презентация PowerPoint</vt:lpstr>
      <vt:lpstr>Poetry: особенности</vt:lpstr>
      <vt:lpstr>Создание и настройка проекта с Poetry</vt:lpstr>
      <vt:lpstr>Управление зависимостями</vt:lpstr>
      <vt:lpstr>Управление виртуальными окружениями</vt:lpstr>
      <vt:lpstr>Плюсы Poetry  1. Интегрированное управление зависимостями и окружениями.  2. Простая публикация пакетов.  3. Автоматическое разрешение зависимостей.  </vt:lpstr>
      <vt:lpstr>Презентация PowerPoint</vt:lpstr>
      <vt:lpstr>Особенности Conda</vt:lpstr>
      <vt:lpstr>Установка Conda</vt:lpstr>
      <vt:lpstr>Управление ВО с Conda</vt:lpstr>
      <vt:lpstr>Управление пакетами с Conda</vt:lpstr>
      <vt:lpstr>Плюсы Conda  1. Управление как Python, так и системными зависимостями.  2. Упрощенная установка сложных пакетов (например, TensorFlow, PyTorch).  3. Поддержка нескольких языков.  </vt:lpstr>
      <vt:lpstr>Сравнение venv, Poetry и Conda</vt:lpstr>
      <vt:lpstr>Какие еще есть инструменты?</vt:lpstr>
      <vt:lpstr>Общее сравнение инструментов</vt:lpstr>
      <vt:lpstr>Рекомендации при работе с ВО</vt:lpstr>
      <vt:lpstr>Презентация PowerPoint</vt:lpstr>
      <vt:lpstr>Презентация PowerPoint</vt:lpstr>
      <vt:lpstr>Установка зависимостей в конвейерах</vt:lpstr>
      <vt:lpstr>Рекомендации по кэшированию</vt:lpstr>
      <vt:lpstr>Презентация PowerPoint</vt:lpstr>
      <vt:lpstr>Docker в CI/CD конвейере</vt:lpstr>
      <vt:lpstr>Презентация PowerPoint</vt:lpstr>
      <vt:lpstr>Безопасное хранение секретов</vt:lpstr>
      <vt:lpstr>Презентация PowerPoint</vt:lpstr>
      <vt:lpstr>Шифрование переменных в CI/CD системах</vt:lpstr>
      <vt:lpstr>Презентация PowerPoint</vt:lpstr>
      <vt:lpstr>Презентация PowerPoint</vt:lpstr>
      <vt:lpstr>Конфликты версий при обновлении</vt:lpstr>
      <vt:lpstr>Проблемы с совместимостью платформ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в продуктивной среде</dc:title>
  <dc:creator>NeKon</dc:creator>
  <cp:lastModifiedBy>Константин Некрасов</cp:lastModifiedBy>
  <cp:revision>58</cp:revision>
  <dcterms:created xsi:type="dcterms:W3CDTF">2025-09-30T05:17:12Z</dcterms:created>
  <dcterms:modified xsi:type="dcterms:W3CDTF">2026-03-10T14:03:16Z</dcterms:modified>
</cp:coreProperties>
</file>