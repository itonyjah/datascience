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8" r:id="rId2"/>
    <p:sldId id="427" r:id="rId3"/>
    <p:sldId id="367" r:id="rId4"/>
    <p:sldId id="430" r:id="rId5"/>
    <p:sldId id="431" r:id="rId6"/>
    <p:sldId id="432" r:id="rId7"/>
    <p:sldId id="433" r:id="rId8"/>
    <p:sldId id="434" r:id="rId9"/>
    <p:sldId id="429" r:id="rId10"/>
    <p:sldId id="361" r:id="rId11"/>
    <p:sldId id="402" r:id="rId12"/>
    <p:sldId id="403" r:id="rId13"/>
    <p:sldId id="404" r:id="rId14"/>
    <p:sldId id="428" r:id="rId15"/>
    <p:sldId id="406" r:id="rId16"/>
    <p:sldId id="407" r:id="rId17"/>
    <p:sldId id="409" r:id="rId18"/>
    <p:sldId id="408" r:id="rId19"/>
    <p:sldId id="411" r:id="rId20"/>
    <p:sldId id="410" r:id="rId21"/>
    <p:sldId id="412" r:id="rId22"/>
    <p:sldId id="413" r:id="rId23"/>
    <p:sldId id="415" r:id="rId24"/>
    <p:sldId id="416" r:id="rId25"/>
    <p:sldId id="417" r:id="rId26"/>
    <p:sldId id="418" r:id="rId27"/>
    <p:sldId id="419" r:id="rId28"/>
    <p:sldId id="420" r:id="rId29"/>
    <p:sldId id="421" r:id="rId30"/>
    <p:sldId id="422" r:id="rId31"/>
    <p:sldId id="423" r:id="rId32"/>
    <p:sldId id="424" r:id="rId33"/>
    <p:sldId id="425" r:id="rId34"/>
    <p:sldId id="426" r:id="rId35"/>
    <p:sldId id="277" r:id="rId36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E915"/>
    <a:srgbClr val="FE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97" d="100"/>
          <a:sy n="197" d="100"/>
        </p:scale>
        <p:origin x="666" y="15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3D4D0-1964-467A-84AE-EA9A33292BC7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B40BD-6527-4D2E-BAF4-A8B483AFAC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31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1450" y="302400"/>
            <a:ext cx="2683774" cy="393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7575" y="195145"/>
            <a:ext cx="8568849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7B7B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4450" y="298800"/>
            <a:ext cx="2709550" cy="397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4309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273" y="540000"/>
            <a:ext cx="7821455" cy="40635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bg>
      <p:bgPr>
        <a:solidFill>
          <a:srgbClr val="005FAF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25631" y="4283051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3703" y="3694919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"/>
          <p:cNvSpPr txBox="1"/>
          <p:nvPr/>
        </p:nvSpPr>
        <p:spPr>
          <a:xfrm rot="2700000">
            <a:off x="7308740" y="4159928"/>
            <a:ext cx="30080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848319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250" y="249282"/>
            <a:ext cx="8487499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0725" y="913921"/>
            <a:ext cx="8342548" cy="2339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B7B7B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8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6ZjYcy76wsY1MTF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kubernetes.io/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docs.docker.com/engine/install/ubuntu/#install-using-the-repository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/>
        </p:nvSpPr>
        <p:spPr>
          <a:xfrm>
            <a:off x="1371601" y="4078856"/>
            <a:ext cx="3901199" cy="112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Некрасов Константин Олегович</a:t>
            </a: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Директор по разработке ML-моделей  </a:t>
            </a: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АО «Газпромбанк»</a:t>
            </a:r>
            <a:endParaRPr lang="en-US"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Блог: </a:t>
            </a:r>
            <a:r>
              <a:rPr lang="en-US" sz="1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Labalgo</a:t>
            </a:r>
            <a:endParaRPr lang="en-US" sz="1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endParaRPr lang="ru-RU" sz="1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8"/>
          <p:cNvSpPr txBox="1"/>
          <p:nvPr/>
        </p:nvSpPr>
        <p:spPr>
          <a:xfrm>
            <a:off x="414000" y="200730"/>
            <a:ext cx="8316000" cy="62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-RU" sz="4000" b="1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Внедрение моделей </a:t>
            </a:r>
            <a:r>
              <a:rPr lang="en-US" sz="4000" b="1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ML</a:t>
            </a:r>
          </a:p>
        </p:txBody>
      </p:sp>
      <p:sp>
        <p:nvSpPr>
          <p:cNvPr id="39" name="Google Shape;39;p8"/>
          <p:cNvSpPr txBox="1"/>
          <p:nvPr/>
        </p:nvSpPr>
        <p:spPr>
          <a:xfrm>
            <a:off x="174211" y="2824093"/>
            <a:ext cx="7560000" cy="737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-RU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Контейнеризация</a:t>
            </a:r>
            <a:r>
              <a:rPr lang="en-US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ML-</a:t>
            </a:r>
            <a:r>
              <a:rPr lang="ru-RU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моделей с </a:t>
            </a:r>
            <a:r>
              <a:rPr lang="en-US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Docker</a:t>
            </a:r>
            <a:r>
              <a:rPr lang="ru-RU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038350"/>
            <a:ext cx="9144000" cy="22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2900" y="236882"/>
            <a:ext cx="2202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План</a:t>
            </a:r>
            <a:r>
              <a:rPr spc="-215" dirty="0"/>
              <a:t> </a:t>
            </a:r>
            <a:r>
              <a:rPr spc="20" dirty="0"/>
              <a:t>занятия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7360" y="794030"/>
            <a:ext cx="8283240" cy="20855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z="1800" spc="160" dirty="0">
                <a:solidFill>
                  <a:srgbClr val="181818"/>
                </a:solidFill>
                <a:latin typeface="Verdana"/>
                <a:cs typeface="Verdana"/>
              </a:rPr>
              <a:t>Виды архитектур приложений</a:t>
            </a: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z="1800" spc="160" dirty="0">
                <a:solidFill>
                  <a:srgbClr val="181818"/>
                </a:solidFill>
                <a:latin typeface="Verdana"/>
                <a:cs typeface="Verdana"/>
              </a:rPr>
              <a:t>Общее о </a:t>
            </a:r>
            <a:r>
              <a:rPr lang="en-US" sz="1800" spc="160" dirty="0">
                <a:solidFill>
                  <a:srgbClr val="181818"/>
                </a:solidFill>
                <a:latin typeface="Verdana"/>
                <a:cs typeface="Verdana"/>
              </a:rPr>
              <a:t>Kubernetes</a:t>
            </a:r>
            <a:endParaRPr lang="ru-RU" sz="1800" spc="160" dirty="0">
              <a:solidFill>
                <a:srgbClr val="181818"/>
              </a:solidFill>
              <a:latin typeface="Verdana"/>
              <a:cs typeface="Verdana"/>
            </a:endParaRP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z="1800" spc="160" dirty="0">
                <a:solidFill>
                  <a:srgbClr val="181818"/>
                </a:solidFill>
                <a:latin typeface="Verdana"/>
                <a:cs typeface="Verdana"/>
              </a:rPr>
              <a:t>Составляющие </a:t>
            </a:r>
            <a:r>
              <a:rPr lang="en-US" sz="1800" spc="160" dirty="0">
                <a:solidFill>
                  <a:srgbClr val="181818"/>
                </a:solidFill>
                <a:latin typeface="Verdana"/>
                <a:cs typeface="Verdana"/>
              </a:rPr>
              <a:t>Kubernetes</a:t>
            </a: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en-US" sz="1800" spc="160" dirty="0">
              <a:solidFill>
                <a:srgbClr val="181818"/>
              </a:solidFill>
              <a:latin typeface="Verdana"/>
              <a:cs typeface="Verdana"/>
            </a:endParaRP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en-US" sz="1800" spc="160" dirty="0">
              <a:solidFill>
                <a:srgbClr val="181818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876300" y="2114550"/>
            <a:ext cx="7391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1. Виды архитектур приложений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32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A65F1B-5725-4F8F-AC2E-9BB252205E4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619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B62EC4-0D28-4EEF-854A-A1ACFB63666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334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87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Высокая гибкость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Эластичность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Быстрое обновление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Упрощение поддержки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Почему популярны </a:t>
            </a:r>
            <a:r>
              <a:rPr lang="ru-RU" b="1" spc="9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микросервисы</a:t>
            </a: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41070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4377096" cy="15905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Микросервисы</a:t>
            </a:r>
            <a:r>
              <a:rPr lang="ru-RU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2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Улучшенная масштабируемость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Простота обслуживания и модификации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Гибкость в технологическом стеке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Независимое развертывание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Сокращение точек отказа и влияние сбоев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Преимущества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D9401E0-FCD8-40DA-88BC-E2FD97315E67}"/>
              </a:ext>
            </a:extLst>
          </p:cNvPr>
          <p:cNvSpPr txBox="1"/>
          <p:nvPr/>
        </p:nvSpPr>
        <p:spPr>
          <a:xfrm>
            <a:off x="4572000" y="1371121"/>
            <a:ext cx="4377096" cy="13653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Монолиты: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2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Упрощение разработки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Простота развертывания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Унификация кода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Лучшая производительность</a:t>
            </a:r>
          </a:p>
        </p:txBody>
      </p:sp>
    </p:spTree>
    <p:extLst>
      <p:ext uri="{BB962C8B-B14F-4D97-AF65-F5344CB8AC3E}">
        <p14:creationId xmlns:p14="http://schemas.microsoft.com/office/powerpoint/2010/main" val="236652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4377096" cy="157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Микросервисы</a:t>
            </a:r>
            <a:r>
              <a:rPr lang="ru-RU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2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Повышенная сложность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Дополнительные издержки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Потенциал потери производительности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Сложности управления распределенными данными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Недостатки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D9401E0-FCD8-40DA-88BC-E2FD97315E67}"/>
              </a:ext>
            </a:extLst>
          </p:cNvPr>
          <p:cNvSpPr txBox="1"/>
          <p:nvPr/>
        </p:nvSpPr>
        <p:spPr>
          <a:xfrm>
            <a:off x="4572000" y="1371121"/>
            <a:ext cx="4377096" cy="13653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Монолиты: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2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Ограниченная масштабируемость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Сложность обслуживания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Негибкий технологический стек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Единая точка отказа</a:t>
            </a:r>
          </a:p>
        </p:txBody>
      </p:sp>
    </p:spTree>
    <p:extLst>
      <p:ext uri="{BB962C8B-B14F-4D97-AF65-F5344CB8AC3E}">
        <p14:creationId xmlns:p14="http://schemas.microsoft.com/office/powerpoint/2010/main" val="3763164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876300" y="2114550"/>
            <a:ext cx="7391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2. Общее о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Kubernetes</a:t>
            </a:r>
          </a:p>
          <a:p>
            <a:pPr algn="ctr"/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307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Kubernetes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347662" y="2196561"/>
            <a:ext cx="7772400" cy="685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это система управления контейнерами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(orchestration system).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Что такое Kubernetes и зачем Big Data нужен этот DevOps-инструмент">
            <a:extLst>
              <a:ext uri="{FF2B5EF4-FFF2-40B4-BE49-F238E27FC236}">
                <a16:creationId xmlns:a16="http://schemas.microsoft.com/office/drawing/2014/main" id="{A38EAD18-A09E-4405-B02F-F4018D247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3862" y="2567840"/>
            <a:ext cx="4791075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667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86000" y="1122902"/>
            <a:ext cx="4800600" cy="713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K</a:t>
            </a:r>
            <a:r>
              <a:rPr lang="en-US" sz="4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UBERNETE</a:t>
            </a:r>
            <a:r>
              <a:rPr lang="en-US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S</a:t>
            </a:r>
            <a:endParaRPr lang="ru-RU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71576AA6-73CF-4B9A-B8C0-FCA6CFF0B6BA}"/>
              </a:ext>
            </a:extLst>
          </p:cNvPr>
          <p:cNvCxnSpPr>
            <a:cxnSpLocks/>
          </p:cNvCxnSpPr>
          <p:nvPr/>
        </p:nvCxnSpPr>
        <p:spPr>
          <a:xfrm>
            <a:off x="2763370" y="1866658"/>
            <a:ext cx="3312459" cy="11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50" name="Picture 2" descr="Kubernetes Resources Monitoring - Applications, Containers, Configuration  and Events | IBM">
            <a:extLst>
              <a:ext uri="{FF2B5EF4-FFF2-40B4-BE49-F238E27FC236}">
                <a16:creationId xmlns:a16="http://schemas.microsoft.com/office/drawing/2014/main" id="{C5457735-CCC6-42DB-86EB-57C67E2E7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876550"/>
            <a:ext cx="3962400" cy="2235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bject 3">
            <a:extLst>
              <a:ext uri="{FF2B5EF4-FFF2-40B4-BE49-F238E27FC236}">
                <a16:creationId xmlns:a16="http://schemas.microsoft.com/office/drawing/2014/main" id="{19C971B8-A9E2-46A4-8B94-CD7733AF7AD2}"/>
              </a:ext>
            </a:extLst>
          </p:cNvPr>
          <p:cNvSpPr txBox="1"/>
          <p:nvPr/>
        </p:nvSpPr>
        <p:spPr>
          <a:xfrm>
            <a:off x="3657600" y="1948150"/>
            <a:ext cx="4495800" cy="58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3600" b="1" dirty="0">
                <a:solidFill>
                  <a:srgbClr val="0070C0"/>
                </a:solidFill>
                <a:latin typeface="Verdana"/>
                <a:cs typeface="Verdana"/>
              </a:rPr>
              <a:t>8 </a:t>
            </a:r>
            <a:r>
              <a:rPr lang="ru-RU" sz="3600" b="1" dirty="0">
                <a:solidFill>
                  <a:srgbClr val="0070C0"/>
                </a:solidFill>
                <a:latin typeface="Verdana"/>
                <a:cs typeface="Verdana"/>
              </a:rPr>
              <a:t>букв</a:t>
            </a:r>
          </a:p>
        </p:txBody>
      </p:sp>
      <p:sp>
        <p:nvSpPr>
          <p:cNvPr id="13" name="Стрелка: вниз 12">
            <a:extLst>
              <a:ext uri="{FF2B5EF4-FFF2-40B4-BE49-F238E27FC236}">
                <a16:creationId xmlns:a16="http://schemas.microsoft.com/office/drawing/2014/main" id="{962AA942-F2EB-402F-AE09-FAD7CD1220CE}"/>
              </a:ext>
            </a:extLst>
          </p:cNvPr>
          <p:cNvSpPr/>
          <p:nvPr/>
        </p:nvSpPr>
        <p:spPr>
          <a:xfrm>
            <a:off x="4193241" y="2812327"/>
            <a:ext cx="457200" cy="685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C4A60B7F-9499-4D5B-9899-AD14C22B2D4C}"/>
              </a:ext>
            </a:extLst>
          </p:cNvPr>
          <p:cNvSpPr txBox="1"/>
          <p:nvPr/>
        </p:nvSpPr>
        <p:spPr>
          <a:xfrm>
            <a:off x="3736041" y="3574327"/>
            <a:ext cx="1828800" cy="713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K</a:t>
            </a:r>
            <a:r>
              <a:rPr lang="ru-RU" sz="4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8</a:t>
            </a:r>
            <a:r>
              <a:rPr lang="en-US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S</a:t>
            </a:r>
            <a:endParaRPr lang="ru-RU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45308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0055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Автоматическим развертыванием приложений в контейнерах на разных серверах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endParaRPr lang="ru-RU" sz="12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Распределением нагрузки по нескольким серверам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endParaRPr lang="ru-RU" sz="12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Автоматическим масштабированием развернутых приложений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endParaRPr lang="ru-RU" sz="12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Мониторингом и проверкой работоспособности контейнеров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endParaRPr lang="ru-RU" sz="12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200" dirty="0">
                <a:latin typeface="Verdana"/>
                <a:cs typeface="Verdana"/>
              </a:rPr>
              <a:t>Заменой нерабочих контейнеров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Kubernetes </a:t>
            </a: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помогает с: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25077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97032" y="1276350"/>
            <a:ext cx="6592601" cy="522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3200" dirty="0">
                <a:latin typeface="Verdana"/>
                <a:cs typeface="Verdana"/>
              </a:rPr>
              <a:t>Среды запуска контейнеров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2F4196C-EF3D-4D8C-8139-66E5F9836ECC}"/>
              </a:ext>
            </a:extLst>
          </p:cNvPr>
          <p:cNvSpPr/>
          <p:nvPr/>
        </p:nvSpPr>
        <p:spPr>
          <a:xfrm>
            <a:off x="564776" y="2755924"/>
            <a:ext cx="1905000" cy="8382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Docker</a:t>
            </a:r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2105CB1-7828-4C13-8C15-F8DA5045C694}"/>
              </a:ext>
            </a:extLst>
          </p:cNvPr>
          <p:cNvSpPr/>
          <p:nvPr/>
        </p:nvSpPr>
        <p:spPr>
          <a:xfrm>
            <a:off x="6316890" y="2755924"/>
            <a:ext cx="1905000" cy="8382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Containerd</a:t>
            </a:r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6B13122-2F4D-4F1D-AEEE-FC25E81B1446}"/>
              </a:ext>
            </a:extLst>
          </p:cNvPr>
          <p:cNvSpPr/>
          <p:nvPr/>
        </p:nvSpPr>
        <p:spPr>
          <a:xfrm>
            <a:off x="3440833" y="2755924"/>
            <a:ext cx="1905000" cy="8382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CRI-0</a:t>
            </a:r>
            <a:endParaRPr lang="ru-RU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D81E1463-7EA5-4EA1-A271-AD13E1AD6079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flipH="1">
            <a:off x="1517276" y="1798994"/>
            <a:ext cx="2876057" cy="956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198E05C8-70A2-48B8-93DC-005A9B3E0641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4393333" y="1798994"/>
            <a:ext cx="2876057" cy="956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AE85AC9A-2D1A-449C-848E-76072264A069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>
            <a:off x="4393333" y="1798994"/>
            <a:ext cx="0" cy="956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657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876300" y="2114550"/>
            <a:ext cx="7391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3. Составляющие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Kubernetes</a:t>
            </a:r>
          </a:p>
          <a:p>
            <a:pPr algn="ctr"/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32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POD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347662" y="2196561"/>
            <a:ext cx="7772400" cy="34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это самый маленький элемент в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kubernetes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4" name="Picture 2" descr="Kubernetes: pods, services, deployments, secrets | Padok">
            <a:extLst>
              <a:ext uri="{FF2B5EF4-FFF2-40B4-BE49-F238E27FC236}">
                <a16:creationId xmlns:a16="http://schemas.microsoft.com/office/drawing/2014/main" id="{7E8197BB-580D-4756-966A-8E3083325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739606"/>
            <a:ext cx="3352800" cy="240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3918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 чего состоит 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POD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1FAFEA1B-839B-4A5E-A405-6A819371A1CE}"/>
              </a:ext>
            </a:extLst>
          </p:cNvPr>
          <p:cNvSpPr/>
          <p:nvPr/>
        </p:nvSpPr>
        <p:spPr>
          <a:xfrm>
            <a:off x="2057400" y="1276350"/>
            <a:ext cx="4953000" cy="3124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POD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F258B5C-524B-498E-94C8-E33BFD2CD6B9}"/>
              </a:ext>
            </a:extLst>
          </p:cNvPr>
          <p:cNvSpPr/>
          <p:nvPr/>
        </p:nvSpPr>
        <p:spPr>
          <a:xfrm>
            <a:off x="2667000" y="2190750"/>
            <a:ext cx="1295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Контейнер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43D2D18-AFEA-43F3-A77C-7B6B9DE3CD73}"/>
              </a:ext>
            </a:extLst>
          </p:cNvPr>
          <p:cNvSpPr/>
          <p:nvPr/>
        </p:nvSpPr>
        <p:spPr>
          <a:xfrm>
            <a:off x="2667000" y="2724150"/>
            <a:ext cx="1295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Контейнер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6923F9D-502D-4A64-ABA0-4D4CBCF21397}"/>
              </a:ext>
            </a:extLst>
          </p:cNvPr>
          <p:cNvSpPr/>
          <p:nvPr/>
        </p:nvSpPr>
        <p:spPr>
          <a:xfrm>
            <a:off x="2667000" y="3257550"/>
            <a:ext cx="12954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Контейнер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AA74671D-8BAC-4591-AB02-D4DE3573813F}"/>
              </a:ext>
            </a:extLst>
          </p:cNvPr>
          <p:cNvSpPr/>
          <p:nvPr/>
        </p:nvSpPr>
        <p:spPr>
          <a:xfrm>
            <a:off x="4648200" y="2317950"/>
            <a:ext cx="1295400" cy="5664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Общие тома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82BB86AF-2F48-4D64-BF21-2B0D3813A368}"/>
              </a:ext>
            </a:extLst>
          </p:cNvPr>
          <p:cNvSpPr/>
          <p:nvPr/>
        </p:nvSpPr>
        <p:spPr>
          <a:xfrm>
            <a:off x="4648200" y="3072106"/>
            <a:ext cx="1295400" cy="5664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Общий </a:t>
            </a:r>
            <a:r>
              <a:rPr lang="en-US" dirty="0"/>
              <a:t>IP-</a:t>
            </a:r>
            <a:r>
              <a:rPr lang="ru-RU" dirty="0"/>
              <a:t>адрес</a:t>
            </a:r>
          </a:p>
        </p:txBody>
      </p:sp>
    </p:spTree>
    <p:extLst>
      <p:ext uri="{BB962C8B-B14F-4D97-AF65-F5344CB8AC3E}">
        <p14:creationId xmlns:p14="http://schemas.microsoft.com/office/powerpoint/2010/main" val="149839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Лучшая практика!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91EBDD18-3D0E-4637-913C-451D46684816}"/>
              </a:ext>
            </a:extLst>
          </p:cNvPr>
          <p:cNvSpPr txBox="1">
            <a:spLocks/>
          </p:cNvSpPr>
          <p:nvPr/>
        </p:nvSpPr>
        <p:spPr>
          <a:xfrm>
            <a:off x="685800" y="1276350"/>
            <a:ext cx="817499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rgbClr val="181818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ru-RU" sz="2000" kern="0" spc="90" dirty="0"/>
              <a:t>Рекомендуется использовать для 1 контейнера – 1 </a:t>
            </a:r>
            <a:r>
              <a:rPr lang="en-US" sz="2000" kern="0" spc="90" dirty="0"/>
              <a:t>POD</a:t>
            </a:r>
            <a:endParaRPr lang="ru-RU" sz="2000" kern="0" spc="9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03A6BA-EA72-4DF0-A744-6A36649D18C3}"/>
              </a:ext>
            </a:extLst>
          </p:cNvPr>
          <p:cNvSpPr txBox="1"/>
          <p:nvPr/>
        </p:nvSpPr>
        <p:spPr>
          <a:xfrm>
            <a:off x="1295400" y="2960553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Исключение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A502534D-EEFB-4857-A826-5CE23B662C58}"/>
              </a:ext>
            </a:extLst>
          </p:cNvPr>
          <p:cNvCxnSpPr>
            <a:cxnSpLocks/>
          </p:cNvCxnSpPr>
          <p:nvPr/>
        </p:nvCxnSpPr>
        <p:spPr>
          <a:xfrm flipH="1">
            <a:off x="2018179" y="2884353"/>
            <a:ext cx="1714500" cy="152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D3B807-DAA8-4C74-8830-AAED10A4DF5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00400" y="1733550"/>
            <a:ext cx="2935482" cy="319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77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Кластер </a:t>
            </a:r>
            <a:r>
              <a:rPr lang="en-US" b="1" spc="9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kubernetes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6253DD7-C7B5-410D-948E-BFB37A838C6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28800" y="1276350"/>
            <a:ext cx="5753669" cy="319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45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1FAFEA1B-839B-4A5E-A405-6A819371A1CE}"/>
              </a:ext>
            </a:extLst>
          </p:cNvPr>
          <p:cNvSpPr/>
          <p:nvPr/>
        </p:nvSpPr>
        <p:spPr>
          <a:xfrm>
            <a:off x="952500" y="762816"/>
            <a:ext cx="7239000" cy="36178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Кластер </a:t>
            </a: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kubernetes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F258B5C-524B-498E-94C8-E33BFD2CD6B9}"/>
              </a:ext>
            </a:extLst>
          </p:cNvPr>
          <p:cNvSpPr/>
          <p:nvPr/>
        </p:nvSpPr>
        <p:spPr>
          <a:xfrm>
            <a:off x="1866900" y="2972616"/>
            <a:ext cx="17526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Рабочий узел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AA74671D-8BAC-4591-AB02-D4DE3573813F}"/>
              </a:ext>
            </a:extLst>
          </p:cNvPr>
          <p:cNvSpPr/>
          <p:nvPr/>
        </p:nvSpPr>
        <p:spPr>
          <a:xfrm>
            <a:off x="3009900" y="1914794"/>
            <a:ext cx="2971800" cy="5664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Главный узел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A709962-030C-4C95-B576-ED12D22383B2}"/>
              </a:ext>
            </a:extLst>
          </p:cNvPr>
          <p:cNvSpPr/>
          <p:nvPr/>
        </p:nvSpPr>
        <p:spPr>
          <a:xfrm>
            <a:off x="3619500" y="3637873"/>
            <a:ext cx="17526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Рабочий узел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1CD90EB-78AE-4C07-8F7A-0819DEF855B0}"/>
              </a:ext>
            </a:extLst>
          </p:cNvPr>
          <p:cNvSpPr/>
          <p:nvPr/>
        </p:nvSpPr>
        <p:spPr>
          <a:xfrm>
            <a:off x="5372100" y="2972616"/>
            <a:ext cx="17526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Рабочий узел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FC9E80B5-00BD-44A6-A43D-81BB8B5370F7}"/>
              </a:ext>
            </a:extLst>
          </p:cNvPr>
          <p:cNvCxnSpPr>
            <a:stCxn id="10" idx="2"/>
            <a:endCxn id="5" idx="0"/>
          </p:cNvCxnSpPr>
          <p:nvPr/>
        </p:nvCxnSpPr>
        <p:spPr>
          <a:xfrm flipH="1">
            <a:off x="2743200" y="2481238"/>
            <a:ext cx="1752600" cy="4913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309DE88A-910B-4882-9A78-A46A530D4900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>
            <a:off x="4495800" y="2481238"/>
            <a:ext cx="1752600" cy="4913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34B2BB5-178B-48A7-B467-0744CC5F2E9D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>
            <a:off x="4495800" y="2481238"/>
            <a:ext cx="0" cy="11566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531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Сервисы </a:t>
            </a:r>
            <a:r>
              <a:rPr lang="en-US" b="1" spc="9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kubernetes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967A67E0-1FF6-4C5E-9EFC-5287F9046B38}"/>
              </a:ext>
            </a:extLst>
          </p:cNvPr>
          <p:cNvSpPr/>
          <p:nvPr/>
        </p:nvSpPr>
        <p:spPr>
          <a:xfrm>
            <a:off x="838200" y="1123950"/>
            <a:ext cx="2895600" cy="37702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Главный узел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2831C1EF-10C9-43B2-82A4-E3D0431A6DB7}"/>
              </a:ext>
            </a:extLst>
          </p:cNvPr>
          <p:cNvSpPr/>
          <p:nvPr/>
        </p:nvSpPr>
        <p:spPr>
          <a:xfrm>
            <a:off x="990601" y="1774446"/>
            <a:ext cx="2666998" cy="304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API-</a:t>
            </a:r>
            <a:r>
              <a:rPr lang="ru-RU" dirty="0"/>
              <a:t>сервер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B89F34F0-73DA-4F82-9DF3-7EB24FB7FE48}"/>
              </a:ext>
            </a:extLst>
          </p:cNvPr>
          <p:cNvSpPr/>
          <p:nvPr/>
        </p:nvSpPr>
        <p:spPr>
          <a:xfrm>
            <a:off x="979394" y="3665735"/>
            <a:ext cx="1295400" cy="304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kubelet</a:t>
            </a:r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E12FD621-AA9D-4537-9571-9566505E6844}"/>
              </a:ext>
            </a:extLst>
          </p:cNvPr>
          <p:cNvSpPr/>
          <p:nvPr/>
        </p:nvSpPr>
        <p:spPr>
          <a:xfrm>
            <a:off x="979394" y="4145921"/>
            <a:ext cx="1295400" cy="304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kube-proxy</a:t>
            </a:r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A7D53402-8F1B-40CB-BBA9-A759E46426ED}"/>
              </a:ext>
            </a:extLst>
          </p:cNvPr>
          <p:cNvSpPr/>
          <p:nvPr/>
        </p:nvSpPr>
        <p:spPr>
          <a:xfrm>
            <a:off x="2415988" y="3665735"/>
            <a:ext cx="1241612" cy="7849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 Runtime</a:t>
            </a:r>
            <a:endParaRPr lang="ru-RU" dirty="0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7E4CD213-D44E-42B6-AB34-C2881A1482F4}"/>
              </a:ext>
            </a:extLst>
          </p:cNvPr>
          <p:cNvSpPr/>
          <p:nvPr/>
        </p:nvSpPr>
        <p:spPr>
          <a:xfrm>
            <a:off x="4648200" y="1207711"/>
            <a:ext cx="3505200" cy="1752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Рабочий узел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5AC0A0D2-29B6-4FDF-B01B-69E0D10400DA}"/>
              </a:ext>
            </a:extLst>
          </p:cNvPr>
          <p:cNvSpPr/>
          <p:nvPr/>
        </p:nvSpPr>
        <p:spPr>
          <a:xfrm>
            <a:off x="5040406" y="1779211"/>
            <a:ext cx="1295400" cy="304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kubelet</a:t>
            </a:r>
            <a:endParaRPr lang="ru-RU" dirty="0"/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9415E773-747B-4FBF-811F-AF4CAD5B462A}"/>
              </a:ext>
            </a:extLst>
          </p:cNvPr>
          <p:cNvSpPr/>
          <p:nvPr/>
        </p:nvSpPr>
        <p:spPr>
          <a:xfrm>
            <a:off x="5040406" y="2259397"/>
            <a:ext cx="1295400" cy="304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kube-proxy</a:t>
            </a:r>
            <a:endParaRPr lang="ru-RU" dirty="0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C5A4E75C-3363-45F2-B08F-AAE858A6D500}"/>
              </a:ext>
            </a:extLst>
          </p:cNvPr>
          <p:cNvSpPr/>
          <p:nvPr/>
        </p:nvSpPr>
        <p:spPr>
          <a:xfrm>
            <a:off x="6477000" y="1779211"/>
            <a:ext cx="1241612" cy="7849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 Runtime</a:t>
            </a:r>
            <a:endParaRPr lang="ru-RU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F4146AAF-E753-4DDE-B2F6-AA5F7135067C}"/>
              </a:ext>
            </a:extLst>
          </p:cNvPr>
          <p:cNvSpPr/>
          <p:nvPr/>
        </p:nvSpPr>
        <p:spPr>
          <a:xfrm>
            <a:off x="4648200" y="3141618"/>
            <a:ext cx="3505200" cy="1752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Рабочий узел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670B6F68-FAA1-4513-B200-1E977D350CBF}"/>
              </a:ext>
            </a:extLst>
          </p:cNvPr>
          <p:cNvSpPr/>
          <p:nvPr/>
        </p:nvSpPr>
        <p:spPr>
          <a:xfrm>
            <a:off x="5040406" y="3713118"/>
            <a:ext cx="1295400" cy="304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kubelet</a:t>
            </a:r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A08B66EE-F304-42E9-8140-CD5E12FFFB82}"/>
              </a:ext>
            </a:extLst>
          </p:cNvPr>
          <p:cNvSpPr/>
          <p:nvPr/>
        </p:nvSpPr>
        <p:spPr>
          <a:xfrm>
            <a:off x="5040406" y="4193304"/>
            <a:ext cx="1295400" cy="304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kube-proxy</a:t>
            </a:r>
            <a:endParaRPr lang="ru-RU" dirty="0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3AB5A27F-2EA3-4E74-8C55-3276FBA2785B}"/>
              </a:ext>
            </a:extLst>
          </p:cNvPr>
          <p:cNvSpPr/>
          <p:nvPr/>
        </p:nvSpPr>
        <p:spPr>
          <a:xfrm>
            <a:off x="6477000" y="3713118"/>
            <a:ext cx="1241612" cy="7849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 Runtime</a:t>
            </a:r>
            <a:endParaRPr lang="ru-RU" dirty="0"/>
          </a:p>
        </p:txBody>
      </p:sp>
      <p:cxnSp>
        <p:nvCxnSpPr>
          <p:cNvPr id="44" name="Соединитель: уступ 43">
            <a:extLst>
              <a:ext uri="{FF2B5EF4-FFF2-40B4-BE49-F238E27FC236}">
                <a16:creationId xmlns:a16="http://schemas.microsoft.com/office/drawing/2014/main" id="{B74CDED0-DFC6-4894-838E-65F12CDF47C6}"/>
              </a:ext>
            </a:extLst>
          </p:cNvPr>
          <p:cNvCxnSpPr>
            <a:cxnSpLocks/>
            <a:stCxn id="19" idx="3"/>
            <a:endCxn id="31" idx="1"/>
          </p:cNvCxnSpPr>
          <p:nvPr/>
        </p:nvCxnSpPr>
        <p:spPr>
          <a:xfrm>
            <a:off x="3657599" y="1926846"/>
            <a:ext cx="1382807" cy="193867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E61C709F-2BE8-48CC-BDF2-A102410EAF96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4171950" y="1926846"/>
            <a:ext cx="868456" cy="47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39E267B0-B20B-4B6F-81B2-774ADEE63B94}"/>
              </a:ext>
            </a:extLst>
          </p:cNvPr>
          <p:cNvSpPr/>
          <p:nvPr/>
        </p:nvSpPr>
        <p:spPr>
          <a:xfrm>
            <a:off x="990600" y="2125904"/>
            <a:ext cx="2666999" cy="304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Sheduler</a:t>
            </a:r>
            <a:endParaRPr lang="ru-RU" dirty="0"/>
          </a:p>
        </p:txBody>
      </p:sp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E81F9411-1D8D-409D-8535-809C9552912D}"/>
              </a:ext>
            </a:extLst>
          </p:cNvPr>
          <p:cNvSpPr/>
          <p:nvPr/>
        </p:nvSpPr>
        <p:spPr>
          <a:xfrm>
            <a:off x="990600" y="2476390"/>
            <a:ext cx="2666999" cy="304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Kube</a:t>
            </a:r>
            <a:r>
              <a:rPr lang="en-US" dirty="0"/>
              <a:t> Controller Manager</a:t>
            </a:r>
            <a:endParaRPr lang="ru-RU" dirty="0"/>
          </a:p>
        </p:txBody>
      </p: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B8D8F2C2-DD17-473A-954D-6BC763F15F29}"/>
              </a:ext>
            </a:extLst>
          </p:cNvPr>
          <p:cNvSpPr/>
          <p:nvPr/>
        </p:nvSpPr>
        <p:spPr>
          <a:xfrm>
            <a:off x="979394" y="2830960"/>
            <a:ext cx="2666999" cy="304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 Controller Manager</a:t>
            </a:r>
            <a:endParaRPr lang="ru-RU" dirty="0"/>
          </a:p>
        </p:txBody>
      </p: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E5387AA1-D271-44EF-BABF-DA97AD6CB3CF}"/>
              </a:ext>
            </a:extLst>
          </p:cNvPr>
          <p:cNvSpPr/>
          <p:nvPr/>
        </p:nvSpPr>
        <p:spPr>
          <a:xfrm>
            <a:off x="979393" y="3175631"/>
            <a:ext cx="2666999" cy="304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etcd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261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Сервисы </a:t>
            </a:r>
            <a:r>
              <a:rPr lang="en-US" b="1" spc="9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kubernetes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967A67E0-1FF6-4C5E-9EFC-5287F9046B38}"/>
              </a:ext>
            </a:extLst>
          </p:cNvPr>
          <p:cNvSpPr/>
          <p:nvPr/>
        </p:nvSpPr>
        <p:spPr>
          <a:xfrm>
            <a:off x="838200" y="1123950"/>
            <a:ext cx="2895600" cy="37702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Кластер </a:t>
            </a:r>
            <a:r>
              <a:rPr lang="en-US" dirty="0"/>
              <a:t>Kubernetes</a:t>
            </a:r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9415E773-747B-4FBF-811F-AF4CAD5B462A}"/>
              </a:ext>
            </a:extLst>
          </p:cNvPr>
          <p:cNvSpPr/>
          <p:nvPr/>
        </p:nvSpPr>
        <p:spPr>
          <a:xfrm>
            <a:off x="5384921" y="2183069"/>
            <a:ext cx="1295400" cy="304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kubectl</a:t>
            </a:r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FC05D6D-3D49-4BEC-9DB3-8CEDD6F004E5}"/>
              </a:ext>
            </a:extLst>
          </p:cNvPr>
          <p:cNvSpPr/>
          <p:nvPr/>
        </p:nvSpPr>
        <p:spPr>
          <a:xfrm>
            <a:off x="1178366" y="1687769"/>
            <a:ext cx="2286000" cy="9906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Главный узел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2E6ADD84-8017-4610-A724-8D31401B8B85}"/>
              </a:ext>
            </a:extLst>
          </p:cNvPr>
          <p:cNvSpPr/>
          <p:nvPr/>
        </p:nvSpPr>
        <p:spPr>
          <a:xfrm>
            <a:off x="1401363" y="2183069"/>
            <a:ext cx="1840006" cy="304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API-</a:t>
            </a:r>
            <a:r>
              <a:rPr lang="ru-RU" dirty="0"/>
              <a:t>сервер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C2DEAF9-B48D-4151-A48E-B16DAC5F5CC0}"/>
              </a:ext>
            </a:extLst>
          </p:cNvPr>
          <p:cNvSpPr/>
          <p:nvPr/>
        </p:nvSpPr>
        <p:spPr>
          <a:xfrm>
            <a:off x="1488769" y="3170881"/>
            <a:ext cx="17526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Рабочий узел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FB703ED-CA56-4F87-8123-E010118BDF00}"/>
              </a:ext>
            </a:extLst>
          </p:cNvPr>
          <p:cNvSpPr/>
          <p:nvPr/>
        </p:nvSpPr>
        <p:spPr>
          <a:xfrm>
            <a:off x="1488769" y="3891993"/>
            <a:ext cx="17526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Рабочий узел</a:t>
            </a:r>
          </a:p>
        </p:txBody>
      </p:sp>
      <p:sp>
        <p:nvSpPr>
          <p:cNvPr id="6" name="Стрелка: вниз 5">
            <a:extLst>
              <a:ext uri="{FF2B5EF4-FFF2-40B4-BE49-F238E27FC236}">
                <a16:creationId xmlns:a16="http://schemas.microsoft.com/office/drawing/2014/main" id="{E42CC665-A21D-4F47-BD30-181ED692EC23}"/>
              </a:ext>
            </a:extLst>
          </p:cNvPr>
          <p:cNvSpPr/>
          <p:nvPr/>
        </p:nvSpPr>
        <p:spPr>
          <a:xfrm>
            <a:off x="5899272" y="2583935"/>
            <a:ext cx="266698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01442C-AB3C-46D0-993C-B346FA9F2A72}"/>
              </a:ext>
            </a:extLst>
          </p:cNvPr>
          <p:cNvSpPr txBox="1"/>
          <p:nvPr/>
        </p:nvSpPr>
        <p:spPr>
          <a:xfrm>
            <a:off x="5003919" y="3001446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Выполняется в </a:t>
            </a:r>
            <a:r>
              <a:rPr lang="en-US" dirty="0" err="1"/>
              <a:t>cmd</a:t>
            </a:r>
            <a:r>
              <a:rPr lang="en-US" dirty="0"/>
              <a:t>/terminal</a:t>
            </a:r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DEED775-3B80-4834-AB58-F2994F99F135}"/>
              </a:ext>
            </a:extLst>
          </p:cNvPr>
          <p:cNvSpPr/>
          <p:nvPr/>
        </p:nvSpPr>
        <p:spPr>
          <a:xfrm>
            <a:off x="2667000" y="2183069"/>
            <a:ext cx="574369" cy="3048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7124FA74-91BD-421F-B8C4-D91DFC7BCFA8}"/>
              </a:ext>
            </a:extLst>
          </p:cNvPr>
          <p:cNvCxnSpPr>
            <a:stCxn id="28" idx="1"/>
            <a:endCxn id="8" idx="3"/>
          </p:cNvCxnSpPr>
          <p:nvPr/>
        </p:nvCxnSpPr>
        <p:spPr>
          <a:xfrm flipH="1">
            <a:off x="3241369" y="2335469"/>
            <a:ext cx="2143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568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Программы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B62DC847-B99B-47E7-A97E-DC44AFE05F7B}"/>
              </a:ext>
            </a:extLst>
          </p:cNvPr>
          <p:cNvSpPr txBox="1"/>
          <p:nvPr/>
        </p:nvSpPr>
        <p:spPr>
          <a:xfrm>
            <a:off x="423504" y="1371121"/>
            <a:ext cx="7989570" cy="20055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Minikube</a:t>
            </a:r>
            <a:endParaRPr lang="ru-RU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Docker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VirtualBox (</a:t>
            </a:r>
            <a:r>
              <a:rPr lang="ru-RU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с любым дистрибутивом, например 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ubuntu)</a:t>
            </a:r>
            <a:endParaRPr lang="ru-RU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endParaRPr lang="ru-RU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Podman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(</a:t>
            </a:r>
            <a:r>
              <a:rPr lang="ru-RU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для 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macOS)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Kubectl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(</a:t>
            </a:r>
            <a:r>
              <a:rPr lang="ru-RU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устанавливается отдельно, но доступен как часть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minikube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2614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Создание кластера </a:t>
            </a: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kubernetes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970605DA-EC98-43ED-9E17-25CCCC18339A}"/>
              </a:ext>
            </a:extLst>
          </p:cNvPr>
          <p:cNvSpPr txBox="1"/>
          <p:nvPr/>
        </p:nvSpPr>
        <p:spPr>
          <a:xfrm>
            <a:off x="183776" y="3486150"/>
            <a:ext cx="7772400" cy="34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/>
                <a:cs typeface="Verdana"/>
              </a:rPr>
              <a:t>Сайт – </a:t>
            </a:r>
            <a:r>
              <a:rPr lang="en-US" sz="2000" dirty="0">
                <a:latin typeface="Verdana"/>
                <a:cs typeface="Verdana"/>
                <a:hlinkClick r:id="rId2"/>
              </a:rPr>
              <a:t>kubernetes.io</a:t>
            </a:r>
            <a:endParaRPr lang="ru-RU" sz="2000" dirty="0">
              <a:latin typeface="Verdana"/>
              <a:cs typeface="Verdana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9DE0C5-3B5D-4EFF-869D-46D32BA07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835" y="2266951"/>
            <a:ext cx="5930166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48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BF6C7BC-E811-4B92-A460-FF7D07223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19150"/>
            <a:ext cx="8373348" cy="4028354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64363C36-5616-4276-B54C-5260AA51433C}"/>
              </a:ext>
            </a:extLst>
          </p:cNvPr>
          <p:cNvSpPr txBox="1"/>
          <p:nvPr/>
        </p:nvSpPr>
        <p:spPr>
          <a:xfrm>
            <a:off x="324971" y="361950"/>
            <a:ext cx="7989570" cy="299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dirty="0">
                <a:latin typeface="Verdana"/>
                <a:cs typeface="Verdana"/>
              </a:rPr>
              <a:t>Documentation -&gt; getting started -&gt; learning environment</a:t>
            </a:r>
          </a:p>
        </p:txBody>
      </p:sp>
    </p:spTree>
    <p:extLst>
      <p:ext uri="{BB962C8B-B14F-4D97-AF65-F5344CB8AC3E}">
        <p14:creationId xmlns:p14="http://schemas.microsoft.com/office/powerpoint/2010/main" val="2042992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64363C36-5616-4276-B54C-5260AA51433C}"/>
              </a:ext>
            </a:extLst>
          </p:cNvPr>
          <p:cNvSpPr txBox="1"/>
          <p:nvPr/>
        </p:nvSpPr>
        <p:spPr>
          <a:xfrm>
            <a:off x="324971" y="361950"/>
            <a:ext cx="7989570" cy="331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Проверка установки: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65EB8FA-BFCA-4661-B97C-CE14CE140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71" y="1047750"/>
            <a:ext cx="5849166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525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64363C36-5616-4276-B54C-5260AA51433C}"/>
              </a:ext>
            </a:extLst>
          </p:cNvPr>
          <p:cNvSpPr txBox="1"/>
          <p:nvPr/>
        </p:nvSpPr>
        <p:spPr>
          <a:xfrm>
            <a:off x="304800" y="2095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Установка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docker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8110BC-6704-4198-A0EA-DD15C6DE0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8951"/>
            <a:ext cx="46439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curl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-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fsSL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https://get.docker.com -o get-docker.sh</a:t>
            </a:r>
            <a:endParaRPr kumimoji="0" lang="en-US" altLang="ru-RU" sz="1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sudo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sh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get-docker.sh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kumimoji="0" lang="en-US" altLang="ru-RU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Запуск: </a:t>
            </a: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sudo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systemctl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start docker</a:t>
            </a:r>
            <a:endParaRPr kumimoji="0" lang="ru-RU" altLang="ru-RU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799D795-C54C-41F8-B196-EBAAAE8FD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035683"/>
            <a:ext cx="605614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Полную инструкцию по установке на </a:t>
            </a:r>
            <a:r>
              <a:rPr kumimoji="0" lang="en-US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linux</a:t>
            </a:r>
            <a:r>
              <a:rPr lang="en-US" altLang="ru-RU" sz="1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(ubuntu) </a:t>
            </a:r>
            <a:r>
              <a:rPr lang="ru-RU" altLang="ru-RU" sz="1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можно найти по </a:t>
            </a:r>
            <a:r>
              <a:rPr lang="ru-RU" altLang="ru-RU" sz="1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hlinkClick r:id="rId2"/>
              </a:rPr>
              <a:t>ссылке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051" name="Picture 3" descr="What is Docker? | AWS">
            <a:extLst>
              <a:ext uri="{FF2B5EF4-FFF2-40B4-BE49-F238E27FC236}">
                <a16:creationId xmlns:a16="http://schemas.microsoft.com/office/drawing/2014/main" id="{54891461-17AA-4FD3-A7CD-286DDE612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3131" y="1657350"/>
            <a:ext cx="4551940" cy="213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9485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64363C36-5616-4276-B54C-5260AA51433C}"/>
              </a:ext>
            </a:extLst>
          </p:cNvPr>
          <p:cNvSpPr txBox="1"/>
          <p:nvPr/>
        </p:nvSpPr>
        <p:spPr>
          <a:xfrm>
            <a:off x="533400" y="0"/>
            <a:ext cx="7989570" cy="12702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Создание 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кластера 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minikube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8110BC-6704-4198-A0EA-DD15C6DE0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16618"/>
            <a:ext cx="237244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Вводим команду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ru-RU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minikube</a:t>
            </a:r>
            <a:r>
              <a:rPr lang="en-US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start </a:t>
            </a: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в терминале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2. Проверяем </a:t>
            </a:r>
            <a:r>
              <a:rPr lang="en-US" altLang="ru-RU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minikube</a:t>
            </a:r>
            <a:r>
              <a:rPr lang="en-US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 status</a:t>
            </a:r>
            <a:endParaRPr kumimoji="0" lang="ru-RU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7C956A-B81E-470F-8EC0-52799A54F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3350"/>
            <a:ext cx="5918706" cy="38671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4F42D2D-21CC-4FFA-BFB6-3045712C0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90" y="3790950"/>
            <a:ext cx="2697463" cy="1305224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BC51FA46-4758-40AC-A434-35EFE9683EDD}"/>
              </a:ext>
            </a:extLst>
          </p:cNvPr>
          <p:cNvSpPr/>
          <p:nvPr/>
        </p:nvSpPr>
        <p:spPr>
          <a:xfrm>
            <a:off x="2753444" y="285750"/>
            <a:ext cx="370756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0FB55EAD-BCAA-4C47-BF24-CB53E2E8381B}"/>
              </a:ext>
            </a:extLst>
          </p:cNvPr>
          <p:cNvSpPr/>
          <p:nvPr/>
        </p:nvSpPr>
        <p:spPr>
          <a:xfrm>
            <a:off x="231937" y="3291020"/>
            <a:ext cx="370756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790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64363C36-5616-4276-B54C-5260AA51433C}"/>
              </a:ext>
            </a:extLst>
          </p:cNvPr>
          <p:cNvSpPr txBox="1"/>
          <p:nvPr/>
        </p:nvSpPr>
        <p:spPr>
          <a:xfrm>
            <a:off x="304800" y="2095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Кластер в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docker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8110BC-6704-4198-A0EA-DD15C6DE0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701284"/>
            <a:ext cx="37013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Вводим команду </a:t>
            </a:r>
            <a:r>
              <a:rPr lang="en-US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docker </a:t>
            </a:r>
            <a:r>
              <a:rPr lang="en-US" altLang="ru-RU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ps</a:t>
            </a:r>
            <a:r>
              <a:rPr lang="en-US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–a </a:t>
            </a: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в терминале</a:t>
            </a:r>
            <a:r>
              <a:rPr lang="en-US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Видим, что наш кластер успешно был создан.</a:t>
            </a:r>
            <a:endParaRPr lang="en-US" altLang="ru-RU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A02C940-1B16-4EFA-9FE4-9E6545335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876550"/>
            <a:ext cx="8697539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330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64363C36-5616-4276-B54C-5260AA51433C}"/>
              </a:ext>
            </a:extLst>
          </p:cNvPr>
          <p:cNvSpPr txBox="1"/>
          <p:nvPr/>
        </p:nvSpPr>
        <p:spPr>
          <a:xfrm>
            <a:off x="228600" y="2095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kubectl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связанный с кластером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minikube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8110BC-6704-4198-A0EA-DD15C6DE0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793617"/>
            <a:ext cx="6743834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Вводим команду </a:t>
            </a:r>
            <a:r>
              <a:rPr lang="en-US" altLang="ru-RU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kubectl</a:t>
            </a:r>
            <a:r>
              <a:rPr lang="en-US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version </a:t>
            </a: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– это то что мы устанавливали отдельно </a:t>
            </a:r>
            <a:r>
              <a:rPr lang="en-US" altLang="ru-RU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kubectl</a:t>
            </a: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7A0C1A0-626D-4837-B804-75C16B674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65" y="2038350"/>
            <a:ext cx="4715533" cy="924054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A7AEC5F-0A24-4707-B3AF-CDB0AB9EC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589" y="3113587"/>
            <a:ext cx="768159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Теперь вводим команду </a:t>
            </a:r>
            <a:r>
              <a:rPr lang="en-US" altLang="ru-RU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minikube</a:t>
            </a:r>
            <a:r>
              <a:rPr lang="en-US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altLang="ru-RU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kubectl</a:t>
            </a:r>
            <a:r>
              <a:rPr lang="en-US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version </a:t>
            </a: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– это то что предусматривает сам </a:t>
            </a:r>
            <a:r>
              <a:rPr lang="en-US" altLang="ru-RU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minikube</a:t>
            </a:r>
            <a:endParaRPr lang="en-US" altLang="ru-RU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B343E81-DCBA-4E47-AB9F-7D1975DE2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65" y="3472524"/>
            <a:ext cx="552527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142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64363C36-5616-4276-B54C-5260AA51433C}"/>
              </a:ext>
            </a:extLst>
          </p:cNvPr>
          <p:cNvSpPr txBox="1"/>
          <p:nvPr/>
        </p:nvSpPr>
        <p:spPr>
          <a:xfrm>
            <a:off x="304800" y="2095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Настройка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aliace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для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kubectl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8110BC-6704-4198-A0EA-DD15C6DE0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793617"/>
            <a:ext cx="2846933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Вводим команду </a:t>
            </a:r>
            <a:r>
              <a:rPr lang="en-US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alias k=</a:t>
            </a:r>
            <a:r>
              <a:rPr lang="en-US" altLang="ru-RU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kubectl</a:t>
            </a: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A7AEC5F-0A24-4707-B3AF-CDB0AB9EC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589" y="3113587"/>
            <a:ext cx="554158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Теперь можно пользоваться сокращением, например, </a:t>
            </a:r>
            <a:r>
              <a:rPr lang="en-US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k cluster-info</a:t>
            </a:r>
            <a:endParaRPr lang="en-US" altLang="ru-RU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D58884-4DBF-4D01-917A-C690BD184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41" y="2391555"/>
            <a:ext cx="4458322" cy="25721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E74205B-E5E9-469A-BAE9-877388814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41" y="3439173"/>
            <a:ext cx="9144000" cy="7293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6ABE4E-8EC5-4711-B0B9-E9437F654048}"/>
              </a:ext>
            </a:extLst>
          </p:cNvPr>
          <p:cNvSpPr txBox="1"/>
          <p:nvPr/>
        </p:nvSpPr>
        <p:spPr>
          <a:xfrm>
            <a:off x="2371876" y="2381908"/>
            <a:ext cx="4743752" cy="379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Настройка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aliace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ru-R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для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kubectl</a:t>
            </a: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1414402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64363C36-5616-4276-B54C-5260AA51433C}"/>
              </a:ext>
            </a:extLst>
          </p:cNvPr>
          <p:cNvSpPr txBox="1"/>
          <p:nvPr/>
        </p:nvSpPr>
        <p:spPr>
          <a:xfrm>
            <a:off x="304800" y="2095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Настройка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aliace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для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minikube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kube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ctl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8110BC-6704-4198-A0EA-DD15C6DE0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793617"/>
            <a:ext cx="4092467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Вводим команду </a:t>
            </a:r>
            <a:r>
              <a:rPr lang="en-US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alias </a:t>
            </a:r>
            <a:r>
              <a:rPr lang="en-US" altLang="ru-RU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mk</a:t>
            </a:r>
            <a:r>
              <a:rPr lang="en-US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=“</a:t>
            </a:r>
            <a:r>
              <a:rPr lang="en-US" altLang="ru-RU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minikube</a:t>
            </a:r>
            <a:r>
              <a:rPr lang="en-US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altLang="ru-RU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kubectl</a:t>
            </a:r>
            <a:r>
              <a:rPr lang="en-US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--”</a:t>
            </a:r>
            <a:endParaRPr lang="en-US" altLang="ru-RU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639A74-A65E-4D39-9BD3-F9EBDFF7B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0750"/>
            <a:ext cx="5953956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8726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64363C36-5616-4276-B54C-5260AA51433C}"/>
              </a:ext>
            </a:extLst>
          </p:cNvPr>
          <p:cNvSpPr txBox="1"/>
          <p:nvPr/>
        </p:nvSpPr>
        <p:spPr>
          <a:xfrm>
            <a:off x="272415" y="164363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Исследование кластера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minikube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8110BC-6704-4198-A0EA-DD15C6DE0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793617"/>
            <a:ext cx="2539157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Вводим команду </a:t>
            </a:r>
            <a:r>
              <a:rPr lang="en-US" altLang="ru-RU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mk</a:t>
            </a:r>
            <a:r>
              <a:rPr lang="en-US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get nodes</a:t>
            </a:r>
            <a:endParaRPr lang="en-US" altLang="ru-RU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3F8D0C-2295-4FB5-88B4-08D3D44B8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59" y="2114550"/>
            <a:ext cx="5468113" cy="714475"/>
          </a:xfrm>
          <a:prstGeom prst="rect">
            <a:avLst/>
          </a:prstGeom>
        </p:spPr>
      </p:pic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36D278E1-3AA9-4008-AC80-30DF130EB7D3}"/>
              </a:ext>
            </a:extLst>
          </p:cNvPr>
          <p:cNvCxnSpPr/>
          <p:nvPr/>
        </p:nvCxnSpPr>
        <p:spPr>
          <a:xfrm flipH="1">
            <a:off x="609600" y="2829025"/>
            <a:ext cx="152400" cy="428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295CF74-A52B-4513-811A-2442562370C0}"/>
              </a:ext>
            </a:extLst>
          </p:cNvPr>
          <p:cNvSpPr/>
          <p:nvPr/>
        </p:nvSpPr>
        <p:spPr>
          <a:xfrm>
            <a:off x="416859" y="3409950"/>
            <a:ext cx="878541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имя </a:t>
            </a:r>
            <a:r>
              <a:rPr lang="ru-RU" dirty="0" err="1"/>
              <a:t>ноды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06BA4C3-A1DD-4F8E-86E0-190BF99CF13E}"/>
              </a:ext>
            </a:extLst>
          </p:cNvPr>
          <p:cNvSpPr/>
          <p:nvPr/>
        </p:nvSpPr>
        <p:spPr>
          <a:xfrm>
            <a:off x="1503829" y="3409950"/>
            <a:ext cx="878541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Статус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E706B24A-D72B-43D5-8BB2-F3DC15F1BA4C}"/>
              </a:ext>
            </a:extLst>
          </p:cNvPr>
          <p:cNvSpPr/>
          <p:nvPr/>
        </p:nvSpPr>
        <p:spPr>
          <a:xfrm>
            <a:off x="2514600" y="3381935"/>
            <a:ext cx="16764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Роль:</a:t>
            </a:r>
          </a:p>
          <a:p>
            <a:pPr algn="ctr"/>
            <a:r>
              <a:rPr lang="en-US" dirty="0"/>
              <a:t>Control-plane = master node</a:t>
            </a:r>
            <a:endParaRPr lang="ru-RU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BDEE899D-1DB3-455D-9409-F27C841812A2}"/>
              </a:ext>
            </a:extLst>
          </p:cNvPr>
          <p:cNvCxnSpPr>
            <a:endCxn id="10" idx="0"/>
          </p:cNvCxnSpPr>
          <p:nvPr/>
        </p:nvCxnSpPr>
        <p:spPr>
          <a:xfrm>
            <a:off x="1943099" y="2829025"/>
            <a:ext cx="1" cy="580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1F3C32C-C784-4C1C-A131-BA7DA53263DB}"/>
              </a:ext>
            </a:extLst>
          </p:cNvPr>
          <p:cNvCxnSpPr>
            <a:stCxn id="5" idx="2"/>
            <a:endCxn id="11" idx="0"/>
          </p:cNvCxnSpPr>
          <p:nvPr/>
        </p:nvCxnSpPr>
        <p:spPr>
          <a:xfrm>
            <a:off x="3150916" y="2829025"/>
            <a:ext cx="201884" cy="55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7B9647F0-4394-4AE5-8665-CF4E771EB35C}"/>
              </a:ext>
            </a:extLst>
          </p:cNvPr>
          <p:cNvSpPr/>
          <p:nvPr/>
        </p:nvSpPr>
        <p:spPr>
          <a:xfrm>
            <a:off x="4267200" y="3381934"/>
            <a:ext cx="1752600" cy="7900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Время существования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03E19D69-026D-4EAD-A7F6-F8D61C7A84E8}"/>
              </a:ext>
            </a:extLst>
          </p:cNvPr>
          <p:cNvCxnSpPr>
            <a:endCxn id="16" idx="0"/>
          </p:cNvCxnSpPr>
          <p:nvPr/>
        </p:nvCxnSpPr>
        <p:spPr>
          <a:xfrm>
            <a:off x="4469084" y="2829025"/>
            <a:ext cx="674416" cy="552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380CD6ED-960B-4CE6-8F50-2FE919A6403C}"/>
              </a:ext>
            </a:extLst>
          </p:cNvPr>
          <p:cNvSpPr/>
          <p:nvPr/>
        </p:nvSpPr>
        <p:spPr>
          <a:xfrm>
            <a:off x="6324600" y="2243187"/>
            <a:ext cx="9144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версия</a:t>
            </a: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2E40BC16-5AA1-4CAE-9A79-4987FC0287F1}"/>
              </a:ext>
            </a:extLst>
          </p:cNvPr>
          <p:cNvCxnSpPr>
            <a:endCxn id="19" idx="1"/>
          </p:cNvCxnSpPr>
          <p:nvPr/>
        </p:nvCxnSpPr>
        <p:spPr>
          <a:xfrm flipV="1">
            <a:off x="5715000" y="2471787"/>
            <a:ext cx="609600" cy="22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0335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64363C36-5616-4276-B54C-5260AA51433C}"/>
              </a:ext>
            </a:extLst>
          </p:cNvPr>
          <p:cNvSpPr txBox="1"/>
          <p:nvPr/>
        </p:nvSpPr>
        <p:spPr>
          <a:xfrm>
            <a:off x="228600" y="1333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Исследование кластера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minikube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8110BC-6704-4198-A0EA-DD15C6DE0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793617"/>
            <a:ext cx="411811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Вводим команду </a:t>
            </a:r>
            <a:r>
              <a:rPr lang="en-US" altLang="ru-RU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mk</a:t>
            </a:r>
            <a:r>
              <a:rPr lang="en-US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get pods </a:t>
            </a:r>
            <a:r>
              <a:rPr lang="en-US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– </a:t>
            </a: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какие есть поды</a:t>
            </a:r>
            <a:endParaRPr lang="en-US" altLang="ru-RU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03634A-66E2-40C4-9232-1A788EBA6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14550"/>
            <a:ext cx="4544059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9846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64363C36-5616-4276-B54C-5260AA51433C}"/>
              </a:ext>
            </a:extLst>
          </p:cNvPr>
          <p:cNvSpPr txBox="1"/>
          <p:nvPr/>
        </p:nvSpPr>
        <p:spPr>
          <a:xfrm>
            <a:off x="224558" y="571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Исследование кластера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minikube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8110BC-6704-4198-A0EA-DD15C6DE0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71" y="895350"/>
            <a:ext cx="77954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На самом деле среди пространств поды у нас уже есть.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С помощью команды </a:t>
            </a:r>
            <a:r>
              <a:rPr lang="en-US" altLang="ru-RU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mk</a:t>
            </a:r>
            <a:r>
              <a:rPr lang="en-US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get namespace </a:t>
            </a: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можно посмотреть все доступные имена пространств.</a:t>
            </a:r>
            <a:endParaRPr lang="en-US" altLang="ru-RU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5E64C3-186E-47EA-AA0E-EAD38E755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18" y="1308616"/>
            <a:ext cx="4572638" cy="1390844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ECBDC2B1-93F5-442E-BF45-F3E6B0614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71" y="2773686"/>
            <a:ext cx="5087931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С помощью команды </a:t>
            </a:r>
            <a:r>
              <a:rPr lang="en-US" altLang="ru-RU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mk</a:t>
            </a:r>
            <a:r>
              <a:rPr lang="en-US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get</a:t>
            </a:r>
            <a:r>
              <a:rPr lang="ru-RU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alt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pods –namespace=</a:t>
            </a:r>
            <a:r>
              <a:rPr lang="en-US" altLang="ru-RU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kubesystem</a:t>
            </a:r>
            <a:endParaRPr lang="en-US" altLang="ru-RU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C28C6D0-050F-4E0C-AB4F-4C453D86C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11" y="3032578"/>
            <a:ext cx="7802064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3956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/>
        </p:nvSpPr>
        <p:spPr>
          <a:xfrm>
            <a:off x="540000" y="504001"/>
            <a:ext cx="7560000" cy="48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"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 sz="3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1" name="Google Shape;22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45689"/>
            <a:ext cx="9144000" cy="3267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1075</TotalTime>
  <Words>522</Words>
  <Application>Microsoft Office PowerPoint</Application>
  <PresentationFormat>Экран (16:9)</PresentationFormat>
  <Paragraphs>205</Paragraphs>
  <Slides>35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1" baseType="lpstr">
      <vt:lpstr>MS PGothic</vt:lpstr>
      <vt:lpstr>Arial</vt:lpstr>
      <vt:lpstr>Calibri</vt:lpstr>
      <vt:lpstr>Montserrat</vt:lpstr>
      <vt:lpstr>Verdana</vt:lpstr>
      <vt:lpstr>Office Theme</vt:lpstr>
      <vt:lpstr>Презентация PowerPoint</vt:lpstr>
      <vt:lpstr>План занятия</vt:lpstr>
      <vt:lpstr>Презентация PowerPoint</vt:lpstr>
      <vt:lpstr>Презентация PowerPoint</vt:lpstr>
      <vt:lpstr>Презентация PowerPoint</vt:lpstr>
      <vt:lpstr>Почему популярны микросервисы?</vt:lpstr>
      <vt:lpstr>Преимущества</vt:lpstr>
      <vt:lpstr>Недостатки</vt:lpstr>
      <vt:lpstr>Презентация PowerPoint</vt:lpstr>
      <vt:lpstr>Презентация PowerPoint</vt:lpstr>
      <vt:lpstr>Презентация PowerPoint</vt:lpstr>
      <vt:lpstr>Kubernetes помогает с:</vt:lpstr>
      <vt:lpstr>Презентация PowerPoint</vt:lpstr>
      <vt:lpstr>Презентация PowerPoint</vt:lpstr>
      <vt:lpstr>Презентация PowerPoint</vt:lpstr>
      <vt:lpstr>Из чего состоит POD</vt:lpstr>
      <vt:lpstr>Лучшая практика!</vt:lpstr>
      <vt:lpstr>Кластер kubernetes</vt:lpstr>
      <vt:lpstr>Презентация PowerPoint</vt:lpstr>
      <vt:lpstr>Сервисы kubernetes</vt:lpstr>
      <vt:lpstr>Сервисы kubernetes</vt:lpstr>
      <vt:lpstr>Программы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Формирование рабочего процесса: Acceptance criterias, DoR и DoD и ограничения гибких методологий</dc:title>
  <cp:lastModifiedBy>Константин Некрасов</cp:lastModifiedBy>
  <cp:revision>187</cp:revision>
  <dcterms:created xsi:type="dcterms:W3CDTF">2024-04-17T14:30:02Z</dcterms:created>
  <dcterms:modified xsi:type="dcterms:W3CDTF">2026-03-17T14:50:33Z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