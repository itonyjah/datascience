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31"/>
  </p:notesMasterIdLst>
  <p:sldIdLst>
    <p:sldId id="674" r:id="rId2"/>
    <p:sldId id="697" r:id="rId3"/>
    <p:sldId id="701" r:id="rId4"/>
    <p:sldId id="761" r:id="rId5"/>
    <p:sldId id="702" r:id="rId6"/>
    <p:sldId id="762" r:id="rId7"/>
    <p:sldId id="763" r:id="rId8"/>
    <p:sldId id="764" r:id="rId9"/>
    <p:sldId id="765" r:id="rId10"/>
    <p:sldId id="766" r:id="rId11"/>
    <p:sldId id="704" r:id="rId12"/>
    <p:sldId id="767" r:id="rId13"/>
    <p:sldId id="768" r:id="rId14"/>
    <p:sldId id="769" r:id="rId15"/>
    <p:sldId id="770" r:id="rId16"/>
    <p:sldId id="771" r:id="rId17"/>
    <p:sldId id="772" r:id="rId18"/>
    <p:sldId id="773" r:id="rId19"/>
    <p:sldId id="774" r:id="rId20"/>
    <p:sldId id="775" r:id="rId21"/>
    <p:sldId id="776" r:id="rId22"/>
    <p:sldId id="777" r:id="rId23"/>
    <p:sldId id="778" r:id="rId24"/>
    <p:sldId id="779" r:id="rId25"/>
    <p:sldId id="780" r:id="rId26"/>
    <p:sldId id="781" r:id="rId27"/>
    <p:sldId id="782" r:id="rId28"/>
    <p:sldId id="783" r:id="rId29"/>
    <p:sldId id="784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2B8911"/>
    <a:srgbClr val="006400"/>
    <a:srgbClr val="FF0048"/>
    <a:srgbClr val="BFBFBD"/>
    <a:srgbClr val="E335BE"/>
    <a:srgbClr val="FB2D2D"/>
    <a:srgbClr val="D2DEEF"/>
    <a:srgbClr val="EAEFF7"/>
    <a:srgbClr val="EAE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9" autoAdjust="0"/>
    <p:restoredTop sz="96540" autoAdjust="0"/>
  </p:normalViewPr>
  <p:slideViewPr>
    <p:cSldViewPr snapToGrid="0">
      <p:cViewPr>
        <p:scale>
          <a:sx n="125" d="100"/>
          <a:sy n="125" d="100"/>
        </p:scale>
        <p:origin x="1842" y="9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2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24575,'11'3'0,"17"6"0,27 4 0,35 11 0,21 1 0,20 7 0,-1-1 0,-19-7 0,-29-7-8191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3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24575,'14'23'0,"-6"-12"0,304 439 0,-189-278 0,-120-168 0,7 9 0,-1 0 0,0 0 0,-1 1 0,0 0 0,-2 0 0,8 20 0,-14-33 0,0 1 0,1 0 0,-1-1 0,0 1 0,1 0 0,-1-1 0,0 1 0,0 0 0,-1-1 0,1 1 0,0 0 0,0-1 0,-1 1 0,1-1 0,-1 1 0,1 0 0,-1-1 0,0 1 0,0-1 0,0 1 0,0-1 0,0 0 0,0 1 0,0-1 0,0 0 0,0 0 0,-1 0 0,1 0 0,0 0 0,-1 0 0,1 0 0,-1 0 0,-2 1 0,-4 1 0,-1 0 0,0-1 0,0 0 0,0-1 0,-10 2 0,4-1 0,-38 5 0,1 3 0,-66 21 0,103-26 0,0 1 0,0 0 0,1 1 0,0 1 0,0 0 0,1 1 0,0 0 0,1 1 0,0 0 0,0 1 0,1 1 0,-13 16 0,22-25 0,0 0 0,0 1 0,0-1 0,0 0 0,0 1 0,1-1 0,-1 1 0,1 0 0,0-1 0,0 1 0,1 0 0,-1 0 0,1 0 0,0-1 0,0 1 0,0 0 0,0 0 0,0 0 0,1 0 0,0-1 0,0 1 0,0 0 0,0-1 0,1 1 0,-1-1 0,1 1 0,0-1 0,0 0 0,0 1 0,1-1 0,-1 0 0,1 0 0,-1-1 0,1 1 0,3 2 0,12 9 0,-1-1 0,2-1 0,-1-1 0,38 17 0,-46-23 0,59 26 0,1-3 0,1-3 0,2-4 0,0-2 0,97 11 0,-156-29-1365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4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24575,'0'6'0,"0"16"0,0 0 0,2 0 0,5 25 0,-6-42 0,0 0 0,0 0 0,1 0 0,-1 0 0,1 0 0,0 0 0,1-1 0,-1 1 0,1-1 0,0 0 0,0 0 0,0 0 0,1 0 0,-1 0 0,1-1 0,0 0 0,0 1 0,0-1 0,9 4 0,-11-6 3,-1 0 0,1-1 0,-1 1 0,1 0 0,0-1 0,0 1 0,-1-1 0,1 0 0,0 1 0,0-1 0,0 0 0,-1 0 0,1 0 0,0 0 0,0-1 0,0 1 0,-1 0 0,1-1 0,0 1 0,-1-1 0,1 0 0,0 0 0,-1 1 0,1-1 0,-1 0 0,1 0 0,-1 0 0,1-1 0,-1 1 0,0 0 0,0 0 0,1-1 0,-1 1 0,0-1 0,0 1 0,0-1 0,-1 1 0,1-1 0,1-3 0,0-1-152,0-1 1,0 1-1,-1-1 1,0 1-1,0-1 1,0 1-1,-1-1 1,0 0-1,-1-8 1,-7-28-6678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4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24575,'4'0'0,"4"-4"0,1-1-8191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5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39 24575,'0'23'0,"-2"1"0,-1-1 0,-1 0 0,-12 42 0,-40 80 0,4-13 0,51-129 0,-1 1 0,1-1 0,0 1 0,0 0 0,0-1 0,1 1 0,-1 0 0,1 0 0,0-1 0,0 1 0,0 0 0,1 0 0,-1 0 0,1-1 0,0 1 0,0 0 0,0-1 0,3 7 0,-1-7 0,0 0 0,0 0 0,0 0 0,0-1 0,0 1 0,1-1 0,-1 1 0,1-1 0,0 0 0,-1-1 0,1 1 0,0-1 0,0 1 0,0-1 0,0 0 0,7 0 0,-2 1 0,0-1 0,-1 0 0,1 0 0,0-1 0,0 0 0,-1-1 0,1 0 0,0 0 0,-1-1 0,1 0 0,-1 0 0,0-1 0,0 0 0,0-1 0,0 0 0,0 0 0,-1-1 0,1 1 0,-1-2 0,12-11 0,-8 5 0,0-1 0,-1 0 0,-1-1 0,0 0 0,-1 0 0,0-1 0,-1 0 0,-1-1 0,-1 1 0,5-20 0,3-24-341,-2 0 0,-3-1-1,1-92 1,-9 128-6485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5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1 24575,'-4'0'0,"-8"3"0,-2 13 0,1 13 0,0 14 0,1 2 0,3-2 0,7-9 0,7-10 0,6-10 0,9-13 0,8-11 0,3-8 0,3-7 0,-4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6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7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24575,'4'0'0,"4"0"0,5 0 0,4 0 0,2 0 0,-2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7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 24575,'3'0'0,"6"0"0,4 0 0,7 0 0,7 0 0,7 0 0,1 0 0,5-4 0,0 0 0,-8-4 0,-8-1-8191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7:32:18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24575,'2'127'0,"1"-30"0,-16 148 0,7-220 0,6-25 0,0 0 0,0 0 0,0 0 0,0 0 0,0 0 0,0-1 0,0 1 0,0 0 0,0 0 0,0 0 0,0 0 0,0 0 0,0 0 0,0 0 0,0 0 0,0 0 0,0 0 0,0-1 0,0 1 0,0 0 0,0 0 0,0 0 0,-1 0 0,1 0 0,0 0 0,0 0 0,0 0 0,0 0 0,0 0 0,0 0 0,0 0 0,0 0 0,0 0 0,-1 0 0,1 0 0,0 0 0,0 0 0,0 0 0,0 0 0,0 0 0,0 0 0,0 0 0,0 0 0,0 0 0,-1 0 0,1 0 0,0 0 0,0 0 0,0 0 0,0 0 0,0 0 0,0 0 0,0 0 0,0 0 0,0 0 0,0 0 0,0 1 0,-1-1 0,2-45 0,5 9 0,2 0 0,1 0 0,16-41 0,-18 61 0,1-1 0,0 1 0,1 0 0,0 1 0,2 0 0,0 1 0,0 0 0,22-20 0,-31 32 0,-1 0 0,1 0 0,0 1 0,0-1 0,0 1 0,0-1 0,0 1 0,1 0 0,-1 0 0,0 0 0,1 0 0,-1 0 0,0 0 0,1 1 0,-1-1 0,1 1 0,-1 0 0,1 0 0,-1-1 0,6 2 0,-6 0 0,1 0 0,-1 0 0,0 0 0,0 1 0,0-1 0,1 1 0,-1-1 0,0 1 0,-1 0 0,1 0 0,0 0 0,-1 0 0,1 0 0,-1 0 0,1 0 0,1 5 0,3 6 0,-1 1 0,-1-1 0,0 1 0,-1 1 0,3 26 0,-2 139-759,-4-164 153,-1 14-6220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4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1192 86 24575,'-6'-1'0,"1"0"0,0 0 0,0-1 0,0 1 0,0-1 0,1-1 0,-1 1 0,0 0 0,1-1 0,-9-6 0,7 4 0,0 1 0,0 1 0,0-1 0,-1 1 0,-12-5 0,-20 1 0,0 2 0,-68-1 0,46 4 0,32 1 0,-295-9 0,318 10 0,1 0 0,-1 0 0,0 0 0,1 1 0,-1-1 0,0 2 0,1-1 0,-1 0 0,1 1 0,0 0 0,-1 0 0,1 1 0,0 0 0,0 0 0,1 0 0,-1 0 0,1 1 0,-1-1 0,1 1 0,0 0 0,0 1 0,1-1 0,-1 0 0,1 1 0,0 0 0,0 0 0,1 0 0,-3 7 0,-35 68 0,-141 303 0,152-310 0,3 1 0,3 1 0,-18 106 0,39-170 0,1 1 0,-1-1 0,2 0 0,0 1 0,0-1 0,1 1 0,0-1 0,5 20 0,-3-25 0,-1-1 0,1 1 0,0-1 0,0 0 0,0 1 0,1-2 0,-1 1 0,1 0 0,0-1 0,1 0 0,-1 0 0,1 0 0,0 0 0,0-1 0,0 0 0,0 0 0,1 0 0,5 2 0,18 6 0,0-2 0,1 0 0,0-2 0,0-1 0,0-2 0,1-1 0,42-1 0,-17-3 0,0-3 0,0-3 0,60-15 0,-78 13 0,-1-1 0,68-30 0,-91 33 0,0 0 0,0-1 0,-1 0 0,0-1 0,-1 0 0,0-1 0,0-1 0,-1 0 0,19-25 0,-27 32 0,0 0 0,0-1 0,-1 1 0,0-1 0,0 0 0,0 0 0,-1 0 0,1 0 0,-1 0 0,0 0 0,-1 0 0,1 0 0,-1 0 0,0 0 0,0-1 0,-2-7 0,0 5 0,-1-1 0,0 1 0,0-1 0,0 1 0,-1 0 0,-1 0 0,1 0 0,-11-12 0,-4-1 0,0 1 0,-1 0 0,-1 2 0,0 0 0,-28-15 0,29 21-273,0 1 0,-1 1 0,0 1 0,-33-9 0,27 9-6553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4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605 0 24575,'-3'2'0,"1"-1"0,-1 0 0,0 1 0,1-1 0,-1 1 0,1 0 0,0 0 0,0 0 0,-1 0 0,1 0 0,0 0 0,1 1 0,-1-1 0,0 1 0,1-1 0,-1 1 0,-1 5 0,-4 3 0,-46 77 0,-73 169 0,-16 107 0,129-331 0,-40 110 0,7 2 0,6 2 0,-36 251 0,74-374 0,-5 72 0,8-90 0,-1 1 0,0-1 0,1 0 0,1 0 0,-1 0 0,1 0 0,0 0 0,0 0 0,0 0 0,1 0 0,0-1 0,4 7 0,-5-10 4,0 0 0,-1-1-1,1 1 1,0-1 0,-1 1-1,1-1 1,0 0 0,0 1-1,0-1 1,1 0 0,-1 0 0,0-1-1,0 1 1,0 0 0,1-1-1,-1 1 1,0-1 0,1 0-1,-1 0 1,0 0 0,1 0-1,-1 0 1,0 0 0,4-1 0,2-1-247,0-1 0,0 0 0,0 0 0,0 0 0,8-6 0,26-17-6583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5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24575,'0'11'0,"0"14"0,4 17 0,11 17 0,15 26 0,13 13 0,2 9 0,1-12 0,-4-9 0,-8-14 0,-8-11 0,-3-16 0,-7-12 0,-5-9 0,-5-7-8191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5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408 0 24575,'0'7'0,"-3"10"0,-6 12 0,-4 13 0,-4 16 0,2 10 0,-5 11 0,-2 11 0,-4 10 0,-6 4 0,0-6 0,-6-1 0,-4-6 0,-1-12 0,2-12 0,9-13 0,9-17-8191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6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48 24575,'-3'0'0,"16"0"0,31 4 0,34 1 0,18-1 0,10 0 0,-2-5 0,-18-6 0,-17-9 0,-21-5 0,-17 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6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0 24575,'0'7'0,"0"7"0,-4 7 0,-1 7 0,0 7 0,-6 4 0,-4 7 0,-8 13 0,-7 7 0,-8 11 0,-6 13 0,5 3 0,2 0 0,7-6 0,9-17-8191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7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1 967 24575,'0'1'0,"0"0"0,0 1 0,0-1 0,0 0 0,0 0 0,0 1 0,0-1 0,0 0 0,1 0 0,-1 0 0,0 1 0,1-1 0,-1 0 0,1 0 0,0 0 0,0 1 0,0-1 0,-1-1 0,1 0 0,-1 0 0,1 0 0,-1 1 0,0-1 0,1 0 0,-1 0 0,1 0 0,-1 0 0,1 0 0,-1 0 0,1 0 0,-1 0 0,1 0 0,-1 0 0,1 0 0,-1 0 0,0 0 0,1-1 0,-1 1 0,1 0 0,-1 0 0,1 0 0,-1-1 0,0 1 0,1-1 0,2-1 0,0 0 0,0-1 0,-1 1 0,0-1 0,1 0 0,-1 1 0,0-1 0,0 0 0,-1 0 0,3-4 0,7-24 0,-1-1 0,-1 0 0,6-45 0,4-105 0,-10 89 0,23-312 0,-35 504 0,0 89 0,5-159 0,0 0 0,2 0 0,1 0 0,11 35 0,-13-56 0,0 1 0,1-2 0,-1 1 0,2 0 0,8 12 0,-12-19 0,0 1 0,0-1 0,0 1 0,0-1 0,0 0 0,0 0 0,1 1 0,-1-1 0,0 0 0,1 0 0,-1 0 0,1-1 0,-1 1 0,1 0 0,0 0 0,-1-1 0,1 1 0,0-1 0,-1 0 0,1 1 0,0-1 0,0 0 0,-1 0 0,1 0 0,0 0 0,0 0 0,-1-1 0,1 1 0,0 0 0,-1-1 0,1 1 0,0-1 0,-1 0 0,3 0 0,2-4 0,0 0 0,0 0 0,0-1 0,-1 0 0,0 0 0,0 0 0,0 0 0,-1-1 0,0 0 0,6-11 0,30-84 0,-31 77 0,15-44 0,-3-1 0,-3 0 0,-3-2 0,7-87 0,-28 629 0,7-276 0,-1-44-1365,0-99-5461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8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24575,'1'10'0,"1"0"0,0 0 0,1 0 0,0 0 0,0-1 0,1 1 0,0-1 0,1 0 0,0-1 0,8 11 0,5 12 0,21 42 0,42 108 0,-65-136 0,-2 1 0,-1 0 0,10 93 0,-10 59 0,-22 347 0,4-467 0,-3-1 0,-4 0 0,-3-1 0,-35 105 0,31-138-1365,2-16-5461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8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24575,'0'4'0,"8"4"0,8 1 0,7 0 0,2-3 0,0-6 0,0-5 0,-1-7 0,-4-4 0,-6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8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24575,'3'4'0,"6"1"0,7-1 0,13 0 0,8-2 0,1 0 0,-1-1 0,-5-4 0,-3-6 0,-7-4 0,-7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9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24575,'0'4'0,"7"4"0,13 9 0,18 4 0,17 3 0,9 0 0,2 1 0,0-5 0,-4-6 0,-12-4-8191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29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24575,'0'3'0,"7"6"0,3 4 0,17 7 0,22 8 0,18 2 0,25 3 0,16 1 0,-4-3 0,-8-7 0,-14-7 0,-13-10 0,-15-6 0,-17-4-8191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1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24575,'4'7'0,"8"10"0,9 16 0,20 21 0,49 55 0,23 30 0,4 10 0,-11-10 0,-20-17 0,-21-23 0,-17-24 0,-18-22 0,-14-23 0,-9-16-8191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2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417 0 24575,'-3'0'0,"-6"4"0,-4 8 0,-4 13 0,-2 9 0,-9 17 0,-10 18 0,-7 15 0,2 5 0,0 4 0,1-3 0,3-8 0,9-12 0,10-11 0,4-15 0,5-15-8191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2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24575,'22'0'0,"17"3"0,14 2 0,4 0 0,-7-1-8191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3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24575,'0'4'0,"4"1"0,8 3 0,12 4 0,11 4 0,5-2 0,4 2 0,-2-3 0,2 0 0,5-2 0,-3-3 0,-1-2 0,-6-3 0,-8-2-8191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4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1437 24575,'0'1'0,"0"0"0,-1 1 0,1-1 0,0 0 0,0 0 0,0 0 0,0 1 0,1-1 0,-1 0 0,0 0 0,0 0 0,1 0 0,-1 0 0,0 0 0,1 0 0,0 0 0,-1 1 0,1-2 0,-1 1 0,1 0 0,0 0 0,0 0 0,-1 0 0,1 0 0,0 0 0,0-1 0,0 1 0,0 0 0,0-1 0,0 1 0,0-1 0,0 1 0,0-1 0,0 0 0,1 1 0,-1-1 0,0 0 0,0 0 0,0 0 0,0 0 0,1 0 0,-1 0 0,0 0 0,0 0 0,2-1 0,2 0 0,0 0 0,0-1 0,0 0 0,-1 0 0,1 0 0,-1-1 0,1 0 0,-1 0 0,0 0 0,5-5 0,9-12 0,0 0 0,-2-2 0,0 0 0,-2-1 0,0 0 0,17-42 0,51-163 0,-66 178 0,31-98 0,-7-1 0,-6-2 0,-7-1 0,11-214 0,-29 580 0,-10-169 0,0-30 0,0 0 0,1 1 0,1-1 0,1 0 0,4 21 0,-6-35 0,0 0 0,1 0 0,-1 0 0,0 0 0,1 0 0,-1 0 0,1 0 0,-1 0 0,1 0 0,-1-1 0,1 1 0,-1 0 0,1 0 0,0 0 0,0-1 0,-1 1 0,1-1 0,0 1 0,0 0 0,0-1 0,0 1 0,0-1 0,-1 0 0,1 1 0,0-1 0,0 0 0,0 1 0,0-1 0,0 0 0,0 0 0,0 0 0,0 0 0,0 0 0,0 0 0,0 0 0,0 0 0,0-1 0,0 1 0,0 0 0,0 0 0,0-1 0,0 1 0,0-1 0,0 1 0,0-1 0,0 1 0,1-2 0,4-2 0,-1 0 0,1-1 0,-1 1 0,1-1 0,6-9 0,2-6 0,-1-1 0,-1 0 0,0-1 0,-2-1 0,0 0 0,7-29 0,16-36 0,-29 85 0,0 10 0,-1 19 0,-4 380 0,-3-187 0,4-211-124,1-1 0,-2 0 0,1 0 0,-1 0 0,0 0 0,0 0-1,-1 0 1,0 0 0,-1 0 0,-3 8 0,-8 6-6702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5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24575,'7'5'0,"-1"0"0,1 0 0,0-1 0,1 0 0,-1 0 0,1-1 0,0 0 0,-1 0 0,12 1 0,12 6 0,78 25 7,159 29-1,126 0-129,-310-52 24,669 89-989,4-51 1130,-700-48-42,0-3 0,0-2 0,1-2 0,-2-3 0,69-18 0,-113 22 20,0 0 0,0-1 0,0 0 1,13-9-1,-23 13-52,0 0 0,-1 0-1,1 1 1,-1-1 0,1 0 0,-1 0-1,0 0 1,1-1 0,-1 1 0,0 0-1,0 0 1,0-1 0,0 1 0,0-1-1,0 1 1,0-1 0,0 1 0,0-1-1,-1 0 1,1 1 0,-1-1 0,1 0-1,-1 1 1,0-1 0,0 0 0,1 1-1,-1-1 1,0 0 0,-1 0 0,1 1 0,0-1-1,0 0 1,-1 0 0,1 1 0,-1-1-1,0 1 1,1-1 0,-2-2 0,-12-12-5748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7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729 1 24575,'2'3'0,"0"0"0,-1-1 0,1 2 0,-1-1 0,1 0 0,-1 0 0,0 0 0,0 1 0,-1-1 0,2 7 0,0 5 0,12 44 0,11 115 0,-24-153 0,0-1 0,-2 1 0,0-1 0,-1 1 0,-1-1 0,-1 0 0,-1 0 0,-1 0 0,-12 30 0,5-25 0,-1 0 0,-1-1 0,-1 0 0,-2-1 0,-29 31 0,36-43 0,-1 0 0,-1 0 0,0-1 0,0 0 0,-1-1 0,0-1 0,0 0 0,-1-1 0,0-1 0,0 0 0,-20 5 0,26-10 0,0 1 0,0-1 0,0-1 0,-1 0 0,1 0 0,0-1 0,0 0 0,0 0 0,0-1 0,0 0 0,0-1 0,-9-4 0,5 1 0,1 0 0,0-1 0,0-1 0,0 0 0,1-1 0,1 0 0,-13-13 0,1-3 0,2-1 0,0-1 0,2-1 0,1-1 0,-25-57 0,29 57 0,1-1 0,2 0 0,1 0 0,1-1 0,1-1 0,-3-47 0,10 75 0,1 1 0,-1-1 0,1 1 0,0-1 0,0 1 0,0 0 0,0-1 0,0 1 0,1 0 0,0 0 0,-1 0 0,1 0 0,0 0 0,1 0 0,-1 1 0,0-1 0,1 1 0,-1-1 0,1 1 0,0 0 0,0 0 0,0 0 0,0 1 0,0-1 0,0 1 0,0-1 0,1 1 0,5-1 0,13-4 0,0 1 0,1 1 0,33-2 0,-24 3 0,477-23 0,-299 21 0,-193 3-195,0 0-1,-1-1 0,1 0 0,18-7 1,-28 8-192,68-21-6439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7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 1 24575,'-1'25'0,"-1"1"0,-1-1 0,-2 0 0,-11 37 0,-40 96 0,42-122 0,-255 541 0,267-573-120,0-3 42,1 1 1,0-1-1,0 1 0,0-1 0,1 1 0,-1-1 0,0 1 1,1 0-1,-1 0 0,1-1 0,-1 1 0,1 0 0,0 0 1,0 0-1,0 2 0,6-5-6748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8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1 617 24575,'11'169'0,"-2"-84"0,-8-67 0,-1-9 0,0 0 0,1 0 0,0 1 0,1-1 0,-1 0 0,2-1 0,-1 1 0,2 0 0,4 10 0,-7-18 0,0 0 0,0 0 0,0 0 0,0 0 0,0 0 0,0 0 0,0 0 0,0-1 0,1 1 0,-1 0 0,0-1 0,1 1 0,-1-1 0,0 1 0,1-1 0,-1 0 0,1 0 0,-1 1 0,0-1 0,1 0 0,-1 0 0,1-1 0,-1 1 0,1 0 0,-1 0 0,0-1 0,1 1 0,-1 0 0,0-1 0,1 0 0,-1 1 0,0-1 0,0 0 0,1 1 0,-1-1 0,0 0 0,0 0 0,0 0 0,1-1 0,8-7 0,0 0 0,0 0 0,9-13 0,-14 16 0,22-25 0,-1-2 0,-2-1 0,32-57 0,-45 70 0,-2-1 0,0 0 0,-1 0 0,-1 0 0,-1-1 0,-2 0 0,5-45 0,-8 33 0,-1 0 0,-2 1 0,-1-1 0,-2 0 0,-15-56 0,19 88 0,0 1 0,0-1 0,0 0 0,1 1 0,-1-1 0,1 1 0,0-1 0,0 0 0,0 1 0,0-1 0,0 0 0,0 1 0,1-1 0,-1 0 0,1 1 0,0-1 0,1-2 0,0 2 0,1 1 0,-1-1 0,1 1 0,-1-1 0,1 1 0,0 0 0,0 0 0,0 0 0,0 0 0,0 1 0,1-1 0,-1 1 0,5-2 0,208-61 0,4-1 0,-213 63-151,-1 0-1,1-1 0,-1 0 0,0 0 1,0 0-1,0-1 0,0 0 1,7-6-1,-3-5-6674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39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 24575,'0'476'0,"0"-532"0,3-137 0,-1 157 0,3-1 0,0 1 0,14-43 0,-18 74 0,1 0 0,0 0 0,-1 0 0,2 0 0,-1 1 0,1-1 0,-1 1 0,1-1 0,0 1 0,1 0 0,-1 0 0,1 0 0,0 1 0,0-1 0,0 1 0,0 0 0,0 0 0,1 1 0,0-1 0,-1 1 0,9-3 0,-5 3 0,-1 1 0,1 0 0,0 0 0,-1 1 0,1 0 0,0 1 0,-1-1 0,1 1 0,0 1 0,-1-1 0,1 1 0,-1 1 0,0-1 0,8 5 0,-9-4 0,-1 0 0,1 0 0,-1 0 0,0 1 0,0 0 0,0 0 0,0 0 0,-1 1 0,0-1 0,0 1 0,0 0 0,0 0 0,-1 1 0,0-1 0,0 1 0,0-1 0,-1 1 0,0 0 0,0 0 0,2 11 0,-1 7 0,-1 0 0,-1 1 0,-1-1 0,-3 28 0,0-3 0,2-42-120,2-3 17,-1-1-1,0 0 0,0 1 0,-1-1 0,1 0 1,-1 1-1,0-1 0,0 0 0,0 1 1,0-1-1,-3 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46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24575,'4'10'0,"4"30"0,1 11 0,3 18 0,3 23 0,-2 21 0,-2 6 0,-3 14 0,-4 22 0,-1 12 0,-2 7 0,-1-8 0,-1-10 0,0-22 0,1-26 0,-1-31-8191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47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428 1 24575,'-13'1'0,"0"0"0,0 1 0,0 1 0,0 0 0,0 1 0,1 0 0,-1 1 0,1 0 0,0 1 0,1 0 0,-1 1 0,1 1 0,1 0 0,-1 0 0,1 1 0,1 0 0,0 0 0,-14 19 0,-4 10 0,1 0 0,1 2 0,-36 84 0,50-100 0,2-1 0,1 2 0,1-1 0,0 1 0,2 0 0,1 0 0,2 1 0,0-1 0,1 1 0,5 44 0,-1-54 0,0-1 0,0 1 0,1 0 0,1-1 0,1 0 0,0 0 0,1-1 0,1 0 0,0 0 0,1 0 0,0-1 0,1-1 0,0 0 0,1 0 0,1-1 0,0 0 0,0-1 0,19 12 0,-4-6 0,1-2 0,0-1 0,1-1 0,0-1 0,1-2 0,0-1 0,44 6 0,-35-9 0,1-2 0,-1-1 0,1-2 0,0-2 0,55-9 0,-78 8 0,0 0 0,0-2 0,-1 0 0,0-1 0,0 0 0,17-10 0,-29 14 0,-1 0 0,0 0 0,0 0 0,0 0 0,0-1 0,0 1 0,0-1 0,0 0 0,-1 0 0,0 0 0,1 0 0,-1 0 0,0 0 0,-1-1 0,1 1 0,0 0 0,-1-1 0,0 0 0,0 1 0,0-1 0,0 0 0,-1 0 0,1 1 0,-1-1 0,0 0 0,0 0 0,-1 0 0,1 1 0,-1-1 0,1 0 0,-1 1 0,0-1 0,-3-5 0,-1-2 0,0 1 0,-1 0 0,0 0 0,0 1 0,-1-1 0,0 1 0,-1 1 0,0-1 0,-1 2 0,1-1 0,-2 1 0,1 0 0,-1 1 0,-18-9 0,-10-3 0,-2 2 0,-68-18 0,54 18 0,19 4 120,26 6-321,22 4-1083,8 3-5542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48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24575,'1'176'0,"31"228"0,18 212 120,-48 0-1605,-2-570-5341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50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0 24575,'-11'1'0,"0"0"0,0 1 0,0 0 0,0 1 0,1 0 0,-1 1 0,1 0 0,0 0 0,0 1 0,-15 11 0,-11 8 0,-44 40 0,59-47 0,14-11 0,-3 2 0,0 1 0,0 0 0,0 1 0,1 0 0,-9 13 0,17-20 0,-1-1 0,0 1 0,1 0 0,0 0 0,-1 0 0,1 1 0,0-1 0,1 0 0,-1 0 0,1 1 0,-1-1 0,1 0 0,0 0 0,0 1 0,0-1 0,1 0 0,-1 1 0,1-1 0,0 0 0,0 0 0,0 0 0,0 1 0,0-1 0,1 0 0,0-1 0,2 5 0,14 16-177,2-2 0,0 0-1,1-1 1,1-1-1,1-1 1,29 18 0,-49-34 53,41 28-6702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51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0 201 24575,'10'-16'0,"1"1"0,1 0 0,0 0 0,1 1 0,0 1 0,28-21 0,-13 9 0,-20 18 0,-1 1 0,1 0 0,0 0 0,0 1 0,1 0 0,-1 0 0,14-5 0,-19 10 0,0-1 0,0 0 0,0 1 0,0-1 0,0 1 0,0 0 0,0 0 0,0 0 0,0 0 0,0 0 0,0 1 0,0 0 0,0-1 0,-1 1 0,1 0 0,0 0 0,0 1 0,0-1 0,-1 1 0,1-1 0,-1 1 0,1 0 0,-1 0 0,0 0 0,0 0 0,0 0 0,0 0 0,3 6 0,4 5 0,-2 0 0,1 1 0,-2 0 0,0 0 0,-1 1 0,0 0 0,-1-1 0,-1 2 0,2 19 0,5 150 0,-9-128 0,0-20 0,-2-17 0,1 0 0,1 0 0,1-1 0,1 1 0,0-1 0,2 0 0,7 21 0,-12-38 0,0-1 0,0 0 0,1 1 0,-1-1 0,1 1 0,-1-1 0,1 0 0,0 1 0,0-1 0,-1 0 0,1 0 0,0 0 0,0 0 0,0 0 0,0 0 0,0 0 0,1 0 0,-1 0 0,0 0 0,0 0 0,0-1 0,1 1 0,-1 0 0,0-1 0,1 0 0,-1 1 0,1-1 0,-1 0 0,1 1 0,-1-1 0,0 0 0,1 0 0,-1 0 0,1 0 0,-1 0 0,1-1 0,-1 1 0,1 0 0,-1-1 0,0 1 0,1-1 0,-1 1 0,0-1 0,1 0 0,-1 1 0,2-3 0,5-3 0,-1-1 0,0 1 0,0-2 0,-1 1 0,10-15 0,8-14 0,-3-1 0,-1-1 0,25-65 0,25-125 0,-53 376 0,8 225-1365,-25-340-5461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52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0 430 24575,'0'-429'0,"22"943"0,-18-482-1365,1-9-5461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52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24575,'7'0'0,"6"0"0,4 0 0,7 4 0,3 1 0,0-1 0,-1 0 0,-1-1 0,-1-2 0,-5 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53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284 57 24575,'-5'-2'0,"0"0"0,0 0 0,1 0 0,-1-1 0,1 0 0,-1 0 0,-7-7 0,-1 0 0,10 8 0,0 0 0,-1 0 0,1 0 0,-1 0 0,1 0 0,-1 1 0,0-1 0,0 1 0,0 0 0,0 0 0,0 1 0,0-1 0,0 1 0,0 0 0,0 0 0,0 0 0,0 0 0,0 1 0,0 0 0,1 0 0,-1 0 0,0 0 0,0 0 0,0 1 0,-4 2 0,0 2 0,0 0 0,1 0 0,-1 0 0,1 1 0,1 0 0,-1 1 0,1 0 0,1 0 0,-7 11 0,4-6 0,1 0 0,1 0 0,1 1 0,0 0 0,0 0 0,-4 24 0,8-33 0,0 1 0,1 0 0,-1 0 0,1-1 0,0 1 0,0 0 0,1-1 0,0 1 0,0 0 0,0-1 0,1 1 0,-1-1 0,1 1 0,1-1 0,-1 0 0,1 0 0,0 0 0,0 0 0,7 7 0,1-2 0,0-1 0,1 0 0,0-1 0,0 0 0,1-1 0,15 7 0,-19-10 0,0-1 0,0 1 0,1-1 0,-1-1 0,1 0 0,-1 0 0,1-1 0,0-1 0,19 0 0,-10-8 0,-19 8 0,0 0 0,1-1 0,-1 1 0,0-1 0,0 1 0,0 0 0,0-1 0,0 1 0,0-1 0,0 1 0,0-1 0,0 1 0,0 0 0,0-1 0,0 1 0,-1-1 0,1 1 0,0 0 0,0-1 0,0 1 0,0 0 0,-1-1 0,1 1 0,0 0 0,0-1 0,-1 1 0,1 0 0,-1-1 0,-1-1 0,-1 0 0,1 0 0,-1 0 0,0 0 0,1 1 0,-1-1 0,0 1 0,0 0 0,-6-2 0,1 2 0,1 0 0,-1 1 0,0 0 0,0 0 0,0 1 0,1 0 0,-1 0 0,1 1 0,-1 0 0,1 0 0,-1 1 0,1-1 0,0 2 0,0-1 0,0 1 0,1 0 0,-1 1 0,1-1 0,0 1 0,0 0 0,1 1 0,0 0 0,-1-1 0,2 2 0,-1-1 0,1 0 0,0 1 0,0 0 0,1 0 0,0 0 0,0 0 0,1 1 0,0-1 0,0 1 0,1-1 0,0 1 0,0 0 0,0 0 0,1-1 0,1 1 0,-1 0 0,1 0 0,1-1 0,-1 1 0,1-1 0,0 1 0,4 7 0,-3-10 0,1 1 0,-1-1 0,1 0 0,0-1 0,1 1 0,-1-1 0,1 1 0,0-2 0,0 1 0,0 0 0,0-1 0,1 0 0,-1 0 0,1 0 0,0-1 0,0 0 0,9 2 0,9 2 0,0-1 0,0-2 0,26 2 0,-44-5 14,0 1-1,1-1 0,-1 0 0,0-1 1,1 1-1,-1-1 0,0-1 1,10-2-1,-13 3-70,-1 0 0,0-1 0,0 1 0,0 0-1,-1-1 1,1 1 0,0-1 0,0 0 0,-1 0 0,1 1 0,-1-1 0,1 0-1,-1 0 1,0 0 0,0-1 0,0 1 0,0 0 0,0 0 0,-1-1 0,1 1 0,-1 0-1,1-1 1,-1 1 0,0 0 0,0-5 0,0-11-6769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54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1 24575,'-3'0'0,"-2"3"0,0 9 0,-2 6 0,-4 7 0,0 6 0,-2 9 0,-6 16 0,-10 16 0,-7 13 0,-6 4 0,-2 5 0,3-7 0,4-15 0,9-15 0,9-25 0,8-18-8191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8:03:54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105 101 24575,'10'-15'0,"0"1"0,1 0 0,16-16 0,-25 28 0,0 0 0,0 0 0,1-1 0,-1 1 0,0 0 0,1 1 0,0-1 0,-1 0 0,1 1 0,0-1 0,0 1 0,-1 0 0,1 0 0,0 0 0,0 1 0,0-1 0,1 0 0,-1 1 0,0 0 0,0 0 0,0 0 0,0 0 0,0 1 0,0-1 0,0 1 0,5 1 0,-5 0 0,0 0 0,-1 0 0,1 1 0,-1-1 0,0 1 0,0-1 0,0 1 0,0 0 0,-1 0 0,1 0 0,-1 0 0,1 0 0,-1 0 0,0 0 0,0 0 0,0 1 0,-1-1 0,1 0 0,-1 4 0,2 70 0,-2-67 0,-1 8 0,0-1 0,-2 1 0,0-1 0,-1 1 0,0-1 0,-2 0 0,0 0 0,-1-1 0,0 0 0,-1 0 0,-1-1 0,-1 0 0,0 0 0,-1-1 0,0 0 0,-1-1 0,-1-1 0,0 0 0,-27 20 0,37-31 0,0 1 0,0 0 0,0-1 0,0 0 0,0 0 0,0 0 0,0 0 0,0 0 0,0-1 0,-1 1 0,1-1 0,0 0 0,0 0 0,-1 0 0,1 0 0,0-1 0,0 1 0,-1-1 0,-3-1 0,5 1 0,0 0 0,1 0 0,-1 0 0,0 0 0,0 0 0,1-1 0,-1 1 0,1 0 0,-1-1 0,1 1 0,-1-1 0,1 0 0,0 0 0,0 1 0,0-1 0,0 0 0,0 0 0,0 0 0,0 0 0,1 0 0,-1 0 0,1 0 0,-1 0 0,1 0 0,0 0 0,0 0 0,0 0 0,0-1 0,0 1 0,1-3 0,-1 4 0,1 0 0,-1 0 0,0 0 0,1 0 0,-1 0 0,0 0 0,1 1 0,-1-1 0,1 0 0,0 0 0,-1 0 0,1 0 0,0 1 0,-1-1 0,1 0 0,0 1 0,0-1 0,-1 1 0,1-1 0,0 1 0,0-1 0,0 1 0,0-1 0,0 1 0,0 0 0,0-1 0,0 1 0,0 0 0,0 0 0,0 0 0,0 0 0,0 0 0,0 0 0,0 0 0,0 0 0,0 0 0,0 1 0,0-1 0,0 0 0,0 1 0,0-1 0,0 1 0,49 19 0,-42-15 0,22 8-1365,-3-1-5461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3ACDA-B884-4AA3-AF33-6940047B60AC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15D47-7E78-4758-B888-FA06178A4D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29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214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Условие из определения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означает, что для любого действительного числа </a:t>
                </a:r>
                <a:r>
                  <a:rPr 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множество всех исходов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𝜔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для которых значение случайной величины </a:t>
                </a:r>
                <a:r>
                  <a:rPr lang="ru-RU" i="0">
                    <a:latin typeface="Cambria Math" panose="02040503050406030204" pitchFamily="18" charset="0"/>
                  </a:rPr>
                  <a:t>ξ</a:t>
                </a:r>
                <a:r>
                  <a:rPr lang="ru-RU" b="0" i="0">
                    <a:latin typeface="Cambria Math" panose="02040503050406030204" pitchFamily="18" charset="0"/>
                  </a:rPr>
                  <a:t>(ω</a:t>
                </a:r>
                <a:r>
                  <a:rPr lang="en-US" b="0" i="0">
                    <a:latin typeface="Cambria Math" panose="02040503050406030204" pitchFamily="18" charset="0"/>
                  </a:rPr>
                  <a:t>)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меньше </a:t>
                </a:r>
                <a:r>
                  <a:rPr 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𝑥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должно быть событием (т.е. принадлежать </a:t>
                </a:r>
                <a:r>
                  <a:rPr lang="en-US" b="0" i="0">
                    <a:latin typeface="Cambria Math" panose="02040503050406030204" pitchFamily="18" charset="0"/>
                  </a:rPr>
                  <a:t>𝜎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-алгебре </a:t>
                </a:r>
                <a:r>
                  <a:rPr lang="en-US" i="0">
                    <a:latin typeface="Cambria Math" panose="02040503050406030204" pitchFamily="18" charset="0"/>
                  </a:rPr>
                  <a:t>𝒜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Условие из определения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нужно для того, чтобы можно было корректно определить вероятность событий, связанных со случайной величиной. Например, вероятность того, что </a:t>
                </a:r>
                <a:r>
                  <a:rPr lang="ru-RU" i="0">
                    <a:latin typeface="Cambria Math" panose="02040503050406030204" pitchFamily="18" charset="0"/>
                  </a:rPr>
                  <a:t>ξ</a:t>
                </a:r>
                <a:r>
                  <a:rPr lang="en-US" b="0" i="0">
                    <a:latin typeface="Cambria Math" panose="02040503050406030204" pitchFamily="18" charset="0"/>
                  </a:rPr>
                  <a:t>&lt;5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должна иметь смысл. Для этого множество всех исходов </a:t>
                </a:r>
                <a:r>
                  <a:rPr 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𝜔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где </a:t>
                </a:r>
                <a:r>
                  <a:rPr lang="ru-RU" i="0">
                    <a:latin typeface="Cambria Math" panose="02040503050406030204" pitchFamily="18" charset="0"/>
                  </a:rPr>
                  <a:t>ξ</a:t>
                </a:r>
                <a:r>
                  <a:rPr lang="en-US" b="0" i="0">
                    <a:latin typeface="Cambria Math" panose="02040503050406030204" pitchFamily="18" charset="0"/>
                  </a:rPr>
                  <a:t>(𝜔)&lt;5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должно быть "измеримым" (т.е. принадлежать </a:t>
                </a:r>
                <a:r>
                  <a:rPr lang="en-US" b="0" i="0">
                    <a:latin typeface="Cambria Math" panose="02040503050406030204" pitchFamily="18" charset="0"/>
                  </a:rPr>
                  <a:t>𝜎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-алгебре событий).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dirty="0"/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595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4797-8520-C770-4FCE-2588E1E8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E9DCC8-FD6F-60D1-BB81-0C2959C01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1FA83BC-047D-FAB0-E1AF-F288DD229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245EE4-358E-1A5E-AE9F-C439D4F2B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863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Для </a:t>
                </a:r>
                <a:r>
                  <a:rPr lang="en-US" i="0" dirty="0">
                    <a:latin typeface="Cambria Math" panose="02040503050406030204" pitchFamily="18" charset="0"/>
                  </a:rPr>
                  <a:t>𝜉=</a:t>
                </a:r>
                <a:r>
                  <a:rPr lang="en-US" b="0" i="0" dirty="0">
                    <a:latin typeface="Cambria Math" panose="02040503050406030204" pitchFamily="18" charset="0"/>
                  </a:rPr>
                  <a:t>5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мы фиксируем, что первые 4 билета проиграли 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(𝑞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^4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), 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а пятый билет покупается автоматически, независимо от его результата. Если бы мы хотели найти вероятность того, что пятый билет выиграл , то тогда бы мы умножили 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𝑞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^4⋅𝑝</a:t>
                </a:r>
                <a:r>
                  <a:rPr lang="ru-R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Однако в данном случае нам важно только то, что первые 4 билета проиграли , а пятый билет покупается вне зависимости от его результата.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809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D0B5-77CF-0827-EEF2-3DD104D7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E762A44-6345-D628-2020-327B9C94D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3A949A5-7792-93B1-80DD-50030EAEB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D275B3-C897-6DDD-1226-DFA291AAD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300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A7A14-7EDD-2B1B-0C6F-FE7C96913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3FDCCC8-B409-CD95-5582-5C9D3801D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4512DA-05E4-B4DF-F7F7-0C423ED58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38C412-D001-DE97-CE1C-0F3DFD59E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042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B8CE-1BC7-7888-771D-8BC2A3FB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E93085E-CAD5-FD6B-3A60-5405C668A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CB9F37D-D50B-CCBB-410D-840B37DCF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2B1E8D-0B36-4B95-360D-FF31785E4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974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6425-32A1-0F14-A73C-A40E642DE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8AFEA6-0C94-72F6-6D21-C44679729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2C5196-0B7B-5729-6B57-7573509A9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3A2DB7-9A37-7D58-66A4-510944E34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147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Функция плотности есть производная от функции распределения </a:t>
                </a:r>
                <a:r>
                  <a:rPr lang="en-US" b="0" i="0">
                    <a:latin typeface="Cambria Math" panose="02040503050406030204" pitchFamily="18" charset="0"/>
                  </a:rPr>
                  <a:t>𝑝_𝜉 (𝑥)</a:t>
                </a:r>
                <a:r>
                  <a:rPr lang="ru-RU" b="0" i="0">
                    <a:latin typeface="Cambria Math" panose="02040503050406030204" pitchFamily="18" charset="0"/>
                  </a:rPr>
                  <a:t>=</a:t>
                </a:r>
                <a:r>
                  <a:rPr lang="en-US" b="0" i="0">
                    <a:latin typeface="Cambria Math" panose="02040503050406030204" pitchFamily="18" charset="0"/>
                  </a:rPr>
                  <a:t>𝑑/𝑑𝑥 𝐹_𝜉</a:t>
                </a:r>
                <a:r>
                  <a:rPr lang="ru-RU" b="0" i="0">
                    <a:latin typeface="Cambria Math" panose="02040503050406030204" pitchFamily="18" charset="0"/>
                  </a:rPr>
                  <a:t> (</a:t>
                </a:r>
                <a:r>
                  <a:rPr lang="en-US" b="0" i="0">
                    <a:latin typeface="Cambria Math" panose="02040503050406030204" pitchFamily="18" charset="0"/>
                  </a:rPr>
                  <a:t>𝑥)</a:t>
                </a:r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15D47-7E78-4758-B888-FA06178A4D3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907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A507-93E1-40C9-ADA4-F5B161D6F337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>
            <a:lvl1pPr>
              <a:defRPr sz="1100">
                <a:solidFill>
                  <a:srgbClr val="0070C0"/>
                </a:solidFill>
              </a:defRPr>
            </a:lvl1pPr>
          </a:lstStyle>
          <a:p>
            <a:fld id="{CC173F88-3387-453B-9303-AC0210B95C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87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954-5889-4488-BCF3-1B7F871E7D4D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67474"/>
            <a:ext cx="2057400" cy="365125"/>
          </a:xfrm>
        </p:spPr>
        <p:txBody>
          <a:bodyPr/>
          <a:lstStyle>
            <a:lvl1pPr>
              <a:defRPr sz="11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C173F88-3387-453B-9303-AC0210B95C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426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4225-81CD-47DA-8A1A-F09F96499ACF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55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0DC9-8147-4698-9A84-F09EB352936B}" type="datetime1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08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75D6A-AB91-4CFC-A333-041F04CB5271}" type="datetime1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00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BEB9-804F-4CF1-863E-32C8EA5BB236}" type="datetime1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35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BE86-6624-406B-BDE7-5ED7CE43D9FD}" type="datetime1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92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99EF-E5C7-411A-B296-A803C7CDAADC}" type="datetime1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0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0913-C371-4B2D-AAED-6A797AE16B88}" type="datetime1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14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8496-8AE7-4B5E-8807-A99D508CA027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0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D31D-7D36-4FAD-9BBC-3A3131AB89E9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074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B0373-42FD-427C-890F-8A785E9C3575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EA1771-73EE-18C6-E0DC-8DC84DF1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>
            <a:lvl1pPr>
              <a:defRPr sz="1100">
                <a:solidFill>
                  <a:srgbClr val="0070C0"/>
                </a:solidFill>
              </a:defRPr>
            </a:lvl1pPr>
          </a:lstStyle>
          <a:p>
            <a:fld id="{CC173F88-3387-453B-9303-AC0210B95C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2436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B628B-C2EA-2A3F-A5C4-91815146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E6AE1D4-2ABA-F467-658B-16D02B7F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DF811-B8BC-4195-8896-B8390D341C47}" type="datetime1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C98430-D455-A8DB-64E0-EC280EED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7C63F1-AF5C-5ECB-8AC4-E2EA1829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6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DF811-B8BC-4195-8896-B8390D341C47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73F88-3387-453B-9303-AC0210B95CB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8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310.png"/><Relationship Id="rId4" Type="http://schemas.openxmlformats.org/officeDocument/2006/relationships/image" Target="../media/image12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9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5.xml"/><Relationship Id="rId18" Type="http://schemas.openxmlformats.org/officeDocument/2006/relationships/image" Target="../media/image24.png"/><Relationship Id="rId3" Type="http://schemas.openxmlformats.org/officeDocument/2006/relationships/image" Target="../media/image260.png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21.png"/><Relationship Id="rId17" Type="http://schemas.openxmlformats.org/officeDocument/2006/relationships/customXml" Target="../ink/ink7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4.xml"/><Relationship Id="rId24" Type="http://schemas.openxmlformats.org/officeDocument/2006/relationships/image" Target="../media/image27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10" Type="http://schemas.openxmlformats.org/officeDocument/2006/relationships/image" Target="../media/image20.png"/><Relationship Id="rId19" Type="http://schemas.openxmlformats.org/officeDocument/2006/relationships/customXml" Target="../ink/ink8.xml"/><Relationship Id="rId4" Type="http://schemas.openxmlformats.org/officeDocument/2006/relationships/image" Target="../media/image270.png"/><Relationship Id="rId9" Type="http://schemas.openxmlformats.org/officeDocument/2006/relationships/customXml" Target="../ink/ink3.xml"/><Relationship Id="rId14" Type="http://schemas.openxmlformats.org/officeDocument/2006/relationships/image" Target="../media/image22.png"/><Relationship Id="rId22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.png"/><Relationship Id="rId21" Type="http://schemas.openxmlformats.org/officeDocument/2006/relationships/customXml" Target="../ink/ink20.xml"/><Relationship Id="rId34" Type="http://schemas.openxmlformats.org/officeDocument/2006/relationships/image" Target="../media/image43.png"/><Relationship Id="rId42" Type="http://schemas.openxmlformats.org/officeDocument/2006/relationships/image" Target="../media/image47.png"/><Relationship Id="rId47" Type="http://schemas.openxmlformats.org/officeDocument/2006/relationships/customXml" Target="../ink/ink33.xml"/><Relationship Id="rId50" Type="http://schemas.openxmlformats.org/officeDocument/2006/relationships/image" Target="../media/image51.png"/><Relationship Id="rId55" Type="http://schemas.openxmlformats.org/officeDocument/2006/relationships/customXml" Target="../ink/ink37.xml"/><Relationship Id="rId63" Type="http://schemas.openxmlformats.org/officeDocument/2006/relationships/customXml" Target="../ink/ink41.xml"/><Relationship Id="rId7" Type="http://schemas.openxmlformats.org/officeDocument/2006/relationships/customXml" Target="../ink/ink13.xml"/><Relationship Id="rId2" Type="http://schemas.openxmlformats.org/officeDocument/2006/relationships/image" Target="../media/image142.png"/><Relationship Id="rId16" Type="http://schemas.openxmlformats.org/officeDocument/2006/relationships/image" Target="../media/image34.png"/><Relationship Id="rId29" Type="http://schemas.openxmlformats.org/officeDocument/2006/relationships/customXml" Target="../ink/ink24.xml"/><Relationship Id="rId11" Type="http://schemas.openxmlformats.org/officeDocument/2006/relationships/customXml" Target="../ink/ink15.xml"/><Relationship Id="rId24" Type="http://schemas.openxmlformats.org/officeDocument/2006/relationships/image" Target="../media/image38.png"/><Relationship Id="rId32" Type="http://schemas.openxmlformats.org/officeDocument/2006/relationships/image" Target="../media/image42.png"/><Relationship Id="rId37" Type="http://schemas.openxmlformats.org/officeDocument/2006/relationships/customXml" Target="../ink/ink28.xml"/><Relationship Id="rId40" Type="http://schemas.openxmlformats.org/officeDocument/2006/relationships/image" Target="../media/image46.png"/><Relationship Id="rId45" Type="http://schemas.openxmlformats.org/officeDocument/2006/relationships/customXml" Target="../ink/ink32.xml"/><Relationship Id="rId53" Type="http://schemas.openxmlformats.org/officeDocument/2006/relationships/customXml" Target="../ink/ink36.xml"/><Relationship Id="rId58" Type="http://schemas.openxmlformats.org/officeDocument/2006/relationships/image" Target="../media/image55.png"/><Relationship Id="rId66" Type="http://schemas.openxmlformats.org/officeDocument/2006/relationships/image" Target="../media/image59.png"/><Relationship Id="rId5" Type="http://schemas.openxmlformats.org/officeDocument/2006/relationships/customXml" Target="../ink/ink12.xml"/><Relationship Id="rId61" Type="http://schemas.openxmlformats.org/officeDocument/2006/relationships/customXml" Target="../ink/ink40.xml"/><Relationship Id="rId19" Type="http://schemas.openxmlformats.org/officeDocument/2006/relationships/customXml" Target="../ink/ink19.xml"/><Relationship Id="rId14" Type="http://schemas.openxmlformats.org/officeDocument/2006/relationships/image" Target="../media/image33.png"/><Relationship Id="rId22" Type="http://schemas.openxmlformats.org/officeDocument/2006/relationships/image" Target="../media/image37.png"/><Relationship Id="rId27" Type="http://schemas.openxmlformats.org/officeDocument/2006/relationships/customXml" Target="../ink/ink23.xml"/><Relationship Id="rId30" Type="http://schemas.openxmlformats.org/officeDocument/2006/relationships/image" Target="../media/image41.png"/><Relationship Id="rId35" Type="http://schemas.openxmlformats.org/officeDocument/2006/relationships/customXml" Target="../ink/ink27.xml"/><Relationship Id="rId43" Type="http://schemas.openxmlformats.org/officeDocument/2006/relationships/customXml" Target="../ink/ink31.xml"/><Relationship Id="rId48" Type="http://schemas.openxmlformats.org/officeDocument/2006/relationships/image" Target="../media/image50.png"/><Relationship Id="rId56" Type="http://schemas.openxmlformats.org/officeDocument/2006/relationships/image" Target="../media/image54.png"/><Relationship Id="rId64" Type="http://schemas.openxmlformats.org/officeDocument/2006/relationships/image" Target="../media/image58.png"/><Relationship Id="rId8" Type="http://schemas.openxmlformats.org/officeDocument/2006/relationships/image" Target="../media/image30.png"/><Relationship Id="rId51" Type="http://schemas.openxmlformats.org/officeDocument/2006/relationships/customXml" Target="../ink/ink35.xml"/><Relationship Id="rId3" Type="http://schemas.openxmlformats.org/officeDocument/2006/relationships/customXml" Target="../ink/ink11.xml"/><Relationship Id="rId12" Type="http://schemas.openxmlformats.org/officeDocument/2006/relationships/image" Target="../media/image32.png"/><Relationship Id="rId17" Type="http://schemas.openxmlformats.org/officeDocument/2006/relationships/customXml" Target="../ink/ink18.xml"/><Relationship Id="rId25" Type="http://schemas.openxmlformats.org/officeDocument/2006/relationships/customXml" Target="../ink/ink22.xml"/><Relationship Id="rId33" Type="http://schemas.openxmlformats.org/officeDocument/2006/relationships/customXml" Target="../ink/ink26.xml"/><Relationship Id="rId38" Type="http://schemas.openxmlformats.org/officeDocument/2006/relationships/image" Target="../media/image45.png"/><Relationship Id="rId46" Type="http://schemas.openxmlformats.org/officeDocument/2006/relationships/image" Target="../media/image49.png"/><Relationship Id="rId59" Type="http://schemas.openxmlformats.org/officeDocument/2006/relationships/customXml" Target="../ink/ink39.xml"/><Relationship Id="rId20" Type="http://schemas.openxmlformats.org/officeDocument/2006/relationships/image" Target="../media/image36.png"/><Relationship Id="rId41" Type="http://schemas.openxmlformats.org/officeDocument/2006/relationships/customXml" Target="../ink/ink30.xml"/><Relationship Id="rId54" Type="http://schemas.openxmlformats.org/officeDocument/2006/relationships/image" Target="../media/image53.png"/><Relationship Id="rId6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5" Type="http://schemas.openxmlformats.org/officeDocument/2006/relationships/customXml" Target="../ink/ink17.xml"/><Relationship Id="rId23" Type="http://schemas.openxmlformats.org/officeDocument/2006/relationships/customXml" Target="../ink/ink21.xml"/><Relationship Id="rId28" Type="http://schemas.openxmlformats.org/officeDocument/2006/relationships/image" Target="../media/image40.png"/><Relationship Id="rId36" Type="http://schemas.openxmlformats.org/officeDocument/2006/relationships/image" Target="../media/image44.png"/><Relationship Id="rId49" Type="http://schemas.openxmlformats.org/officeDocument/2006/relationships/customXml" Target="../ink/ink34.xml"/><Relationship Id="rId57" Type="http://schemas.openxmlformats.org/officeDocument/2006/relationships/customXml" Target="../ink/ink38.xml"/><Relationship Id="rId10" Type="http://schemas.openxmlformats.org/officeDocument/2006/relationships/image" Target="../media/image31.png"/><Relationship Id="rId31" Type="http://schemas.openxmlformats.org/officeDocument/2006/relationships/customXml" Target="../ink/ink25.xml"/><Relationship Id="rId44" Type="http://schemas.openxmlformats.org/officeDocument/2006/relationships/image" Target="../media/image48.png"/><Relationship Id="rId52" Type="http://schemas.openxmlformats.org/officeDocument/2006/relationships/image" Target="../media/image52.png"/><Relationship Id="rId60" Type="http://schemas.openxmlformats.org/officeDocument/2006/relationships/image" Target="../media/image56.png"/><Relationship Id="rId65" Type="http://schemas.openxmlformats.org/officeDocument/2006/relationships/customXml" Target="../ink/ink42.xml"/><Relationship Id="rId4" Type="http://schemas.openxmlformats.org/officeDocument/2006/relationships/image" Target="../media/image28.png"/><Relationship Id="rId9" Type="http://schemas.openxmlformats.org/officeDocument/2006/relationships/customXml" Target="../ink/ink14.xml"/><Relationship Id="rId13" Type="http://schemas.openxmlformats.org/officeDocument/2006/relationships/customXml" Target="../ink/ink16.xml"/><Relationship Id="rId18" Type="http://schemas.openxmlformats.org/officeDocument/2006/relationships/image" Target="../media/image35.png"/><Relationship Id="rId39" Type="http://schemas.openxmlformats.org/officeDocument/2006/relationships/customXml" Target="../ink/ink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8187B26-AEC0-27C7-71F0-789D56B321FE}"/>
              </a:ext>
            </a:extLst>
          </p:cNvPr>
          <p:cNvSpPr txBox="1">
            <a:spLocks/>
          </p:cNvSpPr>
          <p:nvPr/>
        </p:nvSpPr>
        <p:spPr>
          <a:xfrm>
            <a:off x="-17583" y="717493"/>
            <a:ext cx="9155722" cy="2711507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Cambria Math"/>
                <a:ea typeface="+mj-ea"/>
                <a:cs typeface="Cambria Math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Математическая статистика</a:t>
            </a: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Лекция 3: «</a:t>
            </a:r>
            <a:r>
              <a:rPr lang="ru-RU" sz="3200">
                <a:latin typeface="Arial" panose="020B0604020202020204" pitchFamily="34" charset="0"/>
                <a:cs typeface="Arial" panose="020B0604020202020204" pitchFamily="34" charset="0"/>
              </a:rPr>
              <a:t>Проверка гипотез»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312DF45-B881-CF76-722C-0A8373E8591B}"/>
              </a:ext>
            </a:extLst>
          </p:cNvPr>
          <p:cNvSpPr txBox="1">
            <a:spLocks/>
          </p:cNvSpPr>
          <p:nvPr/>
        </p:nvSpPr>
        <p:spPr>
          <a:xfrm>
            <a:off x="-5861" y="6435306"/>
            <a:ext cx="9144000" cy="4226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>
                <a:latin typeface="Arial" panose="020B0604020202020204" pitchFamily="34" charset="0"/>
                <a:cs typeface="Arial" panose="020B0604020202020204" pitchFamily="34" charset="0"/>
              </a:rPr>
              <a:t>10 ноября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4DDC660-0C2C-EB1A-25D7-2F128125109A}"/>
              </a:ext>
            </a:extLst>
          </p:cNvPr>
          <p:cNvSpPr txBox="1"/>
          <p:nvPr/>
        </p:nvSpPr>
        <p:spPr>
          <a:xfrm>
            <a:off x="897147" y="3885916"/>
            <a:ext cx="769476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Автор: к.ф.-м.н., доцент кафедры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«Криптология и кибербезопасность» НИЯУ МИФИ </a:t>
            </a:r>
          </a:p>
          <a:p>
            <a:pPr marL="12700" algn="ctr"/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Перейма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Дмитрий Юрьевич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16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31E20F56-41DA-6084-A0B7-13BBA0D0851D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Содержание</a:t>
            </a:r>
          </a:p>
        </p:txBody>
      </p:sp>
      <p:sp>
        <p:nvSpPr>
          <p:cNvPr id="21" name="Номер слайда 1">
            <a:extLst>
              <a:ext uri="{FF2B5EF4-FFF2-40B4-BE49-F238E27FC236}">
                <a16:creationId xmlns:a16="http://schemas.microsoft.com/office/drawing/2014/main" id="{78B925BC-EF5B-9DF1-4264-287D2530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C73802-E9A6-5335-1ACA-7196EEDF5887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3999" cy="3285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ru-RU" sz="2000" dirty="0"/>
                  <a:t>Основы математической статистики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основные определения;</a:t>
                </a:r>
                <a:endParaRPr lang="en-US" sz="2000" dirty="0"/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проверка гипотез о параметрах в </a:t>
                </a:r>
                <a:r>
                  <a:rPr lang="ru-RU" sz="2000" dirty="0" err="1"/>
                  <a:t>одновыборочной</a:t>
                </a:r>
                <a:r>
                  <a:rPr lang="ru-RU" sz="2000" dirty="0"/>
                  <a:t> гауссовской и биномиальных моделях;</a:t>
                </a:r>
                <a:endParaRPr lang="en-US" sz="2000" dirty="0"/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критерии согласия: критерий Пирсона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;</a:t>
                </a:r>
                <a:endParaRPr lang="ru-RU" sz="2000" dirty="0"/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000" dirty="0"/>
                  <a:t> Пирсона для проверки  параметрической гипотезы;</a:t>
                </a:r>
                <a:endParaRPr lang="en-US" sz="2000" dirty="0"/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однородность нормальных выборок;</a:t>
                </a:r>
                <a:endParaRPr lang="en-US" sz="2000" dirty="0"/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равенство средних двух нормальных выборок;</a:t>
                </a:r>
              </a:p>
              <a:p>
                <a:pPr marL="742950" lvl="1" indent="-285750" algn="just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критерии, основанные на доверительных интервалах.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C73802-E9A6-5335-1ACA-7196EEDF5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3999" cy="3285515"/>
              </a:xfrm>
              <a:prstGeom prst="rect">
                <a:avLst/>
              </a:prstGeom>
              <a:blipFill>
                <a:blip r:embed="rId2"/>
                <a:stretch>
                  <a:fillRect r="-667" b="-24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02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47DA-958A-DCAE-4FEB-F6E91783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EB6F4423-9FEB-51C2-EF52-09533EE9A026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Основные определения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Номер слайда 1">
            <a:extLst>
              <a:ext uri="{FF2B5EF4-FFF2-40B4-BE49-F238E27FC236}">
                <a16:creationId xmlns:a16="http://schemas.microsoft.com/office/drawing/2014/main" id="{7B1AE127-4414-DD02-1F8F-77956B7C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9AB287-8653-D03C-E4E9-FF32E1AAC72D}"/>
                  </a:ext>
                </a:extLst>
              </p:cNvPr>
              <p:cNvSpPr txBox="1"/>
              <p:nvPr/>
            </p:nvSpPr>
            <p:spPr>
              <a:xfrm>
                <a:off x="1" y="419100"/>
                <a:ext cx="914399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Пусть дана выборка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из распределения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ℱ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9AB287-8653-D03C-E4E9-FF32E1AAC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19100"/>
                <a:ext cx="9143999" cy="403124"/>
              </a:xfrm>
              <a:prstGeom prst="rect">
                <a:avLst/>
              </a:prstGeom>
              <a:blipFill>
                <a:blip r:embed="rId3"/>
                <a:stretch>
                  <a:fillRect t="-3030" b="-242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70B94A-EB94-5BDE-4CBE-E680FDDD8998}"/>
                  </a:ext>
                </a:extLst>
              </p:cNvPr>
              <p:cNvSpPr txBox="1"/>
              <p:nvPr/>
            </p:nvSpPr>
            <p:spPr>
              <a:xfrm>
                <a:off x="-21516" y="3344154"/>
                <a:ext cx="9144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</a:t>
                </a:r>
                <a:r>
                  <a:rPr lang="ru-RU" b="1" dirty="0">
                    <a:solidFill>
                      <a:srgbClr val="006400"/>
                    </a:solidFill>
                  </a:rPr>
                  <a:t>Критерием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называется измеримое отображение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из множества всех возможных значений выборки в множество гипотез. Измеримость</a:t>
                </a:r>
                <a:r>
                  <a:rPr lang="en-US" dirty="0"/>
                  <a:t> </a:t>
                </a:r>
                <a:r>
                  <a:rPr lang="ru-RU" dirty="0"/>
                  <a:t>понимается в обычном смысле: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e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есть событие при любом </a:t>
                </a:r>
                <a:r>
                  <a:rPr lang="en-US" dirty="0"/>
                  <a:t>                       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1,…,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70B94A-EB94-5BDE-4CBE-E680FDDD8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516" y="3344154"/>
                <a:ext cx="9144000" cy="1477328"/>
              </a:xfrm>
              <a:prstGeom prst="rect">
                <a:avLst/>
              </a:prstGeom>
              <a:blipFill>
                <a:blip r:embed="rId4"/>
                <a:stretch>
                  <a:fillRect l="-533" t="-2479" r="-600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F2DA7F-2630-67B5-6F0F-09175DDFFEB4}"/>
                  </a:ext>
                </a:extLst>
              </p:cNvPr>
              <p:cNvSpPr txBox="1"/>
              <p:nvPr/>
            </p:nvSpPr>
            <p:spPr>
              <a:xfrm>
                <a:off x="21516" y="819878"/>
                <a:ext cx="9122484" cy="2462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</a:t>
                </a:r>
                <a:r>
                  <a:rPr lang="ru-RU" b="1" dirty="0">
                    <a:solidFill>
                      <a:srgbClr val="006400"/>
                    </a:solidFill>
                  </a:rPr>
                  <a:t> Гипотезой</a:t>
                </a:r>
                <a:r>
                  <a:rPr lang="ru-RU" b="1" dirty="0"/>
                  <a:t> </a:t>
                </a:r>
                <a:r>
                  <a:rPr lang="ru-RU" dirty="0"/>
                  <a:t>(𝐻) называется любое предположение относительно вида</a:t>
                </a:r>
                <a:r>
                  <a:rPr lang="en-US" dirty="0"/>
                  <a:t> </a:t>
                </a:r>
                <a:r>
                  <a:rPr lang="ru-RU" dirty="0"/>
                  <a:t>распределения, параметров распределения или свойств закона распределения</a:t>
                </a:r>
                <a:r>
                  <a:rPr lang="en-US" dirty="0"/>
                  <a:t> </a:t>
                </a:r>
                <a:r>
                  <a:rPr lang="ru-RU" dirty="0"/>
                  <a:t>наблюдаемой в эксперименте случайной величины: 𝐻 = {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ℱ</a:t>
                </a:r>
                <a:r>
                  <a:rPr lang="ru-RU" dirty="0"/>
                  <a:t> =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ℱ</a:t>
                </a:r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ru-RU" dirty="0"/>
                  <a:t>} или 𝐻 = {𝐹 ∈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ru-RU" dirty="0"/>
                  <a:t>}</a:t>
                </a:r>
                <a:r>
                  <a:rPr lang="en-US" dirty="0"/>
                  <a:t> </a:t>
                </a:r>
                <a:r>
                  <a:rPr lang="ru-RU" dirty="0"/>
                  <a:t>где 𝔽 —некоторое подмножество в множестве всех распределений.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Проверяемая гипотеза называется основной (или нулевой) и обозначается 𝐻</a:t>
                </a:r>
                <a:r>
                  <a:rPr lang="en-US" baseline="-25000" dirty="0"/>
                  <a:t>0</a:t>
                </a:r>
                <a:r>
                  <a:rPr lang="ru-RU" dirty="0"/>
                  <a:t>. Гипотеза,</a:t>
                </a:r>
                <a:r>
                  <a:rPr lang="en-US" dirty="0"/>
                  <a:t> </a:t>
                </a:r>
                <a:r>
                  <a:rPr lang="ru-RU" dirty="0"/>
                  <a:t>конкурирующая с 𝐻</a:t>
                </a:r>
                <a:r>
                  <a:rPr lang="en-US" baseline="-25000" dirty="0"/>
                  <a:t>0</a:t>
                </a:r>
                <a:r>
                  <a:rPr lang="ru-RU" dirty="0"/>
                  <a:t>, называется альтернативной и обозначается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algn="just"/>
                <a:r>
                  <a:rPr lang="ru-RU" dirty="0"/>
                  <a:t>Гипотеза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 называется простой, если она указывает на единственное распределение: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. Иначе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 называется сложной: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𝔽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F2DA7F-2630-67B5-6F0F-09175DDFF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6" y="819878"/>
                <a:ext cx="9122484" cy="2462213"/>
              </a:xfrm>
              <a:prstGeom prst="rect">
                <a:avLst/>
              </a:prstGeom>
              <a:blipFill>
                <a:blip r:embed="rId5"/>
                <a:stretch>
                  <a:fillRect l="-602" t="-1733" r="-535" b="-29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717B69-A912-1F66-5F05-3B684795508F}"/>
                  </a:ext>
                </a:extLst>
              </p:cNvPr>
              <p:cNvSpPr txBox="1"/>
              <p:nvPr/>
            </p:nvSpPr>
            <p:spPr>
              <a:xfrm>
                <a:off x="-1" y="4977254"/>
                <a:ext cx="9144000" cy="1060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 Говорят, что произошла ошибка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го рода критерия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если критерий отверг верную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r>
                  <a:rPr lang="ru-RU" dirty="0"/>
                  <a:t>Вероятностью ошибки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го рода критерия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ru-RU" dirty="0"/>
                  <a:t> называют число: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717B69-A912-1F66-5F05-3B6847955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977254"/>
                <a:ext cx="9144000" cy="1060868"/>
              </a:xfrm>
              <a:prstGeom prst="rect">
                <a:avLst/>
              </a:prstGeom>
              <a:blipFill>
                <a:blip r:embed="rId6"/>
                <a:stretch>
                  <a:fillRect l="-533" t="-2857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55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A312-F6EC-2921-D1B5-7E10F4962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F315E8EF-8629-0BAE-94F9-BBA6CD376BE7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Основные определения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Номер слайда 1">
            <a:extLst>
              <a:ext uri="{FF2B5EF4-FFF2-40B4-BE49-F238E27FC236}">
                <a16:creationId xmlns:a16="http://schemas.microsoft.com/office/drawing/2014/main" id="{12FE9A71-4A23-3816-4E21-CA57167F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67DB1D-25B9-755E-CBB0-ACA7EDCC6CD0}"/>
                  </a:ext>
                </a:extLst>
              </p:cNvPr>
              <p:cNvSpPr txBox="1"/>
              <p:nvPr/>
            </p:nvSpPr>
            <p:spPr>
              <a:xfrm>
                <a:off x="10758" y="419100"/>
                <a:ext cx="912248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ru-RU" dirty="0"/>
                  <a:t>:</a:t>
                </a:r>
                <a:r>
                  <a:rPr lang="ru-RU" b="1" dirty="0">
                    <a:solidFill>
                      <a:srgbClr val="006400"/>
                    </a:solidFill>
                  </a:rPr>
                  <a:t> </a:t>
                </a:r>
                <a:r>
                  <a:rPr lang="ru-RU" dirty="0"/>
                  <a:t>Пусть любое изделие некоторого производства оказывается браком с вероятностью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. Контроль продукции допускает ошибки: годное изделие бракует с вероятностью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dirty="0"/>
                  <a:t>, а бракованное пропускает (признаёт годным) с вероятностью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. Если ввести для проверяемого изделия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= {изделие годное}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= {изделие бракованное}, а критерием выбора одной из них считать контроль продукции, то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dirty="0"/>
                  <a:t> —вероятность ошибки первого рода этого критерия, 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 —второго рода: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{(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 |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(контроль забраковал годное изделие)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;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dirty="0"/>
                      <m:t>ε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{(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|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(контроль пропустил бракованное изделие)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67DB1D-25B9-755E-CBB0-ACA7EDCC6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8" y="419100"/>
                <a:ext cx="9122484" cy="2308324"/>
              </a:xfrm>
              <a:prstGeom prst="rect">
                <a:avLst/>
              </a:prstGeom>
              <a:blipFill>
                <a:blip r:embed="rId3"/>
                <a:stretch>
                  <a:fillRect l="-602" t="-1587" r="-535" b="-34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8752FA-53A9-61D8-0B3F-51643A2A8E3A}"/>
                  </a:ext>
                </a:extLst>
              </p:cNvPr>
              <p:cNvSpPr txBox="1"/>
              <p:nvPr/>
            </p:nvSpPr>
            <p:spPr>
              <a:xfrm>
                <a:off x="0" y="2727424"/>
                <a:ext cx="9122484" cy="2372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ru-RU" dirty="0"/>
                  <a:t>:</a:t>
                </a:r>
                <a:r>
                  <a:rPr lang="ru-RU" b="1" dirty="0">
                    <a:solidFill>
                      <a:srgbClr val="006400"/>
                    </a:solidFill>
                  </a:rPr>
                  <a:t> </a:t>
                </a:r>
                <a:r>
                  <a:rPr lang="ru-RU" dirty="0"/>
                  <a:t>Имеется выборка объема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ru-RU" dirty="0"/>
                  <a:t>из нормального распределения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, 1)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две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ru-RU" dirty="0"/>
                  <a:t>Рассмотрим при некотором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следующий критерий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если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 если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Изобразим на графике соответствующие гипотезам плотности распределений и</a:t>
                </a:r>
                <a:r>
                  <a:rPr lang="en-US" dirty="0"/>
                  <a:t> </a:t>
                </a:r>
                <a:r>
                  <a:rPr lang="ru-RU" dirty="0"/>
                  <a:t>вероятности ошибок первого и второго рода критерия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l-G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{(</m:t>
                      </m:r>
                      <m:sSub>
                        <m:sSubPr>
                          <m:ctrlPr>
                            <a:rPr lang="ru-R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&gt;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) | </m:t>
                      </m:r>
                      <m:sSub>
                        <m:sSubPr>
                          <m:ctrlPr>
                            <a:rPr lang="ru-RU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}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ru-RU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  ≤ 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) 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l-GR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8752FA-53A9-61D8-0B3F-51643A2A8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27424"/>
                <a:ext cx="9122484" cy="2372188"/>
              </a:xfrm>
              <a:prstGeom prst="rect">
                <a:avLst/>
              </a:prstGeom>
              <a:blipFill>
                <a:blip r:embed="rId4"/>
                <a:stretch>
                  <a:fillRect l="-535" t="-1282" r="-535" b="-1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F3EAAC-0E31-514C-B751-26DDDD0F6B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728"/>
          <a:stretch>
            <a:fillRect/>
          </a:stretch>
        </p:blipFill>
        <p:spPr>
          <a:xfrm>
            <a:off x="529151" y="5099612"/>
            <a:ext cx="4355781" cy="17583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E54967-D78A-DFE8-3FFB-01079C073EFD}"/>
                  </a:ext>
                </a:extLst>
              </p:cNvPr>
              <p:cNvSpPr txBox="1"/>
              <p:nvPr/>
            </p:nvSpPr>
            <p:spPr>
              <a:xfrm>
                <a:off x="5037491" y="5076830"/>
                <a:ext cx="408499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Видим, что с ростом числа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 вероятность ошибки первого рода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уменьшается, но  вероятность ошибки второго рода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растёт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E54967-D78A-DFE8-3FFB-01079C073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491" y="5076830"/>
                <a:ext cx="4084993" cy="1200329"/>
              </a:xfrm>
              <a:prstGeom prst="rect">
                <a:avLst/>
              </a:prstGeom>
              <a:blipFill>
                <a:blip r:embed="rId6"/>
                <a:stretch>
                  <a:fillRect l="-1194" t="-3046" r="-1343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8553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5C4B0DC1-3FDF-B742-D119-C268BE86DB71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Основные определения</a:t>
            </a:r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7908CC63-828F-C2CD-EE55-433EC428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3D92FB-FE49-6D0A-8F6A-510F379EB514}"/>
                  </a:ext>
                </a:extLst>
              </p:cNvPr>
              <p:cNvSpPr txBox="1"/>
              <p:nvPr/>
            </p:nvSpPr>
            <p:spPr>
              <a:xfrm>
                <a:off x="0" y="363419"/>
                <a:ext cx="9122484" cy="1256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</a:t>
                </a:r>
                <a:r>
                  <a:rPr lang="ru-RU" b="1" dirty="0">
                    <a:solidFill>
                      <a:srgbClr val="006400"/>
                    </a:solidFill>
                  </a:rPr>
                  <a:t> Статистикой критерия </a:t>
                </a:r>
                <a:r>
                  <a:rPr lang="ru-RU" b="1" dirty="0"/>
                  <a:t> </a:t>
                </a:r>
                <a:r>
                  <a:rPr lang="ru-RU" dirty="0"/>
                  <a:t>называют некоторую числовую функцию</a:t>
                </a:r>
                <a:r>
                  <a:rPr lang="en-US" dirty="0"/>
                  <a:t>                     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выборки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ru-RU" dirty="0"/>
                  <a:t> обладающую тем свойством, что её закон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полностью известен в том случае, когда проверяемая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верна.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3D92FB-FE49-6D0A-8F6A-510F379EB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3419"/>
                <a:ext cx="9122484" cy="1256178"/>
              </a:xfrm>
              <a:prstGeom prst="rect">
                <a:avLst/>
              </a:prstGeom>
              <a:blipFill>
                <a:blip r:embed="rId3"/>
                <a:stretch>
                  <a:fillRect l="-535" t="-2913" r="-535" b="-67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4E6F49-7B90-F4C9-5647-16C63FEF8AD7}"/>
                  </a:ext>
                </a:extLst>
              </p:cNvPr>
              <p:cNvSpPr txBox="1"/>
              <p:nvPr/>
            </p:nvSpPr>
            <p:spPr>
              <a:xfrm>
                <a:off x="-21516" y="1457596"/>
                <a:ext cx="9122484" cy="705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</a:t>
                </a:r>
                <a:r>
                  <a:rPr lang="ru-RU" b="1" dirty="0">
                    <a:solidFill>
                      <a:srgbClr val="006400"/>
                    </a:solidFill>
                  </a:rPr>
                  <a:t> Критической областью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статистического критерия называется область реализаций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/>
                  <a:t> статистики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при которых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отвергается.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4E6F49-7B90-F4C9-5647-16C63FEF8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516" y="1457596"/>
                <a:ext cx="9122484" cy="705642"/>
              </a:xfrm>
              <a:prstGeom prst="rect">
                <a:avLst/>
              </a:prstGeom>
              <a:blipFill>
                <a:blip r:embed="rId4"/>
                <a:stretch>
                  <a:fillRect l="-534" t="-4310" r="-534" b="-94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A621C4-C460-9DEA-9B4D-36ACD6EA27F9}"/>
                  </a:ext>
                </a:extLst>
              </p:cNvPr>
              <p:cNvSpPr txBox="1"/>
              <p:nvPr/>
            </p:nvSpPr>
            <p:spPr>
              <a:xfrm>
                <a:off x="0" y="2080481"/>
                <a:ext cx="912248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3333FF"/>
                    </a:solidFill>
                  </a:rPr>
                  <a:t>Определение</a:t>
                </a:r>
                <a:r>
                  <a:rPr lang="ru-RU" dirty="0"/>
                  <a:t>:</a:t>
                </a:r>
                <a:r>
                  <a:rPr lang="ru-RU" b="1" dirty="0">
                    <a:solidFill>
                      <a:srgbClr val="006400"/>
                    </a:solidFill>
                  </a:rPr>
                  <a:t> Уровень значимости </a:t>
                </a:r>
                <a:r>
                  <a:rPr lang="ru-RU" dirty="0"/>
                  <a:t>статистического критерия называется вероятность отвергнуть основную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, если она верна (вероятность ошибки 1-го рода</a:t>
                </a:r>
                <a:r>
                  <a:rPr lang="en-US" dirty="0"/>
                  <a:t>       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верна}).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A621C4-C460-9DEA-9B4D-36ACD6EA2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80481"/>
                <a:ext cx="9122484" cy="923330"/>
              </a:xfrm>
              <a:prstGeom prst="rect">
                <a:avLst/>
              </a:prstGeom>
              <a:blipFill>
                <a:blip r:embed="rId5"/>
                <a:stretch>
                  <a:fillRect l="-535" t="-3289" r="-535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3C3903-DEC6-4539-1613-21B7D3530A5B}"/>
                  </a:ext>
                </a:extLst>
              </p:cNvPr>
              <p:cNvSpPr txBox="1"/>
              <p:nvPr/>
            </p:nvSpPr>
            <p:spPr>
              <a:xfrm>
                <a:off x="0" y="2933294"/>
                <a:ext cx="9122484" cy="3726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Таким образом, проверка статистической гипотезы может быть подразделена на следующие этапы: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сформулировать проверяемую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и альтернативную к ней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;</a:t>
                </a: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выбрать уровень значимости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;</a:t>
                </a: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выбрать статистику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dirty="0"/>
                  <a:t> с известным распределением и параметрами при верной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;</a:t>
                </a: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построить, в зависимости от формулировки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и уровня значимости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dirty="0"/>
                  <a:t>, критическую область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, выписать критерий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;</a:t>
                </a: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получить реализацию выборки </a:t>
                </a:r>
                <a14:m>
                  <m:oMath xmlns:m="http://schemas.openxmlformats.org/officeDocument/2006/math"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 вычислить реализацию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статистики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dirty="0"/>
                  <a:t> критерия;</a:t>
                </a: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принять статистическое решение на уровне значимости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dirty="0"/>
                  <a:t>: если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(критической области), то отклонить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как не согласующуюся с результатами наблюдений, а если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∉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, то не отвергать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как не противоречащую результатам наблюдений.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3C3903-DEC6-4539-1613-21B7D3530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33294"/>
                <a:ext cx="9122484" cy="3726918"/>
              </a:xfrm>
              <a:prstGeom prst="rect">
                <a:avLst/>
              </a:prstGeom>
              <a:blipFill>
                <a:blip r:embed="rId6"/>
                <a:stretch>
                  <a:fillRect l="-535" t="-817" r="-535" b="-16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13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500F-B2B1-E874-C6AC-5AC91C0B8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5412AF59-E3E9-A2B8-95A3-4B7ED6F60989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5350EED4-4A89-C027-368D-7FC93DE8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DA9BD-9C7E-57B9-C0AF-8F905FC31468}"/>
              </a:ext>
            </a:extLst>
          </p:cNvPr>
          <p:cNvSpPr txBox="1"/>
          <p:nvPr/>
        </p:nvSpPr>
        <p:spPr>
          <a:xfrm>
            <a:off x="0" y="408815"/>
            <a:ext cx="9122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Рассмотрим процедуру проверки параметрической гипотезы на примере одной из "старинных" статистических задач.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60EEC-B9E7-6B15-5D68-2AF8FEAAB3AE}"/>
              </a:ext>
            </a:extLst>
          </p:cNvPr>
          <p:cNvSpPr txBox="1"/>
          <p:nvPr/>
        </p:nvSpPr>
        <p:spPr>
          <a:xfrm>
            <a:off x="-1084385" y="24884"/>
            <a:ext cx="11312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Проверка гипотез о параметрах в </a:t>
            </a:r>
            <a:r>
              <a:rPr lang="ru-RU" b="1" dirty="0" err="1"/>
              <a:t>одновыборочной</a:t>
            </a:r>
            <a:r>
              <a:rPr lang="ru-RU" b="1" dirty="0"/>
              <a:t> гауссовской и биномиальных моделях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472287-7A83-37CD-CFCC-56F9971F1CBD}"/>
                  </a:ext>
                </a:extLst>
              </p:cNvPr>
              <p:cNvSpPr txBox="1"/>
              <p:nvPr/>
            </p:nvSpPr>
            <p:spPr>
              <a:xfrm>
                <a:off x="0" y="4157432"/>
                <a:ext cx="9144000" cy="2729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Построим критерий, называемый биномиальным критерием, для проверки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 против альтернатив следующего вида: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: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 &lt;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: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Рассмотрим статистику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количество «успехов»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/>
                  <a:t> </a:t>
                </a:r>
                <a:r>
                  <a:rPr lang="ru-RU" dirty="0"/>
                  <a:t>испытаниях. Если наблюдений достаточно много, то согласно теореме Муавра-Лапласа, статистика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ru-RU" dirty="0"/>
                  <a:t> будет иметь асимптотически нормальное распределение. То есть при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&gt; 30 </m:t>
                    </m:r>
                  </m:oMath>
                </a14:m>
                <a:r>
                  <a:rPr lang="ru-RU" dirty="0"/>
                  <a:t>можно в качестве статистики биномиального критерия выбрать статистику</a:t>
                </a:r>
                <a:r>
                  <a:rPr lang="en-US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472287-7A83-37CD-CFCC-56F9971F1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57432"/>
                <a:ext cx="9144000" cy="2729209"/>
              </a:xfrm>
              <a:prstGeom prst="rect">
                <a:avLst/>
              </a:prstGeom>
              <a:blipFill>
                <a:blip r:embed="rId3"/>
                <a:stretch>
                  <a:fillRect l="-533" t="-1339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575716-C231-2817-AA36-955A528B216A}"/>
                  </a:ext>
                </a:extLst>
              </p:cNvPr>
              <p:cNvSpPr txBox="1"/>
              <p:nvPr/>
            </p:nvSpPr>
            <p:spPr>
              <a:xfrm>
                <a:off x="-21517" y="911897"/>
                <a:ext cx="9143999" cy="33135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Пример:</a:t>
                </a:r>
                <a:r>
                  <a:rPr lang="ru-RU" dirty="0"/>
                  <a:t> Рассмотрим следующую статистическую модель. Проводится серия из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испытаний Бернулли. Пусть случайная величина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ru-RU" dirty="0"/>
                  <a:t> - число «успехов» 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испытаниях, тогда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ru-RU" dirty="0"/>
                  <a:t> имеет биномиальное распределение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𝐵𝑖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Как мы уже знаем, неизвестную вероятность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можно оценить частотой «успехов»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и оценка обладает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ru-RU" dirty="0"/>
                  <a:t> следующими свойствами: 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dirty="0"/>
                  <a:t>несмещенная, т.е.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;</a:t>
                </a:r>
                <a:endParaRPr lang="en-US" dirty="0"/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dirty="0"/>
                  <a:t>состоятельная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ru-RU" b="0" i="0" smtClean="0">
                                <a:latin typeface="Cambria Math" panose="02040503050406030204" pitchFamily="18" charset="0"/>
                              </a:rPr>
                              <m:t>успех</m:t>
                            </m:r>
                          </m:e>
                        </m:d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e>
                    </m:nary>
                  </m:oMath>
                </a14:m>
                <a:r>
                  <a:rPr lang="ru-RU" dirty="0"/>
                  <a:t>поэтому 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при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→ ∞ </m:t>
                    </m:r>
                  </m:oMath>
                </a14:m>
                <a:endParaRPr lang="ru-RU" dirty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В практических задачах бывает важно не только оценить вероятность «успеха»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но и проверить гипотезу о том, что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равна некоторой заданной величине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575716-C231-2817-AA36-955A528B2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517" y="911897"/>
                <a:ext cx="9143999" cy="3313599"/>
              </a:xfrm>
              <a:prstGeom prst="rect">
                <a:avLst/>
              </a:prstGeom>
              <a:blipFill>
                <a:blip r:embed="rId4"/>
                <a:stretch>
                  <a:fillRect l="-533" t="-1105" r="-2800" b="-22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157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DE1A2-19E5-F622-D819-10450A6D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E9E72BE6-3F18-E34B-FE6F-C31850AA997E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8E308CFA-48D4-4E86-044A-968B67F8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3B8197-A911-C14B-2D44-F085B0B96F4B}"/>
                  </a:ext>
                </a:extLst>
              </p:cNvPr>
              <p:cNvSpPr txBox="1"/>
              <p:nvPr/>
            </p:nvSpPr>
            <p:spPr>
              <a:xfrm>
                <a:off x="0" y="408815"/>
                <a:ext cx="9122484" cy="1064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dirty="0"/>
                  <a:t>Тогда в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 если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квантиль нормального распределения уровня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3B8197-A911-C14B-2D44-F085B0B96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8815"/>
                <a:ext cx="9122484" cy="1064137"/>
              </a:xfrm>
              <a:prstGeom prst="rect">
                <a:avLst/>
              </a:prstGeom>
              <a:blipFill>
                <a:blip r:embed="rId3"/>
                <a:stretch>
                  <a:fillRect l="-535" t="-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D8AE318-CE24-AEB3-E98A-3C23F6F80CAB}"/>
              </a:ext>
            </a:extLst>
          </p:cNvPr>
          <p:cNvSpPr txBox="1"/>
          <p:nvPr/>
        </p:nvSpPr>
        <p:spPr>
          <a:xfrm>
            <a:off x="-1084385" y="24884"/>
            <a:ext cx="11312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Проверка гипотез о параметрах в </a:t>
            </a:r>
            <a:r>
              <a:rPr lang="ru-RU" b="1" dirty="0" err="1"/>
              <a:t>одновыборочной</a:t>
            </a:r>
            <a:r>
              <a:rPr lang="ru-RU" b="1" dirty="0"/>
              <a:t> гауссовской и биномиальных моделях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5325EF-5588-DD49-5573-E2C60E1F7E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55" t="15209" r="14546" b="8176"/>
          <a:stretch>
            <a:fillRect/>
          </a:stretch>
        </p:blipFill>
        <p:spPr>
          <a:xfrm>
            <a:off x="2911219" y="2133242"/>
            <a:ext cx="3300046" cy="16984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C19B0E-8054-4665-459D-9F7D833834FC}"/>
                  </a:ext>
                </a:extLst>
              </p:cNvPr>
              <p:cNvSpPr txBox="1"/>
              <p:nvPr/>
            </p:nvSpPr>
            <p:spPr>
              <a:xfrm>
                <a:off x="21516" y="3729244"/>
                <a:ext cx="9122484" cy="1695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В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 если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квантиль нормального распределения уровня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dirty="0"/>
                  <a:t>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C19B0E-8054-4665-459D-9F7D83383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6" y="3729244"/>
                <a:ext cx="9122484" cy="1695079"/>
              </a:xfrm>
              <a:prstGeom prst="rect">
                <a:avLst/>
              </a:prstGeom>
              <a:blipFill>
                <a:blip r:embed="rId5"/>
                <a:stretch>
                  <a:fillRect l="-602" t="-21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E5AEF79-FF12-9DD3-6452-47B8FD33AF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968" t="4396" r="7268" b="3913"/>
          <a:stretch>
            <a:fillRect/>
          </a:stretch>
        </p:blipFill>
        <p:spPr>
          <a:xfrm>
            <a:off x="2911219" y="5111955"/>
            <a:ext cx="3288323" cy="172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52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6032-5DBE-6CD9-D674-1323BB4B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3E84C531-E5EE-5A2B-5A17-37568FA02163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C0DBA7F4-8E1E-D40D-F10F-5443EEF0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B4F4E7-B395-98A9-8736-9D812D919DA4}"/>
                  </a:ext>
                </a:extLst>
              </p:cNvPr>
              <p:cNvSpPr txBox="1"/>
              <p:nvPr/>
            </p:nvSpPr>
            <p:spPr>
              <a:xfrm>
                <a:off x="0" y="408815"/>
                <a:ext cx="9122484" cy="2053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В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 если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квантиль нормального распределения уровня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ctr">
                  <a:spcAft>
                    <a:spcPts val="6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B4F4E7-B395-98A9-8736-9D812D919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8815"/>
                <a:ext cx="9122484" cy="2053639"/>
              </a:xfrm>
              <a:prstGeom prst="rect">
                <a:avLst/>
              </a:prstGeom>
              <a:blipFill>
                <a:blip r:embed="rId3"/>
                <a:stretch>
                  <a:fillRect l="-535" t="-1484" r="-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21F645D-26EF-7FC3-5B73-D0A8D5258676}"/>
              </a:ext>
            </a:extLst>
          </p:cNvPr>
          <p:cNvSpPr txBox="1"/>
          <p:nvPr/>
        </p:nvSpPr>
        <p:spPr>
          <a:xfrm>
            <a:off x="-1084385" y="24884"/>
            <a:ext cx="11312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Проверка гипотез о параметрах в </a:t>
            </a:r>
            <a:r>
              <a:rPr lang="ru-RU" b="1" dirty="0" err="1"/>
              <a:t>одновыборочной</a:t>
            </a:r>
            <a:r>
              <a:rPr lang="ru-RU" b="1" dirty="0"/>
              <a:t> гауссовской и биномиальных моделях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C70E28-6390-02B7-F880-558FCE934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233" y="2186828"/>
            <a:ext cx="3267531" cy="18576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3755E3-1D2D-EDCF-7377-03056382EA39}"/>
              </a:ext>
            </a:extLst>
          </p:cNvPr>
          <p:cNvSpPr txBox="1"/>
          <p:nvPr/>
        </p:nvSpPr>
        <p:spPr>
          <a:xfrm>
            <a:off x="0" y="4044462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ru-RU" b="1" dirty="0">
                <a:solidFill>
                  <a:srgbClr val="FF0000"/>
                </a:solidFill>
              </a:rPr>
              <a:t>Задача: </a:t>
            </a:r>
            <a:r>
              <a:rPr lang="ru-RU" dirty="0"/>
              <a:t>(о леди, дегустирующей чай) Согласно принятой в Англии традиции чаепития, в чашку следует сначала наливать молоко, а потом – чай. Считается, что настоящая английская леди умеет отличить «правильный» чай от «неправильного». Чтобы выяснить </a:t>
            </a:r>
            <a:r>
              <a:rPr lang="ru-RU" dirty="0" err="1"/>
              <a:t>дегустаторские</a:t>
            </a:r>
            <a:r>
              <a:rPr lang="ru-RU" dirty="0"/>
              <a:t> качества дамы, был проведен следующий эксперимент: в течение 30 дней даме каждый день подавали пару чашек чая, в одну из которых сначала был налит чай, а в другую – молоко. Дама 21 раз верно указала «правильный» чай. Можно ли (на уровне доверия 0.95) считать ее хорошим дегустатором? </a:t>
            </a:r>
          </a:p>
        </p:txBody>
      </p:sp>
    </p:spTree>
    <p:extLst>
      <p:ext uri="{BB962C8B-B14F-4D97-AF65-F5344CB8AC3E}">
        <p14:creationId xmlns:p14="http://schemas.microsoft.com/office/powerpoint/2010/main" val="318866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7972D-75F1-3D2E-1ECA-19356E50F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E589E13E-ACE7-E90E-11A0-9EEA5141C52F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Номер слайда 1">
            <a:extLst>
              <a:ext uri="{FF2B5EF4-FFF2-40B4-BE49-F238E27FC236}">
                <a16:creationId xmlns:a16="http://schemas.microsoft.com/office/drawing/2014/main" id="{D92B104C-29E9-A20F-A528-906CB1CD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9073F-DF7F-5A72-7687-3C5DE0F7EC1C}"/>
              </a:ext>
            </a:extLst>
          </p:cNvPr>
          <p:cNvSpPr txBox="1"/>
          <p:nvPr/>
        </p:nvSpPr>
        <p:spPr>
          <a:xfrm>
            <a:off x="-1084385" y="24884"/>
            <a:ext cx="11312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Проверка гипотез о параметрах в </a:t>
            </a:r>
            <a:r>
              <a:rPr lang="ru-RU" b="1" dirty="0" err="1"/>
              <a:t>одновыборочной</a:t>
            </a:r>
            <a:r>
              <a:rPr lang="ru-RU" b="1" dirty="0"/>
              <a:t> гауссовской и биномиальных моделях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07843C-725F-B369-1E3A-EA4A22E2AC53}"/>
                  </a:ext>
                </a:extLst>
              </p:cNvPr>
              <p:cNvSpPr txBox="1"/>
              <p:nvPr/>
            </p:nvSpPr>
            <p:spPr>
              <a:xfrm>
                <a:off x="-1" y="443984"/>
                <a:ext cx="9144000" cy="6349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Решение: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– вероятность выбора «правильной» чашки чая. Тогда утверждение о том, что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0.5</m:t>
                    </m:r>
                  </m:oMath>
                </a14:m>
                <a:r>
                  <a:rPr lang="ru-RU" dirty="0"/>
                  <a:t> соответствует ситуации, при которой выбор «правильной» чашки осуществляется случайным образом. Если же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&gt; 0.5 </m:t>
                    </m:r>
                  </m:oMath>
                </a14:m>
                <a:r>
                  <a:rPr lang="ru-RU" dirty="0"/>
                  <a:t>то это означает, что выбор чашки основан на каких-то предпочтениях, т.е. неслучаен. Теперь можем провести процедуру проверки гипотезы.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В качестве основной гипотезы следует выбрать простую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= 0.5}, </m:t>
                    </m:r>
                  </m:oMath>
                </a14:m>
                <a:r>
                  <a:rPr lang="ru-RU" dirty="0"/>
                  <a:t>а качестве альтернативной – сложную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&gt;0.5}</m:t>
                    </m:r>
                  </m:oMath>
                </a14:m>
                <a:r>
                  <a:rPr lang="ru-RU" dirty="0"/>
                  <a:t>. </a:t>
                </a: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Пусть уровень значимости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0. 05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ru-RU" dirty="0"/>
                  <a:t>Выберем статистику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42900" indent="-342900" algn="just">
                  <a:buFont typeface="+mj-lt"/>
                  <a:buAutoNum type="arabicPeriod" startAt="4"/>
                </a:pPr>
                <a:r>
                  <a:rPr lang="ru-RU" dirty="0"/>
                  <a:t>Альтернативной гипотезе должны соответствовать большие значения статистики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dirty="0"/>
                  <a:t>, т.е. критическая область расположена справа. Критическая точка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0.95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1. 65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 если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набл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1.65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если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набл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1.65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342900" indent="-342900" algn="just">
                  <a:buFont typeface="+mj-lt"/>
                  <a:buAutoNum type="arabicPeriod" startAt="5"/>
                </a:pPr>
                <a:r>
                  <a:rPr lang="ru-RU" dirty="0"/>
                  <a:t>Вычислим реализацию статистики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набл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30</m:t>
                            </m:r>
                          </m:den>
                        </m:f>
                        <m:r>
                          <a:rPr lang="ru-RU" i="1">
                            <a:latin typeface="Cambria Math" panose="02040503050406030204" pitchFamily="18" charset="0"/>
                          </a:rPr>
                          <m:t>−0.5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0.5⋅</m:t>
                                </m:r>
                                <m:d>
                                  <m:d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1−0.5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0.7−0.5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num>
                              <m:den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0.2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0.0913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ru-RU">
                        <a:latin typeface="Cambria Math" panose="02040503050406030204" pitchFamily="18" charset="0"/>
                      </a:rPr>
                      <m:t>2.19</m:t>
                    </m:r>
                  </m:oMath>
                </a14:m>
                <a:endParaRPr lang="en-US" dirty="0"/>
              </a:p>
              <a:p>
                <a:pPr marL="342900" indent="-342900" algn="just">
                  <a:buFont typeface="+mj-lt"/>
                  <a:buAutoNum type="arabicPeriod" startAt="7"/>
                </a:pPr>
                <a:r>
                  <a:rPr lang="ru-RU" dirty="0"/>
                  <a:t>Реализация статистики попала в критическую область, следовательно,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отвергается. Следовательно, на уровне доверия 0.95 можно считать, что леди – хороший дегустатор.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07843C-725F-B369-1E3A-EA4A22E2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43984"/>
                <a:ext cx="9144000" cy="6349687"/>
              </a:xfrm>
              <a:prstGeom prst="rect">
                <a:avLst/>
              </a:prstGeom>
              <a:blipFill>
                <a:blip r:embed="rId3"/>
                <a:stretch>
                  <a:fillRect l="-533" t="-576" r="-533" b="-6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81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2C81B1-66C4-5B5B-47F4-95FB0D6E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10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5">
                <a:extLst>
                  <a:ext uri="{FF2B5EF4-FFF2-40B4-BE49-F238E27FC236}">
                    <a16:creationId xmlns:a16="http://schemas.microsoft.com/office/drawing/2014/main" id="{A50D98CB-3233-F89A-83C7-7D6B31B2AAD9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>
                  <a:spcBef>
                    <a:spcPts val="300"/>
                  </a:spcBef>
                </a:pPr>
                <a:r>
                  <a:rPr lang="ru-RU" sz="2400" b="1" dirty="0">
                    <a:solidFill>
                      <a:schemeClr val="tx1"/>
                    </a:solidFill>
                  </a:rPr>
                  <a:t>Критерии согласия: критерий Пирсона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ru-R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Прямоугольник 5">
                <a:extLst>
                  <a:ext uri="{FF2B5EF4-FFF2-40B4-BE49-F238E27FC236}">
                    <a16:creationId xmlns:a16="http://schemas.microsoft.com/office/drawing/2014/main" id="{A50D98CB-3233-F89A-83C7-7D6B31B2AA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12676" b="-36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1FD4AC-7616-30E9-03B2-0A79743A4C94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4000" cy="636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Критерий согласия Пирсона позволяет делать вывод о виде распределения</a:t>
                </a:r>
              </a:p>
              <a:p>
                <a:pPr algn="just"/>
                <a:r>
                  <a:rPr lang="ru-RU" dirty="0"/>
                  <a:t>Рассмотрим выборку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из распределения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ℱ.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Проверяется простая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против сложной альтернативы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основывается на группированных данных. Область значений предполагаемого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делят на некоторое число интервалов. После чего  строят функцию отклонения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по разностям теоретических вероятностей попадания в интервалы группировки и эмпирических частот.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pPr algn="just"/>
                <a:endParaRPr lang="en-US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ru-RU" dirty="0">
                    <a:ea typeface="Cambria Math" panose="02040503050406030204" pitchFamily="18" charset="0"/>
                  </a:rPr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интервалы группировки в области значений случайной величины с распределением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. Обозначим для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1,…,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через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число элементов выборки, попавших в интервал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[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и через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&gt;0−</m:t>
                    </m:r>
                  </m:oMath>
                </a14:m>
                <a:r>
                  <a:rPr lang="ru-RU" dirty="0"/>
                  <a:t>теоретическую вероятность попадания в интервал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= [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/>
                  <a:t> случайной величины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с распределением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i="1" dirty="0"/>
                  <a:t>.</a:t>
                </a:r>
                <a:r>
                  <a:rPr lang="ru-RU" i="1" dirty="0"/>
                  <a:t> </a:t>
                </a:r>
                <a:r>
                  <a:rPr lang="ru-RU" dirty="0"/>
                  <a:t>Ожидаемая численность в интервале есть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i="1" dirty="0"/>
                  <a:t>.</a:t>
                </a:r>
                <a:endParaRPr lang="en-US" i="1" dirty="0"/>
              </a:p>
              <a:p>
                <a:r>
                  <a:rPr lang="ru-RU" dirty="0"/>
                  <a:t>Как правило, длины интервалов выбирают так, чтобы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≈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≈ 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ru-RU" b="1" dirty="0">
                    <a:solidFill>
                      <a:srgbClr val="3333FF"/>
                    </a:solidFill>
                  </a:rPr>
                  <a:t>Теорема Пирсона: </a:t>
                </a:r>
                <a:r>
                  <a:rPr lang="ru-RU" dirty="0">
                    <a:solidFill>
                      <a:schemeClr val="tx1"/>
                    </a:solidFill>
                  </a:rPr>
                  <a:t>Если верна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  <m:r>
                          <a:rPr lang="ru-RU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u-RU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то при фиксированном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при</a:t>
                </a:r>
                <a:r>
                  <a:rPr lang="en-US" dirty="0">
                    <a:solidFill>
                      <a:schemeClr val="tx1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ru-RU" dirty="0">
                  <a:solidFill>
                    <a:srgbClr val="3333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1FD4AC-7616-30E9-03B2-0A79743A4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4000" cy="6369564"/>
              </a:xfrm>
              <a:prstGeom prst="rect">
                <a:avLst/>
              </a:prstGeom>
              <a:blipFill>
                <a:blip r:embed="rId3"/>
                <a:stretch>
                  <a:fillRect l="-533" t="-574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143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7719CD73-D72E-BDAF-2924-F33F378666F0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>
                  <a:spcBef>
                    <a:spcPts val="300"/>
                  </a:spcBef>
                </a:pPr>
                <a:r>
                  <a:rPr lang="ru-RU" sz="2400" b="1" dirty="0">
                    <a:solidFill>
                      <a:schemeClr val="tx1"/>
                    </a:solidFill>
                  </a:rPr>
                  <a:t>Критерии согласия: критерий Пирсона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ru-R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7719CD73-D72E-BDAF-2924-F33F378666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3"/>
                <a:stretch>
                  <a:fillRect t="-12676" b="-36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57F0D9-EB64-42A3-3A8D-087203562C46}"/>
                  </a:ext>
                </a:extLst>
              </p:cNvPr>
              <p:cNvSpPr txBox="1"/>
              <p:nvPr/>
            </p:nvSpPr>
            <p:spPr>
              <a:xfrm>
                <a:off x="0" y="395251"/>
                <a:ext cx="9144000" cy="6474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2B8911"/>
                    </a:solidFill>
                  </a:rPr>
                  <a:t>Доказательство для </a:t>
                </a:r>
                <a:r>
                  <a:rPr lang="en-US" b="1" dirty="0">
                    <a:solidFill>
                      <a:srgbClr val="2B8911"/>
                    </a:solidFill>
                  </a:rPr>
                  <a:t>k=2</a:t>
                </a:r>
                <a:r>
                  <a:rPr lang="ru-RU" b="1" dirty="0">
                    <a:solidFill>
                      <a:srgbClr val="2B8911"/>
                    </a:solidFill>
                  </a:rPr>
                  <a:t>:</a:t>
                </a:r>
                <a:r>
                  <a:rPr lang="en-US" b="1" dirty="0">
                    <a:solidFill>
                      <a:srgbClr val="2B8911"/>
                    </a:solidFill>
                  </a:rPr>
                  <a:t> </a:t>
                </a:r>
                <a:r>
                  <a:rPr lang="ru-RU" dirty="0"/>
                  <a:t>Область значений предполагаемого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делим на два интервала, тогда число элементов выборки и вероятности попасть в определенный интервал даются выражениями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r>
                  <a:rPr lang="ru-RU" dirty="0"/>
                  <a:t>Посмотрим, чему будет равняться наша статистика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/>
                  <a:t> 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b="1" dirty="0"/>
                  <a:t> 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это число вариант попавших в первый интервал, поэтому </a:t>
                </a:r>
                <a:r>
                  <a:rPr lang="en-US" dirty="0"/>
                  <a:t>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что является числом успехов из серии испытаний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т.е. мат. ожидание</a:t>
                </a:r>
                <a:r>
                  <a:rPr lang="en-US" dirty="0"/>
                  <a:t> </a:t>
                </a:r>
                <a:r>
                  <a:rPr lang="ru-RU" dirty="0"/>
                  <a:t>есть мат. ожидание биномиальной случайной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дисперсия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По ЦПТ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(0,1)</m:t>
                        </m:r>
                      </m:e>
                    </m:nary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тогда наша статистика есть сумма  квадратов этих нормальных случайных величин 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и ее можно рассматривать как распределение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с одной степенью свободы.</a:t>
                </a:r>
                <a:endParaRPr lang="en-US" dirty="0"/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верна,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имеют распределение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По теореме Пирсона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имеет распределение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с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 степенями свободы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неверна,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имеют какое то распределение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отличное от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Вероятность попадания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ru-RU" dirty="0"/>
                  <a:t> в интервал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будет равна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57F0D9-EB64-42A3-3A8D-087203562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5251"/>
                <a:ext cx="9144000" cy="6474145"/>
              </a:xfrm>
              <a:prstGeom prst="rect">
                <a:avLst/>
              </a:prstGeom>
              <a:blipFill>
                <a:blip r:embed="rId4"/>
                <a:stretch>
                  <a:fillRect l="-533" t="-565" r="-533" b="-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Номер слайда 1">
            <a:extLst>
              <a:ext uri="{FF2B5EF4-FFF2-40B4-BE49-F238E27FC236}">
                <a16:creationId xmlns:a16="http://schemas.microsoft.com/office/drawing/2014/main" id="{BC88A627-ADE1-30F2-40AD-0380BBC4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4582"/>
            <a:ext cx="2057400" cy="365125"/>
          </a:xfrm>
        </p:spPr>
        <p:txBody>
          <a:bodyPr/>
          <a:lstStyle/>
          <a:p>
            <a:fld id="{CC173F88-3387-453B-9303-AC0210B95CB8}" type="slidenum">
              <a:rPr lang="ru-RU" sz="110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 sz="1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46942B8C-C318-40C9-97B2-3F050A489C08}"/>
                  </a:ext>
                </a:extLst>
              </p14:cNvPr>
              <p14:cNvContentPartPr/>
              <p14:nvPr/>
            </p14:nvContentPartPr>
            <p14:xfrm>
              <a:off x="-1668660" y="1691340"/>
              <a:ext cx="270000" cy="6444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46942B8C-C318-40C9-97B2-3F050A489C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674780" y="1685220"/>
                <a:ext cx="2822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82989CBD-DD76-924F-D57E-D367243BCC7C}"/>
                  </a:ext>
                </a:extLst>
              </p14:cNvPr>
              <p14:cNvContentPartPr/>
              <p14:nvPr/>
            </p14:nvContentPartPr>
            <p14:xfrm>
              <a:off x="-1655340" y="1721940"/>
              <a:ext cx="257040" cy="49788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82989CBD-DD76-924F-D57E-D367243BCC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661460" y="1715820"/>
                <a:ext cx="26928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3A40103A-7D2F-1422-BE4E-234A597E3DB5}"/>
                  </a:ext>
                </a:extLst>
              </p14:cNvPr>
              <p14:cNvContentPartPr/>
              <p14:nvPr/>
            </p14:nvContentPartPr>
            <p14:xfrm>
              <a:off x="-1509180" y="2354460"/>
              <a:ext cx="51840" cy="7668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3A40103A-7D2F-1422-BE4E-234A597E3D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515300" y="2348340"/>
                <a:ext cx="640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6DCE0701-550E-B070-2420-5B294240406F}"/>
                  </a:ext>
                </a:extLst>
              </p14:cNvPr>
              <p14:cNvContentPartPr/>
              <p14:nvPr/>
            </p14:nvContentPartPr>
            <p14:xfrm>
              <a:off x="-1516380" y="2267700"/>
              <a:ext cx="7920" cy="360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6DCE0701-550E-B070-2420-5B294240406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1522500" y="2261580"/>
                <a:ext cx="2016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92B7C584-8452-01A2-ABF9-275523A3AD1D}"/>
                  </a:ext>
                </a:extLst>
              </p14:cNvPr>
              <p14:cNvContentPartPr/>
              <p14:nvPr/>
            </p14:nvContentPartPr>
            <p14:xfrm>
              <a:off x="-1148100" y="1951980"/>
              <a:ext cx="142920" cy="21240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92B7C584-8452-01A2-ABF9-275523A3AD1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154220" y="1945860"/>
                <a:ext cx="1551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25191B29-534F-F641-2D12-CB6A68224078}"/>
                  </a:ext>
                </a:extLst>
              </p14:cNvPr>
              <p14:cNvContentPartPr/>
              <p14:nvPr/>
            </p14:nvContentPartPr>
            <p14:xfrm>
              <a:off x="-927420" y="2133420"/>
              <a:ext cx="57600" cy="9108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25191B29-534F-F641-2D12-CB6A6822407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933540" y="2127300"/>
                <a:ext cx="698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82895D94-9BC2-CA04-276F-F21D12917CEE}"/>
                  </a:ext>
                </a:extLst>
              </p14:cNvPr>
              <p14:cNvContentPartPr/>
              <p14:nvPr/>
            </p14:nvContentPartPr>
            <p14:xfrm>
              <a:off x="-929940" y="2019300"/>
              <a:ext cx="360" cy="36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82895D94-9BC2-CA04-276F-F21D12917CE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936060" y="20131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340767EB-26CF-8C03-D7E8-F39C0B44E521}"/>
                  </a:ext>
                </a:extLst>
              </p14:cNvPr>
              <p14:cNvContentPartPr/>
              <p14:nvPr/>
            </p14:nvContentPartPr>
            <p14:xfrm>
              <a:off x="-784860" y="2079780"/>
              <a:ext cx="28440" cy="3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340767EB-26CF-8C03-D7E8-F39C0B44E52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790980" y="2073660"/>
                <a:ext cx="40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BBEA5E4A-4660-E231-1290-5A0D99583D09}"/>
                  </a:ext>
                </a:extLst>
              </p14:cNvPr>
              <p14:cNvContentPartPr/>
              <p14:nvPr/>
            </p14:nvContentPartPr>
            <p14:xfrm>
              <a:off x="-800340" y="2155020"/>
              <a:ext cx="100080" cy="936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BBEA5E4A-4660-E231-1290-5A0D99583D0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-806460" y="2148900"/>
                <a:ext cx="1123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A69736FD-132E-3E28-33D9-481536CB01D9}"/>
                  </a:ext>
                </a:extLst>
              </p14:cNvPr>
              <p14:cNvContentPartPr/>
              <p14:nvPr/>
            </p14:nvContentPartPr>
            <p14:xfrm>
              <a:off x="-639060" y="2011380"/>
              <a:ext cx="99000" cy="17856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A69736FD-132E-3E28-33D9-481536CB01D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-645180" y="2005260"/>
                <a:ext cx="111240" cy="19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3294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B8F8AA-356D-9E9B-4D2A-169B47D7F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12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E22C98CB-066D-3542-F10A-75A3F3BC736B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>
                  <a:spcBef>
                    <a:spcPts val="300"/>
                  </a:spcBef>
                </a:pPr>
                <a:r>
                  <a:rPr lang="ru-RU" sz="2400" b="1" dirty="0">
                    <a:solidFill>
                      <a:schemeClr val="tx1"/>
                    </a:solidFill>
                  </a:rPr>
                  <a:t>Критерии согласия: критерий Пирсона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ru-R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E22C98CB-066D-3542-F10A-75A3F3BC73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12676" b="-36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558B20-5604-8C83-094A-86D18A0F425A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4000" cy="5646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dirty="0"/>
                  <a:t>По ЗБЧ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r>
                  <a:rPr lang="ru-RU" dirty="0"/>
                  <a:t>Тогда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ru-RU" dirty="0"/>
                  <a:t> наша статистика будет сходится к бесконечности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ru-RU" dirty="0"/>
                  <a:t>, что позволяет строить критерий согласия</a:t>
                </a:r>
                <a:r>
                  <a:rPr lang="en-US" dirty="0"/>
                  <a:t>.</a:t>
                </a:r>
                <a:endParaRPr lang="ru-RU" dirty="0"/>
              </a:p>
              <a:p>
                <a:pPr algn="just"/>
                <a:r>
                  <a:rPr lang="ru-RU" dirty="0"/>
                  <a:t>Пусть случайная величина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dirty="0"/>
                  <a:t>. По таблице распределения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− 1 </m:t>
                    </m:r>
                  </m:oMath>
                </a14:m>
                <a:r>
                  <a:rPr lang="ru-RU" dirty="0"/>
                  <a:t>степенями свободы найдем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равное квантили уровня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этого распределения. Тогда</a:t>
                </a:r>
                <a:r>
                  <a:rPr lang="en-US" dirty="0"/>
                  <a:t>                      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ru-RU" dirty="0"/>
                  <a:t>и критерий согласия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выглядит как </a:t>
                </a:r>
                <a:r>
                  <a:rPr lang="en-US" dirty="0"/>
                  <a:t> </a:t>
                </a:r>
                <a:r>
                  <a:rPr lang="ru-RU" dirty="0"/>
                  <a:t>все критерии согласия:</a:t>
                </a:r>
                <a:endParaRPr lang="en-US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если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если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Замечание</a:t>
                </a:r>
                <a:r>
                  <a:rPr lang="ru-RU" dirty="0"/>
                  <a:t>. На самом деле критерий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, который мы построим по функции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</m:oMath>
                </a14:m>
                <a:r>
                  <a:rPr lang="ru-RU" dirty="0"/>
                  <a:t>, решает совсем иную задачу. А именно, пусть задан набор вероятностей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 такой, что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dirty="0"/>
                  <a:t>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предназначен для проверки сложной гипотезы</a:t>
                </a:r>
                <a:r>
                  <a:rPr lang="en-US" dirty="0"/>
                  <a:t>                                                             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обладает свойством: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для всех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против сложной альтернативы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неверна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, т.е.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</m:oMath>
                </a14:m>
                <a:r>
                  <a:rPr lang="ru-RU" dirty="0"/>
                  <a:t> хотя бы для одного из интервалов вероятность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 отличается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}</a:t>
                </a:r>
                <a:r>
                  <a:rPr lang="en-US" dirty="0"/>
                  <a:t>. </a:t>
                </a:r>
                <a:r>
                  <a:rPr lang="ru-RU" dirty="0"/>
                  <a:t>Таким образом критерий проверяет не то, что распределение имеет вид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, а то, что вероятности для исследуемой случайной величины и для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попасть в заданные интервалы одинаковы.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558B20-5604-8C83-094A-86D18A0F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4000" cy="5646995"/>
              </a:xfrm>
              <a:prstGeom prst="rect">
                <a:avLst/>
              </a:prstGeom>
              <a:blipFill>
                <a:blip r:embed="rId3"/>
                <a:stretch>
                  <a:fillRect l="-3667" t="-6479" r="-533" b="-8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686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C28ED3-040A-81C5-0412-CCBED422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13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76EDD52B-62DD-8578-42C5-691FE2D639B7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>
                  <a:spcBef>
                    <a:spcPts val="300"/>
                  </a:spcBef>
                </a:pPr>
                <a:r>
                  <a:rPr lang="ru-RU" sz="2400" b="1" dirty="0">
                    <a:solidFill>
                      <a:schemeClr val="tx1"/>
                    </a:solidFill>
                  </a:rPr>
                  <a:t>Критерии согласия: критерий Пирсона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ru-R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76EDD52B-62DD-8578-42C5-691FE2D63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12676" b="-36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F5CD0C-A32B-10EE-46DC-C0C061B72A45}"/>
                  </a:ext>
                </a:extLst>
              </p:cNvPr>
              <p:cNvSpPr txBox="1"/>
              <p:nvPr/>
            </p:nvSpPr>
            <p:spPr>
              <a:xfrm>
                <a:off x="0" y="1287999"/>
                <a:ext cx="9055100" cy="4193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На самом деле 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 применяют и для решения первоначальной  задачи о проверке 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}. </m:t>
                    </m:r>
                  </m:oMath>
                </a14:m>
                <a:r>
                  <a:rPr lang="ru-RU" dirty="0"/>
                  <a:t>Необходимо только помнить, что этот критерий не состоятелен для альтернатив с теми же вероятностями попадания в интервалы разбиения, что и 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. Поэтому берут большое число интервалов разбиения — чем больше, тем лучше, чтобы «уменьшить» число альтернатив, неразличимых с предполагаемым распределением. </a:t>
                </a:r>
              </a:p>
              <a:p>
                <a:pPr algn="just"/>
                <a:endParaRPr lang="ru-RU" dirty="0"/>
              </a:p>
              <a:p>
                <a:pPr algn="just"/>
                <a:r>
                  <a:rPr lang="ru-RU" dirty="0"/>
                  <a:t>Но сходимость по распределению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dirty="0"/>
                  <a:t> обеспечивается ЦПТ</a:t>
                </a:r>
                <a:r>
                  <a:rPr lang="en-US" dirty="0"/>
                  <a:t>.</a:t>
                </a:r>
                <a:r>
                  <a:rPr lang="ru-RU" dirty="0"/>
                  <a:t> Нельзя, чтобы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были маленькими!!! Маленькие значения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в знаменателе приведут к тому, что распределение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</m:oMath>
                </a14:m>
                <a:r>
                  <a:rPr lang="ru-RU" dirty="0"/>
                  <a:t> будет 𝑖 ρ(𝑋 → ) существенно отличаться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dirty="0"/>
                  <a:t>. Тогда и реальная вероятность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точный размер полученного критерия — будет сильно отличаться от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. Поэтому для выборки объема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число интервалов разбиения выбирают так, чтобы обеспечить нужную точность при замене</a:t>
                </a:r>
                <a:r>
                  <a:rPr lang="en-US" dirty="0"/>
                  <a:t> </a:t>
                </a:r>
                <a:r>
                  <a:rPr lang="ru-RU" dirty="0"/>
                  <a:t> распределения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Обычно требуют, чтобы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…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были не менее 5-6.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F5CD0C-A32B-10EE-46DC-C0C061B7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87999"/>
                <a:ext cx="9055100" cy="4193712"/>
              </a:xfrm>
              <a:prstGeom prst="rect">
                <a:avLst/>
              </a:prstGeom>
              <a:blipFill>
                <a:blip r:embed="rId3"/>
                <a:stretch>
                  <a:fillRect l="-539" t="-727" r="-539" b="-14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6275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74D1-E4E1-7ED6-9881-B8F0A0F92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8E514F-5B96-7687-807E-FB0EBE3C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14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1EEBC4A5-F256-CC46-CFD4-FD113E138D3F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just">
                  <a:spcBef>
                    <a:spcPts val="300"/>
                  </a:spcBef>
                </a:pPr>
                <a:r>
                  <a:rPr lang="ru-RU" sz="2200" b="1" dirty="0">
                    <a:solidFill>
                      <a:schemeClr val="tx1"/>
                    </a:solidFill>
                  </a:rPr>
                  <a:t>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ru-RU" sz="2200" b="1" dirty="0">
                    <a:solidFill>
                      <a:schemeClr val="tx1"/>
                    </a:solidFill>
                  </a:rPr>
                  <a:t> Пирсона для проверки  параметрической гипотезы</a:t>
                </a: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1EEBC4A5-F256-CC46-CFD4-FD113E138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7042" b="-295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8FA4BD-C08A-E1BC-BA03-7718D82F86F7}"/>
                  </a:ext>
                </a:extLst>
              </p:cNvPr>
              <p:cNvSpPr txBox="1"/>
              <p:nvPr/>
            </p:nvSpPr>
            <p:spPr>
              <a:xfrm>
                <a:off x="0" y="791339"/>
                <a:ext cx="9144000" cy="47261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часто применяют для проверки гипотезы о виде распределения, т.е. о принадлежности распределения выборки некоторому параметрическому семейству.</a:t>
                </a:r>
                <a:r>
                  <a:rPr lang="en-US" dirty="0"/>
                  <a:t> </a:t>
                </a:r>
                <a:r>
                  <a:rPr lang="ru-RU" dirty="0"/>
                  <a:t>Т. е. проверяется не простая гипотеза о том, что выборка имеет распределение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а сложную гипотезу о том, что выборка имеет нормальное распределение с неизвестными параметрами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Имеется выборка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из неизвестного распределения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ru-RU" dirty="0"/>
                  <a:t>. Проверяется сложная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где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ru-RU" dirty="0"/>
                  <a:t> — неизвестный параметр (скалярный или векторный),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— его размерность.</a:t>
                </a:r>
                <a:endParaRPr lang="en-US" dirty="0"/>
              </a:p>
              <a:p>
                <a:pPr algn="just"/>
                <a:r>
                  <a:rPr lang="ru-RU" dirty="0"/>
                  <a:t>Пусть ℝ разбито на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интервалов группировки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r>
                  <a:rPr lang="en-US" dirty="0"/>
                  <a:t>. </a:t>
                </a:r>
                <a:r>
                  <a:rPr lang="ru-RU" dirty="0"/>
                  <a:t>Но вероятность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теперь зависит от неизвестного параметра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. Функция отклонения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</m:oMath>
                </a14:m>
                <a:r>
                  <a:rPr lang="ru-RU" dirty="0"/>
                  <a:t> </a:t>
                </a:r>
                <a:r>
                  <a:rPr lang="en-US" dirty="0"/>
                  <a:t> </a:t>
                </a:r>
                <a:r>
                  <a:rPr lang="ru-RU" dirty="0"/>
                  <a:t>также зависит </a:t>
                </a:r>
                <a:r>
                  <a:rPr lang="en-US" dirty="0"/>
                  <a:t> </a:t>
                </a:r>
                <a:r>
                  <a:rPr lang="ru-RU" dirty="0"/>
                  <a:t>от неизвестного параметра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и использовать ее в критерии Пирсона нельзя — мы не можем вычислить ее значение:</a:t>
                </a:r>
                <a:endParaRPr lang="en-US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p>
                                      </m:sSub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Распределение перестает быть распределением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 с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 степенью свободы.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8FA4BD-C08A-E1BC-BA03-7718D82F8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91339"/>
                <a:ext cx="9144000" cy="4726166"/>
              </a:xfrm>
              <a:prstGeom prst="rect">
                <a:avLst/>
              </a:prstGeom>
              <a:blipFill>
                <a:blip r:embed="rId3"/>
                <a:stretch>
                  <a:fillRect l="-533" t="-774" r="-533" b="-11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3808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64DC06-6472-E44E-C110-57B8904E9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15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299CB0AC-A872-EFD7-818F-68A27ABCD213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just">
                  <a:spcBef>
                    <a:spcPts val="300"/>
                  </a:spcBef>
                </a:pPr>
                <a:r>
                  <a:rPr lang="ru-RU" sz="2200" b="1" dirty="0">
                    <a:solidFill>
                      <a:schemeClr val="tx1"/>
                    </a:solidFill>
                  </a:rPr>
                  <a:t>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ru-RU" sz="2200" b="1" dirty="0">
                    <a:solidFill>
                      <a:schemeClr val="tx1"/>
                    </a:solidFill>
                  </a:rPr>
                  <a:t> Пирсона для проверки  параметрической гипотезы</a:t>
                </a: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299CB0AC-A872-EFD7-818F-68A27ABCD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7042" b="-295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1DDDE4-2441-A286-0FFF-ED02079BF9E7}"/>
                  </a:ext>
                </a:extLst>
              </p:cNvPr>
              <p:cNvSpPr txBox="1"/>
              <p:nvPr/>
            </p:nvSpPr>
            <p:spPr>
              <a:xfrm>
                <a:off x="0" y="1962856"/>
                <a:ext cx="9144000" cy="3721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Теорема Фишера:</a:t>
                </a:r>
                <a:r>
                  <a:rPr lang="en-US" b="1" dirty="0">
                    <a:solidFill>
                      <a:srgbClr val="3333FF"/>
                    </a:solidFill>
                  </a:rPr>
                  <a:t> </a:t>
                </a:r>
                <a:r>
                  <a:rPr lang="ru-RU" dirty="0"/>
                  <a:t>Если верна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ru-RU" dirty="0"/>
                  <a:t>, 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—</a:t>
                </a:r>
                <a:r>
                  <a:rPr lang="en-US" dirty="0"/>
                  <a:t> </a:t>
                </a:r>
                <a:r>
                  <a:rPr lang="ru-RU" dirty="0"/>
                  <a:t>размерность параметра (вектора)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сколько переменных приходится оценивать по выборке</a:t>
                </a:r>
                <a:r>
                  <a:rPr lang="en-US" dirty="0"/>
                  <a:t>)</a:t>
                </a:r>
                <a:r>
                  <a:rPr lang="ru-RU" dirty="0"/>
                  <a:t>, </a:t>
                </a:r>
                <a:r>
                  <a:rPr lang="en-US" dirty="0"/>
                  <a:t> </a:t>
                </a:r>
                <a:r>
                  <a:rPr lang="ru-RU" dirty="0"/>
                  <a:t>то при фиксированном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и при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→∞ </m:t>
                    </m:r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dirty="0"/>
                  <a:t> есть распределение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с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/>
                  <a:t> степенями свободы</a:t>
                </a:r>
              </a:p>
              <a:p>
                <a:pPr algn="just"/>
                <a:endParaRPr lang="ru-RU" dirty="0"/>
              </a:p>
              <a:p>
                <a:pPr algn="just"/>
                <a:r>
                  <a:rPr lang="ru-RU" dirty="0"/>
                  <a:t>Построим 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Пусть случайная величина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dirty="0"/>
                  <a:t>. По заданному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 найдем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такое, что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ru-RU" dirty="0"/>
                  <a:t> и критерий согласия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выглядит как все критерии согласия: </a:t>
                </a:r>
              </a:p>
              <a:p>
                <a:pPr algn="just"/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1DDDE4-2441-A286-0FFF-ED02079BF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62856"/>
                <a:ext cx="9144000" cy="3721532"/>
              </a:xfrm>
              <a:prstGeom prst="rect">
                <a:avLst/>
              </a:prstGeom>
              <a:blipFill>
                <a:blip r:embed="rId3"/>
                <a:stretch>
                  <a:fillRect l="-533" t="-984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A1FBD9-BFDD-F6D9-B562-77D24E27B1D6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4000" cy="1543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— значение параметра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dirty="0"/>
                  <a:t>, доставляющее минимум функции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dirty="0"/>
                  <a:t> при данной выборке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dirty="0"/>
                  <a:t>. Подставив вместо истинных вероятностей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их оценки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получим функцию отклонения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A1FBD9-BFDD-F6D9-B562-77D24E27B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4000" cy="1543756"/>
              </a:xfrm>
              <a:prstGeom prst="rect">
                <a:avLst/>
              </a:prstGeom>
              <a:blipFill>
                <a:blip r:embed="rId4"/>
                <a:stretch>
                  <a:fillRect l="-533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451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E60928-9231-B1A2-883E-449D4F220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16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29460C37-E029-2AFB-EB83-3F826C1F0089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just">
                  <a:spcBef>
                    <a:spcPts val="300"/>
                  </a:spcBef>
                </a:pPr>
                <a:r>
                  <a:rPr lang="ru-RU" sz="2200" b="1" dirty="0">
                    <a:solidFill>
                      <a:schemeClr val="tx1"/>
                    </a:solidFill>
                  </a:rPr>
                  <a:t>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ru-RU" sz="2200" b="1" dirty="0">
                    <a:solidFill>
                      <a:schemeClr val="tx1"/>
                    </a:solidFill>
                  </a:rPr>
                  <a:t> Пирсона для проверки  параметрической гипотезы</a:t>
                </a: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29460C37-E029-2AFB-EB83-3F826C1F0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7042" b="-295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257DE5-0862-D7D2-6B30-FE06F7A9F1FB}"/>
                  </a:ext>
                </a:extLst>
              </p:cNvPr>
              <p:cNvSpPr txBox="1"/>
              <p:nvPr/>
            </p:nvSpPr>
            <p:spPr>
              <a:xfrm>
                <a:off x="0" y="419100"/>
                <a:ext cx="9144000" cy="5530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Пример: </a:t>
                </a:r>
                <a:r>
                  <a:rPr lang="ru-RU" dirty="0"/>
                  <a:t>По данной выборке принять или отвергнуть гипотезу о нормальном распределении выборки с уровнем значимости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0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r>
                  <a:rPr lang="ru-RU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algn="just"/>
                <a:endParaRPr lang="en-US" dirty="0"/>
              </a:p>
              <a:p>
                <a:pPr algn="just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[</a:t>
                </a:r>
                <a:r>
                  <a:rPr lang="ru-RU" dirty="0">
                    <a:solidFill>
                      <a:schemeClr val="tx1"/>
                    </a:solidFill>
                  </a:rPr>
                  <a:t>0.4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-1.91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-1.6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5.47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0.72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2.24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-0.55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-0.43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0.93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-1.13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0.09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0.83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3.46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:r>
                  <a:rPr lang="ru-RU" b="1" dirty="0">
                    <a:solidFill>
                      <a:srgbClr val="3333FF"/>
                    </a:solidFill>
                  </a:rPr>
                  <a:t>6.64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-1.3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2.96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2.89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1.04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-1.44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-3.45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-1.92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3.14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5.38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0.41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0.25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1.04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-1.42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-0.19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:r>
                  <a:rPr lang="ru-RU" b="1" dirty="0">
                    <a:solidFill>
                      <a:srgbClr val="FF0000"/>
                    </a:solidFill>
                  </a:rPr>
                  <a:t>-5.27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1.43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-1.66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1.67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-0.24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3.64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-1.89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1.7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1.44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4.23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1.57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2.06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2.1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5.56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2.84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-0.54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2.3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1.72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0.11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-0.42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-1.18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ru-RU" dirty="0">
                    <a:solidFill>
                      <a:schemeClr val="tx1"/>
                    </a:solidFill>
                  </a:rPr>
                  <a:t> 2.87</a:t>
                </a:r>
                <a:r>
                  <a:rPr lang="en-US" dirty="0">
                    <a:solidFill>
                      <a:schemeClr val="tx1"/>
                    </a:solidFill>
                  </a:rPr>
                  <a:t>]</a:t>
                </a:r>
              </a:p>
              <a:p>
                <a:pPr algn="just"/>
                <a:r>
                  <a:rPr lang="ru-RU" dirty="0"/>
                  <a:t>Проверяется сложная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где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— неизвестный </a:t>
                </a:r>
                <a:r>
                  <a:rPr lang="ru-RU" dirty="0">
                    <a:solidFill>
                      <a:schemeClr val="tx1"/>
                    </a:solidFill>
                  </a:rPr>
                  <a:t>параметр размерности 2. Выберем минимальное и максимальное значение по выборке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𝒎𝒊𝒏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𝟐𝟕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func>
                          <m:funcPr>
                            <m:ctrlPr>
                              <a:rPr lang="en-US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fName>
                          <m:e>
                            <m:r>
                              <a:rPr lang="en-US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sub>
                    </m:sSub>
                    <m:r>
                      <a:rPr lang="en-US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𝟔𝟒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выборочное среднее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=0.932</m:t>
                    </m:r>
                    <m: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=6.49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</a:t>
                </a:r>
                <a:r>
                  <a:rPr lang="ru-RU" dirty="0"/>
                  <a:t>стандартное отклонение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r>
                  <a:rPr lang="ru-RU" dirty="0">
                    <a:solidFill>
                      <a:schemeClr val="tx1"/>
                    </a:solidFill>
                  </a:rPr>
                  <a:t>Делим область на 6 интервалов 	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func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=1.985≈2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ru-RU" dirty="0"/>
                  <a:t>Посчитаем, сколько наблюдений попадает в каждый интервал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∈[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]}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rad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rad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ΔΦ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257DE5-0862-D7D2-6B30-FE06F7A9F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9100"/>
                <a:ext cx="9144000" cy="5530360"/>
              </a:xfrm>
              <a:prstGeom prst="rect">
                <a:avLst/>
              </a:prstGeom>
              <a:blipFill>
                <a:blip r:embed="rId3"/>
                <a:stretch>
                  <a:fillRect l="-533" t="-662" r="-533" b="-72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013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A0EC82-388D-6E1E-8BAD-A1AF2E0A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17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34E2C153-A063-D470-9FAD-4FC5C7DF7378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just">
                  <a:spcBef>
                    <a:spcPts val="300"/>
                  </a:spcBef>
                </a:pPr>
                <a:r>
                  <a:rPr lang="ru-RU" sz="2200" b="1" dirty="0">
                    <a:solidFill>
                      <a:schemeClr val="tx1"/>
                    </a:solidFill>
                  </a:rPr>
                  <a:t>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ru-RU" sz="2200" b="1" dirty="0">
                    <a:solidFill>
                      <a:schemeClr val="tx1"/>
                    </a:solidFill>
                  </a:rPr>
                  <a:t> Пирсона для проверки  параметрической гипотезы</a:t>
                </a:r>
              </a:p>
            </p:txBody>
          </p:sp>
        </mc:Choice>
        <mc:Fallback xmlns="">
          <p:sp>
            <p:nvSpPr>
              <p:cNvPr id="5" name="Прямоугольник 5">
                <a:extLst>
                  <a:ext uri="{FF2B5EF4-FFF2-40B4-BE49-F238E27FC236}">
                    <a16:creationId xmlns:a16="http://schemas.microsoft.com/office/drawing/2014/main" id="{34E2C153-A063-D470-9FAD-4FC5C7DF7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2"/>
                <a:stretch>
                  <a:fillRect t="-7042" b="-295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D14CEED-3231-3B7D-D2F4-575CE40D67B1}"/>
              </a:ext>
            </a:extLst>
          </p:cNvPr>
          <p:cNvSpPr txBox="1"/>
          <p:nvPr/>
        </p:nvSpPr>
        <p:spPr>
          <a:xfrm>
            <a:off x="0" y="419100"/>
            <a:ext cx="914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Заполним сводную таблицу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C428FF28-6472-1A05-259C-101B831557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882543"/>
                  </p:ext>
                </p:extLst>
              </p:nvPr>
            </p:nvGraphicFramePr>
            <p:xfrm>
              <a:off x="126999" y="838201"/>
              <a:ext cx="8889999" cy="42266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1395">
                      <a:extLst>
                        <a:ext uri="{9D8B030D-6E8A-4147-A177-3AD203B41FA5}">
                          <a16:colId xmlns:a16="http://schemas.microsoft.com/office/drawing/2014/main" val="3237763630"/>
                        </a:ext>
                      </a:extLst>
                    </a:gridCol>
                    <a:gridCol w="1204536">
                      <a:extLst>
                        <a:ext uri="{9D8B030D-6E8A-4147-A177-3AD203B41FA5}">
                          <a16:colId xmlns:a16="http://schemas.microsoft.com/office/drawing/2014/main" val="2196382177"/>
                        </a:ext>
                      </a:extLst>
                    </a:gridCol>
                    <a:gridCol w="929587">
                      <a:extLst>
                        <a:ext uri="{9D8B030D-6E8A-4147-A177-3AD203B41FA5}">
                          <a16:colId xmlns:a16="http://schemas.microsoft.com/office/drawing/2014/main" val="3349496223"/>
                        </a:ext>
                      </a:extLst>
                    </a:gridCol>
                    <a:gridCol w="1165257">
                      <a:extLst>
                        <a:ext uri="{9D8B030D-6E8A-4147-A177-3AD203B41FA5}">
                          <a16:colId xmlns:a16="http://schemas.microsoft.com/office/drawing/2014/main" val="3328354370"/>
                        </a:ext>
                      </a:extLst>
                    </a:gridCol>
                    <a:gridCol w="1425475">
                      <a:extLst>
                        <a:ext uri="{9D8B030D-6E8A-4147-A177-3AD203B41FA5}">
                          <a16:colId xmlns:a16="http://schemas.microsoft.com/office/drawing/2014/main" val="1020080286"/>
                        </a:ext>
                      </a:extLst>
                    </a:gridCol>
                    <a:gridCol w="1111250">
                      <a:extLst>
                        <a:ext uri="{9D8B030D-6E8A-4147-A177-3AD203B41FA5}">
                          <a16:colId xmlns:a16="http://schemas.microsoft.com/office/drawing/2014/main" val="3704331708"/>
                        </a:ext>
                      </a:extLst>
                    </a:gridCol>
                    <a:gridCol w="906674">
                      <a:extLst>
                        <a:ext uri="{9D8B030D-6E8A-4147-A177-3AD203B41FA5}">
                          <a16:colId xmlns:a16="http://schemas.microsoft.com/office/drawing/2014/main" val="3827488127"/>
                        </a:ext>
                      </a:extLst>
                    </a:gridCol>
                    <a:gridCol w="1315825">
                      <a:extLst>
                        <a:ext uri="{9D8B030D-6E8A-4147-A177-3AD203B41FA5}">
                          <a16:colId xmlns:a16="http://schemas.microsoft.com/office/drawing/2014/main" val="428373207"/>
                        </a:ext>
                      </a:extLst>
                    </a:gridCol>
                  </a:tblGrid>
                  <a:tr h="6126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3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3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13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3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3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3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3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3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3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d>
                                  <m:dPr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3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3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3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3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3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13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1300" b="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rad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1" i="1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1" i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𝐩</m:t>
                                    </m:r>
                                  </m:e>
                                  <m:sub>
                                    <m:r>
                                      <a:rPr lang="en-US" sz="1300" b="1" i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𝐢</m:t>
                                    </m:r>
                                  </m:sub>
                                </m:sSub>
                                <m:r>
                                  <a:rPr lang="en-US" sz="1300" b="1" i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300" b="1" i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𝚫𝚽</m:t>
                                </m:r>
                              </m:oMath>
                            </m:oMathPara>
                          </a14:m>
                          <a:endParaRPr lang="ru-RU" sz="1300" b="1" dirty="0">
                            <a:solidFill>
                              <a:srgbClr val="3333FF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>
                                  <m:sSubPr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3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3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𝜈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3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13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3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3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en-US" sz="13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3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634216"/>
                      </a:ext>
                    </a:extLst>
                  </a:tr>
                  <a:tr h="404774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i="1" u="none" strike="noStrike" kern="1200" baseline="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ru-RU" sz="1300" b="0" i="1" u="none" strike="noStrike" kern="1200" baseline="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 b="0" i="1" u="none" strike="noStrike" kern="1200" baseline="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ru-RU" sz="1300" b="0" i="1" u="none" strike="noStrike" kern="1200" baseline="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-0.5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0427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135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0085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346271"/>
                      </a:ext>
                    </a:extLst>
                  </a:tr>
                  <a:tr h="4047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.7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4573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1440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0889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0984189"/>
                      </a:ext>
                    </a:extLst>
                  </a:tr>
                  <a:tr h="4047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3133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2894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47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0153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3509223"/>
                      </a:ext>
                    </a:extLst>
                  </a:tr>
                  <a:tr h="4047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.06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0239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3062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31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1121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5784194"/>
                      </a:ext>
                    </a:extLst>
                  </a:tr>
                  <a:tr h="4047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0.78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2823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1640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0049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9474870"/>
                      </a:ext>
                    </a:extLst>
                  </a:tr>
                  <a:tr h="4047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300" b="0" i="1" u="none" strike="noStrike" kern="1200" baseline="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1.61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4463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0537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685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6440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5514448"/>
                      </a:ext>
                    </a:extLst>
                  </a:tr>
                  <a:tr h="476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300" b="0" i="1" u="none" strike="noStrike" kern="1200" baseline="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300" b="0" i="1" u="none" strike="noStrike" kern="1200" baseline="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=50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sz="13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ru-RU" sz="1300" b="0" i="0" u="none" strike="noStrike" kern="1200" baseline="0" smtClean="0">
                                        <a:solidFill>
                                          <a:schemeClr val="dk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300" b="0" i="0" u="none" strike="noStrike" kern="1200" baseline="0" smtClean="0">
                                        <a:solidFill>
                                          <a:schemeClr val="dk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.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ru-RU" sz="1300" b="0" i="0" u="none" strike="noStrike" kern="1200" baseline="0" smtClean="0">
                                        <a:solidFill>
                                          <a:schemeClr val="dk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8937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365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C428FF28-6472-1A05-259C-101B831557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882543"/>
                  </p:ext>
                </p:extLst>
              </p:nvPr>
            </p:nvGraphicFramePr>
            <p:xfrm>
              <a:off x="126999" y="838201"/>
              <a:ext cx="8889999" cy="42266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1395">
                      <a:extLst>
                        <a:ext uri="{9D8B030D-6E8A-4147-A177-3AD203B41FA5}">
                          <a16:colId xmlns:a16="http://schemas.microsoft.com/office/drawing/2014/main" val="3237763630"/>
                        </a:ext>
                      </a:extLst>
                    </a:gridCol>
                    <a:gridCol w="1204536">
                      <a:extLst>
                        <a:ext uri="{9D8B030D-6E8A-4147-A177-3AD203B41FA5}">
                          <a16:colId xmlns:a16="http://schemas.microsoft.com/office/drawing/2014/main" val="2196382177"/>
                        </a:ext>
                      </a:extLst>
                    </a:gridCol>
                    <a:gridCol w="929587">
                      <a:extLst>
                        <a:ext uri="{9D8B030D-6E8A-4147-A177-3AD203B41FA5}">
                          <a16:colId xmlns:a16="http://schemas.microsoft.com/office/drawing/2014/main" val="3349496223"/>
                        </a:ext>
                      </a:extLst>
                    </a:gridCol>
                    <a:gridCol w="1165257">
                      <a:extLst>
                        <a:ext uri="{9D8B030D-6E8A-4147-A177-3AD203B41FA5}">
                          <a16:colId xmlns:a16="http://schemas.microsoft.com/office/drawing/2014/main" val="3328354370"/>
                        </a:ext>
                      </a:extLst>
                    </a:gridCol>
                    <a:gridCol w="1425475">
                      <a:extLst>
                        <a:ext uri="{9D8B030D-6E8A-4147-A177-3AD203B41FA5}">
                          <a16:colId xmlns:a16="http://schemas.microsoft.com/office/drawing/2014/main" val="1020080286"/>
                        </a:ext>
                      </a:extLst>
                    </a:gridCol>
                    <a:gridCol w="1111250">
                      <a:extLst>
                        <a:ext uri="{9D8B030D-6E8A-4147-A177-3AD203B41FA5}">
                          <a16:colId xmlns:a16="http://schemas.microsoft.com/office/drawing/2014/main" val="3704331708"/>
                        </a:ext>
                      </a:extLst>
                    </a:gridCol>
                    <a:gridCol w="906674">
                      <a:extLst>
                        <a:ext uri="{9D8B030D-6E8A-4147-A177-3AD203B41FA5}">
                          <a16:colId xmlns:a16="http://schemas.microsoft.com/office/drawing/2014/main" val="3827488127"/>
                        </a:ext>
                      </a:extLst>
                    </a:gridCol>
                    <a:gridCol w="1315825">
                      <a:extLst>
                        <a:ext uri="{9D8B030D-6E8A-4147-A177-3AD203B41FA5}">
                          <a16:colId xmlns:a16="http://schemas.microsoft.com/office/drawing/2014/main" val="428373207"/>
                        </a:ext>
                      </a:extLst>
                    </a:gridCol>
                  </a:tblGrid>
                  <a:tr h="72929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30" t="-833" r="-968613" b="-6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0051" t="-833" r="-573604" b="-6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18954" t="-833" r="-638562" b="-6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55497" t="-833" r="-411518" b="-6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88936" t="-833" r="-234468" b="-6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02198" t="-833" r="-202747" b="-6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35570" t="-833" r="-147651" b="-6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76389" t="-833" r="-1852" b="-60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8634216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30" t="-151250" r="-968613" b="-81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55497" t="-151250" r="-411518" b="-81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-0.5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0427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135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0085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346271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.7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4573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1440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0889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0984189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3133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2894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47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0153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3509223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14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.06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0239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3062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31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1121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5784194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0.78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2823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1640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0049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947487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0051" t="-651250" r="-573604" b="-31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4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1.61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4463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0537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685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6440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rgbClr val="2B89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5514448"/>
                      </a:ext>
                    </a:extLst>
                  </a:tr>
                  <a:tr h="571246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30" t="-639362" r="-968613" b="-16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50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55497" t="-639362" r="-411518" b="-16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r>
                            <a:rPr lang="en-US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r>
                            <a:rPr lang="ru-RU" sz="13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  <a:endParaRPr lang="ru-RU" sz="13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02198" t="-639362" r="-202747" b="-16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35570" t="-639362" r="-147651" b="-16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576389" t="-639362" r="-1852" b="-16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3653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D5CD4D-916D-3ED8-7F07-BC4FC20BA52E}"/>
                  </a:ext>
                </a:extLst>
              </p:cNvPr>
              <p:cNvSpPr txBox="1"/>
              <p:nvPr/>
            </p:nvSpPr>
            <p:spPr>
              <a:xfrm>
                <a:off x="0" y="4996341"/>
                <a:ext cx="9144000" cy="1874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Мы оцениваем вероятность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как </a:t>
                </a:r>
                <a:r>
                  <a:rPr lang="ru-RU" b="1" dirty="0">
                    <a:solidFill>
                      <a:srgbClr val="3333FF"/>
                    </a:solidFill>
                  </a:rPr>
                  <a:t>разность функций Лапласа в</a:t>
                </a:r>
                <a:r>
                  <a:rPr lang="en-US" b="1" dirty="0">
                    <a:solidFill>
                      <a:srgbClr val="3333FF"/>
                    </a:solidFill>
                  </a:rPr>
                  <a:t> </a:t>
                </a:r>
                <a:r>
                  <a:rPr lang="ru-RU" b="1" dirty="0">
                    <a:solidFill>
                      <a:srgbClr val="3333FF"/>
                    </a:solidFill>
                  </a:rPr>
                  <a:t>верхней и нижней точке</a:t>
                </a:r>
                <a:r>
                  <a:rPr lang="ru-RU" dirty="0"/>
                  <a:t>. Таким образом оцениваем частоты попадания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в исследуемый интервал. Как видно,  частоты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 близки по значениям, похоже, что распределение нормальное. Но для уверенности строим статистику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>
                                    <a:solidFill>
                                      <a:srgbClr val="2B891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𝝂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rgbClr val="2B891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solidFill>
                                      <a:srgbClr val="2B891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sSubSup>
                                  <m:sSubSupPr>
                                    <m:ctrlP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1" i="1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b="1" i="1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ru-RU" b="0" i="0" smtClean="0">
                        <a:solidFill>
                          <a:srgbClr val="2B891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 Так, суммарная наблюдаемая статистика равна</a:t>
                </a:r>
                <a:r>
                  <a:rPr lang="ru-RU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ru-RU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  <m:t>набл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 smtClean="0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b="1" i="1" smtClean="0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</m:d>
                    <m:r>
                      <a:rPr lang="en-US" b="1" i="1" smtClean="0">
                        <a:solidFill>
                          <a:srgbClr val="2B891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rgbClr val="2B891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solidFill>
                                              <a:srgbClr val="2B891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2B891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𝝂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solidFill>
                                              <a:srgbClr val="2B891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solidFill>
                                          <a:srgbClr val="2B891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sSubSup>
                                      <m:sSubSupPr>
                                        <m:ctrlPr>
                                          <a:rPr lang="en-US" b="1" i="1">
                                            <a:solidFill>
                                              <a:srgbClr val="2B891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2B891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solidFill>
                                              <a:srgbClr val="2B891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2B891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2B891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b="1" i="1">
                                <a:solidFill>
                                  <a:srgbClr val="2B891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2B891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2B8911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2B891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  <m:r>
                          <a:rPr lang="en-US" b="1" i="1" smtClean="0">
                            <a:solidFill>
                              <a:srgbClr val="2B891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ru-RU">
                            <a:solidFill>
                              <a:schemeClr val="dk1"/>
                            </a:solidFill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>
                            <a:solidFill>
                              <a:schemeClr val="dk1"/>
                            </a:solidFill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ru-RU">
                            <a:solidFill>
                              <a:schemeClr val="dk1"/>
                            </a:solidFill>
                          </a:rPr>
                          <m:t>8937</m:t>
                        </m:r>
                      </m:e>
                    </m:nary>
                  </m:oMath>
                </a14:m>
                <a:endParaRPr lang="ru-RU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D5CD4D-916D-3ED8-7F07-BC4FC20BA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96341"/>
                <a:ext cx="9144000" cy="1874359"/>
              </a:xfrm>
              <a:prstGeom prst="rect">
                <a:avLst/>
              </a:prstGeom>
              <a:blipFill>
                <a:blip r:embed="rId4"/>
                <a:stretch>
                  <a:fillRect l="-533" t="-1954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685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C3CDFA-69C4-8A12-42CC-00D8D1A5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18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6E2127-13BE-996F-7CF0-7BB2B0A5DD5C}"/>
                  </a:ext>
                </a:extLst>
              </p:cNvPr>
              <p:cNvSpPr txBox="1"/>
              <p:nvPr/>
            </p:nvSpPr>
            <p:spPr>
              <a:xfrm>
                <a:off x="0" y="1538899"/>
                <a:ext cx="9144000" cy="3780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Если у нас есть случайная величина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6−1−2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dirty="0"/>
                  <a:t> . По заданному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ru-RU" dirty="0"/>
                  <a:t> найдем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такое, что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0.05=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– квантиль распределения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с тремя степенями свободы уровня 0</a:t>
                </a:r>
                <a:r>
                  <a:rPr lang="en-US" dirty="0"/>
                  <a:t>.</a:t>
                </a:r>
                <a:r>
                  <a:rPr lang="ru-RU" dirty="0"/>
                  <a:t>05.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=7.8</m:t>
                    </m:r>
                  </m:oMath>
                </a14:m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если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если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/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набл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ru-RU">
                          <a:solidFill>
                            <a:schemeClr val="dk1"/>
                          </a:solidFill>
                        </a:rPr>
                        <m:t>0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dk1"/>
                          </a:solidFill>
                        </a:rPr>
                        <m:t>.</m:t>
                      </m:r>
                      <m:r>
                        <m:rPr>
                          <m:nor/>
                        </m:rPr>
                        <a:rPr lang="ru-RU">
                          <a:solidFill>
                            <a:schemeClr val="dk1"/>
                          </a:solidFill>
                        </a:rPr>
                        <m:t>8937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dk1"/>
                          </a:solidFill>
                        </a:rPr>
                        <m:t> &lt;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dk1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dk1"/>
                          </a:solidFill>
                        </a:rPr>
                        <m:t> = 7.8</m:t>
                      </m:r>
                    </m:oMath>
                  </m:oMathPara>
                </a14:m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b="1" dirty="0">
                    <a:solidFill>
                      <a:srgbClr val="FF0000"/>
                    </a:solidFill>
                  </a:rPr>
                  <a:t>Вывод</a:t>
                </a:r>
                <a:r>
                  <a:rPr lang="ru-RU" dirty="0"/>
                  <a:t>: Выборка не противоречит гипотезе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ru-RU" dirty="0"/>
                  <a:t> с уровнем значимости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ru-RU" dirty="0"/>
                  <a:t> 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6E2127-13BE-996F-7CF0-7BB2B0A5D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38899"/>
                <a:ext cx="9144000" cy="3780202"/>
              </a:xfrm>
              <a:prstGeom prst="rect">
                <a:avLst/>
              </a:prstGeom>
              <a:blipFill>
                <a:blip r:embed="rId2"/>
                <a:stretch>
                  <a:fillRect l="-533" t="-805" r="-533" b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5">
                <a:extLst>
                  <a:ext uri="{FF2B5EF4-FFF2-40B4-BE49-F238E27FC236}">
                    <a16:creationId xmlns:a16="http://schemas.microsoft.com/office/drawing/2014/main" id="{82105614-6F2B-CE2A-BF50-0FA9FA53AB49}"/>
                  </a:ext>
                </a:extLst>
              </p:cNvPr>
              <p:cNvSpPr/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gradFill>
                <a:gsLst>
                  <a:gs pos="300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just">
                  <a:spcBef>
                    <a:spcPts val="300"/>
                  </a:spcBef>
                </a:pPr>
                <a:r>
                  <a:rPr lang="ru-RU" sz="2200" b="1" dirty="0">
                    <a:solidFill>
                      <a:schemeClr val="tx1"/>
                    </a:solidFill>
                  </a:rPr>
                  <a:t>Критерий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2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ru-RU" sz="2200" b="1" dirty="0">
                    <a:solidFill>
                      <a:schemeClr val="tx1"/>
                    </a:solidFill>
                  </a:rPr>
                  <a:t> Пирсона для проверки  параметрической гипотезы</a:t>
                </a:r>
              </a:p>
            </p:txBody>
          </p:sp>
        </mc:Choice>
        <mc:Fallback xmlns="">
          <p:sp>
            <p:nvSpPr>
              <p:cNvPr id="7" name="Прямоугольник 5">
                <a:extLst>
                  <a:ext uri="{FF2B5EF4-FFF2-40B4-BE49-F238E27FC236}">
                    <a16:creationId xmlns:a16="http://schemas.microsoft.com/office/drawing/2014/main" id="{82105614-6F2B-CE2A-BF50-0FA9FA53A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419100"/>
              </a:xfrm>
              <a:prstGeom prst="rect">
                <a:avLst/>
              </a:prstGeom>
              <a:blipFill>
                <a:blip r:embed="rId3"/>
                <a:stretch>
                  <a:fillRect t="-7042" b="-295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03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D92D05-BB8A-C1A5-324F-8BF3404D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6A067BE9-F364-71AD-9D28-F2748269BD8A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Однородность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F2E071-2836-1B69-71A7-EC3AB5E91E08}"/>
                  </a:ext>
                </a:extLst>
              </p:cNvPr>
              <p:cNvSpPr txBox="1"/>
              <p:nvPr/>
            </p:nvSpPr>
            <p:spPr>
              <a:xfrm>
                <a:off x="0" y="521589"/>
                <a:ext cx="9144000" cy="5843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Еще одним важным критерием является критерий об однородности двух нормальных выборок. В начале рассмотрим совпадение двух нормальных выборок. В качестве первого шага в задаче проверки однородности двух независимых нормальных выборок используют </a:t>
                </a:r>
                <a:r>
                  <a:rPr lang="ru-RU" b="1" dirty="0">
                    <a:solidFill>
                      <a:srgbClr val="2B8911"/>
                    </a:solidFill>
                  </a:rPr>
                  <a:t>критерий Фишера.</a:t>
                </a:r>
              </a:p>
              <a:p>
                <a:pPr algn="just"/>
                <a:endParaRPr lang="ru-RU" b="1" dirty="0">
                  <a:solidFill>
                    <a:srgbClr val="2B8911"/>
                  </a:solidFill>
                </a:endParaRPr>
              </a:p>
              <a:p>
                <a:pPr algn="just"/>
                <a:r>
                  <a:rPr lang="ru-RU" dirty="0"/>
                  <a:t>Есть две независимые выборки из нормальных распределений: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just"/>
                <a:r>
                  <a:rPr lang="ru-RU" dirty="0"/>
                  <a:t>средние которых, вообще говоря, неизвестны. Критерий Фишера предназначен для проверки гипотезы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Используем несмещенные выборочные дисперсии: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и зададим функцию отклонения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как их и зададим функцию отклонения как их отношение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Удобно, если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&gt; 1</m:t>
                    </m:r>
                  </m:oMath>
                </a14:m>
                <a:r>
                  <a:rPr lang="ru-RU" dirty="0"/>
                  <a:t>. С этой целью выборкой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dirty="0"/>
                  <a:t> называют ту из двух выборок, несмещённая дисперсия которой больше. Поэтому предположим, что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Теорема</a:t>
                </a:r>
                <a:r>
                  <a:rPr lang="en-US" b="1" dirty="0">
                    <a:solidFill>
                      <a:srgbClr val="3333FF"/>
                    </a:solidFill>
                  </a:rPr>
                  <a:t>: </a:t>
                </a:r>
                <a:r>
                  <a:rPr lang="ru-RU" dirty="0"/>
                  <a:t>Если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ru-RU" dirty="0"/>
                  <a:t> верна, то случайная величина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имеет распределение Фишера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dirty="0"/>
                  <a:t> с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 степенями свободы.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F2E071-2836-1B69-71A7-EC3AB5E91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1589"/>
                <a:ext cx="9144000" cy="5843395"/>
              </a:xfrm>
              <a:prstGeom prst="rect">
                <a:avLst/>
              </a:prstGeom>
              <a:blipFill>
                <a:blip r:embed="rId2"/>
                <a:stretch>
                  <a:fillRect l="-533" t="-626" r="-533" b="-6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248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CE69D5-F1CE-BD0C-50A3-D9BDE6DF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5F238BDE-D304-CD0F-CA7B-67DE4B7067FF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Однородность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9FAF65-BA24-70EE-BDDD-4FB9472E8DF4}"/>
                  </a:ext>
                </a:extLst>
              </p:cNvPr>
              <p:cNvSpPr txBox="1"/>
              <p:nvPr/>
            </p:nvSpPr>
            <p:spPr>
              <a:xfrm>
                <a:off x="0" y="556098"/>
                <a:ext cx="9144000" cy="5745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2B8911"/>
                    </a:solidFill>
                  </a:rPr>
                  <a:t>Доказательство</a:t>
                </a:r>
                <a:r>
                  <a:rPr lang="en-US" b="1" dirty="0">
                    <a:solidFill>
                      <a:srgbClr val="2B8911"/>
                    </a:solidFill>
                  </a:rPr>
                  <a:t>: </a:t>
                </a:r>
                <a:r>
                  <a:rPr lang="ru-RU" dirty="0"/>
                  <a:t>По лемме Фишера, независимые случайные величины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algn="just"/>
                <a:r>
                  <a:rPr lang="ru-RU" dirty="0"/>
                  <a:t>при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dirty="0"/>
                  <a:t> отношение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, </a:t>
                </a:r>
                <a:r>
                  <a:rPr lang="ru-RU" dirty="0"/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b="0" dirty="0"/>
              </a:p>
              <a:p>
                <a:pPr algn="just"/>
                <a:endParaRPr lang="ru-RU" dirty="0"/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groupChr>
                          <m:groupChrPr>
                            <m:chr m:val="→"/>
                            <m:vertJc m:val="bot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groupCh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(ЗБЧ)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groupChr>
                          <m:groupChrPr>
                            <m:chr m:val="→"/>
                            <m:vertJc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groupCh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(ЗБЧ)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den>
                    </m:f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&gt;1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Построим критерий Фишера и убедимся, что он состоятелен. Возьмём квантиль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ru-RU" b="0" i="1" dirty="0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/2 </m:t>
                        </m:r>
                      </m:sub>
                    </m:sSub>
                  </m:oMath>
                </a14:m>
                <a:r>
                  <a:rPr lang="ru-RU" dirty="0"/>
                  <a:t> распределения Фишера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Критерием Фишера называют критерий</a:t>
                </a:r>
                <a:endParaRPr lang="en-US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если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/2 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если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/2 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9FAF65-BA24-70EE-BDDD-4FB9472E8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6098"/>
                <a:ext cx="9144000" cy="5745804"/>
              </a:xfrm>
              <a:prstGeom prst="rect">
                <a:avLst/>
              </a:prstGeom>
              <a:blipFill>
                <a:blip r:embed="rId2"/>
                <a:stretch>
                  <a:fillRect l="-533" t="-5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096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D88F-DFD7-D4BC-C52F-682C2CB4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67D2F4-A2FA-2A44-F98A-44E2C6C7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551AEC67-F373-B197-A5E3-B7C77275E6BF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Однородность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5A1232-7EB2-FE76-BF51-97C19BFACD7D}"/>
                  </a:ext>
                </a:extLst>
              </p:cNvPr>
              <p:cNvSpPr txBox="1"/>
              <p:nvPr/>
            </p:nvSpPr>
            <p:spPr>
              <a:xfrm>
                <a:off x="0" y="673100"/>
                <a:ext cx="9144000" cy="5560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2B8911"/>
                    </a:solidFill>
                  </a:rPr>
                  <a:t>Доказательство состоятельности критерия Фишера</a:t>
                </a:r>
                <a:r>
                  <a:rPr lang="ru-RU" dirty="0"/>
                  <a:t>. Покажем, что последовательность квантилей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m:rPr>
                        <m:nor/>
                      </m:rPr>
                      <a:rPr lang="el-GR" dirty="0"/>
                      <m:t>(</m:t>
                    </m:r>
                    <m:r>
                      <m:rPr>
                        <m:nor/>
                      </m:rPr>
                      <a:rPr lang="el-GR" dirty="0"/>
                      <m:t>𝑛</m:t>
                    </m:r>
                    <m:r>
                      <m:rPr>
                        <m:nor/>
                      </m:rPr>
                      <a:rPr lang="el-GR" dirty="0"/>
                      <m:t>, </m:t>
                    </m:r>
                    <m:r>
                      <m:rPr>
                        <m:nor/>
                      </m:rPr>
                      <a:rPr lang="el-GR" dirty="0"/>
                      <m:t>𝑚</m:t>
                    </m:r>
                    <m:r>
                      <m:rPr>
                        <m:nor/>
                      </m:rPr>
                      <a:rPr lang="el-GR" dirty="0"/>
                      <m:t>)</m:t>
                    </m:r>
                  </m:oMath>
                </a14:m>
                <a:r>
                  <a:rPr lang="ru-RU" dirty="0"/>
                  <a:t> любого уровня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&lt; 1 </m:t>
                    </m:r>
                  </m:oMath>
                </a14:m>
                <a:r>
                  <a:rPr lang="ru-RU" dirty="0"/>
                  <a:t>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dirty="0"/>
                  <a:t> сходится к 1 при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→∞. </m:t>
                    </m:r>
                  </m:oMath>
                </a14:m>
                <a:r>
                  <a:rPr lang="ru-RU" dirty="0"/>
                  <a:t>Возьмем величину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b="0" dirty="0"/>
              </a:p>
              <a:p>
                <a:pPr algn="just"/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По определению,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при всех 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l-GR" dirty="0"/>
                  <a:t> </a:t>
                </a:r>
                <a:r>
                  <a:rPr lang="ru-RU" dirty="0"/>
                  <a:t>По свойству распределения Фишера,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Поэтому для любого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&gt; 0 </m:t>
                    </m:r>
                  </m:oMath>
                </a14:m>
                <a:r>
                  <a:rPr lang="ru-RU" dirty="0"/>
                  <a:t>обе вероятности </a:t>
                </a:r>
                <a:r>
                  <a:rPr lang="en-US" dirty="0"/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dirty="0"/>
                  <a:t> </a:t>
                </a:r>
                <a:r>
                  <a:rPr lang="ru-RU" dirty="0"/>
                  <a:t>стремятся к нулю при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ru-RU" dirty="0"/>
                  <a:t>, становясь рано или поздно меньше как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l-GR" dirty="0"/>
                  <a:t>, </a:t>
                </a:r>
                <a:r>
                  <a:rPr lang="ru-RU" dirty="0"/>
                  <a:t>так 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l-GR" dirty="0"/>
                  <a:t>.</a:t>
                </a: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Следовательно, при достаточно больших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выполнено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&lt;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 &lt; 1 +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иначе говоря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→1.</m:t>
                    </m:r>
                  </m:oMath>
                </a14:m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Пусть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 не верна. Достаточно в качестве альтернативы </a:t>
                </a:r>
                <a:r>
                  <a:rPr lang="en-US" dirty="0"/>
                  <a:t> </a:t>
                </a:r>
                <a:r>
                  <a:rPr lang="ru-RU" dirty="0"/>
                  <a:t> рассмотреть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={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den>
                    </m:f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&gt;1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| 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groupCh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−1&lt;0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ru-RU" b="0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Попробуем сформулировать критерий Фишера в случае, когда средние известны. Какой статистикой стоит воспользоваться теперь?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5A1232-7EB2-FE76-BF51-97C19BFAC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73100"/>
                <a:ext cx="9144000" cy="5560625"/>
              </a:xfrm>
              <a:prstGeom prst="rect">
                <a:avLst/>
              </a:prstGeom>
              <a:blipFill>
                <a:blip r:embed="rId2"/>
                <a:stretch>
                  <a:fillRect l="-533" t="-548" r="-533" b="-6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961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67B03-871D-574D-B944-4824709F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A87B69-5A85-0EF5-D427-EB019483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D61E5D84-461A-D6CD-B135-EC847B75FFB4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Однородность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ADBD0-9BE6-CC1C-B232-F32A4F14F829}"/>
                  </a:ext>
                </a:extLst>
              </p:cNvPr>
              <p:cNvSpPr txBox="1"/>
              <p:nvPr/>
            </p:nvSpPr>
            <p:spPr>
              <a:xfrm>
                <a:off x="0" y="1253885"/>
                <a:ext cx="9144000" cy="435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ru-RU" dirty="0"/>
                  <a:t>: По двум независимым выборкам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объёмы которых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11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                                 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= 14 </m:t>
                    </m:r>
                  </m:oMath>
                </a14:m>
                <a:r>
                  <a:rPr lang="ru-RU" dirty="0"/>
                  <a:t>извлечённым из нормальных генеральных совокупностей, найдены исправленные выборочные дисперсии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=0.76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=0.38</m:t>
                    </m:r>
                  </m:oMath>
                </a14:m>
                <a:r>
                  <a:rPr lang="ru-RU" dirty="0"/>
                  <a:t>. При уровне значимости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= 0.05 </m:t>
                    </m:r>
                  </m:oMath>
                </a14:m>
                <a:r>
                  <a:rPr lang="ru-RU" dirty="0"/>
                  <a:t>проверить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 при альтернативе</a:t>
                </a:r>
                <a:r>
                  <a:rPr lang="en-US" dirty="0"/>
                  <a:t>                                 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0.76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0.38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набл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если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b="0" i="1" dirty="0" smtClean="0">
                                      <a:latin typeface="Cambria Math" panose="02040503050406030204" pitchFamily="18" charset="0"/>
                                    </a:rPr>
                                    <m:t>0.95;11−1,14−1</m:t>
                                  </m:r>
                                </m:sub>
                              </m:sSub>
                              <m:r>
                                <a:rPr lang="ru-RU" b="0" i="1" dirty="0" smtClean="0">
                                  <a:latin typeface="Cambria Math" panose="02040503050406030204" pitchFamily="18" charset="0"/>
                                </a:rPr>
                                <m:t>=2.67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если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ru-RU" b="0" i="1" dirty="0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5;11−1,14−1</m:t>
                                  </m:r>
                                </m:sub>
                              </m:sSub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=2.67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endParaRPr lang="ru-RU" dirty="0"/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2B8911"/>
                    </a:solidFill>
                  </a:rPr>
                  <a:t>Вывод</a:t>
                </a:r>
                <a:r>
                  <a:rPr lang="ru-RU" dirty="0"/>
                  <a:t>: 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набл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&lt;2.67</m:t>
                    </m:r>
                  </m:oMath>
                </a14:m>
                <a:r>
                  <a:rPr lang="el-GR" dirty="0"/>
                  <a:t>, </a:t>
                </a:r>
                <a:r>
                  <a:rPr lang="ru-RU" dirty="0"/>
                  <a:t>нет оснований отвергнуть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. Считаем, что выборочные дисперсии отличаются незначимо.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ADBD0-9BE6-CC1C-B232-F32A4F14F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53885"/>
                <a:ext cx="9144000" cy="4350230"/>
              </a:xfrm>
              <a:prstGeom prst="rect">
                <a:avLst/>
              </a:prstGeom>
              <a:blipFill>
                <a:blip r:embed="rId2"/>
                <a:stretch>
                  <a:fillRect l="-533" r="-533" b="-14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732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B22013-102C-E889-A321-C9224917E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FEC85E3C-B893-7962-8335-D01D38EF6F2A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Равенство средних двух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3011BB-1B23-A6B4-CB87-FF8BD3F2A2D4}"/>
                  </a:ext>
                </a:extLst>
              </p:cNvPr>
              <p:cNvSpPr txBox="1"/>
              <p:nvPr/>
            </p:nvSpPr>
            <p:spPr>
              <a:xfrm>
                <a:off x="0" y="895350"/>
                <a:ext cx="9144000" cy="48694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Особенно часто возникает необходимость проверить равенство средних двух нормальных совокупностей: например, в медицине или биологии для выяснения наличия или отсутствия действия препарата. Эта задача решается с помощью критерия Стьюдента, но только в случае, когда неизвестные дисперсии равны. Для проверки же равенства дисперсий пользуются сначала критерием Фишера.</a:t>
                </a:r>
              </a:p>
              <a:p>
                <a:pPr algn="just"/>
                <a:endParaRPr lang="ru-RU" dirty="0"/>
              </a:p>
              <a:p>
                <a:pPr algn="ctr"/>
                <a:r>
                  <a:rPr lang="ru-RU" dirty="0"/>
                  <a:t>Критерий Стьюдента</a:t>
                </a:r>
              </a:p>
              <a:p>
                <a:pPr algn="just"/>
                <a:r>
                  <a:rPr lang="ru-RU" dirty="0"/>
                  <a:t>Есть две независимые выборки из нормальных распределений:                                                      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just"/>
                <a:r>
                  <a:rPr lang="ru-RU" dirty="0"/>
                  <a:t>с неизвестными средними и одной и той же неизвестной дисперсией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. Проверяется сложная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: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 . Построим критерий Стьюдента точного размера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just"/>
                <a:r>
                  <a:rPr lang="ru-RU" b="1" dirty="0">
                    <a:solidFill>
                      <a:srgbClr val="3333FF"/>
                    </a:solidFill>
                  </a:rPr>
                  <a:t>Теорема: </a:t>
                </a:r>
                <a:r>
                  <a:rPr lang="ru-RU" dirty="0"/>
                  <a:t>Случайная величина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имеет распределение Стьюдента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3011BB-1B23-A6B4-CB87-FF8BD3F2A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95350"/>
                <a:ext cx="9144000" cy="4869410"/>
              </a:xfrm>
              <a:prstGeom prst="rect">
                <a:avLst/>
              </a:prstGeom>
              <a:blipFill>
                <a:blip r:embed="rId2"/>
                <a:stretch>
                  <a:fillRect l="-533" t="-751" r="-533" b="-10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61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DA42-B82B-0C9E-AD05-94BF5623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AD77B9-D4B9-E00F-8BBD-0BF81723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3ED37A2D-0281-E120-4F3F-59B2ABAD9333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Равенство средних двух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C66983-9B65-FEDA-AF70-21F5D8C2290D}"/>
                  </a:ext>
                </a:extLst>
              </p:cNvPr>
              <p:cNvSpPr txBox="1"/>
              <p:nvPr/>
            </p:nvSpPr>
            <p:spPr>
              <a:xfrm>
                <a:off x="-9832" y="399436"/>
                <a:ext cx="9144000" cy="6863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b="1" dirty="0">
                    <a:solidFill>
                      <a:srgbClr val="2B8911"/>
                    </a:solidFill>
                  </a:rPr>
                  <a:t>Доказательство: </a:t>
                </a:r>
                <a:r>
                  <a:rPr lang="ru-RU" dirty="0"/>
                  <a:t>Поскольку у нас имеется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1" i="1" dirty="0" smtClean="0">
                        <a:solidFill>
                          <a:srgbClr val="2B891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с мат. ожиданием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дисперсией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ru-RU" dirty="0"/>
                  <a:t>тогда случайная величина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а случайная величина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  <a:r>
                  <a:rPr lang="ru-RU" dirty="0"/>
                  <a:t>Тогда разность распределена тоже нормально с нулевым средним и дисперсией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l-GR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l-G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l-G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l-GR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l-G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𝑛𝑚</m:t>
                        </m:r>
                      </m:den>
                    </m:f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</a:t>
                </a:r>
              </a:p>
              <a:p>
                <a:pPr algn="just"/>
                <a:r>
                  <a:rPr lang="ru-RU" dirty="0"/>
                  <a:t>Нормируем эту разность: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Из леммы Фишера следует, что независимые случайные величины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pPr algn="just"/>
                <a:r>
                  <a:rPr lang="ru-RU" dirty="0"/>
                  <a:t>а их сумма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 зависит от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l-G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dirty="0"/>
              </a:p>
              <a:p>
                <a:pPr algn="just"/>
                <a:r>
                  <a:rPr lang="ru-RU" dirty="0"/>
                  <a:t>По определению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имеет распределение Стьюдента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endParaRPr lang="en-US" dirty="0"/>
              </a:p>
              <a:p>
                <a:pPr algn="just"/>
                <a:r>
                  <a:rPr lang="ru-RU" dirty="0"/>
                  <a:t>Распишем формулу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en-US" dirty="0"/>
                  <a:t>  </a:t>
                </a:r>
                <a:endParaRPr lang="ru-RU" dirty="0"/>
              </a:p>
              <a:p>
                <a:pPr algn="just"/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C66983-9B65-FEDA-AF70-21F5D8C22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832" y="399436"/>
                <a:ext cx="9144000" cy="6863289"/>
              </a:xfrm>
              <a:prstGeom prst="rect">
                <a:avLst/>
              </a:prstGeom>
              <a:blipFill>
                <a:blip r:embed="rId2"/>
                <a:stretch>
                  <a:fillRect l="-533" t="-5600" r="-6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81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A1485-584B-58CA-42B8-1EA43BC7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95C503-AD87-32B4-7A08-13AB5C6C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F0AE92F7-81B1-F5B2-0076-35B27EAFB00F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Равенство средних двух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B170A7-564B-72A3-8780-1E5FD78C13AD}"/>
                  </a:ext>
                </a:extLst>
              </p:cNvPr>
              <p:cNvSpPr txBox="1"/>
              <p:nvPr/>
            </p:nvSpPr>
            <p:spPr>
              <a:xfrm>
                <a:off x="0" y="655075"/>
                <a:ext cx="9144000" cy="5393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Введем функцию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42900" indent="-342900" algn="just">
                  <a:buAutoNum type="arabicParenR"/>
                </a:pPr>
                <a:r>
                  <a:rPr lang="ru-RU" dirty="0"/>
                  <a:t>если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верна, т.е.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, то величина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ru-RU" dirty="0"/>
                  <a:t>имеет распределение Стьюдента</a:t>
                </a:r>
                <a:r>
                  <a:rPr lang="en-US" dirty="0"/>
                  <a:t>;</a:t>
                </a:r>
              </a:p>
              <a:p>
                <a:pPr marL="342900" indent="-342900" algn="just">
                  <a:buAutoNum type="arabicParenR"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, величина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 неограниченно возрастает по вероятности с ростом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(ЗБЧ)</a:t>
                </a:r>
                <a:r>
                  <a:rPr lang="en-US" dirty="0"/>
                  <a:t> </a:t>
                </a:r>
                <a:endParaRPr lang="ru-RU" dirty="0"/>
              </a:p>
              <a:p>
                <a:pPr algn="just"/>
                <a:r>
                  <a:rPr lang="ru-RU" dirty="0"/>
                  <a:t>По ЗБЧ</a:t>
                </a:r>
                <a:endParaRPr lang="en-US" dirty="0"/>
              </a:p>
              <a:p>
                <a:pPr algn="ctr"/>
                <a:r>
                  <a:rPr lang="ru-RU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−2)</m:t>
                        </m:r>
                      </m:den>
                    </m:f>
                    <m:groupChr>
                      <m:groupChrPr>
                        <m:chr m:val="→"/>
                        <m:vertJc m:val="bot"/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  <m:groupChr>
                      <m:groupChrPr>
                        <m:chr m:val="→"/>
                        <m:vertJc m:val="bot"/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den>
                        </m:f>
                      </m:e>
                    </m:rad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  <a:p>
                <a:pPr algn="just"/>
                <a:r>
                  <a:rPr lang="ru-RU" dirty="0"/>
                  <a:t>Поэтому остаётся по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 найти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ru-RU" dirty="0"/>
                  <a:t> —квантиль распределения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algn="just"/>
                <a:r>
                  <a:rPr lang="ru-RU" dirty="0"/>
                  <a:t>Критерий Стьюдента выглядит также как и все критерии согласия</a:t>
                </a:r>
              </a:p>
              <a:p>
                <a:pPr algn="ctr"/>
                <a:r>
                  <a:rPr lang="ru-RU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algn="ctr"/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B170A7-564B-72A3-8780-1E5FD78C1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55075"/>
                <a:ext cx="9144000" cy="5393336"/>
              </a:xfrm>
              <a:prstGeom prst="rect">
                <a:avLst/>
              </a:prstGeom>
              <a:blipFill>
                <a:blip r:embed="rId2"/>
                <a:stretch>
                  <a:fillRect l="-533" t="-565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470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6AB6DC-C0E9-B0C1-DE01-FA6C76DA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4ACE9A51-E45E-836A-2510-5AB5DB507627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Равенство средних двух нормальных выборок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8083C-9DD2-3043-0550-0918A37BB93E}"/>
                  </a:ext>
                </a:extLst>
              </p:cNvPr>
              <p:cNvSpPr txBox="1"/>
              <p:nvPr/>
            </p:nvSpPr>
            <p:spPr>
              <a:xfrm>
                <a:off x="-1" y="428932"/>
                <a:ext cx="9143999" cy="648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FF0000"/>
                    </a:solidFill>
                  </a:rPr>
                  <a:t>Пример</a:t>
                </a:r>
                <a:r>
                  <a:rPr lang="ru-RU" dirty="0"/>
                  <a:t>: По двум независимым выборкам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ru-RU" dirty="0"/>
                  <a:t>, объёмы которых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12 </m:t>
                    </m:r>
                  </m:oMath>
                </a14:m>
                <a:r>
                  <a:rPr lang="ru-RU" dirty="0"/>
                  <a:t>и                          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18 </m:t>
                    </m:r>
                  </m:oMath>
                </a14:m>
                <a:r>
                  <a:rPr lang="ru-RU" dirty="0"/>
                  <a:t>извлечённым из нормальных генеральных совокупностей, найдены выборочные средние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31.2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29.2 </m:t>
                    </m:r>
                  </m:oMath>
                </a14:m>
                <a:r>
                  <a:rPr lang="ru-RU" dirty="0"/>
                  <a:t>и исправленные выборочные дисперсии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84 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=0.40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При уровне значимости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ru-RU" dirty="0"/>
                  <a:t> проверить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= 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ru-RU" dirty="0"/>
                  <a:t>при альтернативе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= {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Сначала проверим гипотезу о равенстве дисперсий с помощью критерия Фишера</a:t>
                </a:r>
                <a:endParaRPr lang="en-US" dirty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.1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набл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/2 ;12−1,18−1</m:t>
                                </m:r>
                              </m:sub>
                            </m:sSub>
                            <m:r>
                              <a:rPr lang="ru-RU" sz="1600" i="1" dirty="0">
                                <a:latin typeface="Cambria Math" panose="02040503050406030204" pitchFamily="18" charset="0"/>
                              </a:rPr>
                              <m:t>=2.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  <m: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/2;18−1,12−1</m:t>
                                </m:r>
                              </m:sub>
                            </m:sSub>
                            <m:r>
                              <a:rPr lang="ru-RU" sz="1600" i="1" dirty="0">
                                <a:latin typeface="Cambria Math" panose="02040503050406030204" pitchFamily="18" charset="0"/>
                              </a:rPr>
                              <m:t>=2.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</m:e>
                        </m:eqAr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 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набл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&lt;2.41</m:t>
                    </m:r>
                  </m:oMath>
                </a14:m>
                <a:r>
                  <a:rPr lang="ru-RU" dirty="0"/>
                  <a:t> ,можем считать, что дисперсии нормальных генеральных совокупностей равны.</a:t>
                </a:r>
                <a:r>
                  <a:rPr lang="en-US" dirty="0"/>
                  <a:t> </a:t>
                </a:r>
                <a:r>
                  <a:rPr lang="ru-RU" dirty="0"/>
                  <a:t>Теперь можем воспользоваться критерием Стьюдента для проверки равенства математических ожиданий.</a:t>
                </a:r>
                <a:endParaRPr lang="en-US" dirty="0"/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12⋅18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31.2−29.2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11⋅0.84+17⋅0.40</m:t>
                                </m:r>
                              </m:num>
                              <m:den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12+18−2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=7.09</m:t>
                    </m:r>
                  </m:oMath>
                </a14:m>
                <a:r>
                  <a:rPr lang="en-US" sz="1600" dirty="0"/>
                  <a:t>  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  <m: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/2,18+12−2</m:t>
                                </m:r>
                              </m:sub>
                            </m:s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=2.05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если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  <m:r>
                                  <a:rPr lang="ru-RU" sz="1600" i="1" dirty="0">
                                    <a:latin typeface="Cambria Math" panose="02040503050406030204" pitchFamily="18" charset="0"/>
                                  </a:rPr>
                                  <m:t>/2,18+12−2</m:t>
                                </m:r>
                              </m:sub>
                            </m:s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=2.05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b="1" dirty="0">
                    <a:solidFill>
                      <a:srgbClr val="2B8911"/>
                    </a:solidFill>
                  </a:rPr>
                  <a:t>Вывод</a:t>
                </a:r>
                <a:r>
                  <a:rPr lang="ru-RU" dirty="0"/>
                  <a:t>: 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набл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=7.09&gt;2.05</m:t>
                    </m:r>
                  </m:oMath>
                </a14:m>
                <a:r>
                  <a:rPr lang="ru-RU" dirty="0"/>
                  <a:t>, отвергаем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 равенстве </a:t>
                </a:r>
                <a:r>
                  <a:rPr lang="en-US" dirty="0"/>
                  <a:t> </a:t>
                </a:r>
                <a:r>
                  <a:rPr lang="ru-RU" dirty="0"/>
                  <a:t>математических ожиданий. Считаем, что выборочные средние различаются значимо.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8083C-9DD2-3043-0550-0918A37BB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28932"/>
                <a:ext cx="9143999" cy="6484789"/>
              </a:xfrm>
              <a:prstGeom prst="rect">
                <a:avLst/>
              </a:prstGeom>
              <a:blipFill>
                <a:blip r:embed="rId2"/>
                <a:stretch>
                  <a:fillRect l="-533" r="-533" b="-5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117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FD43BC-90C7-EEC0-5042-F8F4253D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0E8D257F-684B-07B4-EE93-2B36CEDCC2CA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Критерии, основанные на доверительных интервалах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52FFE3-9AC9-D73C-E0A4-E4D501FF7099}"/>
                  </a:ext>
                </a:extLst>
              </p:cNvPr>
              <p:cNvSpPr txBox="1"/>
              <p:nvPr/>
            </p:nvSpPr>
            <p:spPr>
              <a:xfrm>
                <a:off x="1" y="691929"/>
                <a:ext cx="9143999" cy="5023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Имеется выборка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из семейства  распределений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ru-RU" i="0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Проверяется простая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 против сложной альтернативы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. Пусть имеется доверительный интервал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{</m:t>
                      </m:r>
                      <m:bar>
                        <m:bar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ba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&lt;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} = 1 −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Взяв произвольное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, для выборки из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ru-RU" dirty="0"/>
                  <a:t> имеем </a:t>
                </a:r>
                <a:endParaRPr lang="en-US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{</m:t>
                      </m:r>
                      <m:bar>
                        <m:barPr>
                          <m:ctrlPr>
                            <a:rPr lang="el-GR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bar>
                      <m:r>
                        <a:rPr lang="el-GR" i="1" dirty="0"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 &lt; 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l-GR" i="1" dirty="0">
                          <a:latin typeface="Cambria Math" panose="02040503050406030204" pitchFamily="18" charset="0"/>
                        </a:rPr>
                        <m:t>} = 1 − 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dirty="0"/>
                  <a:t>Тогда критерий</a:t>
                </a:r>
                <a:endParaRPr lang="en-US" dirty="0"/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bar>
                              <m:barPr>
                                <m:ctrlPr>
                                  <a:rPr lang="el-GR" i="1" dirty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bar>
                            <m:r>
                              <a:rPr lang="el-GR" i="1" dirty="0">
                                <a:latin typeface="Cambria Math" panose="02040503050406030204" pitchFamily="18" charset="0"/>
                              </a:rPr>
                              <m:t> &lt; 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l-GR" i="1" dirty="0">
                                <a:latin typeface="Cambria Math" panose="02040503050406030204" pitchFamily="18" charset="0"/>
                              </a:rPr>
                              <m:t> &lt; </m:t>
                            </m:r>
                            <m:acc>
                              <m:accPr>
                                <m:chr m:val="̅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l-GR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∉(</m:t>
                            </m:r>
                            <m:bar>
                              <m:barPr>
                                <m:ctrlPr>
                                  <a:rPr lang="el-GR" i="1" dirty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ba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̅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l-G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имеет точный размер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dirty="0"/>
                  <a:t>:</a:t>
                </a:r>
                <a:endParaRPr lang="en-US" dirty="0"/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l-G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ctrlPr>
                                <a:rPr lang="el-GR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ba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)|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l-GR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bar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 &lt; 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 &lt;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Если доверительный интервал строится с помощью функции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, то эта же функция </a:t>
                </a:r>
                <a:r>
                  <a:rPr lang="en-US" dirty="0"/>
                  <a:t> </a:t>
                </a:r>
                <a:r>
                  <a:rPr lang="ru-RU" dirty="0"/>
                  <a:t>годится и в качестве «функции отклонения»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для построения критерия согласия.</a:t>
                </a:r>
                <a:endParaRPr lang="en-US" dirty="0"/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Далее выполним проверку гипотезы о среднем нормального распределения с известной дисперсией.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52FFE3-9AC9-D73C-E0A4-E4D501FF7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691929"/>
                <a:ext cx="9143999" cy="5023363"/>
              </a:xfrm>
              <a:prstGeom prst="rect">
                <a:avLst/>
              </a:prstGeom>
              <a:blipFill>
                <a:blip r:embed="rId2"/>
                <a:stretch>
                  <a:fillRect l="-533" r="-533" b="-9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53221C52-2F0B-49CD-ADA0-90C6FE44ECCD}"/>
                  </a:ext>
                </a:extLst>
              </p14:cNvPr>
              <p14:cNvContentPartPr/>
              <p14:nvPr/>
            </p14:nvContentPartPr>
            <p14:xfrm>
              <a:off x="-2006340" y="1622580"/>
              <a:ext cx="429120" cy="4359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53221C52-2F0B-49CD-ADA0-90C6FE44EC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012460" y="1616460"/>
                <a:ext cx="44136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4B6AC259-F9F2-F12F-FD36-58C96CE3ACE2}"/>
                  </a:ext>
                </a:extLst>
              </p14:cNvPr>
              <p14:cNvContentPartPr/>
              <p14:nvPr/>
            </p14:nvContentPartPr>
            <p14:xfrm>
              <a:off x="-1574340" y="1661100"/>
              <a:ext cx="218160" cy="66708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4B6AC259-F9F2-F12F-FD36-58C96CE3AC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580460" y="1654980"/>
                <a:ext cx="230400" cy="6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6D5EA74D-821F-D947-6437-2B9D49DF13E7}"/>
                  </a:ext>
                </a:extLst>
              </p14:cNvPr>
              <p14:cNvContentPartPr/>
              <p14:nvPr/>
            </p14:nvContentPartPr>
            <p14:xfrm>
              <a:off x="-1287780" y="1889340"/>
              <a:ext cx="123120" cy="30996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6D5EA74D-821F-D947-6437-2B9D49DF13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293900" y="1883220"/>
                <a:ext cx="1353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2A79D255-3EF2-5861-8032-A20F139D3770}"/>
                  </a:ext>
                </a:extLst>
              </p14:cNvPr>
              <p14:cNvContentPartPr/>
              <p14:nvPr/>
            </p14:nvContentPartPr>
            <p14:xfrm>
              <a:off x="-1297500" y="1874580"/>
              <a:ext cx="147240" cy="40248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2A79D255-3EF2-5861-8032-A20F139D377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303620" y="1868460"/>
                <a:ext cx="15948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2C821E9C-6C97-3CCD-F82D-59DAB6E12A06}"/>
                  </a:ext>
                </a:extLst>
              </p14:cNvPr>
              <p14:cNvContentPartPr/>
              <p14:nvPr/>
            </p14:nvContentPartPr>
            <p14:xfrm>
              <a:off x="-1289220" y="1826700"/>
              <a:ext cx="243360" cy="2376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2C821E9C-6C97-3CCD-F82D-59DAB6E12A0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1295340" y="1820580"/>
                <a:ext cx="255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E773698E-31F4-68EA-565C-B0E3178725C8}"/>
                  </a:ext>
                </a:extLst>
              </p14:cNvPr>
              <p14:cNvContentPartPr/>
              <p14:nvPr/>
            </p14:nvContentPartPr>
            <p14:xfrm>
              <a:off x="-1061340" y="2164020"/>
              <a:ext cx="109080" cy="29736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E773698E-31F4-68EA-565C-B0E3178725C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067460" y="2157900"/>
                <a:ext cx="12132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0D8E3EB6-46BB-47F7-D7D1-14372827322B}"/>
                  </a:ext>
                </a:extLst>
              </p14:cNvPr>
              <p14:cNvContentPartPr/>
              <p14:nvPr/>
            </p14:nvContentPartPr>
            <p14:xfrm>
              <a:off x="-876660" y="1716900"/>
              <a:ext cx="169560" cy="35676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0D8E3EB6-46BB-47F7-D7D1-14372827322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882780" y="1710780"/>
                <a:ext cx="18180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6EE277EC-F627-6A7C-4A5C-89001B9DDB86}"/>
                  </a:ext>
                </a:extLst>
              </p14:cNvPr>
              <p14:cNvContentPartPr/>
              <p14:nvPr/>
            </p14:nvContentPartPr>
            <p14:xfrm>
              <a:off x="-663180" y="1607820"/>
              <a:ext cx="95040" cy="71208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6EE277EC-F627-6A7C-4A5C-89001B9DDB8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669300" y="1601700"/>
                <a:ext cx="107280" cy="72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F6CEC016-1655-0127-691E-8987D6A0D572}"/>
                  </a:ext>
                </a:extLst>
              </p14:cNvPr>
              <p14:cNvContentPartPr/>
              <p14:nvPr/>
            </p14:nvContentPartPr>
            <p14:xfrm>
              <a:off x="-396420" y="1877100"/>
              <a:ext cx="65160" cy="1836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F6CEC016-1655-0127-691E-8987D6A0D57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402540" y="1870980"/>
                <a:ext cx="77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3E25C06D-5580-FEAE-16F9-C3E39997142F}"/>
                  </a:ext>
                </a:extLst>
              </p14:cNvPr>
              <p14:cNvContentPartPr/>
              <p14:nvPr/>
            </p14:nvContentPartPr>
            <p14:xfrm>
              <a:off x="-427020" y="2074020"/>
              <a:ext cx="96480" cy="1404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3E25C06D-5580-FEAE-16F9-C3E39997142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-433140" y="2067900"/>
                <a:ext cx="1087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2C77C7E2-EE4F-1A20-AD01-A7B84064E947}"/>
                  </a:ext>
                </a:extLst>
              </p14:cNvPr>
              <p14:cNvContentPartPr/>
              <p14:nvPr/>
            </p14:nvContentPartPr>
            <p14:xfrm>
              <a:off x="-1973940" y="2941260"/>
              <a:ext cx="154440" cy="60120"/>
            </p14:xfrm>
          </p:contentPart>
        </mc:Choice>
        <mc:Fallback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2C77C7E2-EE4F-1A20-AD01-A7B84064E94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-1980060" y="2935140"/>
                <a:ext cx="1666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716CD266-C47C-C035-D204-37787F677435}"/>
                  </a:ext>
                </a:extLst>
              </p14:cNvPr>
              <p14:cNvContentPartPr/>
              <p14:nvPr/>
            </p14:nvContentPartPr>
            <p14:xfrm>
              <a:off x="-1958460" y="3062940"/>
              <a:ext cx="289080" cy="90360"/>
            </p14:xfrm>
          </p:contentPart>
        </mc:Choice>
        <mc:Fallback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716CD266-C47C-C035-D204-37787F67743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-1964580" y="3056820"/>
                <a:ext cx="30132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FB9B1A97-CACF-BA6D-49C5-9F46FDB884FA}"/>
                  </a:ext>
                </a:extLst>
              </p14:cNvPr>
              <p14:cNvContentPartPr/>
              <p14:nvPr/>
            </p14:nvContentPartPr>
            <p14:xfrm>
              <a:off x="-1409820" y="2796540"/>
              <a:ext cx="272520" cy="374760"/>
            </p14:xfrm>
          </p:contentPart>
        </mc:Choice>
        <mc:Fallback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FB9B1A97-CACF-BA6D-49C5-9F46FDB884F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-1415940" y="2790420"/>
                <a:ext cx="28476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ECEFBB8E-D9B0-6F97-2326-5A8D1ED4F917}"/>
                  </a:ext>
                </a:extLst>
              </p14:cNvPr>
              <p14:cNvContentPartPr/>
              <p14:nvPr/>
            </p14:nvContentPartPr>
            <p14:xfrm>
              <a:off x="-1300740" y="2903100"/>
              <a:ext cx="150480" cy="30096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ECEFBB8E-D9B0-6F97-2326-5A8D1ED4F91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-1306860" y="2896980"/>
                <a:ext cx="1627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A5423BF3-A7DA-1ADF-9E35-C886C182116C}"/>
                  </a:ext>
                </a:extLst>
              </p14:cNvPr>
              <p14:cNvContentPartPr/>
              <p14:nvPr/>
            </p14:nvContentPartPr>
            <p14:xfrm>
              <a:off x="-1280220" y="2803740"/>
              <a:ext cx="79920" cy="6480"/>
            </p14:xfrm>
          </p:contentPart>
        </mc:Choice>
        <mc:Fallback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A5423BF3-A7DA-1ADF-9E35-C886C182116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-1286340" y="2797620"/>
                <a:ext cx="921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" name="Рукописный ввод 19">
                <a:extLst>
                  <a:ext uri="{FF2B5EF4-FFF2-40B4-BE49-F238E27FC236}">
                    <a16:creationId xmlns:a16="http://schemas.microsoft.com/office/drawing/2014/main" id="{176E2F17-7318-69C0-8AB8-10B7697FDFB7}"/>
                  </a:ext>
                </a:extLst>
              </p14:cNvPr>
              <p14:cNvContentPartPr/>
              <p14:nvPr/>
            </p14:nvContentPartPr>
            <p14:xfrm>
              <a:off x="-1021020" y="3002100"/>
              <a:ext cx="164160" cy="47160"/>
            </p14:xfrm>
          </p:contentPart>
        </mc:Choice>
        <mc:Fallback>
          <p:pic>
            <p:nvPicPr>
              <p:cNvPr id="20" name="Рукописный ввод 19">
                <a:extLst>
                  <a:ext uri="{FF2B5EF4-FFF2-40B4-BE49-F238E27FC236}">
                    <a16:creationId xmlns:a16="http://schemas.microsoft.com/office/drawing/2014/main" id="{176E2F17-7318-69C0-8AB8-10B7697FDFB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-1027140" y="2995980"/>
                <a:ext cx="1764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1" name="Рукописный ввод 20">
                <a:extLst>
                  <a:ext uri="{FF2B5EF4-FFF2-40B4-BE49-F238E27FC236}">
                    <a16:creationId xmlns:a16="http://schemas.microsoft.com/office/drawing/2014/main" id="{EB21DEDA-D018-A20B-0774-698D66958933}"/>
                  </a:ext>
                </a:extLst>
              </p14:cNvPr>
              <p14:cNvContentPartPr/>
              <p14:nvPr/>
            </p14:nvContentPartPr>
            <p14:xfrm>
              <a:off x="-724380" y="2667660"/>
              <a:ext cx="261720" cy="529560"/>
            </p14:xfrm>
          </p:contentPart>
        </mc:Choice>
        <mc:Fallback>
          <p:pic>
            <p:nvPicPr>
              <p:cNvPr id="21" name="Рукописный ввод 20">
                <a:extLst>
                  <a:ext uri="{FF2B5EF4-FFF2-40B4-BE49-F238E27FC236}">
                    <a16:creationId xmlns:a16="http://schemas.microsoft.com/office/drawing/2014/main" id="{EB21DEDA-D018-A20B-0774-698D6695893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730500" y="2661540"/>
                <a:ext cx="27396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2" name="Рукописный ввод 21">
                <a:extLst>
                  <a:ext uri="{FF2B5EF4-FFF2-40B4-BE49-F238E27FC236}">
                    <a16:creationId xmlns:a16="http://schemas.microsoft.com/office/drawing/2014/main" id="{B3E02A41-FD1F-5B73-B30B-12F051A81D17}"/>
                  </a:ext>
                </a:extLst>
              </p14:cNvPr>
              <p14:cNvContentPartPr/>
              <p14:nvPr/>
            </p14:nvContentPartPr>
            <p14:xfrm>
              <a:off x="-1249620" y="3474780"/>
              <a:ext cx="1076760" cy="136440"/>
            </p14:xfrm>
          </p:contentPart>
        </mc:Choice>
        <mc:Fallback>
          <p:pic>
            <p:nvPicPr>
              <p:cNvPr id="22" name="Рукописный ввод 21">
                <a:extLst>
                  <a:ext uri="{FF2B5EF4-FFF2-40B4-BE49-F238E27FC236}">
                    <a16:creationId xmlns:a16="http://schemas.microsoft.com/office/drawing/2014/main" id="{B3E02A41-FD1F-5B73-B30B-12F051A81D1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-1255740" y="3468660"/>
                <a:ext cx="10890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41382907-5743-EDA2-8379-8F690806EEDD}"/>
                  </a:ext>
                </a:extLst>
              </p14:cNvPr>
              <p14:cNvContentPartPr/>
              <p14:nvPr/>
            </p14:nvContentPartPr>
            <p14:xfrm>
              <a:off x="-1169340" y="3847740"/>
              <a:ext cx="404280" cy="291960"/>
            </p14:xfrm>
          </p:contentPart>
        </mc:Choice>
        <mc:Fallback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41382907-5743-EDA2-8379-8F690806EED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-1175460" y="3841620"/>
                <a:ext cx="4165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202D7217-DD4C-E3FD-3B37-EEA2F3EF43CB}"/>
                  </a:ext>
                </a:extLst>
              </p14:cNvPr>
              <p14:cNvContentPartPr/>
              <p14:nvPr/>
            </p14:nvContentPartPr>
            <p14:xfrm>
              <a:off x="-692700" y="3786900"/>
              <a:ext cx="136800" cy="348480"/>
            </p14:xfrm>
          </p:contentPart>
        </mc:Choice>
        <mc:Fallback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202D7217-DD4C-E3FD-3B37-EEA2F3EF43C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-698820" y="3780780"/>
                <a:ext cx="1490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CE1F4B24-95A1-C1DE-AEEA-E8BB826D1B86}"/>
                  </a:ext>
                </a:extLst>
              </p14:cNvPr>
              <p14:cNvContentPartPr/>
              <p14:nvPr/>
            </p14:nvContentPartPr>
            <p14:xfrm>
              <a:off x="-480300" y="3786180"/>
              <a:ext cx="313560" cy="360720"/>
            </p14:xfrm>
          </p:contentPart>
        </mc:Choice>
        <mc:Fallback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CE1F4B24-95A1-C1DE-AEEA-E8BB826D1B8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-486420" y="3780060"/>
                <a:ext cx="32580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6" name="Рукописный ввод 25">
                <a:extLst>
                  <a:ext uri="{FF2B5EF4-FFF2-40B4-BE49-F238E27FC236}">
                    <a16:creationId xmlns:a16="http://schemas.microsoft.com/office/drawing/2014/main" id="{A4C8B702-B422-1673-8E0D-89995F9BE53C}"/>
                  </a:ext>
                </a:extLst>
              </p14:cNvPr>
              <p14:cNvContentPartPr/>
              <p14:nvPr/>
            </p14:nvContentPartPr>
            <p14:xfrm>
              <a:off x="-251700" y="3912900"/>
              <a:ext cx="117720" cy="190800"/>
            </p14:xfrm>
          </p:contentPart>
        </mc:Choice>
        <mc:Fallback>
          <p:pic>
            <p:nvPicPr>
              <p:cNvPr id="26" name="Рукописный ввод 25">
                <a:extLst>
                  <a:ext uri="{FF2B5EF4-FFF2-40B4-BE49-F238E27FC236}">
                    <a16:creationId xmlns:a16="http://schemas.microsoft.com/office/drawing/2014/main" id="{A4C8B702-B422-1673-8E0D-89995F9BE53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-257820" y="3906780"/>
                <a:ext cx="12996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7" name="Рукописный ввод 26">
                <a:extLst>
                  <a:ext uri="{FF2B5EF4-FFF2-40B4-BE49-F238E27FC236}">
                    <a16:creationId xmlns:a16="http://schemas.microsoft.com/office/drawing/2014/main" id="{B4FDDCA5-D534-A44E-DFD9-50727BE39B9E}"/>
                  </a:ext>
                </a:extLst>
              </p14:cNvPr>
              <p14:cNvContentPartPr/>
              <p14:nvPr/>
            </p14:nvContentPartPr>
            <p14:xfrm>
              <a:off x="-1927860" y="4846020"/>
              <a:ext cx="32040" cy="635400"/>
            </p14:xfrm>
          </p:contentPart>
        </mc:Choice>
        <mc:Fallback>
          <p:pic>
            <p:nvPicPr>
              <p:cNvPr id="27" name="Рукописный ввод 26">
                <a:extLst>
                  <a:ext uri="{FF2B5EF4-FFF2-40B4-BE49-F238E27FC236}">
                    <a16:creationId xmlns:a16="http://schemas.microsoft.com/office/drawing/2014/main" id="{B4FDDCA5-D534-A44E-DFD9-50727BE39B9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-1933980" y="4839900"/>
                <a:ext cx="44280" cy="6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B9E5B73B-DB8C-7215-0948-D8C8DEB73882}"/>
                  </a:ext>
                </a:extLst>
              </p14:cNvPr>
              <p14:cNvContentPartPr/>
              <p14:nvPr/>
            </p14:nvContentPartPr>
            <p14:xfrm>
              <a:off x="-1777380" y="5051940"/>
              <a:ext cx="332640" cy="381600"/>
            </p14:xfrm>
          </p:contentPart>
        </mc:Choice>
        <mc:Fallback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B9E5B73B-DB8C-7215-0948-D8C8DEB7388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-1783500" y="5045820"/>
                <a:ext cx="34488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3884E688-5739-B3CD-1341-9919D7FE444E}"/>
                  </a:ext>
                </a:extLst>
              </p14:cNvPr>
              <p14:cNvContentPartPr/>
              <p14:nvPr/>
            </p14:nvContentPartPr>
            <p14:xfrm>
              <a:off x="-1341420" y="4800660"/>
              <a:ext cx="31320" cy="66924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3884E688-5739-B3CD-1341-9919D7FE444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-1347540" y="4794540"/>
                <a:ext cx="43560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66C7F025-6046-0495-4AF7-D8657D718E10}"/>
                  </a:ext>
                </a:extLst>
              </p14:cNvPr>
              <p14:cNvContentPartPr/>
              <p14:nvPr/>
            </p14:nvContentPartPr>
            <p14:xfrm>
              <a:off x="-1202820" y="5097660"/>
              <a:ext cx="128160" cy="18144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66C7F025-6046-0495-4AF7-D8657D718E1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-1208940" y="5091540"/>
                <a:ext cx="1404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1" name="Рукописный ввод 30">
                <a:extLst>
                  <a:ext uri="{FF2B5EF4-FFF2-40B4-BE49-F238E27FC236}">
                    <a16:creationId xmlns:a16="http://schemas.microsoft.com/office/drawing/2014/main" id="{BCE16014-838B-3A88-E041-274EE3615C23}"/>
                  </a:ext>
                </a:extLst>
              </p14:cNvPr>
              <p14:cNvContentPartPr/>
              <p14:nvPr/>
            </p14:nvContentPartPr>
            <p14:xfrm>
              <a:off x="-960180" y="5094060"/>
              <a:ext cx="259920" cy="262800"/>
            </p14:xfrm>
          </p:contentPart>
        </mc:Choice>
        <mc:Fallback>
          <p:pic>
            <p:nvPicPr>
              <p:cNvPr id="31" name="Рукописный ввод 30">
                <a:extLst>
                  <a:ext uri="{FF2B5EF4-FFF2-40B4-BE49-F238E27FC236}">
                    <a16:creationId xmlns:a16="http://schemas.microsoft.com/office/drawing/2014/main" id="{BCE16014-838B-3A88-E041-274EE3615C2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-966300" y="5087940"/>
                <a:ext cx="27216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2" name="Рукописный ввод 31">
                <a:extLst>
                  <a:ext uri="{FF2B5EF4-FFF2-40B4-BE49-F238E27FC236}">
                    <a16:creationId xmlns:a16="http://schemas.microsoft.com/office/drawing/2014/main" id="{6678313B-6B2A-FDFF-195C-BC1F36201146}"/>
                  </a:ext>
                </a:extLst>
              </p14:cNvPr>
              <p14:cNvContentPartPr/>
              <p14:nvPr/>
            </p14:nvContentPartPr>
            <p14:xfrm>
              <a:off x="-594420" y="5179380"/>
              <a:ext cx="11520" cy="205200"/>
            </p14:xfrm>
          </p:contentPart>
        </mc:Choice>
        <mc:Fallback>
          <p:pic>
            <p:nvPicPr>
              <p:cNvPr id="32" name="Рукописный ввод 31">
                <a:extLst>
                  <a:ext uri="{FF2B5EF4-FFF2-40B4-BE49-F238E27FC236}">
                    <a16:creationId xmlns:a16="http://schemas.microsoft.com/office/drawing/2014/main" id="{6678313B-6B2A-FDFF-195C-BC1F3620114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-600540" y="5173260"/>
                <a:ext cx="237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3" name="Рукописный ввод 32">
                <a:extLst>
                  <a:ext uri="{FF2B5EF4-FFF2-40B4-BE49-F238E27FC236}">
                    <a16:creationId xmlns:a16="http://schemas.microsoft.com/office/drawing/2014/main" id="{0C95319D-C506-0190-0C34-09CBE1ACBB2A}"/>
                  </a:ext>
                </a:extLst>
              </p14:cNvPr>
              <p14:cNvContentPartPr/>
              <p14:nvPr/>
            </p14:nvContentPartPr>
            <p14:xfrm>
              <a:off x="-533580" y="5280180"/>
              <a:ext cx="75960" cy="8280"/>
            </p14:xfrm>
          </p:contentPart>
        </mc:Choice>
        <mc:Fallback>
          <p:pic>
            <p:nvPicPr>
              <p:cNvPr id="33" name="Рукописный ввод 32">
                <a:extLst>
                  <a:ext uri="{FF2B5EF4-FFF2-40B4-BE49-F238E27FC236}">
                    <a16:creationId xmlns:a16="http://schemas.microsoft.com/office/drawing/2014/main" id="{0C95319D-C506-0190-0C34-09CBE1ACBB2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-539700" y="5274060"/>
                <a:ext cx="882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4" name="Рукописный ввод 33">
                <a:extLst>
                  <a:ext uri="{FF2B5EF4-FFF2-40B4-BE49-F238E27FC236}">
                    <a16:creationId xmlns:a16="http://schemas.microsoft.com/office/drawing/2014/main" id="{4BF2E7F7-1482-9B67-F5ED-7F5398392BBC}"/>
                  </a:ext>
                </a:extLst>
              </p14:cNvPr>
              <p14:cNvContentPartPr/>
              <p14:nvPr/>
            </p14:nvContentPartPr>
            <p14:xfrm>
              <a:off x="-353580" y="5145900"/>
              <a:ext cx="127440" cy="257400"/>
            </p14:xfrm>
          </p:contentPart>
        </mc:Choice>
        <mc:Fallback>
          <p:pic>
            <p:nvPicPr>
              <p:cNvPr id="34" name="Рукописный ввод 33">
                <a:extLst>
                  <a:ext uri="{FF2B5EF4-FFF2-40B4-BE49-F238E27FC236}">
                    <a16:creationId xmlns:a16="http://schemas.microsoft.com/office/drawing/2014/main" id="{4BF2E7F7-1482-9B67-F5ED-7F5398392BB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-359700" y="5139780"/>
                <a:ext cx="1396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5" name="Рукописный ввод 34">
                <a:extLst>
                  <a:ext uri="{FF2B5EF4-FFF2-40B4-BE49-F238E27FC236}">
                    <a16:creationId xmlns:a16="http://schemas.microsoft.com/office/drawing/2014/main" id="{1DE05973-2830-2646-365D-CFAB09F58EDF}"/>
                  </a:ext>
                </a:extLst>
              </p14:cNvPr>
              <p14:cNvContentPartPr/>
              <p14:nvPr/>
            </p14:nvContentPartPr>
            <p14:xfrm>
              <a:off x="-183300" y="5204220"/>
              <a:ext cx="130320" cy="283680"/>
            </p14:xfrm>
          </p:contentPart>
        </mc:Choice>
        <mc:Fallback>
          <p:pic>
            <p:nvPicPr>
              <p:cNvPr id="35" name="Рукописный ввод 34">
                <a:extLst>
                  <a:ext uri="{FF2B5EF4-FFF2-40B4-BE49-F238E27FC236}">
                    <a16:creationId xmlns:a16="http://schemas.microsoft.com/office/drawing/2014/main" id="{1DE05973-2830-2646-365D-CFAB09F58ED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-189420" y="5198100"/>
                <a:ext cx="1425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36" name="Рукописный ввод 35">
                <a:extLst>
                  <a:ext uri="{FF2B5EF4-FFF2-40B4-BE49-F238E27FC236}">
                    <a16:creationId xmlns:a16="http://schemas.microsoft.com/office/drawing/2014/main" id="{B386288A-D31B-902B-F306-A217CC29F703}"/>
                  </a:ext>
                </a:extLst>
              </p14:cNvPr>
              <p14:cNvContentPartPr/>
              <p14:nvPr/>
            </p14:nvContentPartPr>
            <p14:xfrm>
              <a:off x="-144420" y="5358660"/>
              <a:ext cx="99720" cy="177480"/>
            </p14:xfrm>
          </p:contentPart>
        </mc:Choice>
        <mc:Fallback>
          <p:pic>
            <p:nvPicPr>
              <p:cNvPr id="36" name="Рукописный ввод 35">
                <a:extLst>
                  <a:ext uri="{FF2B5EF4-FFF2-40B4-BE49-F238E27FC236}">
                    <a16:creationId xmlns:a16="http://schemas.microsoft.com/office/drawing/2014/main" id="{B386288A-D31B-902B-F306-A217CC29F70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-150540" y="5352540"/>
                <a:ext cx="111960" cy="18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8812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7BC4-8A63-0E7C-A458-0E478ADE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15B8D2-8E8D-C036-39F9-04E9F9CE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CB0F0DBE-0B27-B15D-79BA-A0FDD4414A6E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Критерии, основанные на доверительных интервалах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487878-A255-62DA-3555-BAD2E92B605E}"/>
                  </a:ext>
                </a:extLst>
              </p:cNvPr>
              <p:cNvSpPr txBox="1"/>
              <p:nvPr/>
            </p:nvSpPr>
            <p:spPr>
              <a:xfrm>
                <a:off x="1" y="691929"/>
                <a:ext cx="9143999" cy="6342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Имеется выборка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из нормального  распределения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с известной дисперсией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. Проверяется простая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} против сложной альтернативы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} . Построим критерий размера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/>
                  <a:t> </a:t>
                </a:r>
                <a:r>
                  <a:rPr lang="ru-RU" dirty="0"/>
                  <a:t>с помощью функции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ctr"/>
                <a:endParaRPr lang="en-US" dirty="0"/>
              </a:p>
              <a:p>
                <a:pPr marL="342900" indent="-342900" algn="just">
                  <a:buAutoNum type="arabicParenR"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верна, 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ru-RU" dirty="0"/>
                  <a:t>. По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выберем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ru-RU" dirty="0"/>
                  <a:t> — квантиль нормального распределения уровня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1 − 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ru-RU" dirty="0"/>
                  <a:t>Критерий выглядит как все критерии согласия:</a:t>
                </a:r>
                <a:endParaRPr lang="en-US" dirty="0"/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sub>
                            </m:sSub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2) если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, то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  <m:groupChr>
                      <m:groupChrPr>
                        <m:chr m:val="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Критерий имеет точный размер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 и является состоятельным.</a:t>
                </a:r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ru-RU" dirty="0"/>
                  <a:t>Аналогичным способом строится проверка гипотезы о среднем нормального распределения с неизвестной дисперсией </a:t>
                </a: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487878-A255-62DA-3555-BAD2E92B6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691929"/>
                <a:ext cx="9143999" cy="6342442"/>
              </a:xfrm>
              <a:prstGeom prst="rect">
                <a:avLst/>
              </a:prstGeom>
              <a:blipFill>
                <a:blip r:embed="rId2"/>
                <a:stretch>
                  <a:fillRect l="-533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802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CB25D-EF45-8204-E264-D00810BA8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7B66B7-61BD-C46C-A225-624051AFA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73F88-3387-453B-9303-AC0210B95CB8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46E6323C-A10D-C91D-CFC5-B168AC38AA64}"/>
              </a:ext>
            </a:extLst>
          </p:cNvPr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gradFill>
            <a:gsLst>
              <a:gs pos="3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spcBef>
                <a:spcPts val="300"/>
              </a:spcBef>
            </a:pPr>
            <a:r>
              <a:rPr lang="ru-RU" sz="2400" b="1" dirty="0">
                <a:solidFill>
                  <a:schemeClr val="tx1"/>
                </a:solidFill>
              </a:rPr>
              <a:t>Критерии, основанные на доверительных интервалах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2A58F8-06D9-A6EC-9DAD-8C0A0373B583}"/>
                  </a:ext>
                </a:extLst>
              </p:cNvPr>
              <p:cNvSpPr txBox="1"/>
              <p:nvPr/>
            </p:nvSpPr>
            <p:spPr>
              <a:xfrm>
                <a:off x="1" y="632936"/>
                <a:ext cx="9143999" cy="5913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Имеется выборка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из нормального  распределения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с неизвестной дисперсией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. Проверяется простая гипотеза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} против сложной альтернативы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} . Критерий, который мы построим, называют </a:t>
                </a:r>
                <a:r>
                  <a:rPr lang="ru-RU" dirty="0" err="1"/>
                  <a:t>одновыборочным</a:t>
                </a:r>
                <a:r>
                  <a:rPr lang="ru-RU" dirty="0"/>
                  <a:t> критерием Стьюдента. Введём функцию отклонения</a:t>
                </a:r>
              </a:p>
              <a:p>
                <a:pPr algn="just"/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ru-RU" dirty="0"/>
                  <a:t>По следствию леммы Фишера выполнено условие:</a:t>
                </a:r>
                <a:endParaRPr lang="en-US" dirty="0"/>
              </a:p>
              <a:p>
                <a:pPr marL="342900" indent="-342900" algn="just">
                  <a:buAutoNum type="arabicParenR"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 имеет распределение Стьюдента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342900" indent="-342900" algn="just">
                  <a:buAutoNum type="arabicParenR"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, то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groupChr>
                      <m:groupChrPr>
                        <m:chr m:val="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dirty="0"/>
                  <a:t>Критерий строится так же, но в качестве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следует брать квантиль распределения Стьюдента, а не стандартного нормального распределения. Поэтому остаётся по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/>
                  <a:t> найти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—квантиль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algn="just"/>
                <a:r>
                  <a:rPr lang="ru-RU" dirty="0"/>
                  <a:t>Критерий Стьюдента выглядит как все критерии согласия:</a:t>
                </a:r>
                <a:endParaRPr lang="en-US" dirty="0"/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если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b>
                                </m:sSub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2A58F8-06D9-A6EC-9DAD-8C0A0373B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632936"/>
                <a:ext cx="9143999" cy="5913991"/>
              </a:xfrm>
              <a:prstGeom prst="rect">
                <a:avLst/>
              </a:prstGeom>
              <a:blipFill>
                <a:blip r:embed="rId2"/>
                <a:stretch>
                  <a:fillRect l="-533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1616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C74B33-8221-4F1F-8E3E-E507B0C5E833}">
  <we:reference id="wa200004052" version="1.0.0.2" store="ru-RU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14452</TotalTime>
  <Words>4798</Words>
  <Application>Microsoft Office PowerPoint</Application>
  <PresentationFormat>Экран (4:3)</PresentationFormat>
  <Paragraphs>362</Paragraphs>
  <Slides>29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 presentation</dc:title>
  <dc:creator>Павел</dc:creator>
  <cp:lastModifiedBy>Dmitrii Pereima</cp:lastModifiedBy>
  <cp:revision>4822</cp:revision>
  <dcterms:created xsi:type="dcterms:W3CDTF">2014-11-21T11:00:06Z</dcterms:created>
  <dcterms:modified xsi:type="dcterms:W3CDTF">2025-11-10T18:12:45Z</dcterms:modified>
</cp:coreProperties>
</file>