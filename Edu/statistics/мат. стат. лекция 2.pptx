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38"/>
  </p:notesMasterIdLst>
  <p:sldIdLst>
    <p:sldId id="674" r:id="rId2"/>
    <p:sldId id="697" r:id="rId3"/>
    <p:sldId id="701" r:id="rId4"/>
    <p:sldId id="702" r:id="rId5"/>
    <p:sldId id="704" r:id="rId6"/>
    <p:sldId id="731" r:id="rId7"/>
    <p:sldId id="705" r:id="rId8"/>
    <p:sldId id="732" r:id="rId9"/>
    <p:sldId id="733" r:id="rId10"/>
    <p:sldId id="734" r:id="rId11"/>
    <p:sldId id="735" r:id="rId12"/>
    <p:sldId id="736" r:id="rId13"/>
    <p:sldId id="737" r:id="rId14"/>
    <p:sldId id="738" r:id="rId15"/>
    <p:sldId id="739" r:id="rId16"/>
    <p:sldId id="740" r:id="rId17"/>
    <p:sldId id="741" r:id="rId18"/>
    <p:sldId id="742" r:id="rId19"/>
    <p:sldId id="743" r:id="rId20"/>
    <p:sldId id="744" r:id="rId21"/>
    <p:sldId id="745" r:id="rId22"/>
    <p:sldId id="746" r:id="rId23"/>
    <p:sldId id="747" r:id="rId24"/>
    <p:sldId id="748" r:id="rId25"/>
    <p:sldId id="749" r:id="rId26"/>
    <p:sldId id="750" r:id="rId27"/>
    <p:sldId id="751" r:id="rId28"/>
    <p:sldId id="752" r:id="rId29"/>
    <p:sldId id="753" r:id="rId30"/>
    <p:sldId id="754" r:id="rId31"/>
    <p:sldId id="755" r:id="rId32"/>
    <p:sldId id="756" r:id="rId33"/>
    <p:sldId id="757" r:id="rId34"/>
    <p:sldId id="758" r:id="rId35"/>
    <p:sldId id="759" r:id="rId36"/>
    <p:sldId id="760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00"/>
    <a:srgbClr val="FF9900"/>
    <a:srgbClr val="E335BE"/>
    <a:srgbClr val="00CC99"/>
    <a:srgbClr val="3333FF"/>
    <a:srgbClr val="FF0048"/>
    <a:srgbClr val="BFBFBD"/>
    <a:srgbClr val="2B8911"/>
    <a:srgbClr val="FB2D2D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6247" autoAdjust="0"/>
  </p:normalViewPr>
  <p:slideViewPr>
    <p:cSldViewPr snapToGrid="0">
      <p:cViewPr varScale="1">
        <p:scale>
          <a:sx n="124" d="100"/>
          <a:sy n="124" d="100"/>
        </p:scale>
        <p:origin x="1842" y="10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3ACDA-B884-4AA3-AF33-6940047B60A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15D47-7E78-4758-B888-FA06178A4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9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214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Условие из определения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означает, что для любого действительного числа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множество всех исходов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𝜔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для которых значение случайной величины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ru-RU" b="0" i="0">
                    <a:latin typeface="Cambria Math" panose="02040503050406030204" pitchFamily="18" charset="0"/>
                  </a:rPr>
                  <a:t>(ω</a:t>
                </a:r>
                <a:r>
                  <a:rPr lang="en-US" b="0" i="0">
                    <a:latin typeface="Cambria Math" panose="02040503050406030204" pitchFamily="18" charset="0"/>
                  </a:rPr>
                  <a:t>)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меньше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должно быть событием (т.е. принадлежать </a:t>
                </a:r>
                <a:r>
                  <a:rPr lang="en-US" b="0" i="0">
                    <a:latin typeface="Cambria Math" panose="02040503050406030204" pitchFamily="18" charset="0"/>
                  </a:rPr>
                  <a:t>𝜎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-алгебре </a:t>
                </a:r>
                <a:r>
                  <a:rPr lang="en-US" i="0">
                    <a:latin typeface="Cambria Math" panose="02040503050406030204" pitchFamily="18" charset="0"/>
                  </a:rPr>
                  <a:t>𝒜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Условие из определения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нужно для того, чтобы можно было корректно определить вероятность событий, связанных со случайной величиной. Например, вероятность того, что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en-US" b="0" i="0">
                    <a:latin typeface="Cambria Math" panose="02040503050406030204" pitchFamily="18" charset="0"/>
                  </a:rPr>
                  <a:t>&lt;5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должна иметь смысл. Для этого множество всех исходов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𝜔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где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en-US" b="0" i="0">
                    <a:latin typeface="Cambria Math" panose="02040503050406030204" pitchFamily="18" charset="0"/>
                  </a:rPr>
                  <a:t>(𝜔)&lt;5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должно быть "измеримым" (т.е. принадлежать </a:t>
                </a:r>
                <a:r>
                  <a:rPr lang="en-US" b="0" i="0">
                    <a:latin typeface="Cambria Math" panose="02040503050406030204" pitchFamily="18" charset="0"/>
                  </a:rPr>
                  <a:t>𝜎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-алгебре событий).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595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Для </a:t>
                </a:r>
                <a:r>
                  <a:rPr lang="en-US" i="0" dirty="0">
                    <a:latin typeface="Cambria Math" panose="02040503050406030204" pitchFamily="18" charset="0"/>
                  </a:rPr>
                  <a:t>𝜉=</a:t>
                </a:r>
                <a:r>
                  <a:rPr lang="en-US" b="0" i="0" dirty="0">
                    <a:latin typeface="Cambria Math" panose="02040503050406030204" pitchFamily="18" charset="0"/>
                  </a:rPr>
                  <a:t>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мы фиксируем, что первые 4 билета проиграли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(𝑞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^4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),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а пятый билет покупается автоматически, независимо от его результата. Если бы мы хотели найти вероятность того, что пятый билет выиграл , то тогда бы мы умножили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𝑞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^4⋅𝑝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Однако в данном случае нам важно только то, что первые 4 билета проиграли , а пятый билет покупается вне зависимости от его результата.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80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Функция плотности есть производная от функции распределения </a:t>
                </a:r>
                <a:r>
                  <a:rPr lang="en-US" b="0" i="0">
                    <a:latin typeface="Cambria Math" panose="02040503050406030204" pitchFamily="18" charset="0"/>
                  </a:rPr>
                  <a:t>𝑝_𝜉 (𝑥)</a:t>
                </a:r>
                <a:r>
                  <a:rPr lang="ru-RU" b="0" i="0">
                    <a:latin typeface="Cambria Math" panose="02040503050406030204" pitchFamily="18" charset="0"/>
                  </a:rPr>
                  <a:t>=</a:t>
                </a:r>
                <a:r>
                  <a:rPr lang="en-US" b="0" i="0">
                    <a:latin typeface="Cambria Math" panose="02040503050406030204" pitchFamily="18" charset="0"/>
                  </a:rPr>
                  <a:t>𝑑/𝑑𝑥 𝐹_𝜉</a:t>
                </a:r>
                <a:r>
                  <a:rPr lang="ru-RU" b="0" i="0">
                    <a:latin typeface="Cambria Math" panose="02040503050406030204" pitchFamily="18" charset="0"/>
                  </a:rPr>
                  <a:t> (</a:t>
                </a:r>
                <a:r>
                  <a:rPr lang="en-US" b="0" i="0">
                    <a:latin typeface="Cambria Math" panose="02040503050406030204" pitchFamily="18" charset="0"/>
                  </a:rPr>
                  <a:t>𝑥)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907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74AD-29DC-1211-8F65-60144212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8FB09E-01D7-EF65-3ED2-4F4AF1AE8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5EE6E2-8014-0485-848A-114433E3B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437884-A113-EA92-FB67-921A59672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72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E3211-4AB5-A58E-62A8-4C815C9A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C5D40A-79E7-52C0-5969-A2A71E4A6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3EACA7-FF5C-CCBE-0BF4-6FD71C872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E75C6F-1398-6580-74DD-06A9B8F3B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341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133F-FC17-A9B5-8908-A93060FC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E6AD352-1FCB-C962-B508-8011DE1DC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B0D1815-94E0-3A13-8AD0-34BFAA2EE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9C19D7-553F-457B-7731-F54B27E4A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967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3986-3AA5-5FB3-9A40-C3478180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43B879-7205-5ED5-A9A8-997ACE084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4B3410C-73F5-FABF-0BA1-90E8CD319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DF403-CB91-082F-5A05-0892D2FB0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00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210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544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583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A507-93E1-40C9-ADA4-F5B161D6F337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7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954-5889-4488-BCF3-1B7F871E7D4D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67474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26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4225-81CD-47DA-8A1A-F09F96499ACF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55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0DC9-8147-4698-9A84-F09EB352936B}" type="datetime1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08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75D6A-AB91-4CFC-A333-041F04CB5271}" type="datetime1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00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BEB9-804F-4CF1-863E-32C8EA5BB236}" type="datetime1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5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BE86-6624-406B-BDE7-5ED7CE43D9FD}" type="datetime1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92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99EF-E5C7-411A-B296-A803C7CDAADC}" type="datetime1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0913-C371-4B2D-AAED-6A797AE16B88}" type="datetime1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14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8496-8AE7-4B5E-8807-A99D508CA027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0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D31D-7D36-4FAD-9BBC-3A3131AB89E9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074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B0373-42FD-427C-890F-8A785E9C3575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A1771-73EE-18C6-E0DC-8DC84DF1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43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B628B-C2EA-2A3F-A5C4-91815146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6AE1D4-2ABA-F467-658B-16D02B7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DF811-B8BC-4195-8896-B8390D341C47}" type="datetime1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C98430-D455-A8DB-64E0-EC280EED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7C63F1-AF5C-5ECB-8AC4-E2EA1829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DF811-B8BC-4195-8896-B8390D341C47}" type="datetime1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8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8187B26-AEC0-27C7-71F0-789D56B321FE}"/>
              </a:ext>
            </a:extLst>
          </p:cNvPr>
          <p:cNvSpPr txBox="1">
            <a:spLocks/>
          </p:cNvSpPr>
          <p:nvPr/>
        </p:nvSpPr>
        <p:spPr>
          <a:xfrm>
            <a:off x="-17583" y="717493"/>
            <a:ext cx="9155722" cy="2711507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Cambria Math"/>
                <a:ea typeface="+mj-ea"/>
                <a:cs typeface="Cambria Math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Математическая статистика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Лекция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: «Основные понятия математической статистики»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12DF45-B881-CF76-722C-0A8373E8591B}"/>
              </a:ext>
            </a:extLst>
          </p:cNvPr>
          <p:cNvSpPr txBox="1">
            <a:spLocks/>
          </p:cNvSpPr>
          <p:nvPr/>
        </p:nvSpPr>
        <p:spPr>
          <a:xfrm>
            <a:off x="-5861" y="6435306"/>
            <a:ext cx="9144000" cy="422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ноября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202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4DDC660-0C2C-EB1A-25D7-2F128125109A}"/>
              </a:ext>
            </a:extLst>
          </p:cNvPr>
          <p:cNvSpPr txBox="1"/>
          <p:nvPr/>
        </p:nvSpPr>
        <p:spPr>
          <a:xfrm>
            <a:off x="897147" y="3885916"/>
            <a:ext cx="769476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Автор: к.ф.-м.н., доцент кафедры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«Криптология и кибербезопасность» НИЯУ МИФИ </a:t>
            </a:r>
          </a:p>
          <a:p>
            <a:pPr marL="12700" algn="ctr"/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Перейма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Дмитрий Юрьевич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16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31E20F56-41DA-6084-A0B7-13BBA0D0851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sp>
        <p:nvSpPr>
          <p:cNvPr id="21" name="Номер слайда 1">
            <a:extLst>
              <a:ext uri="{FF2B5EF4-FFF2-40B4-BE49-F238E27FC236}">
                <a16:creationId xmlns:a16="http://schemas.microsoft.com/office/drawing/2014/main" id="{78B925BC-EF5B-9DF1-4264-287D2530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73802-E9A6-5335-1ACA-7196EEDF5887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3999" cy="6854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ru-RU" sz="2000" dirty="0"/>
                  <a:t>Основы математической статистики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определение генеральной совокупности и выборки;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выборочные характеристики;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гистограмма;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точечные оценки и их свойства;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свойства выборочных моментов;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метод моментов получения точечных оценок;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метод максимального правдоподобия;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интервальные оценки (доверительные интервалы</a:t>
                </a:r>
                <a:r>
                  <a:rPr lang="en-US" sz="2000" dirty="0"/>
                  <a:t>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общий принцип построения точных доверительных интервалов;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распределения, связанные с нормальным:</a:t>
                </a:r>
              </a:p>
              <a:p>
                <a:pPr marL="1200150" lvl="2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(Пирсона)</a:t>
                </a:r>
                <a:r>
                  <a:rPr lang="en-US" sz="2000" dirty="0"/>
                  <a:t>;</a:t>
                </a:r>
              </a:p>
              <a:p>
                <a:pPr marL="1200150" lvl="2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распределение Стьюдента;</a:t>
                </a:r>
              </a:p>
              <a:p>
                <a:pPr marL="1200150" lvl="2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распределение Фишера;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преобразования нормальных выборок;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доверительные интервалы для нормальных выборок</a:t>
                </a:r>
                <a:r>
                  <a:rPr lang="en-US" sz="2000" dirty="0"/>
                  <a:t>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доверительные интервалы для параметров нормального распределения;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асимптотический доверительный интервал.</a:t>
                </a:r>
              </a:p>
              <a:p>
                <a:pPr lvl="1" algn="just">
                  <a:lnSpc>
                    <a:spcPct val="15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73802-E9A6-5335-1ACA-7196EEDF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3999" cy="68541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02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47DA-958A-DCAE-4FEB-F6E91783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977518D-CFAA-6B8F-1410-542124F81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19"/>
          <a:stretch>
            <a:fillRect/>
          </a:stretch>
        </p:blipFill>
        <p:spPr>
          <a:xfrm>
            <a:off x="921585" y="3461487"/>
            <a:ext cx="7300830" cy="2887033"/>
          </a:xfrm>
          <a:prstGeom prst="rect">
            <a:avLst/>
          </a:prstGeom>
        </p:spPr>
      </p:pic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B6F4423-9FEB-51C2-EF52-09533EE9A026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Определение выборки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1">
            <a:extLst>
              <a:ext uri="{FF2B5EF4-FFF2-40B4-BE49-F238E27FC236}">
                <a16:creationId xmlns:a16="http://schemas.microsoft.com/office/drawing/2014/main" id="{7B1AE127-4414-DD02-1F8F-77956B7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9AB287-8653-D03C-E4E9-FF32E1AAC72D}"/>
                  </a:ext>
                </a:extLst>
              </p:cNvPr>
              <p:cNvSpPr txBox="1"/>
              <p:nvPr/>
            </p:nvSpPr>
            <p:spPr>
              <a:xfrm>
                <a:off x="1" y="419100"/>
                <a:ext cx="914399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 случайная величина, наблюдаемая в случайном эксперименте. Проделывая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 этот эксперимент в одинаковых условиях, получим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значения наблюдаемой случайной величины в первом, втором и т.д. экспериментах. Случайная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имеет некоторое распределение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которое нам частично или полностью неизвестно.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9AB287-8653-D03C-E4E9-FF32E1AA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19100"/>
                <a:ext cx="9143999" cy="1477328"/>
              </a:xfrm>
              <a:prstGeom prst="rect">
                <a:avLst/>
              </a:prstGeom>
              <a:blipFill>
                <a:blip r:embed="rId4"/>
                <a:stretch>
                  <a:fillRect l="-533" t="-2479" r="-533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0B94A-EB94-5BDE-4CBE-E680FDDD8998}"/>
                  </a:ext>
                </a:extLst>
              </p:cNvPr>
              <p:cNvSpPr txBox="1"/>
              <p:nvPr/>
            </p:nvSpPr>
            <p:spPr>
              <a:xfrm>
                <a:off x="-21516" y="2698177"/>
                <a:ext cx="9144000" cy="956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</a:t>
                </a:r>
                <a:r>
                  <a:rPr lang="ru-RU" b="1" dirty="0">
                    <a:solidFill>
                      <a:srgbClr val="006400"/>
                    </a:solidFill>
                  </a:rPr>
                  <a:t>Выборкой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объема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 распределения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набор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независимых и одинаково распределенных случайных величин, имеющих распределение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0B94A-EB94-5BDE-4CBE-E680FDDD8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516" y="2698177"/>
                <a:ext cx="9144000" cy="956929"/>
              </a:xfrm>
              <a:prstGeom prst="rect">
                <a:avLst/>
              </a:prstGeom>
              <a:blipFill>
                <a:blip r:embed="rId5"/>
                <a:stretch>
                  <a:fillRect l="-533" r="-600" b="-95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DDBEB4-826D-008D-1896-5DCF90C3ED4F}"/>
              </a:ext>
            </a:extLst>
          </p:cNvPr>
          <p:cNvSpPr txBox="1"/>
          <p:nvPr/>
        </p:nvSpPr>
        <p:spPr>
          <a:xfrm>
            <a:off x="-1" y="6272459"/>
            <a:ext cx="914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Основной задачей статистики является  определение по выборке характеристик случайной величины, которую мы исследуем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2DA7F-2630-67B5-6F0F-09175DDFFEB4}"/>
                  </a:ext>
                </a:extLst>
              </p:cNvPr>
              <p:cNvSpPr txBox="1"/>
              <p:nvPr/>
            </p:nvSpPr>
            <p:spPr>
              <a:xfrm>
                <a:off x="0" y="1774847"/>
                <a:ext cx="912248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</a:t>
                </a:r>
                <a:r>
                  <a:rPr lang="ru-RU" b="1" i="0" dirty="0">
                    <a:solidFill>
                      <a:srgbClr val="006400"/>
                    </a:solidFill>
                    <a:effectLst/>
                    <a:latin typeface="system-ui"/>
                  </a:rPr>
                  <a:t>Генеральная совокупность </a:t>
                </a:r>
                <a:r>
                  <a:rPr lang="ru-RU" b="0" i="0" dirty="0">
                    <a:solidFill>
                      <a:srgbClr val="2C2C36"/>
                    </a:solidFill>
                    <a:effectLst/>
                    <a:latin typeface="system-ui"/>
                  </a:rPr>
                  <a:t>— это </a:t>
                </a:r>
                <a:r>
                  <a:rPr lang="ru-RU" b="0" i="0" dirty="0">
                    <a:solidFill>
                      <a:srgbClr val="111827"/>
                    </a:solidFill>
                    <a:effectLst/>
                    <a:latin typeface="system-ui"/>
                  </a:rPr>
                  <a:t>множество всех возможных значений</a:t>
                </a:r>
                <a:r>
                  <a:rPr lang="ru-RU" b="0" i="0" dirty="0">
                    <a:solidFill>
                      <a:srgbClr val="2C2C36"/>
                    </a:solidFill>
                    <a:effectLst/>
                    <a:latin typeface="system-ui"/>
                  </a:rPr>
                  <a:t>, которые может принимать случайная величина 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solidFill>
                          <a:srgbClr val="2C2C36"/>
                        </a:solidFill>
                        <a:effectLst/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b="0" i="0" dirty="0">
                    <a:solidFill>
                      <a:srgbClr val="2C2C36"/>
                    </a:solidFill>
                    <a:effectLst/>
                    <a:latin typeface="system-ui"/>
                  </a:rPr>
                  <a:t>. Она представляет собой </a:t>
                </a:r>
                <a:r>
                  <a:rPr lang="ru-RU" b="0" i="0" dirty="0">
                    <a:solidFill>
                      <a:srgbClr val="111827"/>
                    </a:solidFill>
                    <a:effectLst/>
                    <a:latin typeface="system-ui"/>
                  </a:rPr>
                  <a:t>теоретическую модель</a:t>
                </a:r>
                <a:r>
                  <a:rPr lang="ru-RU" b="0" i="0" dirty="0">
                    <a:solidFill>
                      <a:srgbClr val="2C2C36"/>
                    </a:solidFill>
                    <a:effectLst/>
                    <a:latin typeface="system-ui"/>
                  </a:rPr>
                  <a:t>, которая описывает все возможные исходы эксперимента.</a:t>
                </a:r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2DA7F-2630-67B5-6F0F-09175DDFF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74847"/>
                <a:ext cx="9122484" cy="923330"/>
              </a:xfrm>
              <a:prstGeom prst="rect">
                <a:avLst/>
              </a:prstGeom>
              <a:blipFill>
                <a:blip r:embed="rId6"/>
                <a:stretch>
                  <a:fillRect l="-535" t="-3289" r="-535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55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C4B0DC1-3FDF-B742-D119-C268BE86DB71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Выборочные характеристики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7908CC63-828F-C2CD-EE55-433EC428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5A2604-63E1-C274-1085-318D4E055F5A}"/>
                  </a:ext>
                </a:extLst>
              </p:cNvPr>
              <p:cNvSpPr txBox="1"/>
              <p:nvPr/>
            </p:nvSpPr>
            <p:spPr>
              <a:xfrm>
                <a:off x="0" y="432694"/>
                <a:ext cx="9144000" cy="66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Используя выборку, мы можем построить эмпирическую случайную величину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 своей эмпирической функцией распределения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5A2604-63E1-C274-1085-318D4E05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2694"/>
                <a:ext cx="9144000" cy="661335"/>
              </a:xfrm>
              <a:prstGeom prst="rect">
                <a:avLst/>
              </a:prstGeom>
              <a:blipFill>
                <a:blip r:embed="rId3"/>
                <a:stretch>
                  <a:fillRect t="-5556" r="-533" b="-12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DDC51-7C66-C5BA-6D59-58F25FDF6583}"/>
                  </a:ext>
                </a:extLst>
              </p:cNvPr>
              <p:cNvSpPr txBox="1"/>
              <p:nvPr/>
            </p:nvSpPr>
            <p:spPr>
              <a:xfrm>
                <a:off x="0" y="997207"/>
                <a:ext cx="9144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B2D2D"/>
                    </a:solidFill>
                  </a:rPr>
                  <a:t>Пример</a:t>
                </a:r>
                <a:r>
                  <a:rPr lang="ru-RU" dirty="0"/>
                  <a:t>: Рассмотрим реализацию выборки на одном элементарном исходе –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Разыграем случайную величину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которая принимает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 одинаковыми вероятностями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Запишем закон и функцию распределения случайной величины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DDC51-7C66-C5BA-6D59-58F25FDF6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97207"/>
                <a:ext cx="9144000" cy="1200329"/>
              </a:xfrm>
              <a:prstGeom prst="rect">
                <a:avLst/>
              </a:prstGeom>
              <a:blipFill>
                <a:blip r:embed="rId4"/>
                <a:stretch>
                  <a:fillRect l="-533" t="-3061" r="-533" b="-76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933683FB-51E3-4B48-1664-B8A2E40231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318630"/>
                  </p:ext>
                </p:extLst>
              </p:nvPr>
            </p:nvGraphicFramePr>
            <p:xfrm>
              <a:off x="2262990" y="2154508"/>
              <a:ext cx="46180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267">
                      <a:extLst>
                        <a:ext uri="{9D8B030D-6E8A-4147-A177-3AD203B41FA5}">
                          <a16:colId xmlns:a16="http://schemas.microsoft.com/office/drawing/2014/main" val="1875272433"/>
                        </a:ext>
                      </a:extLst>
                    </a:gridCol>
                    <a:gridCol w="1046480">
                      <a:extLst>
                        <a:ext uri="{9D8B030D-6E8A-4147-A177-3AD203B41FA5}">
                          <a16:colId xmlns:a16="http://schemas.microsoft.com/office/drawing/2014/main" val="291913351"/>
                        </a:ext>
                      </a:extLst>
                    </a:gridCol>
                    <a:gridCol w="927748">
                      <a:extLst>
                        <a:ext uri="{9D8B030D-6E8A-4147-A177-3AD203B41FA5}">
                          <a16:colId xmlns:a16="http://schemas.microsoft.com/office/drawing/2014/main" val="1891886500"/>
                        </a:ext>
                      </a:extLst>
                    </a:gridCol>
                    <a:gridCol w="1441525">
                      <a:extLst>
                        <a:ext uri="{9D8B030D-6E8A-4147-A177-3AD203B41FA5}">
                          <a16:colId xmlns:a16="http://schemas.microsoft.com/office/drawing/2014/main" val="32306838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</a:rPr>
                            <a:t>......</a:t>
                          </a:r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7753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90681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933683FB-51E3-4B48-1664-B8A2E40231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318630"/>
                  </p:ext>
                </p:extLst>
              </p:nvPr>
            </p:nvGraphicFramePr>
            <p:xfrm>
              <a:off x="2262990" y="2154508"/>
              <a:ext cx="461802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2267">
                      <a:extLst>
                        <a:ext uri="{9D8B030D-6E8A-4147-A177-3AD203B41FA5}">
                          <a16:colId xmlns:a16="http://schemas.microsoft.com/office/drawing/2014/main" val="1875272433"/>
                        </a:ext>
                      </a:extLst>
                    </a:gridCol>
                    <a:gridCol w="1046480">
                      <a:extLst>
                        <a:ext uri="{9D8B030D-6E8A-4147-A177-3AD203B41FA5}">
                          <a16:colId xmlns:a16="http://schemas.microsoft.com/office/drawing/2014/main" val="291913351"/>
                        </a:ext>
                      </a:extLst>
                    </a:gridCol>
                    <a:gridCol w="927748">
                      <a:extLst>
                        <a:ext uri="{9D8B030D-6E8A-4147-A177-3AD203B41FA5}">
                          <a16:colId xmlns:a16="http://schemas.microsoft.com/office/drawing/2014/main" val="1891886500"/>
                        </a:ext>
                      </a:extLst>
                    </a:gridCol>
                    <a:gridCol w="1441525">
                      <a:extLst>
                        <a:ext uri="{9D8B030D-6E8A-4147-A177-3AD203B41FA5}">
                          <a16:colId xmlns:a16="http://schemas.microsoft.com/office/drawing/2014/main" val="32306838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508" t="-8065" r="-286802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115116" t="-8065" r="-22848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</a:rPr>
                            <a:t>......</a:t>
                          </a:r>
                          <a:endParaRPr lang="ru-RU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220253" t="-8065" r="-1688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7753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508" t="-109836" r="-28680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115116" t="-109836" r="-22848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5"/>
                          <a:stretch>
                            <a:fillRect l="-220253" t="-109836" r="-168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906816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4EFF4-E234-79A6-F1AB-A4BA8FD042A3}"/>
              </a:ext>
            </a:extLst>
          </p:cNvPr>
          <p:cNvGrpSpPr/>
          <p:nvPr/>
        </p:nvGrpSpPr>
        <p:grpSpPr>
          <a:xfrm>
            <a:off x="0" y="2878566"/>
            <a:ext cx="9144000" cy="1762790"/>
            <a:chOff x="0" y="3244334"/>
            <a:chExt cx="9144000" cy="1762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36C58C7-AD24-CC97-D19A-39807DB85EF4}"/>
                    </a:ext>
                  </a:extLst>
                </p:cNvPr>
                <p:cNvSpPr txBox="1"/>
                <p:nvPr/>
              </p:nvSpPr>
              <p:spPr>
                <a:xfrm>
                  <a:off x="0" y="3244334"/>
                  <a:ext cx="9144000" cy="1762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ru-RU" dirty="0"/>
                    <a:t>У этой случайной величины есть функция распределения – эмпирическая функция распределения, которая также показывает вероятность того, что случайная величина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ru-RU" dirty="0"/>
                    <a:t> примет значение меньше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brk m:alnAt="2"/>
                                  </m:rP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оличество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2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∈(−∞,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groupCh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nary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36C58C7-AD24-CC97-D19A-39807DB85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3244334"/>
                  <a:ext cx="9144000" cy="1762790"/>
                </a:xfrm>
                <a:prstGeom prst="rect">
                  <a:avLst/>
                </a:prstGeom>
                <a:blipFill>
                  <a:blip r:embed="rId6"/>
                  <a:stretch>
                    <a:fillRect l="-533" t="-1730" r="-5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1C6ABA-CE00-9733-5F22-BEB155F664AE}"/>
                    </a:ext>
                  </a:extLst>
                </p:cNvPr>
                <p:cNvSpPr txBox="1"/>
                <p:nvPr/>
              </p:nvSpPr>
              <p:spPr>
                <a:xfrm>
                  <a:off x="4324576" y="4414225"/>
                  <a:ext cx="173198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01C6ABA-CE00-9733-5F22-BEB155F66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4576" y="4414225"/>
                  <a:ext cx="173198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FBB33F-E081-84AC-B425-7DB09065BD0C}"/>
                  </a:ext>
                </a:extLst>
              </p:cNvPr>
              <p:cNvSpPr txBox="1"/>
              <p:nvPr/>
            </p:nvSpPr>
            <p:spPr>
              <a:xfrm>
                <a:off x="0" y="4531372"/>
                <a:ext cx="9159827" cy="1824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Понятно, что для введенной эмпирической случайной величины мы также можем оценить математическое ожидание и дисперсию: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выборочное среднее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- </a:t>
                </a:r>
                <a:r>
                  <a:rPr lang="ru-RU"/>
                  <a:t>выборочная дисперсия</a:t>
                </a:r>
                <a:endParaRPr lang="ru-RU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любой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 err="1"/>
                  <a:t>ый</a:t>
                </a:r>
                <a:r>
                  <a:rPr lang="ru-RU" dirty="0"/>
                  <a:t> момент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FBB33F-E081-84AC-B425-7DB09065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31372"/>
                <a:ext cx="9159827" cy="1824154"/>
              </a:xfrm>
              <a:prstGeom prst="rect">
                <a:avLst/>
              </a:prstGeom>
              <a:blipFill>
                <a:blip r:embed="rId8"/>
                <a:stretch>
                  <a:fillRect l="-532" t="-1667" r="-466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7ECEE1E-2BD8-8CF6-F225-AD42FB0C6DCF}"/>
              </a:ext>
            </a:extLst>
          </p:cNvPr>
          <p:cNvSpPr txBox="1"/>
          <p:nvPr/>
        </p:nvSpPr>
        <p:spPr>
          <a:xfrm>
            <a:off x="0" y="629416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Таким образом, по выборке мы можем оценивать числовые характеристики случайной величины</a:t>
            </a:r>
          </a:p>
        </p:txBody>
      </p:sp>
    </p:spTree>
    <p:extLst>
      <p:ext uri="{BB962C8B-B14F-4D97-AF65-F5344CB8AC3E}">
        <p14:creationId xmlns:p14="http://schemas.microsoft.com/office/powerpoint/2010/main" val="258313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7719CD73-D72E-BDAF-2924-F33F378666F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Гистограмма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57F0D9-EB64-42A3-3A8D-087203562C46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5867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Определение: </a:t>
                </a:r>
                <a:r>
                  <a:rPr lang="ru-RU" b="1" dirty="0">
                    <a:solidFill>
                      <a:srgbClr val="2B8911"/>
                    </a:solidFill>
                  </a:rPr>
                  <a:t>Гистограмма </a:t>
                </a:r>
                <a:r>
                  <a:rPr lang="ru-RU" dirty="0"/>
                  <a:t>по сути является аналогом плотности распределения для абсолютно непрерывной случайной величины или таблицей (для дискретных величин) и строится по сгруппированной выборке. Предполагаемую область значений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или область выборочных данных) делят на некоторое количество не обязательно одинаковых интервалов. </a:t>
                </a:r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интервалы на прямой, называемые интервалами группировки. Обозначим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число элементов выборки, попавших в интервал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число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На каждом из интервалов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строят прямоугольник, площадь которого пропорциональна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/>
                  <a:t>. Общая площадь всех прямоугольников должна равняться единице.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длина интервала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то высота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прямоугольника над этим интервалом равна: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  <a:p>
                <a:pPr algn="ctr"/>
                <a:endParaRPr lang="ru-RU" dirty="0"/>
              </a:p>
              <a:p>
                <a:pPr algn="ctr"/>
                <a:endParaRPr lang="ru-RU" dirty="0"/>
              </a:p>
              <a:p>
                <a:pPr algn="ctr"/>
                <a:r>
                  <a:rPr lang="ru-RU" dirty="0"/>
                  <a:t>Полученная фигура, состоящая из объединения прямоугольников, называется </a:t>
                </a:r>
                <a:r>
                  <a:rPr lang="ru-RU" b="1" dirty="0">
                    <a:solidFill>
                      <a:srgbClr val="006400"/>
                    </a:solidFill>
                  </a:rPr>
                  <a:t>гистограммой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57F0D9-EB64-42A3-3A8D-087203562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5867247"/>
              </a:xfrm>
              <a:prstGeom prst="rect">
                <a:avLst/>
              </a:prstGeom>
              <a:blipFill>
                <a:blip r:embed="rId3"/>
                <a:stretch>
                  <a:fillRect l="-533" t="-624" r="-533" b="-7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BC88A627-ADE1-30F2-40AD-0380BBC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29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0D5A-F6EE-16DC-0EF7-427415D7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CCF794E7-9A5B-EBEB-842A-6A50A4B17A54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Гистограмма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BC7D1-A134-3248-DB72-0AF1C7EBFD80}"/>
                  </a:ext>
                </a:extLst>
              </p:cNvPr>
              <p:cNvSpPr txBox="1"/>
              <p:nvPr/>
            </p:nvSpPr>
            <p:spPr>
              <a:xfrm>
                <a:off x="-43029" y="419100"/>
                <a:ext cx="9240819" cy="6315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Пример: </a:t>
                </a:r>
                <a:r>
                  <a:rPr lang="ru-RU" dirty="0">
                    <a:solidFill>
                      <a:schemeClr val="tx1"/>
                    </a:solidFill>
                  </a:rPr>
                  <a:t>Рассмотрим числовую выборку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=(0;2;1;2.6;3.1;4.6;1;4.6;6;2.6;6;7;9;9;2.6)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Построим по ней вариационный ряд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CC99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a:rPr lang="ru-RU" b="0" i="1" dirty="0" smtClean="0">
                        <a:solidFill>
                          <a:srgbClr val="00CC99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00CC99"/>
                        </a:solidFill>
                        <a:latin typeface="Cambria Math" panose="02040503050406030204" pitchFamily="18" charset="0"/>
                      </a:rPr>
                      <m:t>;1;2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ru-RU" b="0" i="1" dirty="0" smtClean="0">
                        <a:solidFill>
                          <a:srgbClr val="E335BE"/>
                        </a:solidFill>
                        <a:latin typeface="Cambria Math" panose="02040503050406030204" pitchFamily="18" charset="0"/>
                      </a:rPr>
                      <m:t>2.6</m:t>
                    </m:r>
                    <m:r>
                      <a:rPr lang="en-US" b="0" i="1" dirty="0" smtClean="0">
                        <a:solidFill>
                          <a:srgbClr val="E335BE"/>
                        </a:solidFill>
                        <a:latin typeface="Cambria Math" panose="02040503050406030204" pitchFamily="18" charset="0"/>
                      </a:rPr>
                      <m:t>;2.6;2.6;</m:t>
                    </m:r>
                    <m:r>
                      <a:rPr lang="en-US" i="1" dirty="0">
                        <a:solidFill>
                          <a:srgbClr val="E335BE"/>
                        </a:solidFill>
                        <a:latin typeface="Cambria Math" panose="02040503050406030204" pitchFamily="18" charset="0"/>
                      </a:rPr>
                      <m:t>3.1;4.6;4.6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6;6;7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 smtClean="0">
                        <a:solidFill>
                          <a:srgbClr val="006400"/>
                        </a:solidFill>
                        <a:latin typeface="Cambria Math" panose="02040503050406030204" pitchFamily="18" charset="0"/>
                      </a:rPr>
                      <m:t>9;9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:r>
                  <a:rPr lang="ru-RU" b="1" dirty="0">
                    <a:solidFill>
                      <a:srgbClr val="FF0000"/>
                    </a:solidFill>
                  </a:rPr>
                  <a:t>эмпирическою функцию распределения</a:t>
                </a:r>
                <a:r>
                  <a:rPr lang="ru-RU" dirty="0">
                    <a:solidFill>
                      <a:schemeClr val="tx1"/>
                    </a:solidFill>
                  </a:rPr>
                  <a:t>.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Далее, разбив нашу выборку на четыре равных интервала получим, что в отрезок </a:t>
                </a:r>
                <a:r>
                  <a:rPr lang="en-US" dirty="0"/>
                  <a:t>[0; 2.5</a:t>
                </a:r>
                <a:r>
                  <a:rPr lang="ru-RU" dirty="0"/>
                  <a:t>)</a:t>
                </a:r>
                <a:r>
                  <a:rPr lang="en-US" dirty="0"/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принадлежат 4 элемента, </a:t>
                </a:r>
                <a:r>
                  <a:rPr lang="en-US" dirty="0">
                    <a:solidFill>
                      <a:schemeClr val="tx1"/>
                    </a:solidFill>
                  </a:rPr>
                  <a:t>[</a:t>
                </a:r>
                <a:r>
                  <a:rPr lang="en-US" dirty="0"/>
                  <a:t>2.5; 5</a:t>
                </a:r>
                <a:r>
                  <a:rPr lang="ru-RU" dirty="0"/>
                  <a:t>)</a:t>
                </a:r>
                <a:r>
                  <a:rPr lang="en-US" dirty="0"/>
                  <a:t> – </a:t>
                </a:r>
                <a:r>
                  <a:rPr lang="ru-RU" dirty="0"/>
                  <a:t>шесть, </a:t>
                </a:r>
                <a:r>
                  <a:rPr lang="en-US" dirty="0"/>
                  <a:t>[</a:t>
                </a:r>
                <a:r>
                  <a:rPr lang="ru-RU" dirty="0"/>
                  <a:t>5</a:t>
                </a:r>
                <a:r>
                  <a:rPr lang="en-US" dirty="0"/>
                  <a:t>; </a:t>
                </a:r>
                <a:r>
                  <a:rPr lang="ru-RU" dirty="0"/>
                  <a:t>7</a:t>
                </a:r>
                <a:r>
                  <a:rPr lang="en-US" dirty="0"/>
                  <a:t>.5</a:t>
                </a:r>
                <a:r>
                  <a:rPr lang="ru-RU" dirty="0"/>
                  <a:t>) – три и</a:t>
                </a:r>
                <a:r>
                  <a:rPr lang="en-US" dirty="0"/>
                  <a:t> [7.5; 10] – </a:t>
                </a:r>
                <a:r>
                  <a:rPr lang="ru-RU" dirty="0"/>
                  <a:t>два. Получим </a:t>
                </a:r>
                <a:r>
                  <a:rPr lang="ru-RU" b="1" dirty="0">
                    <a:solidFill>
                      <a:srgbClr val="3333FF"/>
                    </a:solidFill>
                  </a:rPr>
                  <a:t>гистограмму</a:t>
                </a:r>
                <a:r>
                  <a:rPr lang="ru-RU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При этом, чем больше интервалов – тем лучше, фигура, состоящая из более узких прямоугольников, точнее приближает истинную плотность распределения. С другой стороны, делать большое число интервалов бессмысленно, когда в среднем в интервал попадает одно значение из выборки. Типичное число интервалов: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Также для оценки числа интервалов можно использовать формулу </a:t>
                </a:r>
                <a:r>
                  <a:rPr lang="ru-RU" dirty="0" err="1">
                    <a:solidFill>
                      <a:schemeClr val="tx1"/>
                    </a:solidFill>
                  </a:rPr>
                  <a:t>Стерджесса</a:t>
                </a:r>
                <a:r>
                  <a:rPr lang="ru-RU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1+3.322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BC7D1-A134-3248-DB72-0AF1C7EB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029" y="419100"/>
                <a:ext cx="9240819" cy="6315319"/>
              </a:xfrm>
              <a:prstGeom prst="rect">
                <a:avLst/>
              </a:prstGeom>
              <a:blipFill>
                <a:blip r:embed="rId3"/>
                <a:stretch>
                  <a:fillRect l="-594" r="-5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7D479DB3-1CB6-0C43-25D1-A1805619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3119F8-90AF-A9CD-1E7F-F3F3D7B5F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5" y="2438855"/>
            <a:ext cx="3509746" cy="212238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98F9E47-ABFE-834D-E105-DF674B722EE2}"/>
              </a:ext>
            </a:extLst>
          </p:cNvPr>
          <p:cNvGrpSpPr/>
          <p:nvPr/>
        </p:nvGrpSpPr>
        <p:grpSpPr>
          <a:xfrm>
            <a:off x="4801405" y="2427874"/>
            <a:ext cx="3469001" cy="2133365"/>
            <a:chOff x="4801405" y="2427874"/>
            <a:chExt cx="3469001" cy="2133365"/>
          </a:xfrm>
        </p:grpSpPr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6D0FA7F2-B4DA-5128-BB9B-965B77FA1704}"/>
                </a:ext>
              </a:extLst>
            </p:cNvPr>
            <p:cNvGrpSpPr/>
            <p:nvPr/>
          </p:nvGrpSpPr>
          <p:grpSpPr>
            <a:xfrm>
              <a:off x="4801405" y="2427874"/>
              <a:ext cx="3469001" cy="2133365"/>
              <a:chOff x="4801405" y="2427874"/>
              <a:chExt cx="3469001" cy="2133365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CDFB05D4-90E1-4A77-6D65-B5C40BAA4027}"/>
                  </a:ext>
                </a:extLst>
              </p:cNvPr>
              <p:cNvGrpSpPr/>
              <p:nvPr/>
            </p:nvGrpSpPr>
            <p:grpSpPr>
              <a:xfrm>
                <a:off x="4801405" y="2427874"/>
                <a:ext cx="3469001" cy="2133365"/>
                <a:chOff x="4801405" y="2427874"/>
                <a:chExt cx="3469001" cy="2133365"/>
              </a:xfrm>
            </p:grpSpPr>
            <p:grpSp>
              <p:nvGrpSpPr>
                <p:cNvPr id="16" name="Группа 15">
                  <a:extLst>
                    <a:ext uri="{FF2B5EF4-FFF2-40B4-BE49-F238E27FC236}">
                      <a16:creationId xmlns:a16="http://schemas.microsoft.com/office/drawing/2014/main" id="{68ED6C7E-7E8B-39D1-856B-599B1E853A07}"/>
                    </a:ext>
                  </a:extLst>
                </p:cNvPr>
                <p:cNvGrpSpPr/>
                <p:nvPr/>
              </p:nvGrpSpPr>
              <p:grpSpPr>
                <a:xfrm>
                  <a:off x="4801405" y="2427874"/>
                  <a:ext cx="3469001" cy="2133365"/>
                  <a:chOff x="4801405" y="2427874"/>
                  <a:chExt cx="3469001" cy="2133365"/>
                </a:xfrm>
              </p:grpSpPr>
              <p:grpSp>
                <p:nvGrpSpPr>
                  <p:cNvPr id="14" name="Группа 13">
                    <a:extLst>
                      <a:ext uri="{FF2B5EF4-FFF2-40B4-BE49-F238E27FC236}">
                        <a16:creationId xmlns:a16="http://schemas.microsoft.com/office/drawing/2014/main" id="{C5CD2891-01A0-AC3B-3292-FA50D047A090}"/>
                      </a:ext>
                    </a:extLst>
                  </p:cNvPr>
                  <p:cNvGrpSpPr/>
                  <p:nvPr/>
                </p:nvGrpSpPr>
                <p:grpSpPr>
                  <a:xfrm>
                    <a:off x="4801405" y="2438854"/>
                    <a:ext cx="3469001" cy="2122385"/>
                    <a:chOff x="4801405" y="2438854"/>
                    <a:chExt cx="3469001" cy="2122385"/>
                  </a:xfrm>
                </p:grpSpPr>
                <p:grpSp>
                  <p:nvGrpSpPr>
                    <p:cNvPr id="11" name="Группа 10">
                      <a:extLst>
                        <a:ext uri="{FF2B5EF4-FFF2-40B4-BE49-F238E27FC236}">
                          <a16:creationId xmlns:a16="http://schemas.microsoft.com/office/drawing/2014/main" id="{10DC345A-3BA5-971B-7404-F082CB5A11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01405" y="2438854"/>
                      <a:ext cx="3469001" cy="2122385"/>
                      <a:chOff x="4801405" y="2438854"/>
                      <a:chExt cx="3469001" cy="2122385"/>
                    </a:xfrm>
                  </p:grpSpPr>
                  <p:pic>
                    <p:nvPicPr>
                      <p:cNvPr id="7" name="Рисунок 6">
                        <a:extLst>
                          <a:ext uri="{FF2B5EF4-FFF2-40B4-BE49-F238E27FC236}">
                            <a16:creationId xmlns:a16="http://schemas.microsoft.com/office/drawing/2014/main" id="{08B6D1CE-6661-D8D5-4CFD-BF3A61C7DC3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01405" y="2438854"/>
                        <a:ext cx="3469001" cy="2122385"/>
                      </a:xfrm>
                      <a:prstGeom prst="rect">
                        <a:avLst/>
                      </a:prstGeom>
                      <a:ln w="38100">
                        <a:solidFill>
                          <a:srgbClr val="3333FF"/>
                        </a:solidFill>
                      </a:ln>
                    </p:spPr>
                  </p:pic>
                  <p:sp>
                    <p:nvSpPr>
                      <p:cNvPr id="2" name="TextBox 1">
                        <a:extLst>
                          <a:ext uri="{FF2B5EF4-FFF2-40B4-BE49-F238E27FC236}">
                            <a16:creationId xmlns:a16="http://schemas.microsoft.com/office/drawing/2014/main" id="{C0F725EF-1523-33CF-BC07-CB58A064DAE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82189" y="3714750"/>
                        <a:ext cx="3016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ru-RU" dirty="0">
                            <a:solidFill>
                              <a:srgbClr val="00CC99"/>
                            </a:solidFill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8DE212D6-B2D7-6FFF-D7BF-CBFED0A8EE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65627" y="3714750"/>
                        <a:ext cx="3016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ru-RU" dirty="0">
                            <a:solidFill>
                              <a:srgbClr val="E335BE"/>
                            </a:solidFill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C2B6F00B-60FA-3023-9228-E861721A282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49065" y="3722812"/>
                        <a:ext cx="3016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ru-RU" dirty="0">
                            <a:solidFill>
                              <a:srgbClr val="FF9900"/>
                            </a:solidFill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0" name="TextBox 9">
                        <a:extLst>
                          <a:ext uri="{FF2B5EF4-FFF2-40B4-BE49-F238E27FC236}">
                            <a16:creationId xmlns:a16="http://schemas.microsoft.com/office/drawing/2014/main" id="{EA73E117-980A-70AD-5879-FEB27363B76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84314" y="3722812"/>
                        <a:ext cx="3016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ru-RU" dirty="0">
                            <a:solidFill>
                              <a:srgbClr val="006400"/>
                            </a:solidFill>
                          </a:rPr>
                          <a:t>2</a:t>
                        </a:r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D4B8AD47-C308-1499-AA28-1DA23947C3F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966307" y="2799803"/>
                          <a:ext cx="933450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2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ru-RU" sz="1200" i="0">
                                    <a:latin typeface="Cambria Math" panose="02040503050406030204" pitchFamily="18" charset="0"/>
                                  </a:rPr>
                                  <m:t>0.107</m:t>
                                </m:r>
                              </m:oMath>
                            </m:oMathPara>
                          </a14:m>
                          <a:endParaRPr lang="ru-RU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D4B8AD47-C308-1499-AA28-1DA23947C3F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966307" y="2799803"/>
                          <a:ext cx="933450" cy="276999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ru-RU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D8D164EA-F02E-F305-24C6-9E6011B03D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649745" y="2427874"/>
                        <a:ext cx="93345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ru-RU" sz="120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ru-RU" sz="1200" i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ru-RU" sz="1200" b="0" i="0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oMath>
                          </m:oMathPara>
                        </a14:m>
                        <a:endParaRPr lang="ru-RU" sz="1200" dirty="0"/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D8D164EA-F02E-F305-24C6-9E6011B03D2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649745" y="2427874"/>
                        <a:ext cx="933450" cy="276999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ru-RU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D30119D-EDEB-BECC-CEEC-B261C09C48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33183" y="3021342"/>
                      <a:ext cx="93345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200" smtClean="0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ru-RU" sz="1200" i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ru-RU" sz="1200" b="0" i="0" smtClean="0">
                                <a:latin typeface="Cambria Math" panose="02040503050406030204" pitchFamily="18" charset="0"/>
                              </a:rPr>
                              <m:t>080</m:t>
                            </m:r>
                          </m:oMath>
                        </m:oMathPara>
                      </a14:m>
                      <a:endParaRPr lang="ru-RU" sz="1200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D30119D-EDEB-BECC-CEEC-B261C09C48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33183" y="3021342"/>
                      <a:ext cx="933450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4901B845-359F-B488-4741-9CEDA4D2DB92}"/>
                      </a:ext>
                    </a:extLst>
                  </p:cNvPr>
                  <p:cNvSpPr txBox="1"/>
                  <p:nvPr/>
                </p:nvSpPr>
                <p:spPr>
                  <a:xfrm>
                    <a:off x="7038975" y="3337811"/>
                    <a:ext cx="933450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a:rPr lang="ru-RU" sz="1200" i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ru-RU" sz="1200" b="0" i="0" smtClean="0">
                              <a:latin typeface="Cambria Math" panose="02040503050406030204" pitchFamily="18" charset="0"/>
                            </a:rPr>
                            <m:t>053</m:t>
                          </m:r>
                        </m:oMath>
                      </m:oMathPara>
                    </a14:m>
                    <a:endParaRPr lang="ru-RU" sz="12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4901B845-359F-B488-4741-9CEDA4D2DB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8975" y="3337811"/>
                    <a:ext cx="93345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77A8E997-84B5-5B87-972F-285397A92157}"/>
                </a:ext>
              </a:extLst>
            </p:cNvPr>
            <p:cNvSpPr/>
            <p:nvPr/>
          </p:nvSpPr>
          <p:spPr>
            <a:xfrm>
              <a:off x="7853973" y="3871554"/>
              <a:ext cx="184869" cy="285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0372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266E-C9E4-1E4F-62FC-8D58BFB8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A38FD431-4F85-EF00-661F-77CD0B1D1B0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Точечные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EE16BE-3B58-BB17-3F68-01EBE027B25F}"/>
                  </a:ext>
                </a:extLst>
              </p:cNvPr>
              <p:cNvSpPr txBox="1"/>
              <p:nvPr/>
            </p:nvSpPr>
            <p:spPr>
              <a:xfrm>
                <a:off x="-1" y="419100"/>
                <a:ext cx="9143999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740" dirty="0"/>
                  <a:t>Рассмотрим выборку объема </a:t>
                </a:r>
                <a14:m>
                  <m:oMath xmlns:m="http://schemas.openxmlformats.org/officeDocument/2006/math">
                    <m:r>
                      <a:rPr lang="en-US" sz="174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40" dirty="0"/>
                  <a:t> </a:t>
                </a:r>
                <a:r>
                  <a:rPr lang="ru-RU" sz="1740" dirty="0"/>
                  <a:t>из параметрического семейства распределений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4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4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74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1740" dirty="0"/>
                  <a:t>,  </a:t>
                </a:r>
                <a:r>
                  <a:rPr lang="ru-RU" sz="1740" dirty="0"/>
                  <a:t>где </a:t>
                </a:r>
                <a14:m>
                  <m:oMath xmlns:m="http://schemas.openxmlformats.org/officeDocument/2006/math">
                    <m:r>
                      <a:rPr lang="en-US" sz="174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74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74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1740" dirty="0"/>
                  <a:t>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EE16BE-3B58-BB17-3F68-01EBE027B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19100"/>
                <a:ext cx="9143999" cy="360099"/>
              </a:xfrm>
              <a:prstGeom prst="rect">
                <a:avLst/>
              </a:prstGeom>
              <a:blipFill>
                <a:blip r:embed="rId3"/>
                <a:stretch>
                  <a:fillRect l="-467" t="-5085" b="-237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36786C11-07FB-2F48-C85B-DA7126CE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4EF115-2DC2-7909-DA88-5AFA52706570}"/>
                  </a:ext>
                </a:extLst>
              </p:cNvPr>
              <p:cNvSpPr txBox="1"/>
              <p:nvPr/>
            </p:nvSpPr>
            <p:spPr>
              <a:xfrm>
                <a:off x="0" y="969370"/>
                <a:ext cx="9144000" cy="4840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Определение: </a:t>
                </a:r>
                <a:r>
                  <a:rPr lang="ru-RU" b="1" dirty="0">
                    <a:solidFill>
                      <a:srgbClr val="2B8911"/>
                    </a:solidFill>
                  </a:rPr>
                  <a:t>Статистикой </a:t>
                </a:r>
                <a:r>
                  <a:rPr lang="ru-RU" dirty="0"/>
                  <a:t>(или оценка) называется произвольная </a:t>
                </a:r>
                <a:r>
                  <a:rPr lang="ru-RU" dirty="0">
                    <a:solidFill>
                      <a:schemeClr val="tx1"/>
                    </a:solidFill>
                  </a:rPr>
                  <a:t>функция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построенная </a:t>
                </a:r>
                <a:r>
                  <a:rPr lang="ru-RU" dirty="0"/>
                  <a:t>от элементов выборки. Т.е. это есть функция от эмпирических данных, а не от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(поэтому ее иначе называют оценкой). И статистика есть не любая, а измеряемая функция от выборки, иначе оценка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dirty="0"/>
                  <a:t> не будет случайной величиной.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Свойства оценок</a:t>
                </a:r>
                <a:r>
                  <a:rPr lang="ru-RU" dirty="0"/>
                  <a:t>:</a:t>
                </a:r>
              </a:p>
              <a:p>
                <a:pPr marL="342900" indent="-342900" algn="just">
                  <a:spcAft>
                    <a:spcPts val="600"/>
                  </a:spcAft>
                  <a:buAutoNum type="arabicPeriod"/>
                </a:pPr>
                <a:r>
                  <a:rPr lang="ru-RU" dirty="0"/>
                  <a:t>Статистика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 называется </a:t>
                </a:r>
                <a:r>
                  <a:rPr lang="ru-RU" b="1" dirty="0">
                    <a:solidFill>
                      <a:srgbClr val="006400"/>
                    </a:solidFill>
                  </a:rPr>
                  <a:t>несмещенной оценкой </a:t>
                </a:r>
                <a:r>
                  <a:rPr lang="ru-RU" dirty="0"/>
                  <a:t>параметра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если для любого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ru-RU" dirty="0"/>
                  <a:t> выполнено равенство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Т.е. такая оценка, мат. ожидание которой равно оцениваемому параметру.</a:t>
                </a:r>
              </a:p>
              <a:p>
                <a:pPr marL="342900" indent="-342900" algn="just">
                  <a:spcAft>
                    <a:spcPts val="1200"/>
                  </a:spcAft>
                  <a:buAutoNum type="arabicPeriod"/>
                </a:pPr>
                <a:r>
                  <a:rPr lang="ru-RU" dirty="0"/>
                  <a:t>Статистика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>
                    <a:solidFill>
                      <a:srgbClr val="006400"/>
                    </a:solidFill>
                  </a:rPr>
                  <a:t>состоятельной</a:t>
                </a:r>
                <a:r>
                  <a:rPr lang="ru-RU" dirty="0"/>
                  <a:t>  оценкой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если для любого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ru-RU" dirty="0"/>
                  <a:t> имеет место сходимость</a:t>
                </a:r>
                <a:r>
                  <a:rPr lang="en-US" dirty="0"/>
                  <a:t> </a:t>
                </a:r>
                <a:r>
                  <a:rPr lang="ru-RU" dirty="0"/>
                  <a:t>по вероятности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groupChr>
                      <m:groupChrPr>
                        <m:chr m:val="→"/>
                        <m:vertJc m:val="bot"/>
                        <m:ctrlP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Т.е. оценка тем лучше, чем больше измерений выполнено.</a:t>
                </a:r>
                <a:endParaRPr lang="ru-RU" b="1" dirty="0">
                  <a:solidFill>
                    <a:srgbClr val="3333FF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выборка из распределения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ru-RU" dirty="0"/>
                  <a:t>  с функцией распределения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пусть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эмпирическая функция распределения, построенная по этой выборке. Тогда для любого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- </a:t>
                </a:r>
                <a:r>
                  <a:rPr lang="ru-RU" dirty="0"/>
                  <a:t>состоятельная и несмещенная оценка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4EF115-2DC2-7909-DA88-5AFA52706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9370"/>
                <a:ext cx="9144000" cy="4840108"/>
              </a:xfrm>
              <a:prstGeom prst="rect">
                <a:avLst/>
              </a:prstGeom>
              <a:blipFill>
                <a:blip r:embed="rId4"/>
                <a:stretch>
                  <a:fillRect l="-533" t="-630" r="-533" b="-11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96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AD0E3-AC10-E49F-0CF8-A187CE74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20AB2A2A-7284-5CEB-53ED-800D1F6C7656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Точечные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19F910DA-7A2F-2EF5-20FE-86B8D0EA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8D2E28-8FC9-BFE3-481C-E9F317971B86}"/>
                  </a:ext>
                </a:extLst>
              </p:cNvPr>
              <p:cNvSpPr txBox="1"/>
              <p:nvPr/>
            </p:nvSpPr>
            <p:spPr>
              <a:xfrm>
                <a:off x="0" y="445114"/>
                <a:ext cx="9144000" cy="666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006400"/>
                    </a:solidFill>
                  </a:rPr>
                  <a:t>Доказательство</a:t>
                </a:r>
                <a:r>
                  <a:rPr lang="ru-RU" dirty="0"/>
                  <a:t>: По определению эмпирическая функция распределения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r>
                  <a:rPr lang="ru-RU" dirty="0"/>
                  <a:t> и мат. ожидание индикатора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Случайные величины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 и одинаково распределены, их мат. ожидание конечно и можно применить ЗБЧ:</a:t>
                </a:r>
                <a:endParaRPr lang="en-US" dirty="0"/>
              </a:p>
              <a:p>
                <a:pPr algn="ctr">
                  <a:spcAft>
                    <a:spcPts val="600"/>
                  </a:spcAft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groupChr>
                          <m:groupChrPr>
                            <m:chr m:val="→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ru-RU" dirty="0"/>
              </a:p>
              <a:p>
                <a:pPr algn="just"/>
                <a:r>
                  <a:rPr lang="ru-RU" dirty="0"/>
                  <a:t>Таким образом, с ростом объема выборки эмпирическая функция распределения сходится по вероятности к неизвестной теоретической функции распределения</a:t>
                </a:r>
                <a:r>
                  <a:rPr lang="en-US" dirty="0"/>
                  <a:t> </a:t>
                </a:r>
                <a:r>
                  <a:rPr lang="ru-RU" dirty="0"/>
                  <a:t> при любом фиксированном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Т.е. эмпирическая функция распределена есть хорошая оценка для реальной функции распределения случайной величины.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Свойства гистограммы</a:t>
                </a:r>
                <a:r>
                  <a:rPr lang="ru-RU" dirty="0"/>
                  <a:t>: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Пусть распределение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ru-RU" dirty="0"/>
                  <a:t> абсолютно непрерывно,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его истинная плотность. Пусть кроме того,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интервалов группировки не зависит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Следующая теорема утверждает, что площадь столбца гистограммы, построенного над произвольным интервалом группировки, с ростом объема выборки сближается с площадью под графиком плотности над этим же интервалом.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ru-RU" dirty="0"/>
                  <a:t> для любого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8D2E28-8FC9-BFE3-481C-E9F317971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5114"/>
                <a:ext cx="9144000" cy="6666633"/>
              </a:xfrm>
              <a:prstGeom prst="rect">
                <a:avLst/>
              </a:prstGeom>
              <a:blipFill>
                <a:blip r:embed="rId3"/>
                <a:stretch>
                  <a:fillRect l="-2067" t="-1645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81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8C3E-B124-6834-2DF3-A908EF2C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AC5CF35C-07D7-87F4-FA8D-72EE0CB22EA9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Точечные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7D690D5E-7607-26B1-A4CE-8519DE11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BD4C6B-CC53-7C3A-4BFF-2B74A3E5857A}"/>
                  </a:ext>
                </a:extLst>
              </p:cNvPr>
              <p:cNvSpPr txBox="1"/>
              <p:nvPr/>
            </p:nvSpPr>
            <p:spPr>
              <a:xfrm>
                <a:off x="0" y="554842"/>
                <a:ext cx="9144000" cy="2532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006400"/>
                    </a:solidFill>
                  </a:rPr>
                  <a:t>Доказательство</a:t>
                </a:r>
                <a:r>
                  <a:rPr lang="ru-RU" dirty="0"/>
                  <a:t>: Количество элементов 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ом интервале есть сумма индикаторов того, что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dirty="0"/>
                  <a:t>попало в интервал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r>
                  <a:rPr lang="en-US" dirty="0"/>
                  <a:t>. </a:t>
                </a:r>
                <a:r>
                  <a:rPr lang="ru-RU" dirty="0"/>
                  <a:t>Тогда:  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Таким образом, для оценки плотности распределения можно нарисовать гистограмму и по форме гистограммы можно сделать вывод о типе распределения непрерывной случайной величины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BD4C6B-CC53-7C3A-4BFF-2B74A3E5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4842"/>
                <a:ext cx="9144000" cy="2532873"/>
              </a:xfrm>
              <a:prstGeom prst="rect">
                <a:avLst/>
              </a:prstGeom>
              <a:blipFill>
                <a:blip r:embed="rId3"/>
                <a:stretch>
                  <a:fillRect l="-533" t="-6490" r="-533" b="-2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372BC-B98E-4B70-9DCD-BE24CC42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272" y="2888685"/>
            <a:ext cx="5917432" cy="376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7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10A903-D4A3-8EE4-A1D6-6073CF84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B9DEC10A-A65C-20CA-281C-C22E0A2D28B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Свойства выборочных моментов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3B036D-B9A7-76FC-F3D4-FD054D3F5668}"/>
                  </a:ext>
                </a:extLst>
              </p:cNvPr>
              <p:cNvSpPr txBox="1"/>
              <p:nvPr/>
            </p:nvSpPr>
            <p:spPr>
              <a:xfrm>
                <a:off x="-5644" y="419100"/>
                <a:ext cx="9149644" cy="6412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>
                    <a:solidFill>
                      <a:schemeClr val="tx1"/>
                    </a:solidFill>
                  </a:rPr>
                  <a:t>Выборочное среднее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ru-RU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является несмещенной и состоятельной оценкой для теоретического среднего (математического ожидания).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то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groupChr>
                      <m:groupChrPr>
                        <m:chr m:val="→"/>
                        <m:vertJc m:val="bot"/>
                        <m:ctrlP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006400"/>
                    </a:solidFill>
                  </a:rPr>
                  <a:t>Доказательство</a:t>
                </a:r>
                <a:r>
                  <a:rPr lang="ru-RU" dirty="0"/>
                  <a:t>: Математическое ожидание выборочного среднего есть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по свойству мат. ожидания выносим константу за скобку, также мат. ожидание суммы есть сумма мат. ожиданий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Поскольку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 имеют одинаковое распределение, значит у них одинаковое мат. ожидание, равное тому, которое мы оцениваем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nary>
                  </m:oMath>
                </a14:m>
                <a:r>
                  <a:rPr lang="ru-RU" dirty="0"/>
                  <a:t>. Таким образом, выборочное среднее является состоятельной и несмещенной оценкой для математического ожидания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groupChr>
                      <m:groupChrPr>
                        <m:chr m:val="→"/>
                        <m:vertJc m:val="bot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(ЗБЧ)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/>
                  <a:t>Выборочный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-</a:t>
                </a:r>
                <a:r>
                  <a:rPr lang="ru-RU" dirty="0" err="1"/>
                  <a:t>ый</a:t>
                </a:r>
                <a:r>
                  <a:rPr lang="ru-RU" dirty="0"/>
                  <a:t>  момент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несмещенной, состоятельной и асимптотически нормальной оценкой для теоретического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-го момента.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то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acc>
                    <m:groupChr>
                      <m:groupChrPr>
                        <m:chr m:val="→"/>
                        <m:vertJc m:val="bot"/>
                        <m:ctrlP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Таким образом </a:t>
                </a:r>
                <a:r>
                  <a:rPr lang="ru-RU" dirty="0"/>
                  <a:t>выборочный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-</a:t>
                </a:r>
                <a:r>
                  <a:rPr lang="ru-RU" dirty="0" err="1"/>
                  <a:t>ый</a:t>
                </a:r>
                <a:r>
                  <a:rPr lang="ru-RU" dirty="0"/>
                  <a:t>  момент также является состоятельной несмещенной оценкой.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Если рассм</a:t>
                </a:r>
                <a:r>
                  <a:rPr lang="ru-RU" dirty="0"/>
                  <a:t>атривать </a:t>
                </a:r>
                <a:r>
                  <a:rPr lang="ru-RU" b="1" dirty="0">
                    <a:solidFill>
                      <a:srgbClr val="3333FF"/>
                    </a:solidFill>
                  </a:rPr>
                  <a:t>выборочную дисперсию </a:t>
                </a:r>
                <a:r>
                  <a:rPr lang="ru-RU" dirty="0"/>
                  <a:t>случайной величины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то она является состоятельной оценкой, но </a:t>
                </a:r>
                <a:r>
                  <a:rPr lang="ru-RU" b="1" dirty="0">
                    <a:solidFill>
                      <a:srgbClr val="FF0000"/>
                    </a:solidFill>
                  </a:rPr>
                  <a:t>смещенной</a:t>
                </a:r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&lt;∞,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то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/>
                  <a:t>                      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3B036D-B9A7-76FC-F3D4-FD054D3F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44" y="419100"/>
                <a:ext cx="9149644" cy="6412525"/>
              </a:xfrm>
              <a:prstGeom prst="rect">
                <a:avLst/>
              </a:prstGeom>
              <a:blipFill>
                <a:blip r:embed="rId2"/>
                <a:stretch>
                  <a:fillRect l="-533" t="-570" r="-2265" b="-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8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8B35C-039B-3743-1C9E-CB6DFAC8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C7A2D1-3638-A834-AF4B-2BC909E5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8417CE7-8BBC-1185-7D62-E5A38B0ECAE1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Свойства выборочных моментов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01FA58-234E-5182-28EA-05E7A92458E8}"/>
                  </a:ext>
                </a:extLst>
              </p:cNvPr>
              <p:cNvSpPr txBox="1"/>
              <p:nvPr/>
            </p:nvSpPr>
            <p:spPr>
              <a:xfrm>
                <a:off x="0" y="431269"/>
                <a:ext cx="9149644" cy="6406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006400"/>
                    </a:solidFill>
                  </a:rPr>
                  <a:t>Доказательство</a:t>
                </a:r>
                <a:r>
                  <a:rPr lang="ru-RU" dirty="0"/>
                  <a:t>: Выборочная дисперсия есть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ru-RU" dirty="0"/>
                  <a:t>Используя состоятельность первого и второго выборочных моментов и свойства сходимости по вероятности, получим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т.е. в случае сходимости по вероятности при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выборочная дисперсия похожа на настоящую. Но при малой выборке мат. ожидание от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есть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ba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bar>
                        <m:barPr>
                          <m:pos m:val="to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ar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ru-RU"/>
                        <m:t>.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Посчитаем дисперсию среднего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/>
                  <a:t>, </a:t>
                </a:r>
                <a:r>
                  <a:rPr lang="ru-RU" dirty="0"/>
                  <a:t>но дисперсию также можно расписать через мат. ожидания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solidFill>
                              <a:srgbClr val="0064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отсюда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Подставим в формулу 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dirty="0"/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ξ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ξ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При больших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множитель у дисперсии будет близок к 1, но при небольшой выборке дисперсия всегда будет смещена. Поэтому в случае небольших выборок используют т.н. исправленную выборочную дисперсию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Утверждение: </a:t>
                </a:r>
                <a:r>
                  <a:rPr lang="ru-RU" dirty="0">
                    <a:solidFill>
                      <a:schemeClr val="tx1"/>
                    </a:solidFill>
                  </a:rPr>
                  <a:t>Исправленная выборочная дисперсия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является несмещенной и состоятельной оценкой для теоретической дисперсии.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01FA58-234E-5182-28EA-05E7A9245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1269"/>
                <a:ext cx="9149644" cy="6406626"/>
              </a:xfrm>
              <a:prstGeom prst="rect">
                <a:avLst/>
              </a:prstGeom>
              <a:blipFill>
                <a:blip r:embed="rId3"/>
                <a:stretch>
                  <a:fillRect l="-533" t="-5994" r="-533" b="-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08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51C40A-7F44-E308-A41D-7573E9E9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7D9583E8-6C38-A7B6-25C4-65DCDAA08598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Метод моментов получения точечных оценок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CA997B-E3E0-F3B7-76AC-C8CAF8AA5AF2}"/>
                  </a:ext>
                </a:extLst>
              </p:cNvPr>
              <p:cNvSpPr txBox="1"/>
              <p:nvPr/>
            </p:nvSpPr>
            <p:spPr>
              <a:xfrm>
                <a:off x="0" y="520147"/>
                <a:ext cx="9144000" cy="5846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Для оценки параметров распределений существует </a:t>
                </a:r>
                <a:r>
                  <a:rPr lang="ru-RU" b="1" dirty="0">
                    <a:solidFill>
                      <a:srgbClr val="FF0000"/>
                    </a:solidFill>
                  </a:rPr>
                  <a:t>два основных метода</a:t>
                </a:r>
                <a:r>
                  <a:rPr lang="ru-RU" dirty="0"/>
                  <a:t>. Если вы на основе некоторых соображений построили гистограмму вы визуально можете предположить тип распределения, а его параметры оценить с помощью: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метода моментов;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метода максимального правдоподобия.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dirty="0"/>
                  <a:t>При построении оценки методом моментов в качестве оценки берется такое (случайное) значение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котором истинный момент совпадает с выборочным. Любой момент случайной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(например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 err="1"/>
                  <a:t>ый</a:t>
                </a:r>
                <a:r>
                  <a:rPr lang="ru-RU" dirty="0"/>
                  <a:t>) является функций от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 Но тогда и параметр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может оказаться функцией от теоретического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го момента. 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выборка объема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 параметрического семейства распределений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Выберем некоторую функцию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так, чтобы существовал момент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функция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dirty="0"/>
                  <a:t> была обратима в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ru-RU" dirty="0"/>
                  <a:t>. При этом параметры распределения можно посчитать как обратную функцию: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тогда оценка параметра распределения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algn="just"/>
                <a:r>
                  <a:rPr lang="ru-RU" dirty="0"/>
                  <a:t>Полученная таким образом оценка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dirty="0"/>
                  <a:t> называется </a:t>
                </a:r>
                <a:r>
                  <a:rPr lang="ru-RU" b="1" dirty="0">
                    <a:solidFill>
                      <a:srgbClr val="006400"/>
                    </a:solidFill>
                  </a:rPr>
                  <a:t>оценкой метода моментов (ОММ) </a:t>
                </a:r>
                <a:r>
                  <a:rPr lang="ru-RU" dirty="0"/>
                  <a:t>для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b="1" dirty="0">
                    <a:solidFill>
                      <a:srgbClr val="006400"/>
                    </a:solidFill>
                  </a:rPr>
                  <a:t>. </a:t>
                </a:r>
                <a:r>
                  <a:rPr lang="ru-RU" dirty="0"/>
                  <a:t>Чаще всего в качестве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ru-RU" b="1" dirty="0">
                    <a:solidFill>
                      <a:srgbClr val="006400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берут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6400"/>
                    </a:solidFill>
                  </a:rPr>
                  <a:t>.</a:t>
                </a:r>
                <a:endParaRPr lang="ru-RU" dirty="0">
                  <a:solidFill>
                    <a:srgbClr val="0064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CA997B-E3E0-F3B7-76AC-C8CAF8AA5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0147"/>
                <a:ext cx="9144000" cy="5846280"/>
              </a:xfrm>
              <a:prstGeom prst="rect">
                <a:avLst/>
              </a:prstGeom>
              <a:blipFill>
                <a:blip r:embed="rId2"/>
                <a:stretch>
                  <a:fillRect l="-533" t="-521" r="-533" b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18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0A34F-2E7D-895A-F2B5-79187D6B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0A5D2213-F30A-3A47-C524-503DA0F6410E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Метод моментов получения точечных оценок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3A3200-80C6-5F06-C44E-8B9BBE18766A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643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Теорема</a:t>
                </a:r>
                <a:r>
                  <a:rPr lang="ru-RU" dirty="0"/>
                  <a:t>: </a:t>
                </a:r>
                <a:r>
                  <a:rPr lang="ru-RU" dirty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acc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оценка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полученная по методу моментов, причем функция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непрерывна. Тогда оценка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состоятельна.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006400"/>
                    </a:solidFill>
                  </a:rPr>
                  <a:t>Доказательство</a:t>
                </a:r>
                <a:r>
                  <a:rPr lang="ru-RU" dirty="0"/>
                  <a:t>: </a:t>
                </a:r>
                <a:r>
                  <a:rPr lang="ru-RU" dirty="0">
                    <a:solidFill>
                      <a:schemeClr val="tx1"/>
                    </a:solidFill>
                  </a:rPr>
                  <a:t>По ЗБЧ имеем</a:t>
                </a:r>
                <a14:m>
                  <m:oMath xmlns:m="http://schemas.openxmlformats.org/officeDocument/2006/math"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groupChr>
                          <m:groupChrPr>
                            <m:chr m:val="→"/>
                            <m:vertJc m:val="bot"/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</m:e>
                    </m:nary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𝑀𝑔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поскольку функция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непрерывна, тогда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acc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оценка тоже состоятельна. Если полученные разумным путем оценки обязаны быть состоятельными, то свойство </a:t>
                </a:r>
                <a:r>
                  <a:rPr lang="ru-RU" dirty="0" err="1">
                    <a:solidFill>
                      <a:schemeClr val="tx1"/>
                    </a:solidFill>
                  </a:rPr>
                  <a:t>несмещенности</a:t>
                </a:r>
                <a:r>
                  <a:rPr lang="ru-RU" dirty="0">
                    <a:solidFill>
                      <a:schemeClr val="tx1"/>
                    </a:solidFill>
                  </a:rPr>
                  <a:t> – скорее исключение, ежели правило.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dirty="0"/>
                  <a:t>: Рассмотрим выборку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объема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 равномерного распределения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Найдем ООМ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 первому моменту, т.е. с помощью функции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Математическое ожидание есть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можно оценить как выборочное среднее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  <a:r>
                  <a:rPr lang="ru-RU" dirty="0"/>
                  <a:t>Найдем оценку метода моментов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по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ому моменту: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ru-RU" dirty="0"/>
                  <a:t>, выразим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d>
                          <m:d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тогда оценка по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ому моменту будет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acc>
                      </m:e>
                    </m:rad>
                  </m:oMath>
                </a14:m>
                <a:r>
                  <a:rPr lang="en-US" dirty="0"/>
                  <a:t> . </a:t>
                </a:r>
                <a:r>
                  <a:rPr lang="ru-RU" dirty="0"/>
                  <a:t>Отсюда возникает вопрос, а какая оценка лучше?</a:t>
                </a:r>
              </a:p>
              <a:p>
                <a:pPr algn="just"/>
                <a:r>
                  <a:rPr lang="ru-RU" b="1" dirty="0">
                    <a:solidFill>
                      <a:srgbClr val="006400"/>
                    </a:solidFill>
                  </a:rPr>
                  <a:t>Во первых </a:t>
                </a:r>
                <a:r>
                  <a:rPr lang="ru-RU" dirty="0"/>
                  <a:t>– все оценки являются состоятельными, чем больше выборка – тем лучше оценка</a:t>
                </a:r>
                <a:r>
                  <a:rPr lang="ru-RU" dirty="0">
                    <a:solidFill>
                      <a:schemeClr val="tx1"/>
                    </a:solidFill>
                  </a:rPr>
                  <a:t>. </a:t>
                </a:r>
                <a:r>
                  <a:rPr lang="ru-RU" b="1" dirty="0">
                    <a:solidFill>
                      <a:srgbClr val="006400"/>
                    </a:solidFill>
                  </a:rPr>
                  <a:t>Во вторых </a:t>
                </a:r>
                <a:r>
                  <a:rPr lang="ru-RU" dirty="0">
                    <a:solidFill>
                      <a:schemeClr val="tx1"/>
                    </a:solidFill>
                  </a:rPr>
                  <a:t>- проверим </a:t>
                </a:r>
                <a:r>
                  <a:rPr lang="ru-RU" dirty="0" err="1">
                    <a:solidFill>
                      <a:schemeClr val="tx1"/>
                    </a:solidFill>
                  </a:rPr>
                  <a:t>несмещенность</a:t>
                </a:r>
                <a:r>
                  <a:rPr lang="ru-RU" dirty="0">
                    <a:solidFill>
                      <a:schemeClr val="tx1"/>
                    </a:solidFill>
                  </a:rPr>
                  <a:t> полученных оценок: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 – несмещенная. Вторая оценка: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acc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acc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–</a:t>
                </a:r>
                <a:r>
                  <a:rPr lang="ru-RU" dirty="0"/>
                  <a:t> смещенная (корень </a:t>
                </a:r>
                <a:r>
                  <a:rPr lang="en-US" dirty="0"/>
                  <a:t>k-</a:t>
                </a:r>
                <a:r>
                  <a:rPr lang="ru-RU" dirty="0"/>
                  <a:t>ой степени от мат. ожидания корня меньше, чем корень от мат. ожидания (неравенство Йенсена) )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3A3200-80C6-5F06-C44E-8B9BBE187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6431632"/>
              </a:xfrm>
              <a:prstGeom prst="rect">
                <a:avLst/>
              </a:prstGeom>
              <a:blipFill>
                <a:blip r:embed="rId2"/>
                <a:stretch>
                  <a:fillRect l="-533" t="-190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01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D895AA-4EC5-1C14-9934-9444D83D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11479DEE-8102-8D3B-EC5A-B7450B420AE3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Метод максимального правдоподобия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4934A5-5979-E493-7554-7298F62A46F7}"/>
                  </a:ext>
                </a:extLst>
              </p:cNvPr>
              <p:cNvSpPr txBox="1"/>
              <p:nvPr/>
            </p:nvSpPr>
            <p:spPr>
              <a:xfrm>
                <a:off x="0" y="719476"/>
                <a:ext cx="9144000" cy="5419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Для того, чтобы воспользоваться методом максимального правдоподобия необходимо построить функцию максимального правдоподобия. При этом в качестве «наиболее правдоподобного» значения параметра берут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максимизирующее вероятность получить при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опытах данную выборку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,…,\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 параметрического семейства распределений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непрерывно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если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дискретно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  <a:p>
                <a:pPr algn="just"/>
                <a:r>
                  <a:rPr lang="ru-RU" dirty="0"/>
                  <a:t>Таким образом, функция правдоподобия имеет вид: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Оценкой максимального правдоподобия </a:t>
                </a:r>
                <a:r>
                  <a:rPr lang="en-US" dirty="0"/>
                  <a:t>(</a:t>
                </a:r>
                <a:r>
                  <a:rPr lang="ru-RU" dirty="0"/>
                  <a:t>ОМП</a:t>
                </a:r>
                <a:r>
                  <a:rPr lang="en-US" dirty="0"/>
                  <a:t>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dirty="0"/>
                  <a:t> для неизвестного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называют такое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при котором достигается максимум функции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Т.е. мы хотим подобрать такой параметр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чтобы вероятность попадания в нашу выборку была максимальной. 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b="1" dirty="0">
                    <a:solidFill>
                      <a:srgbClr val="006400"/>
                    </a:solidFill>
                  </a:rPr>
                  <a:t>Замечание</a:t>
                </a:r>
                <a:r>
                  <a:rPr lang="ru-RU" dirty="0"/>
                  <a:t>: Поскольку функция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монотонна, то точки максимума функции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совпадают.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4934A5-5979-E493-7554-7298F62A4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19476"/>
                <a:ext cx="9144000" cy="5419048"/>
              </a:xfrm>
              <a:prstGeom prst="rect">
                <a:avLst/>
              </a:prstGeom>
              <a:blipFill>
                <a:blip r:embed="rId2"/>
                <a:stretch>
                  <a:fillRect l="-533" t="-562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06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1C35C-783F-B864-B03D-5A814BDA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782293-C744-060B-8A1D-5D66342F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BD2EB2FC-1FC3-7B5A-2DC5-EB333618570A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Метод максимального правдоподобия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9B41E1-9B03-2EB7-B20C-2CD3E4D241B7}"/>
                  </a:ext>
                </a:extLst>
              </p:cNvPr>
              <p:cNvSpPr txBox="1"/>
              <p:nvPr/>
            </p:nvSpPr>
            <p:spPr>
              <a:xfrm>
                <a:off x="0" y="390072"/>
                <a:ext cx="9144000" cy="6724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750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sz="1750" dirty="0"/>
                  <a:t>: Пусть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7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175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75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75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75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750" dirty="0">
                    <a:solidFill>
                      <a:schemeClr val="tx1"/>
                    </a:solidFill>
                  </a:rPr>
                  <a:t>выборка </a:t>
                </a:r>
                <a:r>
                  <a:rPr lang="ru-RU" sz="1750" dirty="0"/>
                  <a:t>объема </a:t>
                </a:r>
                <a:r>
                  <a:rPr lang="en-US" sz="1750" dirty="0"/>
                  <a:t>n </a:t>
                </a:r>
                <a:r>
                  <a:rPr lang="ru-RU" sz="1750" dirty="0"/>
                  <a:t>из распределения Пуассона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750" dirty="0"/>
                  <a:t>. </a:t>
                </a:r>
                <a:r>
                  <a:rPr lang="ru-RU" sz="1750" dirty="0"/>
                  <a:t>Найдем ОМП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75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sz="1750" dirty="0"/>
                  <a:t> </a:t>
                </a:r>
                <a:r>
                  <a:rPr lang="ru-RU" sz="1750" dirty="0"/>
                  <a:t>для неизвестного параметра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75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Составим функцию правдоподобия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50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ru-RU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175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ru-RU" sz="175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∏"/>
                          <m:ctrlPr>
                            <a:rPr lang="ru-RU" sz="17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nary>
                                    <m:naryPr>
                                      <m:chr m:val="∑"/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∏"/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nary>
                            </m:den>
                          </m:f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∏"/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Поскольку функция правдоподобия при всех</a:t>
                </a:r>
                <a:r>
                  <a:rPr lang="en-US" sz="1750" dirty="0"/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ru-RU" sz="1750" dirty="0"/>
                  <a:t>непрерывно дифференцируема по </a:t>
                </a:r>
                <a14:m>
                  <m:oMath xmlns:m="http://schemas.openxmlformats.org/officeDocument/2006/math">
                    <m:r>
                      <a:rPr lang="ru-RU" sz="175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5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750" dirty="0"/>
                  <a:t> </a:t>
                </a:r>
                <a:r>
                  <a:rPr lang="ru-RU" sz="1750" dirty="0"/>
                  <a:t>можно искать точки экстремума, приравняв к нулю частную производную по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50" dirty="0"/>
                  <a:t>. </a:t>
                </a:r>
                <a:r>
                  <a:rPr lang="ru-RU" sz="1750" dirty="0"/>
                  <a:t>Но удобнее делать это для логарифмической функции правдоподобия: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75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1750" i="1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ru-RU" sz="17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ru-RU" sz="175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175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5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∏"/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nary>
                            </m:den>
                          </m:f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175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75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Теперь посчитаем производную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750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ru-RU" sz="17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sz="175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sz="175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Проверим, является ли эта точка – точкой максимума. Нужно посмотреть на знак второй производной от этой функции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7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750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ru-RU" sz="17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sz="175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ru-RU" sz="1750" dirty="0"/>
              </a:p>
              <a:p>
                <a:pPr algn="just"/>
                <a:r>
                  <a:rPr lang="ru-RU" sz="1750" dirty="0"/>
                  <a:t>Функция выпуклая вверх, точка экстремума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75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1750" dirty="0"/>
                  <a:t> является точкой максимума функции </a:t>
                </a:r>
                <a14:m>
                  <m:oMath xmlns:m="http://schemas.openxmlformats.org/officeDocument/2006/math">
                    <m:r>
                      <a:rPr lang="ru-RU" sz="1750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ru-RU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ru-RU" sz="175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sz="17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ru-RU" sz="1750" dirty="0"/>
                  <a:t> и ОПМ параметра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sz="1750" dirty="0"/>
                  <a:t>.</a:t>
                </a:r>
                <a:endParaRPr lang="en-US" sz="17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9B41E1-9B03-2EB7-B20C-2CD3E4D24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0072"/>
                <a:ext cx="9144000" cy="6724470"/>
              </a:xfrm>
              <a:prstGeom prst="rect">
                <a:avLst/>
              </a:prstGeom>
              <a:blipFill>
                <a:blip r:embed="rId2"/>
                <a:stretch>
                  <a:fillRect l="-467" t="-1269" r="-4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360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5C73-65B5-E0C1-C674-8EDBF1EC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7AD779-E54E-7F20-1270-416202F8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341B24C-99F8-4E5F-2AFB-B7B2A851B8BC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Метод максимального правдоподобия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C7B53A-567D-BDF7-10B1-5726DD515739}"/>
                  </a:ext>
                </a:extLst>
              </p:cNvPr>
              <p:cNvSpPr txBox="1"/>
              <p:nvPr/>
            </p:nvSpPr>
            <p:spPr>
              <a:xfrm>
                <a:off x="0" y="346942"/>
                <a:ext cx="9144000" cy="7146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750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sz="1750" dirty="0"/>
                  <a:t>: Пусть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7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175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75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75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75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750" dirty="0">
                    <a:solidFill>
                      <a:schemeClr val="tx1"/>
                    </a:solidFill>
                  </a:rPr>
                  <a:t>выборка </a:t>
                </a:r>
                <a:r>
                  <a:rPr lang="ru-RU" sz="1750" dirty="0"/>
                  <a:t>объема </a:t>
                </a:r>
                <a14:m>
                  <m:oMath xmlns:m="http://schemas.openxmlformats.org/officeDocument/2006/math">
                    <m:r>
                      <a:rPr lang="en-US" sz="175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50" dirty="0"/>
                  <a:t> </a:t>
                </a:r>
                <a:r>
                  <a:rPr lang="ru-RU" sz="1750" dirty="0"/>
                  <a:t>из распределения Гаусса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750" dirty="0"/>
                  <a:t>. </a:t>
                </a:r>
                <a:r>
                  <a:rPr lang="ru-RU" sz="1750" dirty="0"/>
                  <a:t>Найдем ОМП для параметров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1750" dirty="0"/>
                  <a:t> и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50" dirty="0"/>
                  <a:t>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sSup>
                      <m:sSup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ru-RU" sz="1750" dirty="0"/>
                  <a:t>, введем замену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75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750" dirty="0"/>
                  <a:t> для простоты вычисления производной</a:t>
                </a:r>
                <a:r>
                  <a:rPr lang="en-US" sz="1750" dirty="0"/>
                  <a:t>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75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75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75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75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75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75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sup>
                    </m:sSup>
                  </m:oMath>
                </a14:m>
                <a:r>
                  <a:rPr lang="ru-RU" sz="1750" dirty="0"/>
                  <a:t> составим функцию правдоподобия</a:t>
                </a:r>
                <a:r>
                  <a:rPr lang="en-US" sz="1750" dirty="0"/>
                  <a:t> </a:t>
                </a:r>
                <a:r>
                  <a:rPr lang="ru-RU" sz="1750" dirty="0"/>
                  <a:t>и вычислим ее логарифм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50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ru-RU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175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ru-RU" sz="175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75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75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175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5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5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Теперь посчитаем производную</a:t>
                </a:r>
                <a:r>
                  <a:rPr lang="en-US" sz="1750" dirty="0"/>
                  <a:t> </a:t>
                </a:r>
                <a:r>
                  <a:rPr lang="ru-RU" sz="1750" dirty="0"/>
                  <a:t>по двум неизвестным параметрам (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750" dirty="0"/>
                  <a:t> и найдем стационарную функцию, для которой эти производные будут равны нулю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7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750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</m:d>
                        </m:num>
                        <m:den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sz="175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7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  <m:r>
                                    <a:rPr lang="ru-RU" sz="175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75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ru-RU" sz="1750" b="0" i="1" smtClean="0">
                          <a:latin typeface="Cambria Math" panose="02040503050406030204" pitchFamily="18" charset="0"/>
                        </a:rPr>
                        <m:t>когда</m:t>
                      </m:r>
                      <m:nary>
                        <m:naryPr>
                          <m:chr m:val="∑"/>
                          <m:ctrlPr>
                            <a:rPr lang="ru-RU" sz="17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ru-RU" sz="17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175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7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750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</m:d>
                        </m:num>
                        <m:den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75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7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7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7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  <m:r>
                            <a:rPr lang="en-US" sz="175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750" i="1">
                              <a:latin typeface="Cambria Math" panose="02040503050406030204" pitchFamily="18" charset="0"/>
                            </a:rPr>
                            <m:t>=0 </m:t>
                          </m:r>
                        </m:e>
                      </m:nary>
                    </m:oMath>
                  </m:oMathPara>
                </a14:m>
                <a:endParaRPr lang="en-US" sz="1750" dirty="0"/>
              </a:p>
              <a:p>
                <a:pPr algn="just"/>
                <a:r>
                  <a:rPr lang="ru-RU" sz="1750" dirty="0"/>
                  <a:t>Для второго уравнения, разделим обе части на </a:t>
                </a:r>
                <a14:m>
                  <m:oMath xmlns:m="http://schemas.openxmlformats.org/officeDocument/2006/math">
                    <m:r>
                      <a:rPr lang="en-US" sz="1750" i="1" dirty="0" smtClean="0">
                        <a:latin typeface="Cambria Math" panose="02040503050406030204" pitchFamily="18" charset="0"/>
                      </a:rPr>
                      <m:t>1/2</m:t>
                    </m:r>
                    <m:r>
                      <a:rPr lang="ru-RU" sz="175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750" dirty="0"/>
                  <a:t> подставим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75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1750" dirty="0"/>
                  <a:t> </a:t>
                </a:r>
                <a:r>
                  <a:rPr lang="en-US" sz="1750" dirty="0"/>
                  <a:t>  </a:t>
                </a:r>
                <a:r>
                  <a:rPr lang="ru-RU" sz="1750" dirty="0"/>
                  <a:t>и распишем сумму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sz="175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ru-RU" sz="175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75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7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75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75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175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75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75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75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75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en-US" sz="175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nary>
                      </m:e>
                    </m:nary>
                    <m:r>
                      <a:rPr lang="ru-RU" sz="175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750" dirty="0"/>
                  <a:t> первая сумма не зависит от </a:t>
                </a:r>
                <a14:m>
                  <m:oMath xmlns:m="http://schemas.openxmlformats.org/officeDocument/2006/math">
                    <m:r>
                      <a:rPr lang="en-US" sz="175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50" dirty="0"/>
                  <a:t> </a:t>
                </a:r>
                <a:r>
                  <a:rPr lang="ru-RU" sz="1750" dirty="0"/>
                  <a:t>и равна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sz="1750" dirty="0"/>
                  <a:t>, </a:t>
                </a:r>
                <a:r>
                  <a:rPr lang="ru-RU" sz="1750" dirty="0"/>
                  <a:t>перенесем ее в правую часть и умножим обе части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50" b="0" i="0" smtClean="0">
                        <a:latin typeface="Cambria Math" panose="02040503050406030204" pitchFamily="18" charset="0"/>
                      </a:rPr>
                      <m:t>: </m:t>
                    </m:r>
                    <m:nary>
                      <m:naryPr>
                        <m:chr m:val="∑"/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75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7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75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r>
                  <a:rPr lang="en-US" sz="1750" dirty="0"/>
                  <a:t>, </a:t>
                </a:r>
                <a:r>
                  <a:rPr lang="ru-RU" sz="1750" dirty="0"/>
                  <a:t>разделив обе части на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750" dirty="0"/>
                  <a:t> получим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5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75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7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75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7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75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175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5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750" dirty="0"/>
                  <a:t> выборочная дисперсия эмпирической случайной величины</a:t>
                </a:r>
              </a:p>
              <a:p>
                <a:pPr algn="ctr"/>
                <a:endParaRPr lang="en-US" sz="17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C7B53A-567D-BDF7-10B1-5726DD515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6942"/>
                <a:ext cx="9144000" cy="7146636"/>
              </a:xfrm>
              <a:prstGeom prst="rect">
                <a:avLst/>
              </a:prstGeom>
              <a:blipFill>
                <a:blip r:embed="rId3"/>
                <a:stretch>
                  <a:fillRect l="-1000" t="-1195" r="-9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219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D11149-EC4F-1A42-C731-63E05C8A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690E72F-6843-D320-BD22-2F143FD82A17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Интервальные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2FB61-7B0E-54AE-FD07-76B3EDAC8550}"/>
                  </a:ext>
                </a:extLst>
              </p:cNvPr>
              <p:cNvSpPr txBox="1"/>
              <p:nvPr/>
            </p:nvSpPr>
            <p:spPr>
              <a:xfrm>
                <a:off x="0" y="618392"/>
                <a:ext cx="9144000" cy="5212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1800" dirty="0"/>
                  <a:t>Недостаток рассмотренных ранее точечных оценок состоит в том, что при небольшом объёме выборки (как оно часто бывает), мы можем получать выборочные значения, которые далеки от истины. В  этих случаях логично потребовать, чтобы выборочная характеристика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отличалась от генерального значения</a:t>
                </a:r>
                <a:r>
                  <a:rPr lang="ru-RU" sz="1800" i="1" dirty="0"/>
                  <a:t> </a:t>
                </a:r>
                <a:r>
                  <a:rPr lang="ru-RU" sz="1800" dirty="0"/>
                  <a:t>менее, чем на некоторое положительное число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sz="1800" dirty="0"/>
                  <a:t>. </a:t>
                </a:r>
              </a:p>
              <a:p>
                <a:pPr marL="0" indent="0" algn="just">
                  <a:buNone/>
                </a:pPr>
                <a:endParaRPr lang="ru-RU" sz="1800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Рассмотрим выборку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объема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i="1" dirty="0"/>
                  <a:t> </a:t>
                </a:r>
                <a:r>
                  <a:rPr lang="ru-RU" dirty="0"/>
                  <a:t>из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ru-RU" dirty="0"/>
                  <a:t> с параметром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0 &lt;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&lt; 1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интервал со случайными концами</a:t>
                </a:r>
                <a:r>
                  <a:rPr lang="en-US" dirty="0"/>
                  <a:t>          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ba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l-GR" i="1" dirty="0">
                        <a:latin typeface="Cambria Math" panose="02040503050406030204" pitchFamily="18" charset="0"/>
                      </a:rPr>
                      <m:t>) = (</m:t>
                    </m:r>
                    <m:bar>
                      <m:bar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bar>
                    <m:r>
                      <a:rPr lang="el-GR" i="1" dirty="0">
                        <a:latin typeface="Cambria Math" panose="02040503050406030204" pitchFamily="18" charset="0"/>
                      </a:rPr>
                      <m:t>( 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l-GR" i="1" dirty="0">
                        <a:latin typeface="Cambria Math" panose="02040503050406030204" pitchFamily="18" charset="0"/>
                      </a:rPr>
                      <m:t>  ,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), 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l-GR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называется </a:t>
                </a:r>
                <a:r>
                  <a:rPr lang="ru-RU" b="1" dirty="0">
                    <a:solidFill>
                      <a:srgbClr val="006400"/>
                    </a:solidFill>
                  </a:rPr>
                  <a:t>доверительным интервалом </a:t>
                </a:r>
                <a:r>
                  <a:rPr lang="ru-RU" dirty="0"/>
                  <a:t>для параметра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с уровнем доверия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, </a:t>
                </a:r>
                <a:r>
                  <a:rPr lang="ru-RU" dirty="0"/>
                  <a:t>если для любого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ba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&lt; </m:t>
                        </m:r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1 −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i="1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bar>
                  </m:oMath>
                </a14:m>
                <a:r>
                  <a:rPr lang="ru-RU" sz="1800" i="1" dirty="0"/>
                  <a:t> </a:t>
                </a:r>
                <a:r>
                  <a:rPr lang="ru-RU" sz="1800" dirty="0"/>
                  <a:t>и</a:t>
                </a:r>
                <a:r>
                  <a:rPr lang="ru-RU" sz="18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800" i="1" dirty="0"/>
                  <a:t>  </a:t>
                </a:r>
                <a:r>
                  <a:rPr lang="ru-RU" sz="1800" dirty="0"/>
                  <a:t>нижняя и верхняя границы интервала.</a:t>
                </a:r>
                <a:r>
                  <a:rPr lang="ru-RU" dirty="0"/>
                  <a:t>  Т.е. мы строим такие две оценки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ba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и</a:t>
                </a:r>
                <a:r>
                  <a:rPr lang="ru-RU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sz="1800" dirty="0"/>
                  <a:t> таким образом, чтобы вероятность того, что наш параметр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800" dirty="0"/>
                  <a:t> находится внутри заданного интервала  была не меньше указанного уровня доверия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dirty="0"/>
                  <a:t>.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Пример: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выборка объема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 из нормального распределения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неизвестный параметр, а значение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800" dirty="0"/>
                  <a:t> </a:t>
                </a:r>
                <a:r>
                  <a:rPr lang="ru-RU" dirty="0"/>
                  <a:t>известно. Требуется при произвольном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построить точный доверительный интервал для параметра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уровня доверия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</a:t>
                </a:r>
                <a:endParaRPr lang="ru-RU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2FB61-7B0E-54AE-FD07-76B3EDAC8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8392"/>
                <a:ext cx="9144000" cy="5212324"/>
              </a:xfrm>
              <a:prstGeom prst="rect">
                <a:avLst/>
              </a:prstGeom>
              <a:blipFill>
                <a:blip r:embed="rId2"/>
                <a:stretch>
                  <a:fillRect l="-533" t="-585" r="-533" b="-9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07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9B88D8-2F5A-05D2-AE3E-D8FCAC5F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8E3898B4-3263-9A1F-27FA-E02314FB605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Интервальные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F5674D-3926-2B17-2A5A-9A686DCE5325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4452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Поскольку нормальное распределение устойчиво по суммированию, поэтому распределение суммы элементов выборки при любом её объёме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нормально. Отсюда произведение выборочного среднего на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есть сумма</a:t>
                </a:r>
                <a:r>
                  <a:rPr lang="en-US" dirty="0"/>
                  <a:t> </a:t>
                </a:r>
                <a:r>
                  <a:rPr lang="ru-RU" dirty="0"/>
                  <a:t>независимых нормально распределенных случайных величин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l-G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l-G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Введем новую случайную величину из стандартного нормального распределения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ru-RU" dirty="0"/>
              </a:p>
              <a:p>
                <a:pPr algn="just"/>
                <a:r>
                  <a:rPr lang="ru-RU" dirty="0"/>
                  <a:t>По заданному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(0, 1)</m:t>
                    </m:r>
                  </m:oMath>
                </a14:m>
                <a:r>
                  <a:rPr lang="ru-RU" dirty="0"/>
                  <a:t> мы можем найти такой квантиль распределения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r>
                  <a:rPr lang="ru-RU" dirty="0"/>
                  <a:t> такое, чтобы случайная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ru-RU" dirty="0"/>
                  <a:t> попадала в заданный интервал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с вероятностью 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{−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} = 1 −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 Т.е. интервал, в который мы попадаем с вероятностью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мы должны «отрезать» хвосты распределения с вероятностями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pPr algn="just"/>
                <a:endParaRPr lang="ru-RU" dirty="0"/>
              </a:p>
              <a:p>
                <a:pPr algn="just"/>
                <a:r>
                  <a:rPr lang="ru-RU" dirty="0"/>
                  <a:t>Искомую вероятность можно оценить с помощью функции Лапласа: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 &lt; 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 ⇒ 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algn="just"/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F5674D-3926-2B17-2A5A-9A686DCE5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4452309"/>
              </a:xfrm>
              <a:prstGeom prst="rect">
                <a:avLst/>
              </a:prstGeom>
              <a:blipFill>
                <a:blip r:embed="rId2"/>
                <a:stretch>
                  <a:fillRect l="-533" t="-822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B01790-D44D-9A65-C94A-240AF7F1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1" t="1434" r="749" b="1637"/>
          <a:stretch>
            <a:fillRect/>
          </a:stretch>
        </p:blipFill>
        <p:spPr>
          <a:xfrm>
            <a:off x="2382311" y="4600575"/>
            <a:ext cx="4379377" cy="22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8BB6A8-03B2-3DD1-8AA8-666A51C5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8BBDAC2F-B108-0EA7-1C38-B2A0AD3075A9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Интервальные оценки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446763-9B04-43C9-26AA-FFFBF0235A5E}"/>
                  </a:ext>
                </a:extLst>
              </p:cNvPr>
              <p:cNvSpPr txBox="1"/>
              <p:nvPr/>
            </p:nvSpPr>
            <p:spPr>
              <a:xfrm>
                <a:off x="0" y="747346"/>
                <a:ext cx="9144000" cy="4208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Введем определение квантиля</a:t>
                </a:r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Пусть распределение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ℱ с </a:t>
                </a:r>
                <a:r>
                  <a:rPr lang="ru-RU" dirty="0">
                    <a:ea typeface="Cambria Math" panose="02040503050406030204" pitchFamily="18" charset="0"/>
                  </a:rPr>
                  <a:t>функцией распределения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абсолютно непрерывно. Число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называется </a:t>
                </a:r>
                <a:r>
                  <a:rPr lang="ru-RU" dirty="0" err="1"/>
                  <a:t>квантилью</a:t>
                </a:r>
                <a:r>
                  <a:rPr lang="ru-RU" dirty="0"/>
                  <a:t> уровня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распределения, 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Если функция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строго монотонна, квантиль определяется единственным образом.  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По заданному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таблице значений функции Лапласа найдем квантили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Разрешив затем неравенство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относительно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получим точный доверительный интервал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US" b="1" i="1" dirty="0" smtClean="0">
                          <a:solidFill>
                            <a:srgbClr val="FF004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4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  <a:p>
                <a:pPr algn="ctr"/>
                <a:endParaRPr lang="ru-RU" dirty="0"/>
              </a:p>
              <a:p>
                <a:pPr algn="ctr"/>
                <a:r>
                  <a:rPr lang="ru-RU" dirty="0"/>
                  <a:t>Итак мы получили точный доверительный интервал уровня доверия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446763-9B04-43C9-26AA-FFFBF0235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47346"/>
                <a:ext cx="9144000" cy="4208844"/>
              </a:xfrm>
              <a:prstGeom prst="rect">
                <a:avLst/>
              </a:prstGeom>
              <a:blipFill>
                <a:blip r:embed="rId2"/>
                <a:stretch>
                  <a:fillRect l="-533" t="-870" r="-1067" b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545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80D329-AA1B-EBE3-EB80-16020A9E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D2DCCDEA-76B1-8EFD-231C-E5FB19F7140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Общий принцип построения точных доверительных интервалов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30999-476A-1917-8C25-1E1654770C5C}"/>
                  </a:ext>
                </a:extLst>
              </p:cNvPr>
              <p:cNvSpPr txBox="1"/>
              <p:nvPr/>
            </p:nvSpPr>
            <p:spPr>
              <a:xfrm>
                <a:off x="0" y="696250"/>
                <a:ext cx="9144000" cy="3085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0" i="0" u="none" strike="noStrike" baseline="0" dirty="0"/>
                  <a:t>Чтобы построить точный доверительный интервал, необходимо реализовать следующие шаги: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н</a:t>
                </a:r>
                <a:r>
                  <a:rPr lang="ru-RU" b="0" i="0" u="none" strike="noStrike" baseline="0" dirty="0"/>
                  <a:t>айти функцию </a:t>
                </a:r>
                <a14:m>
                  <m:oMath xmlns:m="http://schemas.openxmlformats.org/officeDocument/2006/math">
                    <m:r>
                      <a:rPr lang="ru-RU" b="0" i="1" u="none" strike="noStrike" baseline="0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u="none" strike="noStrike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b="0" i="1" u="none" strike="noStrike" baseline="0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i="0" u="none" strike="noStrike" baseline="0" dirty="0"/>
                  <a:t>распределение которой не зависит от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i="0" u="none" strike="noStrike" baseline="0" dirty="0"/>
                  <a:t> </a:t>
                </a:r>
                <a:r>
                  <a:rPr lang="ru-RU" b="0" i="0" u="none" strike="noStrike" baseline="0" dirty="0"/>
                  <a:t>Необходимо,</a:t>
                </a:r>
                <a:r>
                  <a:rPr lang="en-US" b="0" i="0" u="none" strike="noStrike" baseline="0" dirty="0"/>
                  <a:t> </a:t>
                </a:r>
                <a:r>
                  <a:rPr lang="ru-RU" b="0" i="0" u="none" strike="noStrike" baseline="0" dirty="0"/>
                  <a:t>чтобы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i="0" u="none" strike="noStrike" baseline="0" dirty="0"/>
                  <a:t> </a:t>
                </a:r>
                <a:r>
                  <a:rPr lang="ru-RU" dirty="0"/>
                  <a:t>б</a:t>
                </a:r>
                <a:r>
                  <a:rPr lang="ru-RU" b="0" i="0" u="none" strike="noStrike" baseline="0" dirty="0"/>
                  <a:t>ыла обратима по </a:t>
                </a:r>
                <a14:m>
                  <m:oMath xmlns:m="http://schemas.openxmlformats.org/officeDocument/2006/math">
                    <m:r>
                      <a:rPr lang="ru-RU" b="0" i="1" u="none" strike="noStrike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b="0" i="0" u="none" strike="noStrike" baseline="0" dirty="0"/>
                  <a:t> при любом фиксированном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b="0" i="1" u="none" strike="noStrike" baseline="0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0" u="none" strike="noStrike" baseline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i="0" u="none" strike="noStrike" baseline="0" dirty="0"/>
                  <a:t> </a:t>
                </a:r>
                <a:r>
                  <a:rPr lang="ru-RU" b="0" i="0" u="none" strike="noStrike" baseline="0" dirty="0"/>
                  <a:t>Аналогично прошлому примеру, мы рассматривали функцию зависящую</a:t>
                </a:r>
                <a:r>
                  <a:rPr lang="ru-RU" b="0" i="0" u="none" strike="noStrike" dirty="0"/>
                  <a:t> от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b="0" i="0" u="none" strike="noStrike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i="0" u="none" strike="noStrike" baseline="0" dirty="0"/>
                  <a:t> которая имеет стандартное нормальное распределение с параметрами (0, 1);</a:t>
                </a:r>
                <a:endParaRPr lang="ru-RU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н</a:t>
                </a:r>
                <a:r>
                  <a:rPr lang="ru-RU" b="0" i="0" u="none" strike="noStrike" baseline="0" dirty="0"/>
                  <a:t>айти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b="0" i="0" u="none" strike="noStrike" baseline="0" dirty="0"/>
                  <a:t> и</a:t>
                </a:r>
                <a:r>
                  <a:rPr lang="en-US" b="0" i="0" u="none" strike="noStrike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b="0" i="0" u="none" strike="noStrike" baseline="0" dirty="0"/>
                  <a:t> </a:t>
                </a:r>
                <a:r>
                  <a:rPr lang="en-US" b="0" i="0" u="none" strike="noStrike" baseline="0" dirty="0"/>
                  <a:t> </a:t>
                </a:r>
                <a:r>
                  <a:rPr lang="ru-RU" b="0" i="0" u="none" strike="noStrike" baseline="0" dirty="0"/>
                  <a:t>—</a:t>
                </a:r>
                <a:r>
                  <a:rPr lang="en-US" b="0" i="0" u="none" strike="noStrike" baseline="0" dirty="0"/>
                  <a:t> </a:t>
                </a:r>
                <a:r>
                  <a:rPr lang="ru-RU" b="0" i="0" u="none" strike="noStrike" baseline="0" dirty="0"/>
                  <a:t>квантили распределения </a:t>
                </a:r>
                <a14:m>
                  <m:oMath xmlns:m="http://schemas.openxmlformats.org/officeDocument/2006/math">
                    <m:r>
                      <a:rPr lang="ru-RU" b="0" i="1" u="none" strike="noStrike" baseline="0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b="0" i="0" u="none" strike="noStrike" baseline="0" dirty="0"/>
                  <a:t>, для которых</a:t>
                </a:r>
                <a:endParaRPr lang="en-US" b="0" i="0" u="none" strike="noStrike" baseline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baseline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l-GR" b="0" i="0" u="none" strike="noStrike" baseline="0" dirty="0"/>
              </a:p>
              <a:p>
                <a:pPr marL="342000" indent="-342000" algn="just"/>
                <a:r>
                  <a:rPr lang="ru-RU" b="0" i="0" u="none" strike="noStrike" baseline="0" dirty="0"/>
                  <a:t>3. разрешив неравенство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b="0" i="0" u="none" strike="noStrike" baseline="0" dirty="0"/>
                  <a:t> относительно </a:t>
                </a:r>
                <a14:m>
                  <m:oMath xmlns:m="http://schemas.openxmlformats.org/officeDocument/2006/math">
                    <m:r>
                      <a:rPr lang="ru-RU" b="0" i="1" u="none" strike="noStrike" baseline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i="0" u="none" strike="noStrike" baseline="0" dirty="0"/>
                  <a:t>получить точный</a:t>
                </a:r>
                <a:r>
                  <a:rPr lang="en-US" b="0" i="0" u="none" strike="noStrike" dirty="0"/>
                  <a:t> </a:t>
                </a:r>
                <a:r>
                  <a:rPr lang="ru-RU" b="0" i="0" u="none" strike="noStrike" baseline="0" dirty="0"/>
                  <a:t>доверительный интервал.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30999-476A-1917-8C25-1E1654770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96250"/>
                <a:ext cx="9144000" cy="3085717"/>
              </a:xfrm>
              <a:prstGeom prst="rect">
                <a:avLst/>
              </a:prstGeom>
              <a:blipFill>
                <a:blip r:embed="rId2"/>
                <a:stretch>
                  <a:fillRect l="-533" t="-988" r="-533" b="-2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6E773DA-BD61-8FE2-E388-A9ADA4AFB106}"/>
              </a:ext>
            </a:extLst>
          </p:cNvPr>
          <p:cNvSpPr txBox="1"/>
          <p:nvPr/>
        </p:nvSpPr>
        <p:spPr>
          <a:xfrm>
            <a:off x="0" y="46188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Далее рассмотрим построение доверительных интервалов для параметров нормального распределения в разных ситуациях (один или ни один параметр известен или неизвестен, когда известна только выборка).</a:t>
            </a:r>
          </a:p>
        </p:txBody>
      </p:sp>
    </p:spTree>
    <p:extLst>
      <p:ext uri="{BB962C8B-B14F-4D97-AF65-F5344CB8AC3E}">
        <p14:creationId xmlns:p14="http://schemas.microsoft.com/office/powerpoint/2010/main" val="2020644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EFDF4D-45C8-8D49-6106-9F44499A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21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8C737F7E-FDFD-6319-BE87-9CE8B8BC608D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2" algn="ctr"/>
                <a:r>
                  <a:rPr lang="ru-RU" sz="2400" b="1" dirty="0">
                    <a:solidFill>
                      <a:schemeClr val="tx1"/>
                    </a:solidFill>
                  </a:rPr>
                  <a:t>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</a:rPr>
                  <a:t>(Пирсона)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8C737F7E-FDFD-6319-BE87-9CE8B8BC6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63C30-2523-9729-D358-F3C565C58D65}"/>
                  </a:ext>
                </a:extLst>
              </p:cNvPr>
              <p:cNvSpPr txBox="1"/>
              <p:nvPr/>
            </p:nvSpPr>
            <p:spPr>
              <a:xfrm>
                <a:off x="0" y="536330"/>
                <a:ext cx="9144000" cy="3079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Если у нас есть набор нормально распределенных случайных величин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которые 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ru-RU" dirty="0"/>
                  <a:t>, то если мы возьмем сумму квадратов этих величин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dirty="0"/>
                  <a:t> то мы получим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распределение </a:t>
                </a:r>
                <a:endParaRPr lang="ru-RU" b="1" dirty="0">
                  <a:solidFill>
                    <a:srgbClr val="3333FF"/>
                  </a:solidFill>
                </a:endParaRPr>
              </a:p>
              <a:p>
                <a:pPr algn="just"/>
                <a:endParaRPr lang="ru-RU" b="1" dirty="0">
                  <a:solidFill>
                    <a:srgbClr val="3333FF"/>
                  </a:solidFill>
                </a:endParaRPr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Распределение суммы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квадратов независимых случайных величин со стандартным нормальным распределением называется распределением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с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</a:t>
                </a:r>
                <a:r>
                  <a:rPr lang="ru-RU" b="1" dirty="0">
                    <a:solidFill>
                      <a:srgbClr val="006400"/>
                    </a:solidFill>
                  </a:rPr>
                  <a:t>степенями свободы </a:t>
                </a:r>
                <a:r>
                  <a:rPr lang="ru-RU" dirty="0"/>
                  <a:t>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r>
                  <a:rPr lang="ru-RU" dirty="0"/>
                  <a:t> Плотность распределения:	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/2)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0,                            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63C30-2523-9729-D358-F3C565C58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330"/>
                <a:ext cx="9144000" cy="3079241"/>
              </a:xfrm>
              <a:prstGeom prst="rect">
                <a:avLst/>
              </a:prstGeom>
              <a:blipFill>
                <a:blip r:embed="rId3"/>
                <a:stretch>
                  <a:fillRect l="-533" t="-1188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6B8ED5-5F40-65BF-5DA8-A77B7423C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486" y="4148036"/>
            <a:ext cx="4333175" cy="26845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15B046-7A57-3B39-F34F-44C8D1C57297}"/>
              </a:ext>
            </a:extLst>
          </p:cNvPr>
          <p:cNvSpPr txBox="1"/>
          <p:nvPr/>
        </p:nvSpPr>
        <p:spPr>
          <a:xfrm>
            <a:off x="0" y="3452446"/>
            <a:ext cx="914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i="0" dirty="0">
                <a:solidFill>
                  <a:srgbClr val="006400"/>
                </a:solidFill>
                <a:effectLst/>
              </a:rPr>
              <a:t>Степени свободы </a:t>
            </a:r>
            <a:r>
              <a:rPr lang="ru-RU" b="0" i="0" dirty="0">
                <a:effectLst/>
              </a:rPr>
              <a:t>— это число независимых наблюдений или параметров , которые можно свободно варьировать при оценке статистики.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166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5AE6-B04A-C57E-C8B3-B87551AF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9EB6DD-593B-271E-64AF-3EF5300A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22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9578E2A5-69DE-D529-F508-A803FB71A773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2" algn="ctr"/>
                <a:r>
                  <a:rPr lang="ru-RU" sz="2400" b="1" dirty="0">
                    <a:solidFill>
                      <a:schemeClr val="tx1"/>
                    </a:solidFill>
                  </a:rPr>
                  <a:t>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</a:rPr>
                  <a:t>(Пирсона)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9578E2A5-69DE-D529-F508-A803FB71A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878CB-DB42-3C7B-FBC9-CB20D97C0489}"/>
                  </a:ext>
                </a:extLst>
              </p:cNvPr>
              <p:cNvSpPr txBox="1"/>
              <p:nvPr/>
            </p:nvSpPr>
            <p:spPr>
              <a:xfrm>
                <a:off x="0" y="410210"/>
                <a:ext cx="914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Рассмотрим основные свойства 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878CB-DB42-3C7B-FBC9-CB20D97C0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0210"/>
                <a:ext cx="9144000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84DF3-0CCA-9896-8203-A598AB77B91C}"/>
                  </a:ext>
                </a:extLst>
              </p:cNvPr>
              <p:cNvSpPr txBox="1"/>
              <p:nvPr/>
            </p:nvSpPr>
            <p:spPr>
              <a:xfrm>
                <a:off x="0" y="661831"/>
                <a:ext cx="9144000" cy="320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u="none" strike="noStrike" baseline="0" dirty="0">
                    <a:solidFill>
                      <a:srgbClr val="3333FF"/>
                    </a:solidFill>
                  </a:rPr>
                  <a:t>Свойство 1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b="0" u="none" strike="noStrike" baseline="0" dirty="0"/>
                  <a:t> Если </a:t>
                </a:r>
                <a:r>
                  <a:rPr lang="ru-RU" dirty="0"/>
                  <a:t>две </a:t>
                </a:r>
                <a:r>
                  <a:rPr lang="ru-RU" b="0" u="none" strike="noStrike" baseline="0" dirty="0"/>
                  <a:t>случайные величины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b="0" u="none" strike="noStrike" baseline="0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dirty="0"/>
                  <a:t>независимые</a:t>
                </a:r>
                <a:r>
                  <a:rPr lang="en-US" dirty="0"/>
                  <a:t> </a:t>
                </a:r>
                <a:r>
                  <a:rPr lang="ru-RU" dirty="0"/>
                  <a:t>и подчиняются распределению хи-квадрат с числом степеней свободы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</a:t>
                </a:r>
                <a:r>
                  <a:rPr lang="ru-RU" b="0" u="none" strike="noStrike" baseline="0" dirty="0"/>
                  <a:t> то их сумма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имеет распределение хи-квадрат</a:t>
                </a:r>
                <a:r>
                  <a:rPr lang="en-US" b="0" u="none" strike="noStrike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b="0" u="none" strike="noStrike" baseline="0" dirty="0"/>
                  <a:t> с числом степеней</a:t>
                </a:r>
                <a:r>
                  <a:rPr lang="ru-RU" b="0" u="none" strike="noStrike" dirty="0"/>
                  <a:t> свободы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u="none" strike="noStrike" baseline="0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u="none" strike="noStrike" baseline="0" dirty="0">
                    <a:solidFill>
                      <a:srgbClr val="FF0000"/>
                    </a:solidFill>
                  </a:rPr>
                  <a:t>Доказательство</a:t>
                </a:r>
                <a:r>
                  <a:rPr lang="ru-RU" b="0" u="none" strike="noStrike" baseline="0" dirty="0"/>
                  <a:t>. Пусть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u="none" strike="noStrike" baseline="0" dirty="0"/>
                  <a:t> независимы</a:t>
                </a:r>
                <a:r>
                  <a:rPr lang="ru-RU" b="0" u="none" strike="noStrike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u="none" strike="noStrike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u="none" strike="noStrike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u="none" strike="noStrike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u="none" strike="noStrike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ru-RU" b="0" u="none" strike="noStrike" baseline="0" dirty="0"/>
                  <a:t>. Тогда</a:t>
                </a:r>
                <a:r>
                  <a:rPr lang="en-US" b="0" u="none" strike="noStrike" dirty="0"/>
                  <a:t> </a:t>
                </a:r>
                <a:r>
                  <a:rPr lang="ru-RU" b="0" u="none" strike="noStrike" baseline="0" dirty="0"/>
                  <a:t>случайная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b="0" u="none" strike="noStrike" baseline="0" dirty="0"/>
                  <a:t> распределена так же, как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b="0" u="none" strike="noStrike" baseline="0" dirty="0"/>
                  <a:t>, а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распределена так же, как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u="none" strike="noStrike" baseline="0" dirty="0"/>
                  <a:t> а их сумма</a:t>
                </a:r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—</a:t>
                </a:r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как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b="0" u="none" strike="noStrike" baseline="0" dirty="0"/>
                  <a:t> т.е. имеет распределение</a:t>
                </a:r>
                <a14:m>
                  <m:oMath xmlns:m="http://schemas.openxmlformats.org/officeDocument/2006/math">
                    <m:r>
                      <a:rPr lang="ru-RU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u="none" strike="noStrike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b="0" u="none" strike="noStrike" baseline="0" dirty="0"/>
                  <a:t>.</a:t>
                </a:r>
                <a:endParaRPr lang="en-US" b="0" u="none" strike="noStrike" baseline="0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2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dirty="0"/>
                  <a:t> Если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Доказательство</a:t>
                </a:r>
                <a:r>
                  <a:rPr lang="ru-RU" dirty="0"/>
                  <a:t>. Пусть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ru-RU" dirty="0"/>
                  <a:t>. Тогда</a:t>
                </a:r>
                <a:r>
                  <a:rPr lang="en-US" dirty="0"/>
                  <a:t>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Sup>
                              <m:sSub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=3−1=2.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Оценим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784DF3-0CCA-9896-8203-A598AB77B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1831"/>
                <a:ext cx="9144000" cy="3205429"/>
              </a:xfrm>
              <a:prstGeom prst="rect">
                <a:avLst/>
              </a:prstGeom>
              <a:blipFill>
                <a:blip r:embed="rId4"/>
                <a:stretch>
                  <a:fillRect l="-533" t="-1143" r="-533" b="-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FD6CC4-9994-7EC6-1A10-DC7FBDBD4F83}"/>
                  </a:ext>
                </a:extLst>
              </p:cNvPr>
              <p:cNvSpPr txBox="1"/>
              <p:nvPr/>
            </p:nvSpPr>
            <p:spPr>
              <a:xfrm>
                <a:off x="0" y="3854785"/>
                <a:ext cx="9144000" cy="2205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Для стандартного нормального распределения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Введем замену переменных: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𝑑𝑢</m:t>
                    </m:r>
                  </m:oMath>
                </a14:m>
                <a:r>
                  <a:rPr lang="ru-RU" dirty="0"/>
                  <a:t>. Интеграл становится: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e>
                    </m:nary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ru-R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ru-R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m:rPr>
                                <m:lit/>
                              </m:rP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sup>
                        </m:sSup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𝒅𝒖</m:t>
                        </m:r>
                      </m:e>
                    </m:nary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𝚪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т.к. по определению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ru-RU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 этом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Отсюда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                              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=3−1=2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FD6CC4-9994-7EC6-1A10-DC7FBDBD4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54785"/>
                <a:ext cx="9144000" cy="2205732"/>
              </a:xfrm>
              <a:prstGeom prst="rect">
                <a:avLst/>
              </a:prstGeom>
              <a:blipFill>
                <a:blip r:embed="rId5"/>
                <a:stretch>
                  <a:fillRect l="-533" r="-533" b="-215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EA7B1-05ED-E9DA-CF74-336B28C61C78}"/>
                  </a:ext>
                </a:extLst>
              </p:cNvPr>
              <p:cNvSpPr txBox="1"/>
              <p:nvPr/>
            </p:nvSpPr>
            <p:spPr>
              <a:xfrm>
                <a:off x="0" y="6196169"/>
                <a:ext cx="9144000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b="0" dirty="0"/>
                  <a:t>Итог: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ru-RU" b="0" i="0" smtClean="0"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8EA7B1-05ED-E9DA-CF74-336B28C6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96169"/>
                <a:ext cx="9144000" cy="391582"/>
              </a:xfrm>
              <a:prstGeom prst="rect">
                <a:avLst/>
              </a:prstGeom>
              <a:blipFill>
                <a:blip r:embed="rId6"/>
                <a:stretch>
                  <a:fillRect t="-106154" b="-172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410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32985F-0406-D01C-B3C3-E0724C1F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23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793D1E0-054D-F903-2C57-90F8528DFBDC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2" algn="ctr"/>
                <a:r>
                  <a:rPr lang="ru-RU" sz="2400" b="1" dirty="0">
                    <a:solidFill>
                      <a:schemeClr val="tx1"/>
                    </a:solidFill>
                  </a:rPr>
                  <a:t>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</a:rPr>
                  <a:t>(Пирсона)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793D1E0-054D-F903-2C57-90F8528DF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A1DD1-A8B5-28BF-12B7-A4A99C15AE01}"/>
                  </a:ext>
                </a:extLst>
              </p:cNvPr>
              <p:cNvSpPr txBox="1"/>
              <p:nvPr/>
            </p:nvSpPr>
            <p:spPr>
              <a:xfrm>
                <a:off x="0" y="476801"/>
                <a:ext cx="9144000" cy="6600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u="none" strike="noStrike" baseline="0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u="none" strike="noStrike" baseline="0" dirty="0">
                    <a:solidFill>
                      <a:srgbClr val="3333FF"/>
                    </a:solidFill>
                  </a:rPr>
                  <a:t>3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b="0" u="none" strike="noStrike" baseline="0" dirty="0"/>
                  <a:t> Пусть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u="none" strike="noStrike" baseline="0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u="none" strike="noStrike" baseline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0" u="none" strike="noStrike" baseline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Тогда при </a:t>
                </a:r>
                <a14:m>
                  <m:oMath xmlns:m="http://schemas.openxmlformats.org/officeDocument/2006/math"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ru-RU" b="0" u="none" strike="noStrike" baseline="0" dirty="0"/>
                  <a:t> </a:t>
                </a:r>
                <a:endParaRPr lang="en-US" b="0" u="none" strike="noStrike" baseline="0" dirty="0"/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и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b="1" u="none" strike="noStrike" baseline="0" dirty="0">
                    <a:solidFill>
                      <a:srgbClr val="FF0000"/>
                    </a:solidFill>
                  </a:rPr>
                  <a:t>Доказательство</a:t>
                </a:r>
                <a:r>
                  <a:rPr lang="ru-RU" b="0" u="none" strike="noStrike" baseline="0" dirty="0"/>
                  <a:t>. При любом </a:t>
                </a:r>
                <a14:m>
                  <m:oMath xmlns:m="http://schemas.openxmlformats.org/officeDocument/2006/math">
                    <m:r>
                      <a:rPr lang="en-US" b="0" i="1" u="none" strike="noStrike" baseline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случайная величина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u="none" strike="noStrike" baseline="0" dirty="0"/>
                  <a:t>где все случайные величины</a:t>
                </a:r>
                <a:r>
                  <a:rPr lang="ru-RU" b="0" u="none" strike="noStrik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u="none" strike="noStrike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u="none" strike="noStrike" baseline="0" dirty="0"/>
                  <a:t> </a:t>
                </a:r>
                <a:r>
                  <a:rPr lang="ru-RU" b="0" u="none" strike="noStrike" baseline="0" dirty="0"/>
                  <a:t>независимы</a:t>
                </a:r>
                <a:r>
                  <a:rPr lang="ru-RU" b="0" u="none" strike="noStrike" dirty="0"/>
                  <a:t> и имеют стандартное нормальное распределение. Применяя ЗБЧ и ЦПТ, получаем сходимости</a:t>
                </a:r>
                <a:endParaRPr lang="en-US" b="0" u="none" strike="noStrike" dirty="0"/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groupCh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𝑛𝐷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(0,1)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4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dirty="0"/>
                  <a:t> Если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Доказательство. </a:t>
                </a:r>
                <a:r>
                  <a:rPr lang="ru-RU" dirty="0"/>
                  <a:t>Рассмотрим стандартизованную версию каждой случайной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Сумма квадратов этих стандартных нормальных случайных величин есть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endParaRPr lang="ru-RU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7A1DD1-A8B5-28BF-12B7-A4A99C15A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6801"/>
                <a:ext cx="9144000" cy="6600653"/>
              </a:xfrm>
              <a:prstGeom prst="rect">
                <a:avLst/>
              </a:prstGeom>
              <a:blipFill>
                <a:blip r:embed="rId3"/>
                <a:stretch>
                  <a:fillRect l="-533" t="-462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407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10D806-21F6-D062-4009-8402B724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0E763E8-4668-DE8F-2797-61B9CFA8E749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Распределение Стьюдента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D4B4A6-64D5-4913-382A-09A883ADF811}"/>
                  </a:ext>
                </a:extLst>
              </p:cNvPr>
              <p:cNvSpPr txBox="1"/>
              <p:nvPr/>
            </p:nvSpPr>
            <p:spPr>
              <a:xfrm>
                <a:off x="0" y="537646"/>
                <a:ext cx="9144000" cy="3737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Распределение случайной величины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называется распределением Стьюдента с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степенями свободы 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Распределение Стьюдента совпадает с распределением случайной величины 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dirty="0"/>
                  <a:t>,</a:t>
                </a:r>
                <a:endParaRPr lang="ru-RU" dirty="0"/>
              </a:p>
              <a:p>
                <a:pPr algn="just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- независимы.</a:t>
                </a:r>
              </a:p>
              <a:p>
                <a:pPr algn="just"/>
                <a:r>
                  <a:rPr lang="ru-RU" dirty="0"/>
                  <a:t>Плотность распределения: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2 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D4B4A6-64D5-4913-382A-09A883ADF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7646"/>
                <a:ext cx="9144000" cy="3737690"/>
              </a:xfrm>
              <a:prstGeom prst="rect">
                <a:avLst/>
              </a:prstGeom>
              <a:blipFill>
                <a:blip r:embed="rId2"/>
                <a:stretch>
                  <a:fillRect l="-533" t="-816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FD8FD5-E66B-EA5C-53F3-3C99E1A6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682" y="4274618"/>
            <a:ext cx="4449980" cy="255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55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939741-53E9-F7EC-7CBB-C532B3BB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99A8FB7C-6544-E1A8-334D-115301E5C1EF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Распределение Стьюдента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7AEC6-A5A8-C8C3-89EB-82DF12862767}"/>
                  </a:ext>
                </a:extLst>
              </p:cNvPr>
              <p:cNvSpPr txBox="1"/>
              <p:nvPr/>
            </p:nvSpPr>
            <p:spPr>
              <a:xfrm>
                <a:off x="0" y="1584092"/>
                <a:ext cx="9144000" cy="3718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1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dirty="0"/>
                  <a:t> Распределение Стьюдента симметрично, если случайная величина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имеет распределения Стьюдента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степенями свободы, то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имеет такое же распределение.</a:t>
                </a:r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 </a:t>
                </a:r>
                <a:r>
                  <a:rPr lang="ru-RU" b="1" dirty="0">
                    <a:solidFill>
                      <a:srgbClr val="3333FF"/>
                    </a:solidFill>
                  </a:rPr>
                  <a:t>Свойство 2</a:t>
                </a:r>
                <a:r>
                  <a:rPr lang="ru-RU" dirty="0">
                    <a:solidFill>
                      <a:srgbClr val="3333FF"/>
                    </a:solidFill>
                  </a:rPr>
                  <a:t>: </a:t>
                </a:r>
                <a:r>
                  <a:rPr lang="ru-RU" dirty="0"/>
                  <a:t>Распределение Стьюдента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слабо сходится к стандартному нормальному распределению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Доказательство</a:t>
                </a:r>
                <a:r>
                  <a:rPr lang="en-US" b="1" dirty="0">
                    <a:solidFill>
                      <a:srgbClr val="FF0000"/>
                    </a:solidFill>
                  </a:rPr>
                  <a:t>. </a:t>
                </a:r>
                <a:r>
                  <a:rPr lang="ru-RU" dirty="0"/>
                  <a:t>По свойству 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→∞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По свойствам слабой сходимости получаем: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7AEC6-A5A8-C8C3-89EB-82DF12862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84092"/>
                <a:ext cx="9144000" cy="3718390"/>
              </a:xfrm>
              <a:prstGeom prst="rect">
                <a:avLst/>
              </a:prstGeom>
              <a:blipFill>
                <a:blip r:embed="rId2"/>
                <a:stretch>
                  <a:fillRect l="-533" t="-984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831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DC7368-EBCE-1166-8729-0BDF77B6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02F37F92-7CDE-3DB6-3699-6A055AD95035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Распределение Фишера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0075-737C-C601-EDA5-D2866AA0DABB}"/>
              </a:ext>
            </a:extLst>
          </p:cNvPr>
          <p:cNvSpPr txBox="1"/>
          <p:nvPr/>
        </p:nvSpPr>
        <p:spPr>
          <a:xfrm>
            <a:off x="0" y="41910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Следующее распределение тоже тесно связано с нормальным распределением, но понадобится не при построении доверительных интервалов, а в задачах проверки гипотез Там же мы поймём, почему его называют распределением дисперсионного отношения.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B99ED-5E96-74BA-88F0-45DB211FFB7E}"/>
                  </a:ext>
                </a:extLst>
              </p:cNvPr>
              <p:cNvSpPr txBox="1"/>
              <p:nvPr/>
            </p:nvSpPr>
            <p:spPr>
              <a:xfrm>
                <a:off x="0" y="1342430"/>
                <a:ext cx="9143999" cy="1421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Пусть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имеет распределение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распределение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причем эти случайные величины независимы. Распределение случайной величины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dirty="0"/>
                  <a:t> </a:t>
                </a:r>
              </a:p>
              <a:p>
                <a:pPr algn="ctr"/>
                <a:r>
                  <a:rPr lang="ru-RU" dirty="0"/>
                  <a:t>называется распределением Фишера с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степенями свободы 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B99ED-5E96-74BA-88F0-45DB211FF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42430"/>
                <a:ext cx="9143999" cy="1421158"/>
              </a:xfrm>
              <a:prstGeom prst="rect">
                <a:avLst/>
              </a:prstGeom>
              <a:blipFill>
                <a:blip r:embed="rId2"/>
                <a:stretch>
                  <a:fillRect l="-533" t="-1288" r="-533" b="-64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EDA852-79EF-CF8D-3BAC-35C0607B6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1"/>
          <a:stretch>
            <a:fillRect/>
          </a:stretch>
        </p:blipFill>
        <p:spPr>
          <a:xfrm>
            <a:off x="1880214" y="3114792"/>
            <a:ext cx="5383570" cy="31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92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788159-2FE9-296C-7F44-6D7D28F1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DF91CE09-6BF4-2FD8-BF1E-9A510C5695F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Распределение Фишера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CAFB76-A57F-6C94-26AB-C305723FF1FA}"/>
                  </a:ext>
                </a:extLst>
              </p:cNvPr>
              <p:cNvSpPr txBox="1"/>
              <p:nvPr/>
            </p:nvSpPr>
            <p:spPr>
              <a:xfrm>
                <a:off x="-5860" y="533290"/>
                <a:ext cx="9149860" cy="5783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1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ru-RU" dirty="0"/>
                  <a:t> Если случайная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имеет распределение Фишера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то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тоже имеет распределение Фишера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Заметим, что функции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различаются, но связаны соотношением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Распределение Фишера табулировано при многих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причем свойство 1 позволяет приводить таблицы распределений только например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2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en-US" dirty="0">
                    <a:solidFill>
                      <a:srgbClr val="3333FF"/>
                    </a:solidFill>
                  </a:rPr>
                  <a:t> </a:t>
                </a:r>
                <a:r>
                  <a:rPr lang="ru-RU" dirty="0"/>
                  <a:t>Распределение Фишера 	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слабо сходится к вырожденному распределению в точке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с=1 </m:t>
                    </m:r>
                  </m:oMath>
                </a14:m>
                <a:r>
                  <a:rPr lang="ru-RU" dirty="0"/>
                  <a:t>при любом стремлении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к бесконечности.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Доказательство: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ru-RU" dirty="0"/>
                  <a:t> —</a:t>
                </a:r>
                <a:r>
                  <a:rPr lang="en-US" dirty="0"/>
                  <a:t> </a:t>
                </a:r>
                <a:r>
                  <a:rPr lang="ru-RU" dirty="0"/>
                  <a:t>две независимые последовательности, составленные из независимых случайных величин со стандартным нормальным распределением. Тогда по ЗБЧ 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→∞,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groupChr>
                          <m:groupChrPr>
                            <m:chr m:val="→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Свойство </a:t>
                </a:r>
                <a:r>
                  <a:rPr lang="en-US" b="1" dirty="0">
                    <a:solidFill>
                      <a:srgbClr val="3333FF"/>
                    </a:solidFill>
                  </a:rPr>
                  <a:t>3</a:t>
                </a:r>
                <a:r>
                  <a:rPr lang="ru-RU" dirty="0">
                    <a:solidFill>
                      <a:srgbClr val="3333FF"/>
                    </a:solidFill>
                  </a:rPr>
                  <a:t>:</a:t>
                </a:r>
                <a:r>
                  <a:rPr lang="en-US" dirty="0">
                    <a:solidFill>
                      <a:srgbClr val="3333FF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случайная величина, имеющая распределение Стьюдента. Тогда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ru-RU" dirty="0">
                    <a:solidFill>
                      <a:schemeClr val="tx1"/>
                    </a:solidFill>
                  </a:rPr>
                  <a:t>  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CAFB76-A57F-6C94-26AB-C305723FF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60" y="533290"/>
                <a:ext cx="9149860" cy="5783250"/>
              </a:xfrm>
              <a:prstGeom prst="rect">
                <a:avLst/>
              </a:prstGeom>
              <a:blipFill>
                <a:blip r:embed="rId2"/>
                <a:stretch>
                  <a:fillRect l="-533" r="-600" b="-4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720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E1C8DF-DB11-6F8A-7F55-662157C5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6DE5B4F7-7C37-B9E7-8304-F8001D943333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Преобразования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4835C-FD88-E73E-6689-A1F4D672D5DE}"/>
                  </a:ext>
                </a:extLst>
              </p:cNvPr>
              <p:cNvSpPr txBox="1"/>
              <p:nvPr/>
            </p:nvSpPr>
            <p:spPr>
              <a:xfrm>
                <a:off x="0" y="515816"/>
                <a:ext cx="9144000" cy="5646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Далее рассмотрим некоторые факты, связанные с преобразованиями нормальных выборок, необходимых для построения доверительных интервалов.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dirty="0"/>
                  <a:t>Пусть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— выборка объёма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из стандартного нормального распределения. Там, где нам понадобятся операции матричного умножения, будем считать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 вектором-столбцом. 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—</a:t>
                </a:r>
                <a:r>
                  <a:rPr lang="en-US" dirty="0"/>
                  <a:t> </a:t>
                </a:r>
                <a:r>
                  <a:rPr lang="ru-RU" dirty="0"/>
                  <a:t>ортогональная матрица (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), т.е. 𝐶∙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вектор с координатами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r>
                  <a:rPr lang="ru-RU" dirty="0"/>
                  <a:t> Координаты вектора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ru-RU" dirty="0"/>
                  <a:t> имеют нормальные распределения как 𝑖 линейные комбинации независимых нормальных величин. 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Утверждение</a:t>
                </a:r>
                <a:r>
                  <a:rPr lang="ru-RU" dirty="0"/>
                  <a:t>. Пусть вектор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 состоит из независимых случайных величин со стандартным нормальным распределением,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—</a:t>
                </a:r>
                <a:r>
                  <a:rPr lang="en-US" dirty="0"/>
                  <a:t> </a:t>
                </a:r>
                <a:r>
                  <a:rPr lang="ru-RU" dirty="0"/>
                  <a:t>ортогональная матрица,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. Тогда и координаты вектора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 и имеют стандартное нормальное распределение.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Лемма Фишера</a:t>
                </a:r>
                <a:r>
                  <a:rPr lang="ru-RU" dirty="0"/>
                  <a:t>. Пусть вектор 𝑋 состоит из независимых случайных</a:t>
                </a:r>
                <a:r>
                  <a:rPr lang="en-US" dirty="0"/>
                  <a:t> </a:t>
                </a:r>
                <a:r>
                  <a:rPr lang="ru-RU" dirty="0"/>
                  <a:t>величин со стандартным нормальным распределением,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ортогональная матрица,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. Тогда при любом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ru-RU" dirty="0"/>
                  <a:t>случайная величина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 …−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/>
                <a:r>
                  <a:rPr lang="ru-RU" dirty="0"/>
                  <a:t>не зависит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имеет распределение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4835C-FD88-E73E-6689-A1F4D672D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5816"/>
                <a:ext cx="9144000" cy="5646354"/>
              </a:xfrm>
              <a:prstGeom prst="rect">
                <a:avLst/>
              </a:prstGeom>
              <a:blipFill>
                <a:blip r:embed="rId2"/>
                <a:stretch>
                  <a:fillRect l="-533" t="-648" r="-533" b="-61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284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436E9B-88E9-63D1-F56D-554750FA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BA84243-4054-8FFF-0C73-21767D2F5DE1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Преобразования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DF6F4C-AD97-A4C2-125D-BD197FA5B1C0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6247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solidFill>
                      <a:srgbClr val="FF0000"/>
                    </a:solidFill>
                  </a:rPr>
                  <a:t>Доказательство</a:t>
                </a:r>
                <a:r>
                  <a:rPr lang="en-US" b="1" dirty="0">
                    <a:solidFill>
                      <a:srgbClr val="FF0000"/>
                    </a:solidFill>
                  </a:rPr>
                  <a:t>. </a:t>
                </a:r>
                <a:r>
                  <a:rPr lang="ru-RU" dirty="0">
                    <a:solidFill>
                      <a:schemeClr val="tx1"/>
                    </a:solidFill>
                  </a:rPr>
                  <a:t>Нормы векторов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совпадают: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Поэтому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−…−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−…−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Случайные величины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независимы и имеют стандартное нормальное распределение, поэтому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algn="just"/>
                <a:r>
                  <a:rPr lang="ru-RU" dirty="0"/>
                  <a:t>и не зависит от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Теорема (следствие леммы Фишера):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  <a:r>
                  <a:rPr lang="ru-RU" dirty="0"/>
                  <a:t>Тогда: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и случайные величины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 независимы.</a:t>
                </a:r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Доказательство. </a:t>
                </a:r>
                <a:r>
                  <a:rPr lang="ru-RU" dirty="0">
                    <a:solidFill>
                      <a:schemeClr val="tx1"/>
                    </a:solidFill>
                  </a:rPr>
                  <a:t>Сперва убедимся, что можно рассматривать выборку из стандартного нормального распределения вместо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ru-RU" dirty="0">
                    <a:solidFill>
                      <a:schemeClr val="tx1"/>
                    </a:solidFill>
                  </a:rPr>
                  <a:t> Возьмем стандартную величину: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ru-RU" dirty="0">
                    <a:solidFill>
                      <a:schemeClr val="tx1"/>
                    </a:solidFill>
                  </a:rPr>
                  <a:t>тогда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just"/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−(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ru-RU" dirty="0">
                    <a:solidFill>
                      <a:schemeClr val="tx1"/>
                    </a:solidFill>
                  </a:rPr>
                  <a:t>Таким образом, можно с самого начала считать,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имеют стандартное нормальное распределение.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DF6F4C-AD97-A4C2-125D-BD197FA5B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6247223"/>
              </a:xfrm>
              <a:prstGeom prst="rect">
                <a:avLst/>
              </a:prstGeom>
              <a:blipFill>
                <a:blip r:embed="rId2"/>
                <a:stretch>
                  <a:fillRect l="-533" r="-533" b="-1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376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72E5-4CCE-83BE-D8F5-D0B8CD15F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698324-A1D4-F03B-E1A0-2A7BC781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B3587150-32F0-F07D-23B8-F7ECAC49BD34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Преобразования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4E4177-8744-95D5-839B-CF56E0A8F39D}"/>
                  </a:ext>
                </a:extLst>
              </p:cNvPr>
              <p:cNvSpPr txBox="1"/>
              <p:nvPr/>
            </p:nvSpPr>
            <p:spPr>
              <a:xfrm>
                <a:off x="-1" y="628650"/>
                <a:ext cx="9144000" cy="1510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Применим лемму Фишера: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ru-RU" dirty="0">
                    <a:solidFill>
                      <a:schemeClr val="tx1"/>
                    </a:solidFill>
                  </a:rPr>
                  <a:t>где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…+</m:t>
                          </m:r>
                          <m:f>
                            <m:f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4E4177-8744-95D5-839B-CF56E0A8F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28650"/>
                <a:ext cx="9144000" cy="1510222"/>
              </a:xfrm>
              <a:prstGeom prst="rect">
                <a:avLst/>
              </a:prstGeom>
              <a:blipFill>
                <a:blip r:embed="rId2"/>
                <a:stretch>
                  <a:fillRect l="-533" t="-8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1A802C-8424-5CAF-7521-3398F061254F}"/>
                  </a:ext>
                </a:extLst>
              </p:cNvPr>
              <p:cNvSpPr txBox="1"/>
              <p:nvPr/>
            </p:nvSpPr>
            <p:spPr>
              <a:xfrm>
                <a:off x="0" y="2348422"/>
                <a:ext cx="9143999" cy="2774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Чтобы применить лемму Фишера, нужно найти ортогональную матрицу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такую,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будет  первой координатой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. Возьмём матрицу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с первой</a:t>
                </a:r>
                <a:r>
                  <a:rPr lang="en-US" dirty="0"/>
                  <a:t> </a:t>
                </a:r>
                <a:r>
                  <a:rPr lang="ru-RU" dirty="0"/>
                  <a:t>строкой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, …,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Так как длина (норма) этого вектора равна единице, его можно дополнить до ортонормального базиса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,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можно дополнить до ортогональной матрицы. Тогда величина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 и будет первой координатой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 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algn="ctr"/>
                <a:r>
                  <a:rPr lang="ru-RU" dirty="0"/>
                  <a:t>и не зависит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т.е.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независимы.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1A802C-8424-5CAF-7521-3398F0612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8422"/>
                <a:ext cx="9143999" cy="2774799"/>
              </a:xfrm>
              <a:prstGeom prst="rect">
                <a:avLst/>
              </a:prstGeom>
              <a:blipFill>
                <a:blip r:embed="rId3"/>
                <a:stretch>
                  <a:fillRect l="-533" t="-1099" r="-533"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037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F44F7-43BB-1637-DAF0-A60341A5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B580E31B-EA25-ADCD-F568-332EDE2442C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Доверительные интервалы для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5FA8A1-32D9-1045-C9EB-AD0DC1B205D5}"/>
                  </a:ext>
                </a:extLst>
              </p:cNvPr>
              <p:cNvSpPr txBox="1"/>
              <p:nvPr/>
            </p:nvSpPr>
            <p:spPr>
              <a:xfrm>
                <a:off x="0" y="611902"/>
                <a:ext cx="9144000" cy="566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Очередное утверждение позволит нам строить доверительные интервалы для параметров нормального распределения.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независимы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Тогда: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для построения доверительного интервала для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при известном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используется статистика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2. </a:t>
                </a:r>
                <a:r>
                  <a:rPr lang="ru-RU" dirty="0"/>
                  <a:t>для построения доверительного интервала для параметра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известном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то используется статистика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3. </a:t>
                </a:r>
                <a:r>
                  <a:rPr lang="ru-RU" dirty="0"/>
                  <a:t>для построения доверительного интервала для параметра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неизвестном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ru-RU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4. </a:t>
                </a:r>
                <a:r>
                  <a:rPr lang="ru-RU" dirty="0"/>
                  <a:t>для построения доверительного интервала для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при неизвестном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5FA8A1-32D9-1045-C9EB-AD0DC1B20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1902"/>
                <a:ext cx="9144000" cy="5662769"/>
              </a:xfrm>
              <a:prstGeom prst="rect">
                <a:avLst/>
              </a:prstGeom>
              <a:blipFill>
                <a:blip r:embed="rId2"/>
                <a:stretch>
                  <a:fillRect l="-533" t="-538" r="-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365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C8ECDC-EE15-3B7C-E813-9AF22FBC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08551182-C0C8-FD3A-699B-693E02F4DC4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ctr"/>
            <a:r>
              <a:rPr lang="ru-RU" sz="2400" b="1" dirty="0">
                <a:solidFill>
                  <a:schemeClr val="tx1"/>
                </a:solidFill>
              </a:rPr>
              <a:t>Доверительные интервалы для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71A2D7-178E-9AF1-32D8-3DB1AD35ABC1}"/>
                  </a:ext>
                </a:extLst>
              </p:cNvPr>
              <p:cNvSpPr txBox="1"/>
              <p:nvPr/>
            </p:nvSpPr>
            <p:spPr>
              <a:xfrm>
                <a:off x="0" y="530578"/>
                <a:ext cx="9144000" cy="5115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Доказательство: </a:t>
                </a:r>
                <a:endParaRPr lang="ru-RU" dirty="0"/>
              </a:p>
              <a:p>
                <a:pPr marL="342900" indent="-342900" algn="just"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Рассмотрим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тогда среднее будет</a:t>
                </a:r>
                <a:r>
                  <a:rPr lang="en-US" dirty="0">
                    <a:solidFill>
                      <a:schemeClr val="tx1"/>
                    </a:solidFill>
                  </a:rPr>
                  <a:t>                                           </a:t>
                </a: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ru-RU" dirty="0">
                    <a:solidFill>
                      <a:schemeClr val="tx1"/>
                    </a:solidFill>
                  </a:rPr>
                  <a:t>Тогда, поскольку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является суммой нормальных случайных величин, то тогда 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AutoNum type="arabicPeriod"/>
                </a:pPr>
                <a:r>
                  <a:rPr lang="ru-RU" dirty="0"/>
                  <a:t>Рассмотрим случайные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ru-RU" dirty="0">
                    <a:solidFill>
                      <a:schemeClr val="tx1"/>
                    </a:solidFill>
                  </a:rPr>
                  <a:t>тогда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сумма квадратов этих величин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следует из леммы Фишера</a:t>
                </a:r>
              </a:p>
              <a:p>
                <a:pPr marL="342900" indent="-342900" algn="just"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Поскольку 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имеет нормальное распределение, поэтому в качестве стандартной нормально распределенной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возьмем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ru-RU" dirty="0">
                    <a:solidFill>
                      <a:schemeClr val="tx1"/>
                    </a:solidFill>
                  </a:rPr>
                  <a:t>В качестве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примем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- </a:t>
                </a:r>
                <a:r>
                  <a:rPr lang="ru-RU" dirty="0">
                    <a:solidFill>
                      <a:schemeClr val="tx1"/>
                    </a:solidFill>
                  </a:rPr>
                  <a:t>независимы по лемме Фишера. Тогда, случайная величина, имеющая распределение Стьюдента с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ru-RU" dirty="0"/>
                  <a:t>степенями свободы будет: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71A2D7-178E-9AF1-32D8-3DB1AD35A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0578"/>
                <a:ext cx="9144000" cy="5115952"/>
              </a:xfrm>
              <a:prstGeom prst="rect">
                <a:avLst/>
              </a:prstGeom>
              <a:blipFill>
                <a:blip r:embed="rId2"/>
                <a:stretch>
                  <a:fillRect l="-533" t="-596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013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B58F38-FA66-5D03-9CCF-CC817A6C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C9E9391-988E-1FA1-BEF7-78A9B7336DF8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000" b="1" dirty="0">
                <a:solidFill>
                  <a:schemeClr val="tx1"/>
                </a:solidFill>
              </a:rPr>
              <a:t>Доверительные интервалы для параметров нормального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D54F6A-D4DD-C5FC-6444-184A0B9754AE}"/>
                  </a:ext>
                </a:extLst>
              </p:cNvPr>
              <p:cNvSpPr txBox="1"/>
              <p:nvPr/>
            </p:nvSpPr>
            <p:spPr>
              <a:xfrm>
                <a:off x="0" y="701322"/>
                <a:ext cx="9144000" cy="528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 </a:t>
                </a:r>
                <a:r>
                  <a:rPr lang="ru-RU" dirty="0"/>
                  <a:t>(доверительный интервал для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известном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)</a:t>
                </a:r>
                <a:r>
                  <a:rPr lang="en-US" dirty="0"/>
                  <a:t>. </a:t>
                </a:r>
                <a:r>
                  <a:rPr lang="ru-RU" dirty="0"/>
                  <a:t>Строили </a:t>
                </a:r>
                <a:r>
                  <a:rPr lang="ru-RU" dirty="0">
                    <a:hlinkClick r:id="rId2" action="ppaction://hlinksldjump"/>
                  </a:rPr>
                  <a:t>тут</a:t>
                </a:r>
                <a:r>
                  <a:rPr lang="ru-RU" dirty="0"/>
                  <a:t>.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b="1" i="1" dirty="0">
                        <a:solidFill>
                          <a:srgbClr val="FF004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dirty="0"/>
              </a:p>
              <a:p>
                <a:pPr algn="just"/>
                <a:endParaRPr lang="en-US" b="1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 </a:t>
                </a:r>
                <a:r>
                  <a:rPr lang="ru-RU" dirty="0"/>
                  <a:t>(доверительный интервал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известном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)</a:t>
                </a:r>
                <a:r>
                  <a:rPr lang="en-US" dirty="0"/>
                  <a:t>. </a:t>
                </a:r>
                <a:r>
                  <a:rPr lang="ru-RU" dirty="0"/>
                  <a:t>Имеем статистику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</a:t>
                </a:r>
                <a:r>
                  <a:rPr lang="ru-RU" dirty="0"/>
                  <a:t>Поскольку 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начинается с нуля и имеет длинный хвост справа, то поэтому берем две квантили, которые отсекают вероятности попадания в области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1−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1−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разрешим это неравенство относительно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1−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ru-RU" b="0" dirty="0"/>
                  <a:t>  </a:t>
                </a:r>
                <a:endParaRPr lang="en-US" b="0" dirty="0"/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ru-RU" dirty="0"/>
                  <a:t>(доверительный интервал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</a:t>
                </a:r>
                <a:r>
                  <a:rPr lang="ru-RU" b="1" dirty="0" err="1"/>
                  <a:t>НЕ</a:t>
                </a:r>
                <a:r>
                  <a:rPr lang="ru-RU" dirty="0" err="1"/>
                  <a:t>известном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). Используем статистику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b="0" dirty="0"/>
                  <a:t>. Снова возьмем две квантили уровней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1−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dirty="0"/>
                  <a:t>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степенями свободы</a:t>
                </a:r>
                <a:r>
                  <a:rPr lang="ru-RU" dirty="0"/>
                  <a:t>. Тогда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1−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D54F6A-D4DD-C5FC-6444-184A0B975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01322"/>
                <a:ext cx="9144000" cy="5288499"/>
              </a:xfrm>
              <a:prstGeom prst="rect">
                <a:avLst/>
              </a:prstGeom>
              <a:blipFill>
                <a:blip r:embed="rId3"/>
                <a:stretch>
                  <a:fillRect l="-533" t="-576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648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8C86-E15F-8BE0-6912-1F02A01D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3008B-8AE5-4667-5E75-6064F023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3B89702F-208F-815E-35ED-74BE8BC85564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000" b="1" dirty="0">
                <a:solidFill>
                  <a:schemeClr val="tx1"/>
                </a:solidFill>
              </a:rPr>
              <a:t>Доверительные интервалы для параметров нормального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CF9E1-0EBE-5615-6CA4-E38CC7E4FE0B}"/>
                  </a:ext>
                </a:extLst>
              </p:cNvPr>
              <p:cNvSpPr txBox="1"/>
              <p:nvPr/>
            </p:nvSpPr>
            <p:spPr>
              <a:xfrm>
                <a:off x="0" y="1039988"/>
                <a:ext cx="9144000" cy="4283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(</a:t>
                </a:r>
                <a:r>
                  <a:rPr lang="ru-RU" dirty="0"/>
                  <a:t>доверительный интервал для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</a:t>
                </a:r>
                <a:r>
                  <a:rPr lang="ru-RU" b="1" dirty="0" err="1"/>
                  <a:t>НЕ</a:t>
                </a:r>
                <a:r>
                  <a:rPr lang="ru-RU" dirty="0" err="1"/>
                  <a:t>известном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). </a:t>
                </a:r>
                <a:r>
                  <a:rPr lang="ru-RU" dirty="0"/>
                  <a:t>При неизвестной дисперсии оценка производится с использованием исправленной выборочной дисперсии (аналогично первому примеру, но с заменой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)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−1,1−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квантиль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 уровня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, поскольку распределения Стьюдента симметрично. Тогда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−1,1−</m:t>
                              </m:r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−1,1−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−1,1−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ru-RU" dirty="0"/>
                  <a:t>Но что делать если распределение не нормальное? Для которого мы не знаем закон распределения и удобных статистик?</a:t>
                </a:r>
              </a:p>
              <a:p>
                <a:pPr algn="ctr"/>
                <a:endParaRPr lang="ru-RU" dirty="0"/>
              </a:p>
              <a:p>
                <a:pPr algn="ctr"/>
                <a:r>
                  <a:rPr lang="ru-RU" dirty="0"/>
                  <a:t>Ответ на этот вопрос поможет дать ЦПТ.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CF9E1-0EBE-5615-6CA4-E38CC7E4F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39988"/>
                <a:ext cx="9144000" cy="4283288"/>
              </a:xfrm>
              <a:prstGeom prst="rect">
                <a:avLst/>
              </a:prstGeom>
              <a:blipFill>
                <a:blip r:embed="rId2"/>
                <a:stretch>
                  <a:fillRect l="-533" t="-855" r="-533" b="-14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683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A1A27E-9BBD-457D-7947-71431BE5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7" name="Прямоугольник 5">
            <a:extLst>
              <a:ext uri="{FF2B5EF4-FFF2-40B4-BE49-F238E27FC236}">
                <a16:creationId xmlns:a16="http://schemas.microsoft.com/office/drawing/2014/main" id="{2D49E59F-A8F8-9757-C1C9-4913BCA4087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Асимптотический доверительный интервал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0562E1-AA01-51FE-29A7-4F7741A1A60C}"/>
                  </a:ext>
                </a:extLst>
              </p:cNvPr>
              <p:cNvSpPr txBox="1"/>
              <p:nvPr/>
            </p:nvSpPr>
            <p:spPr>
              <a:xfrm>
                <a:off x="1" y="543277"/>
                <a:ext cx="9143999" cy="5084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В качестве примера рассмотрим выборку из показательного распределения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en-US" b="1" dirty="0">
                    <a:solidFill>
                      <a:srgbClr val="FF0000"/>
                    </a:solidFill>
                  </a:rPr>
                  <a:t> 1</a:t>
                </a:r>
                <a:r>
                  <a:rPr lang="ru-RU" dirty="0"/>
                  <a:t>: Пусть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выборка объёма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из показательного  распределения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Требуется построить асимптотический (асимптотически</a:t>
                </a:r>
                <a:r>
                  <a:rPr lang="en-US" dirty="0"/>
                  <a:t> </a:t>
                </a:r>
                <a:r>
                  <a:rPr lang="ru-RU" dirty="0"/>
                  <a:t>точный) доверительный интервал</a:t>
                </a:r>
                <a:r>
                  <a:rPr lang="en-US" dirty="0"/>
                  <a:t> </a:t>
                </a:r>
                <a:r>
                  <a:rPr lang="ru-RU" dirty="0"/>
                  <a:t>для параметра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уровня доверия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ru-RU" dirty="0"/>
                  <a:t>Согласно ЦПТ: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𝑛𝑀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𝑛𝐷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Возьмем квантиль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стандартного нормального распределение. По определению слабой сходимости  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→∞:</m:t>
                    </m:r>
                  </m:oMath>
                </a14:m>
                <a:endParaRPr lang="en-US" b="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Разрешив это неравенство относительно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получим асимптотический доверительный интервал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0562E1-AA01-51FE-29A7-4F7741A1A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43277"/>
                <a:ext cx="9143999" cy="5084533"/>
              </a:xfrm>
              <a:prstGeom prst="rect">
                <a:avLst/>
              </a:prstGeom>
              <a:blipFill>
                <a:blip r:embed="rId2"/>
                <a:stretch>
                  <a:fillRect l="-533" t="-600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763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17DA-38D7-DD76-8F94-BE946929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460425-DF39-E37B-7051-418C04CF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7" name="Прямоугольник 5">
            <a:extLst>
              <a:ext uri="{FF2B5EF4-FFF2-40B4-BE49-F238E27FC236}">
                <a16:creationId xmlns:a16="http://schemas.microsoft.com/office/drawing/2014/main" id="{31B1FD5C-1E51-FB6E-B133-01FFE28FEC20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Асимптотический доверительный интервал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87CD3E-3458-7CCC-94B1-DDBCB4D57B9C}"/>
                  </a:ext>
                </a:extLst>
              </p:cNvPr>
              <p:cNvSpPr txBox="1"/>
              <p:nvPr/>
            </p:nvSpPr>
            <p:spPr>
              <a:xfrm>
                <a:off x="1" y="419100"/>
                <a:ext cx="9143999" cy="6478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ru-RU" b="1" dirty="0">
                    <a:solidFill>
                      <a:srgbClr val="FF0000"/>
                    </a:solidFill>
                  </a:rPr>
                  <a:t>2</a:t>
                </a:r>
                <a:r>
                  <a:rPr lang="en-US" b="1" dirty="0">
                    <a:solidFill>
                      <a:srgbClr val="FF0000"/>
                    </a:solidFill>
                  </a:rPr>
                  <a:t> (</a:t>
                </a:r>
                <a:r>
                  <a:rPr lang="ru-RU" b="1" dirty="0">
                    <a:solidFill>
                      <a:srgbClr val="FF0000"/>
                    </a:solidFill>
                  </a:rPr>
                  <a:t>Пуассон</a:t>
                </a:r>
                <a:r>
                  <a:rPr lang="en-US" b="1" dirty="0">
                    <a:solidFill>
                      <a:srgbClr val="FF0000"/>
                    </a:solidFill>
                  </a:rPr>
                  <a:t>)</a:t>
                </a:r>
                <a:r>
                  <a:rPr lang="ru-RU" dirty="0"/>
                  <a:t>: Пусть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выборка объёма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из распределения Пуассона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Требуется построить асимптотический доверительный интервал</a:t>
                </a:r>
                <a:r>
                  <a:rPr lang="en-US" dirty="0"/>
                  <a:t> </a:t>
                </a:r>
                <a:r>
                  <a:rPr lang="ru-RU" dirty="0"/>
                  <a:t>для параметра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уровня доверия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ru-RU" dirty="0"/>
                  <a:t>Согласно ЦПТ: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𝑛𝑀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𝑛𝐷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Возьмем квантиль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стандартного нормального распределение. По определению слабой сходимости  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→∞:</m:t>
                    </m:r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ru-RU" dirty="0"/>
                  <a:t>Но разрешить неравенство под знаком вероятности относительно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непросто, мешает</a:t>
                </a:r>
              </a:p>
              <a:p>
                <a:pPr algn="just"/>
                <a:r>
                  <a:rPr lang="ru-RU" dirty="0"/>
                  <a:t>корень в знаменателе. Попробуем от него избавиться. Состоятельной оценкой для мат. ожидания является выборочное среднее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l-GR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. Тогда,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  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. </a:t>
                </a:r>
                <a:r>
                  <a:rPr lang="ru-RU" dirty="0"/>
                  <a:t>Тогда мы можем </a:t>
                </a:r>
                <a:r>
                  <a:rPr lang="ru-RU" dirty="0" err="1"/>
                  <a:t>домножить</a:t>
                </a:r>
                <a:r>
                  <a:rPr lang="ru-RU" dirty="0"/>
                  <a:t> нашу статистику на этот корень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rad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Поэтому, 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rad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Разрешив это неравенство относительно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получим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&lt;</m:t>
                        </m:r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87CD3E-3458-7CCC-94B1-DDBCB4D57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19100"/>
                <a:ext cx="9143999" cy="6478633"/>
              </a:xfrm>
              <a:prstGeom prst="rect">
                <a:avLst/>
              </a:prstGeom>
              <a:blipFill>
                <a:blip r:embed="rId3"/>
                <a:stretch>
                  <a:fillRect l="-533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3254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C74B33-8221-4F1F-8E3E-E507B0C5E833}">
  <we:reference id="wa200004052" version="1.0.0.2" store="ru-RU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14336</TotalTime>
  <Words>5462</Words>
  <Application>Microsoft Office PowerPoint</Application>
  <PresentationFormat>Экран (4:3)</PresentationFormat>
  <Paragraphs>384</Paragraphs>
  <Slides>36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system-ui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 presentation</dc:title>
  <dc:creator>Павел</dc:creator>
  <cp:lastModifiedBy>Dmitrii Pereima</cp:lastModifiedBy>
  <cp:revision>4714</cp:revision>
  <dcterms:created xsi:type="dcterms:W3CDTF">2014-11-21T11:00:06Z</dcterms:created>
  <dcterms:modified xsi:type="dcterms:W3CDTF">2025-11-07T16:20:19Z</dcterms:modified>
</cp:coreProperties>
</file>