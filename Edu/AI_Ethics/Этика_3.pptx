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7" r:id="rId2"/>
    <p:sldId id="360" r:id="rId3"/>
    <p:sldId id="258" r:id="rId4"/>
    <p:sldId id="263" r:id="rId5"/>
    <p:sldId id="260" r:id="rId6"/>
    <p:sldId id="412" r:id="rId7"/>
    <p:sldId id="413" r:id="rId8"/>
    <p:sldId id="411" r:id="rId9"/>
    <p:sldId id="414" r:id="rId10"/>
    <p:sldId id="415" r:id="rId11"/>
    <p:sldId id="416" r:id="rId12"/>
    <p:sldId id="365" r:id="rId13"/>
    <p:sldId id="418" r:id="rId14"/>
    <p:sldId id="419" r:id="rId15"/>
    <p:sldId id="420" r:id="rId16"/>
    <p:sldId id="421" r:id="rId17"/>
    <p:sldId id="422" r:id="rId18"/>
    <p:sldId id="423" r:id="rId19"/>
    <p:sldId id="424" r:id="rId20"/>
    <p:sldId id="425" r:id="rId21"/>
    <p:sldId id="426" r:id="rId22"/>
    <p:sldId id="427" r:id="rId23"/>
    <p:sldId id="428" r:id="rId24"/>
    <p:sldId id="431" r:id="rId25"/>
    <p:sldId id="409" r:id="rId26"/>
    <p:sldId id="432" r:id="rId27"/>
    <p:sldId id="433" r:id="rId28"/>
    <p:sldId id="434" r:id="rId29"/>
    <p:sldId id="435" r:id="rId30"/>
    <p:sldId id="282" r:id="rId3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eKonn" initials="N" lastIdx="1" clrIdx="0">
    <p:extLst>
      <p:ext uri="{19B8F6BF-5375-455C-9EA6-DF929625EA0E}">
        <p15:presenceInfo xmlns:p15="http://schemas.microsoft.com/office/powerpoint/2012/main" userId="NeKon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AEE"/>
    <a:srgbClr val="B4E915"/>
    <a:srgbClr val="1430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Средний стиль 3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07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414" y="120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3C1D90-9BFE-449E-8A2B-EF441C660636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98438D-B581-4013-99FC-FD4843C4A9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428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5317fca73c_0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5317fca73c_0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6337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5317fca73c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25317fca73c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9823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4102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5317fca73c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25317fca73c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37385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73845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65641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14107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10552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40778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5317fca73c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25317fca73c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91435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2572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66321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19956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79387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84158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27283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0911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36904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48673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74073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65669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17656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69853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41637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42732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528d50a88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528d50a88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9250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724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6973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2278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9427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5246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074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9344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7499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0764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1036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3703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 5">
  <p:cSld name="Титульный слайд 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ctrTitle"/>
          </p:nvPr>
        </p:nvSpPr>
        <p:spPr>
          <a:xfrm>
            <a:off x="279233" y="240000"/>
            <a:ext cx="7485600" cy="27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4000"/>
              <a:buFont typeface="Montserrat"/>
              <a:buNone/>
              <a:defRPr sz="53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21" name="Google Shape;21;p4" descr="Название курса" title="Название курса"/>
          <p:cNvSpPr txBox="1">
            <a:spLocks noGrp="1"/>
          </p:cNvSpPr>
          <p:nvPr>
            <p:ph type="subTitle" idx="1"/>
          </p:nvPr>
        </p:nvSpPr>
        <p:spPr>
          <a:xfrm>
            <a:off x="306500" y="2415400"/>
            <a:ext cx="65484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400"/>
              <a:buFont typeface="Montserrat"/>
              <a:buNone/>
              <a:defRPr sz="3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2" name="Google Shape;22;p4" descr="Название курса" title="Название курса"/>
          <p:cNvSpPr txBox="1">
            <a:spLocks noGrp="1"/>
          </p:cNvSpPr>
          <p:nvPr>
            <p:ph type="subTitle" idx="2"/>
          </p:nvPr>
        </p:nvSpPr>
        <p:spPr>
          <a:xfrm>
            <a:off x="333767" y="5510233"/>
            <a:ext cx="6548400" cy="108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1800"/>
              <a:buFont typeface="Montserrat"/>
              <a:buNone/>
              <a:defRPr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pic>
        <p:nvPicPr>
          <p:cNvPr id="23" name="Google Shape;2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9267" y="398401"/>
            <a:ext cx="3612733" cy="529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40430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10">
  <p:cSld name="TITLE_10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9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215" name="Google Shape;215;p49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16" name="Google Shape;216;p4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algn="l"/>
            <a:fld id="{00000000-1234-1234-1234-123412341234}" type="slidenum">
              <a:rPr lang="ru" smtClean="0"/>
              <a:pPr algn="l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8003442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асибо 2">
  <p:cSld name="Спасибо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3"/>
          <p:cNvSpPr txBox="1">
            <a:spLocks noGrp="1"/>
          </p:cNvSpPr>
          <p:nvPr>
            <p:ph type="title"/>
          </p:nvPr>
        </p:nvSpPr>
        <p:spPr>
          <a:xfrm>
            <a:off x="279267" y="234300"/>
            <a:ext cx="8240000" cy="25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5333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9pPr>
          </a:lstStyle>
          <a:p>
            <a:endParaRPr/>
          </a:p>
        </p:txBody>
      </p:sp>
      <p:pic>
        <p:nvPicPr>
          <p:cNvPr id="194" name="Google Shape;19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5267" y="403200"/>
            <a:ext cx="3578367" cy="524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01789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33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87141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пределение зеленое 1">
  <p:cSld name="Определение зеленое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2"/>
          <p:cNvSpPr txBox="1">
            <a:spLocks noGrp="1"/>
          </p:cNvSpPr>
          <p:nvPr>
            <p:ph type="body" idx="1"/>
          </p:nvPr>
        </p:nvSpPr>
        <p:spPr>
          <a:xfrm>
            <a:off x="338400" y="2602700"/>
            <a:ext cx="7154400" cy="3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56" name="Google Shape;156;p32"/>
          <p:cNvSpPr txBox="1">
            <a:spLocks noGrp="1"/>
          </p:cNvSpPr>
          <p:nvPr>
            <p:ph type="title"/>
          </p:nvPr>
        </p:nvSpPr>
        <p:spPr>
          <a:xfrm>
            <a:off x="286067" y="245733"/>
            <a:ext cx="7937600" cy="13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5333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9pPr>
          </a:lstStyle>
          <a:p>
            <a:endParaRPr/>
          </a:p>
        </p:txBody>
      </p:sp>
      <p:pic>
        <p:nvPicPr>
          <p:cNvPr id="157" name="Google Shape;15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5267" y="403200"/>
            <a:ext cx="3578367" cy="524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5921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786A48-F7E8-4AFD-B043-B1D10D746835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7565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6" r:id="rId15"/>
    <p:sldLayoutId id="2147483667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+TGTG6GhUh5M0NTE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alistapart.com/article/dark-patterns-deception-vs-honesty-in-ui-design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hyperlink" Target="https://habr.com/ru/companies/vk/articles/673914/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hyperlink" Target="https://habr.com/ru/articles/150399/" TargetMode="External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hyperlink" Target="https://habr.com/ru/articles/599923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articles/706190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habr.com/ru/companies/ruvds/articles/747550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igital-strategy.ec.europa.eu/en/library/ethics-guidelines-trustworthy-ai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o.org/obp/ui/en/#iso:std:iso:9241:-210:ed-2:v1:en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png"/><Relationship Id="rId5" Type="http://schemas.openxmlformats.org/officeDocument/2006/relationships/image" Target="../media/image28.jpeg"/><Relationship Id="rId4" Type="http://schemas.openxmlformats.org/officeDocument/2006/relationships/hyperlink" Target="https://www.nist.gov/itl/iad/visualization-and-usability-group/human-factors-human-centered-design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5.16711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usinessinsider.com/companies-using-ai-to-replace-workers-will-lose-stanford-professor-2024-1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8"/>
          <p:cNvSpPr txBox="1">
            <a:spLocks noGrp="1"/>
          </p:cNvSpPr>
          <p:nvPr>
            <p:ph type="ctrTitle"/>
          </p:nvPr>
        </p:nvSpPr>
        <p:spPr>
          <a:xfrm>
            <a:off x="279232" y="240000"/>
            <a:ext cx="8096417" cy="273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Этика Искусственного</a:t>
            </a:r>
            <a:b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Интеллекта </a:t>
            </a:r>
            <a:endParaRPr dirty="0">
              <a:solidFill>
                <a:srgbClr val="FEFAE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CEA7C98-B589-43B2-B59E-8411C07C611B}"/>
              </a:ext>
            </a:extLst>
          </p:cNvPr>
          <p:cNvSpPr/>
          <p:nvPr/>
        </p:nvSpPr>
        <p:spPr>
          <a:xfrm>
            <a:off x="8153400" y="240000"/>
            <a:ext cx="3937168" cy="750600"/>
          </a:xfrm>
          <a:prstGeom prst="rect">
            <a:avLst/>
          </a:prstGeom>
          <a:solidFill>
            <a:srgbClr val="143091"/>
          </a:solidFill>
          <a:ln>
            <a:solidFill>
              <a:srgbClr val="1430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Google Shape;326;p68">
            <a:extLst>
              <a:ext uri="{FF2B5EF4-FFF2-40B4-BE49-F238E27FC236}">
                <a16:creationId xmlns:a16="http://schemas.microsoft.com/office/drawing/2014/main" id="{0E70C8B6-3809-489E-B49D-EDF940DFBFD0}"/>
              </a:ext>
            </a:extLst>
          </p:cNvPr>
          <p:cNvSpPr txBox="1">
            <a:spLocks/>
          </p:cNvSpPr>
          <p:nvPr/>
        </p:nvSpPr>
        <p:spPr>
          <a:xfrm>
            <a:off x="508000" y="4974127"/>
            <a:ext cx="6548400" cy="164387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lnSpcReduction="10000"/>
          </a:bodyPr>
          <a:lstStyle>
            <a:lvl1pPr marL="228600" lvl="0" indent="-2286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400"/>
              <a:buFont typeface="Montserrat"/>
              <a:buNone/>
              <a:defRPr sz="3200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685800" lvl="1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143000" lvl="2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600200" lvl="3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057400" lvl="4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514600" lvl="5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2971800" lvl="6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429000" lvl="7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3886200" lvl="8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</a:rPr>
              <a:t>Некрасов Константин Олегович</a:t>
            </a:r>
          </a:p>
          <a:p>
            <a:pPr marL="0" indent="0"/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Директор по разработке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ML-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моделей  </a:t>
            </a:r>
          </a:p>
          <a:p>
            <a:pPr marL="0" indent="0"/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АО «Газпромбанк»</a:t>
            </a:r>
          </a:p>
          <a:p>
            <a:pPr marL="0" indent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t.me/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algolab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347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3867" y="321847"/>
            <a:ext cx="10016483" cy="50954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200" spc="80" dirty="0">
                <a:latin typeface="Verdana" panose="020B0604030504040204" pitchFamily="34" charset="0"/>
                <a:ea typeface="Verdana" panose="020B0604030504040204" pitchFamily="34" charset="0"/>
              </a:rPr>
              <a:t>План</a:t>
            </a:r>
            <a:r>
              <a:rPr sz="3200" spc="-287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3200" spc="27" dirty="0">
                <a:latin typeface="Verdana" panose="020B0604030504040204" pitchFamily="34" charset="0"/>
                <a:ea typeface="Verdana" panose="020B0604030504040204" pitchFamily="34" charset="0"/>
              </a:rPr>
              <a:t>занятия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3867" y="1077757"/>
            <a:ext cx="7996320" cy="215839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666746" indent="-51435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Цифровая автономия</a:t>
            </a:r>
          </a:p>
          <a:p>
            <a:pPr marL="666746" indent="-51435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Алгоритмическая манипуляция и зависимость </a:t>
            </a:r>
          </a:p>
          <a:p>
            <a:pPr marL="666746" indent="-51435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Этический дизайн интерфейсов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09777" y="3350646"/>
            <a:ext cx="8570923" cy="109322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43082" marR="6773" indent="-126997" algn="ctr">
              <a:lnSpc>
                <a:spcPct val="114999"/>
              </a:lnSpc>
              <a:spcBef>
                <a:spcPts val="133"/>
              </a:spcBef>
            </a:pPr>
            <a:r>
              <a:rPr lang="ru-RU" sz="3200" dirty="0">
                <a:latin typeface="Verdana" panose="020B0604030504040204" pitchFamily="34" charset="0"/>
                <a:ea typeface="Verdana" panose="020B0604030504040204" pitchFamily="34" charset="0"/>
              </a:rPr>
              <a:t>1. Цифровая автономия</a:t>
            </a:r>
            <a:br>
              <a:rPr lang="ru-RU" sz="32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ru-RU"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0"/>
          <p:cNvSpPr txBox="1">
            <a:spLocks noGrp="1"/>
          </p:cNvSpPr>
          <p:nvPr>
            <p:ph type="title"/>
          </p:nvPr>
        </p:nvSpPr>
        <p:spPr>
          <a:xfrm>
            <a:off x="286067" y="245733"/>
            <a:ext cx="7937600" cy="1387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ru-RU" dirty="0"/>
              <a:t>Цифровая автономия</a:t>
            </a:r>
            <a:endParaRPr dirty="0"/>
          </a:p>
        </p:txBody>
      </p:sp>
      <p:sp>
        <p:nvSpPr>
          <p:cNvPr id="402" name="Google Shape;402;p80"/>
          <p:cNvSpPr txBox="1">
            <a:spLocks noGrp="1"/>
          </p:cNvSpPr>
          <p:nvPr>
            <p:ph type="body" idx="1"/>
          </p:nvPr>
        </p:nvSpPr>
        <p:spPr>
          <a:xfrm>
            <a:off x="338400" y="2846067"/>
            <a:ext cx="7154400" cy="3754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r>
              <a:rPr lang="ru-RU" sz="2133" dirty="0"/>
              <a:t>— это способность индивида сохранять и реализовывать контроль над собственными решениями, данными и действиями в информационном пространстве, свободно ориентироваться в цифровой среде и противостоять внешним попыткам манипуляции или принуждения. </a:t>
            </a:r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1F87D5D-033F-4579-9906-6C20BF9943C6}"/>
              </a:ext>
            </a:extLst>
          </p:cNvPr>
          <p:cNvSpPr/>
          <p:nvPr/>
        </p:nvSpPr>
        <p:spPr>
          <a:xfrm>
            <a:off x="7886700" y="245733"/>
            <a:ext cx="1924050" cy="687717"/>
          </a:xfrm>
          <a:prstGeom prst="rect">
            <a:avLst/>
          </a:prstGeom>
          <a:solidFill>
            <a:srgbClr val="FEFAEE"/>
          </a:solidFill>
          <a:ln>
            <a:solidFill>
              <a:srgbClr val="FEFA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045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Компоненты цифровой автономии</a:t>
            </a:r>
            <a:endParaRPr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40690" y="1152583"/>
            <a:ext cx="6284809" cy="20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Субъектность</a:t>
            </a: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Информативность</a:t>
            </a: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Контроль</a:t>
            </a: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Сопротивление манипуляции</a:t>
            </a:r>
          </a:p>
        </p:txBody>
      </p:sp>
    </p:spTree>
    <p:extLst>
      <p:ext uri="{BB962C8B-B14F-4D97-AF65-F5344CB8AC3E}">
        <p14:creationId xmlns:p14="http://schemas.microsoft.com/office/powerpoint/2010/main" val="1773670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0"/>
          <p:cNvSpPr txBox="1">
            <a:spLocks noGrp="1"/>
          </p:cNvSpPr>
          <p:nvPr>
            <p:ph type="title"/>
          </p:nvPr>
        </p:nvSpPr>
        <p:spPr>
          <a:xfrm>
            <a:off x="286067" y="245733"/>
            <a:ext cx="7937600" cy="1387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ru-RU" dirty="0"/>
              <a:t>Темные паттерны</a:t>
            </a:r>
            <a:endParaRPr dirty="0"/>
          </a:p>
        </p:txBody>
      </p:sp>
      <p:sp>
        <p:nvSpPr>
          <p:cNvPr id="402" name="Google Shape;402;p80"/>
          <p:cNvSpPr txBox="1">
            <a:spLocks noGrp="1"/>
          </p:cNvSpPr>
          <p:nvPr>
            <p:ph type="body" idx="1"/>
          </p:nvPr>
        </p:nvSpPr>
        <p:spPr>
          <a:xfrm>
            <a:off x="338400" y="2846067"/>
            <a:ext cx="7154400" cy="3754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r>
              <a:rPr lang="ru-RU" sz="2133" dirty="0"/>
              <a:t>— это приёмы дизайна пользовательских интерфейсов, цель которых не помочь пользователю, а побудить его совершить нежелательное для него действие: подписаться на рассылку, оформить платную подписку, раскрыть больше персональных данных, чем он хотел, или не найти способ легко отписаться/удалить учётную запись.</a:t>
            </a:r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1F87D5D-033F-4579-9906-6C20BF9943C6}"/>
              </a:ext>
            </a:extLst>
          </p:cNvPr>
          <p:cNvSpPr/>
          <p:nvPr/>
        </p:nvSpPr>
        <p:spPr>
          <a:xfrm>
            <a:off x="7886700" y="245733"/>
            <a:ext cx="1924050" cy="687717"/>
          </a:xfrm>
          <a:prstGeom prst="rect">
            <a:avLst/>
          </a:prstGeom>
          <a:solidFill>
            <a:srgbClr val="FEFAEE"/>
          </a:solidFill>
          <a:ln>
            <a:solidFill>
              <a:srgbClr val="FEFA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512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Происхождение</a:t>
            </a:r>
            <a:endParaRPr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47040" y="1171633"/>
            <a:ext cx="6284809" cy="2457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Термин </a:t>
            </a: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«</a:t>
            </a:r>
            <a:r>
              <a:rPr lang="ru-RU" sz="2000" b="1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dark</a:t>
            </a: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 </a:t>
            </a:r>
            <a:r>
              <a:rPr lang="ru-RU" sz="2000" b="1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patterns</a:t>
            </a: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»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 ввёл в 2010-х британский дизайнер Хэрри </a:t>
            </a:r>
            <a:r>
              <a:rPr lang="ru-RU" sz="2000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Брингалл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. </a:t>
            </a:r>
          </a:p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Основная идея — заставить пользователя действовать </a:t>
            </a: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в пользу бизнеса или платформы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, часто в </a:t>
            </a: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ущерб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 его </a:t>
            </a: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собственным интересам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8E957DD-2C3C-4766-98CB-646FCEF7E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4574" y="2033587"/>
            <a:ext cx="2790825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DEDF582-89EF-4785-83A7-FBD700759A12}"/>
              </a:ext>
            </a:extLst>
          </p:cNvPr>
          <p:cNvSpPr txBox="1"/>
          <p:nvPr/>
        </p:nvSpPr>
        <p:spPr>
          <a:xfrm>
            <a:off x="9067800" y="4824412"/>
            <a:ext cx="2152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Хэрри </a:t>
            </a:r>
            <a:r>
              <a:rPr lang="ru-RU" sz="1800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Брингалл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1445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Категории темных паттернов</a:t>
            </a:r>
            <a:endParaRPr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40690" y="1152583"/>
            <a:ext cx="6284809" cy="624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Roach Motel</a:t>
            </a: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Privacy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Zuckering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Sneak into Basket</a:t>
            </a: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Bait and Switch</a:t>
            </a: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Confirmshaming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Forced Continuity</a:t>
            </a: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Hidden Costs</a:t>
            </a: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Misdirection</a:t>
            </a: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Trick Questions</a:t>
            </a: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Friend Spam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3E5F89F-2D5D-4702-B883-07F0020B5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447" y="997527"/>
            <a:ext cx="5335863" cy="53487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C52329-B600-40AC-8C02-AAB0AA1EFE16}"/>
              </a:ext>
            </a:extLst>
          </p:cNvPr>
          <p:cNvSpPr txBox="1"/>
          <p:nvPr/>
        </p:nvSpPr>
        <p:spPr>
          <a:xfrm>
            <a:off x="0" y="6442800"/>
            <a:ext cx="47879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hlinkClick r:id="rId4"/>
              </a:rPr>
              <a:t>Dark Patterns: Deception vs. Honesty in UI Design</a:t>
            </a:r>
            <a:endParaRPr lang="ru-RU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159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Информационные пузыри</a:t>
            </a:r>
            <a:endParaRPr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47040" y="1171633"/>
            <a:ext cx="6284809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Информационные пузыри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(часто их называют «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filter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bubbles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») — это замкнутые цифровые среды, в которых пользователь: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Встречается в основном с информацией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, уже подтверждающей его существующие взгляды (подтверждение предубеждений).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Font typeface="+mj-lt"/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Практически не сталкивается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с альтернативными или противоречивыми мнениями.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Font typeface="+mj-lt"/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Алгоритмы и личные предпочтения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буквально «отфильтровывают» или «заглушают» ту часть информационного поля, которая могла бы расширить кругозор или поставить в сомнение устоявшиеся представления.</a:t>
            </a:r>
          </a:p>
        </p:txBody>
      </p:sp>
      <p:pic>
        <p:nvPicPr>
          <p:cNvPr id="2050" name="Picture 2" descr="Информационный пузырь | Vatniy | Дзен">
            <a:extLst>
              <a:ext uri="{FF2B5EF4-FFF2-40B4-BE49-F238E27FC236}">
                <a16:creationId xmlns:a16="http://schemas.microsoft.com/office/drawing/2014/main" id="{FBDF351C-FE1E-434E-8C2D-48F32E019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5700" y="1543050"/>
            <a:ext cx="5068338" cy="334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4258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Как это работает</a:t>
            </a:r>
            <a:endParaRPr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47040" y="1171633"/>
            <a:ext cx="6284809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buAutoNum type="arabicPeriod"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Алгоритмическая персонализация. 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Социальные сети, новостные ленты и поисковые системы оптимизируют выдачу под ваши прошлые клики, лайки и время просмотра.</a:t>
            </a:r>
          </a:p>
          <a:p>
            <a:pPr marL="342900" indent="-342900"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Подтверждение предубеждений (</a:t>
            </a:r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</a:rPr>
              <a:t>confirmation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</a:rPr>
              <a:t>bias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).</a:t>
            </a:r>
            <a:b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Люди склонны активнее взаимодействовать с информацией, которая подтверждает их взгляды. Алгоритмы «запоминают» это поведение и усиливают подачу именно тех материалов, которые им уже нравятся.</a:t>
            </a:r>
          </a:p>
          <a:p>
            <a:pPr marL="342900" indent="-342900"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Социальное окружение и </a:t>
            </a:r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</a:rPr>
              <a:t>самосегрегация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Онлайн-группы, форумы и каналы формируются по интересам. </a:t>
            </a:r>
          </a:p>
        </p:txBody>
      </p:sp>
      <p:pic>
        <p:nvPicPr>
          <p:cNvPr id="3074" name="Picture 2" descr="Информационный пузырь в котором мы живём, мешает нам правильно оценивать  ситуацию. Инвестиции. | Solomon Trade (инвестиции) | Дзен">
            <a:extLst>
              <a:ext uri="{FF2B5EF4-FFF2-40B4-BE49-F238E27FC236}">
                <a16:creationId xmlns:a16="http://schemas.microsoft.com/office/drawing/2014/main" id="{73D0EEB9-EAB2-4E87-8F67-B6BCCF9994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849" y="1523999"/>
            <a:ext cx="5367036" cy="3927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3635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Способы прорыва из пузыря</a:t>
            </a:r>
            <a:endParaRPr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47040" y="1171633"/>
            <a:ext cx="6284809" cy="4708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buAutoNum type="arabicPeriod"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Разнообразие источников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: подписаться на новостные ленты с разными политическими или культурными позициями.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Ручная настройка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: в некоторых сервисах можно отключать персонализацию или выбирать «показывать последние» вместо «рекомендованных».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</a:rPr>
              <a:t>Медиаграмотность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: критически оценивать информацию, сверять факты через независимые проверочные сайты (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fact-checking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).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Алгоритмическая прозрачность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: требовать от платформ раскрытия принципов ранжирования и давать пользователю возможность регулировать фильтры.</a:t>
            </a:r>
          </a:p>
        </p:txBody>
      </p:sp>
      <p:pic>
        <p:nvPicPr>
          <p:cNvPr id="4098" name="Picture 2" descr="Информационный пузырь: что это, как из него выйти">
            <a:extLst>
              <a:ext uri="{FF2B5EF4-FFF2-40B4-BE49-F238E27FC236}">
                <a16:creationId xmlns:a16="http://schemas.microsoft.com/office/drawing/2014/main" id="{8C9DE446-696E-445A-A677-D28613FD37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2649" y="1771650"/>
            <a:ext cx="5066915" cy="440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Почему так сложно, но все равно необходимо выбраться из информационного  пузыря">
            <a:extLst>
              <a:ext uri="{FF2B5EF4-FFF2-40B4-BE49-F238E27FC236}">
                <a16:creationId xmlns:a16="http://schemas.microsoft.com/office/drawing/2014/main" id="{B9F42A8F-5725-4670-99F1-52250D3AD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6725" y="160338"/>
            <a:ext cx="2367361" cy="1690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9981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78177" y="2882386"/>
            <a:ext cx="6710373" cy="109322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43082" marR="6773" indent="-126997" algn="ctr">
              <a:lnSpc>
                <a:spcPct val="114999"/>
              </a:lnSpc>
              <a:spcBef>
                <a:spcPts val="133"/>
              </a:spcBef>
            </a:pPr>
            <a:r>
              <a:rPr lang="ru-RU" sz="3200" dirty="0">
                <a:latin typeface="Verdana" panose="020B0604030504040204" pitchFamily="34" charset="0"/>
                <a:ea typeface="Verdana" panose="020B0604030504040204" pitchFamily="34" charset="0"/>
              </a:rPr>
              <a:t>2. Алгоритмическая манипуляция и зависимость</a:t>
            </a:r>
            <a:endParaRPr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012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0"/>
          <p:cNvSpPr txBox="1">
            <a:spLocks noGrp="1"/>
          </p:cNvSpPr>
          <p:nvPr>
            <p:ph type="title"/>
          </p:nvPr>
        </p:nvSpPr>
        <p:spPr>
          <a:xfrm>
            <a:off x="286067" y="245733"/>
            <a:ext cx="7937600" cy="1387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ru-RU" dirty="0"/>
              <a:t>Алгоритмическая манипуляция</a:t>
            </a:r>
            <a:endParaRPr dirty="0"/>
          </a:p>
        </p:txBody>
      </p:sp>
      <p:sp>
        <p:nvSpPr>
          <p:cNvPr id="402" name="Google Shape;402;p80"/>
          <p:cNvSpPr txBox="1">
            <a:spLocks noGrp="1"/>
          </p:cNvSpPr>
          <p:nvPr>
            <p:ph type="body" idx="1"/>
          </p:nvPr>
        </p:nvSpPr>
        <p:spPr>
          <a:xfrm>
            <a:off x="338400" y="2846067"/>
            <a:ext cx="7154400" cy="3754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r>
              <a:rPr lang="ru-RU" sz="2133" dirty="0"/>
              <a:t>— это использование скрытых или непрозрачных методов подбора и подачи контента, уведомлений и интерфейсных приёмов для того, чтобы удерживать пользователя в системе как можно дольше, влиять на его эмоции и решения, а в конечном счёте — извлекать максимум «времени внимания» и монетизировать его через рекламу или подписки.</a:t>
            </a:r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1F87D5D-033F-4579-9906-6C20BF9943C6}"/>
              </a:ext>
            </a:extLst>
          </p:cNvPr>
          <p:cNvSpPr/>
          <p:nvPr/>
        </p:nvSpPr>
        <p:spPr>
          <a:xfrm>
            <a:off x="7886700" y="245733"/>
            <a:ext cx="1924050" cy="687717"/>
          </a:xfrm>
          <a:prstGeom prst="rect">
            <a:avLst/>
          </a:prstGeom>
          <a:solidFill>
            <a:srgbClr val="FEFAEE"/>
          </a:solidFill>
          <a:ln>
            <a:solidFill>
              <a:srgbClr val="FEFA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6073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Технические механизмы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47040" y="1171633"/>
            <a:ext cx="628480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Пример 1. 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TikTok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микроданные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и многорукие бандиты</a:t>
            </a:r>
          </a:p>
        </p:txBody>
      </p:sp>
      <p:pic>
        <p:nvPicPr>
          <p:cNvPr id="5122" name="Picture 2" descr="Принцип задачи о многоруком бандите (схема позаимствована из web.stanford.edu/~bvr/pubs/TS_Tutorial.pdf)">
            <a:extLst>
              <a:ext uri="{FF2B5EF4-FFF2-40B4-BE49-F238E27FC236}">
                <a16:creationId xmlns:a16="http://schemas.microsoft.com/office/drawing/2014/main" id="{586AF6ED-71EA-44C2-8133-EA0DD2C9E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0" y="2305050"/>
            <a:ext cx="7207604" cy="3211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47E7E4-C7B3-47C0-939D-E717B87D59D5}"/>
              </a:ext>
            </a:extLst>
          </p:cNvPr>
          <p:cNvSpPr txBox="1"/>
          <p:nvPr/>
        </p:nvSpPr>
        <p:spPr>
          <a:xfrm>
            <a:off x="609600" y="5778500"/>
            <a:ext cx="2343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4"/>
              </a:rPr>
              <a:t>Многорукие бандиты</a:t>
            </a:r>
            <a:endParaRPr lang="ru-RU" dirty="0"/>
          </a:p>
        </p:txBody>
      </p:sp>
      <p:pic>
        <p:nvPicPr>
          <p:cNvPr id="5126" name="Picture 6" descr="Логотип TikTok (ТикТок) / Развлечения / TopLogos.ru">
            <a:extLst>
              <a:ext uri="{FF2B5EF4-FFF2-40B4-BE49-F238E27FC236}">
                <a16:creationId xmlns:a16="http://schemas.microsoft.com/office/drawing/2014/main" id="{F347365B-A67C-4FBA-B725-C35A9EE89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7900" y="415200"/>
            <a:ext cx="3848100" cy="384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86817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Технические механизмы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47040" y="1171633"/>
            <a:ext cx="628480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Пример 2. 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Instagram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коллаборативная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фильтрация и переменная награда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47E7E4-C7B3-47C0-939D-E717B87D59D5}"/>
              </a:ext>
            </a:extLst>
          </p:cNvPr>
          <p:cNvSpPr txBox="1"/>
          <p:nvPr/>
        </p:nvSpPr>
        <p:spPr>
          <a:xfrm>
            <a:off x="8303590" y="6019800"/>
            <a:ext cx="328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>
                <a:hlinkClick r:id="rId3"/>
              </a:rPr>
              <a:t>Коллаборативная</a:t>
            </a:r>
            <a:r>
              <a:rPr lang="ru-RU" dirty="0">
                <a:hlinkClick r:id="rId3"/>
              </a:rPr>
              <a:t> фильтрация</a:t>
            </a:r>
          </a:p>
          <a:p>
            <a:r>
              <a:rPr lang="en-US" dirty="0">
                <a:hlinkClick r:id="rId4"/>
              </a:rPr>
              <a:t>RNN </a:t>
            </a:r>
            <a:r>
              <a:rPr lang="ru-RU" dirty="0">
                <a:hlinkClick r:id="rId4"/>
              </a:rPr>
              <a:t>и </a:t>
            </a:r>
            <a:r>
              <a:rPr lang="en-US" dirty="0">
                <a:hlinkClick r:id="rId4"/>
              </a:rPr>
              <a:t>RL</a:t>
            </a:r>
            <a:r>
              <a:rPr lang="ru-RU" dirty="0">
                <a:hlinkClick r:id="rId4"/>
              </a:rPr>
              <a:t> </a:t>
            </a:r>
            <a:endParaRPr lang="ru-RU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3E830C32-49B1-4B8E-99DC-C3DE5C699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190" y="3638492"/>
            <a:ext cx="6229350" cy="204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660E0F0-534E-44E9-85AD-42DA76743601}"/>
                  </a:ext>
                </a:extLst>
              </p:cNvPr>
              <p:cNvSpPr txBox="1"/>
              <p:nvPr/>
            </p:nvSpPr>
            <p:spPr>
              <a:xfrm>
                <a:off x="347040" y="2687211"/>
                <a:ext cx="6505242" cy="3821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), (1)</m:t>
                          </m:r>
                        </m:e>
                      </m:fun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660E0F0-534E-44E9-85AD-42DA76743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40" y="2687211"/>
                <a:ext cx="6505242" cy="382156"/>
              </a:xfrm>
              <a:prstGeom prst="rect">
                <a:avLst/>
              </a:prstGeom>
              <a:blipFill>
                <a:blip r:embed="rId6"/>
                <a:stretch>
                  <a:fillRect l="-750" r="-843" b="-95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F4D1A7-3765-4396-B109-170DCD6A3EB9}"/>
                  </a:ext>
                </a:extLst>
              </p:cNvPr>
              <p:cNvSpPr txBox="1"/>
              <p:nvPr/>
            </p:nvSpPr>
            <p:spPr>
              <a:xfrm>
                <a:off x="307975" y="3231268"/>
                <a:ext cx="4321175" cy="37984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Verdana" panose="020B0604030504040204" pitchFamily="34" charset="0"/>
                    <a:ea typeface="Verdana" panose="020B0604030504040204" pitchFamily="34" charset="0"/>
                  </a:rPr>
                  <a:t>где:</a:t>
                </a:r>
              </a:p>
              <a:p>
                <a:endParaRPr lang="ru-RU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dirty="0"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dirty="0">
                    <a:latin typeface="Verdana" panose="020B0604030504040204" pitchFamily="34" charset="0"/>
                    <a:ea typeface="Verdana" panose="020B0604030504040204" pitchFamily="34" charset="0"/>
                  </a:rPr>
                  <a:t>— Q-</a:t>
                </a:r>
                <a:r>
                  <a:rPr lang="ru-RU" dirty="0">
                    <a:latin typeface="Verdana" panose="020B0604030504040204" pitchFamily="34" charset="0"/>
                    <a:ea typeface="Verdana" panose="020B0604030504040204" pitchFamily="34" charset="0"/>
                  </a:rPr>
                  <a:t>функция на текущем шаге;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dirty="0"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dirty="0">
                    <a:latin typeface="Verdana" panose="020B0604030504040204" pitchFamily="34" charset="0"/>
                    <a:ea typeface="Verdana" panose="020B0604030504040204" pitchFamily="34" charset="0"/>
                  </a:rPr>
                  <a:t>—</a:t>
                </a:r>
                <a:r>
                  <a:rPr lang="ru-RU" dirty="0">
                    <a:latin typeface="Verdana" panose="020B0604030504040204" pitchFamily="34" charset="0"/>
                    <a:ea typeface="Verdana" panose="020B0604030504040204" pitchFamily="34" charset="0"/>
                  </a:rPr>
                  <a:t> действие </a:t>
                </a:r>
                <a:r>
                  <a:rPr lang="en-US" dirty="0">
                    <a:latin typeface="Verdana" panose="020B0604030504040204" pitchFamily="34" charset="0"/>
                    <a:ea typeface="Verdana" panose="020B0604030504040204" pitchFamily="34" charset="0"/>
                  </a:rPr>
                  <a:t>action </a:t>
                </a:r>
                <a:r>
                  <a:rPr lang="ru-RU" dirty="0">
                    <a:latin typeface="Verdana" panose="020B0604030504040204" pitchFamily="34" charset="0"/>
                    <a:ea typeface="Verdana" panose="020B0604030504040204" pitchFamily="34" charset="0"/>
                  </a:rPr>
                  <a:t>на шаге </a:t>
                </a:r>
                <a:r>
                  <a:rPr lang="en-US" dirty="0">
                    <a:latin typeface="Verdana" panose="020B0604030504040204" pitchFamily="34" charset="0"/>
                    <a:ea typeface="Verdana" panose="020B0604030504040204" pitchFamily="34" charset="0"/>
                  </a:rPr>
                  <a:t>t;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dirty="0">
                    <a:latin typeface="Verdana" panose="020B0604030504040204" pitchFamily="34" charset="0"/>
                    <a:ea typeface="Verdana" panose="020B0604030504040204" pitchFamily="34" charset="0"/>
                  </a:rPr>
                  <a:t>— награда (</a:t>
                </a:r>
                <a:r>
                  <a:rPr lang="ru-RU" dirty="0" err="1">
                    <a:latin typeface="Verdana" panose="020B0604030504040204" pitchFamily="34" charset="0"/>
                    <a:ea typeface="Verdana" panose="020B0604030504040204" pitchFamily="34" charset="0"/>
                  </a:rPr>
                  <a:t>reward</a:t>
                </a:r>
                <a:r>
                  <a:rPr lang="ru-RU" dirty="0">
                    <a:latin typeface="Verdana" panose="020B0604030504040204" pitchFamily="34" charset="0"/>
                    <a:ea typeface="Verdana" panose="020B0604030504040204" pitchFamily="34" charset="0"/>
                  </a:rPr>
                  <a:t>), полученная за действие</a:t>
                </a:r>
                <a:r>
                  <a:rPr lang="en-US" dirty="0"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dirty="0"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dirty="0">
                    <a:latin typeface="Verdana" panose="020B0604030504040204" pitchFamily="34" charset="0"/>
                    <a:ea typeface="Verdana" panose="020B0604030504040204" pitchFamily="34" charset="0"/>
                  </a:rPr>
                  <a:t>;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ru-RU" dirty="0">
                    <a:latin typeface="Verdana" panose="020B0604030504040204" pitchFamily="34" charset="0"/>
                    <a:ea typeface="Verdana" panose="020B0604030504040204" pitchFamily="34" charset="0"/>
                  </a:rPr>
                  <a:t>— состояние (</a:t>
                </a:r>
                <a:r>
                  <a:rPr lang="ru-RU" dirty="0" err="1">
                    <a:latin typeface="Verdana" panose="020B0604030504040204" pitchFamily="34" charset="0"/>
                    <a:ea typeface="Verdana" panose="020B0604030504040204" pitchFamily="34" charset="0"/>
                  </a:rPr>
                  <a:t>state</a:t>
                </a:r>
                <a:r>
                  <a:rPr lang="ru-RU" dirty="0">
                    <a:latin typeface="Verdana" panose="020B0604030504040204" pitchFamily="34" charset="0"/>
                    <a:ea typeface="Verdana" panose="020B0604030504040204" pitchFamily="34" charset="0"/>
                  </a:rPr>
                  <a:t>) в которое перешла среда после действия </a:t>
                </a:r>
                <a:r>
                  <a:rPr lang="en-US" dirty="0"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limLow>
                      <m:limLow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lim>
                    </m:limLow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ru-RU" dirty="0">
                    <a:latin typeface="Verdana" panose="020B0604030504040204" pitchFamily="34" charset="0"/>
                    <a:ea typeface="Verdana" panose="020B0604030504040204" pitchFamily="34" charset="0"/>
                  </a:rPr>
                  <a:t>— отложенное вознаграждение.</a:t>
                </a:r>
              </a:p>
              <a:p>
                <a:endParaRPr lang="ru-RU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F4D1A7-3765-4396-B109-170DCD6A3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975" y="3231268"/>
                <a:ext cx="4321175" cy="3798476"/>
              </a:xfrm>
              <a:prstGeom prst="rect">
                <a:avLst/>
              </a:prstGeom>
              <a:blipFill>
                <a:blip r:embed="rId7"/>
                <a:stretch>
                  <a:fillRect l="-1271" t="-8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8" name="Picture 4" descr="Instagram ждут глобальные изменения — Mobile-review.com — Все о мобильной  технике и технологиях">
            <a:extLst>
              <a:ext uri="{FF2B5EF4-FFF2-40B4-BE49-F238E27FC236}">
                <a16:creationId xmlns:a16="http://schemas.microsoft.com/office/drawing/2014/main" id="{6D5ABEFA-D579-40A2-B40D-419BB1493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8875" y="265523"/>
            <a:ext cx="3863975" cy="2920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4403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Технические механизмы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47041" y="1171633"/>
            <a:ext cx="5825160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Пример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3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Push-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уведомления: алгоритмическое вторжение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Современные системы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пушей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не просто рассылают оповещения по жёсткому расписанию, а выбирают «лучшие» моменты на основе анализа вашей истории открытий.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47E7E4-C7B3-47C0-939D-E717B87D59D5}"/>
              </a:ext>
            </a:extLst>
          </p:cNvPr>
          <p:cNvSpPr txBox="1"/>
          <p:nvPr/>
        </p:nvSpPr>
        <p:spPr>
          <a:xfrm>
            <a:off x="307975" y="6172200"/>
            <a:ext cx="328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Push-</a:t>
            </a:r>
            <a:r>
              <a:rPr lang="ru-RU" dirty="0">
                <a:hlinkClick r:id="rId3"/>
              </a:rPr>
              <a:t>уведомления</a:t>
            </a:r>
            <a:endParaRPr lang="ru-RU" dirty="0"/>
          </a:p>
        </p:txBody>
      </p:sp>
      <p:pic>
        <p:nvPicPr>
          <p:cNvPr id="7172" name="Picture 4" descr="Push-уведомления - Рубрика - PVSM.RU">
            <a:extLst>
              <a:ext uri="{FF2B5EF4-FFF2-40B4-BE49-F238E27FC236}">
                <a16:creationId xmlns:a16="http://schemas.microsoft.com/office/drawing/2014/main" id="{CF03799C-6586-4F74-9F36-7B18826BB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5700" y="1276959"/>
            <a:ext cx="3343722" cy="336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2E6BAB38-CCF3-4DA4-BA33-EF74C26BB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8105" y="-97207"/>
            <a:ext cx="3183895" cy="336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61795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Компрессия времени восприятия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47041" y="1171633"/>
            <a:ext cx="582516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Короткие ролики (15–60 секунд) «упаковывают» информацию в компактный формат, который не оставляет места для рефлексии: вы успеваете лишь эмоционально отреагировать и тут же переходите к следующему клипу. </a:t>
            </a:r>
          </a:p>
        </p:txBody>
      </p:sp>
      <p:pic>
        <p:nvPicPr>
          <p:cNvPr id="8194" name="Picture 2" descr="Играй, гормон»: что такое дофамин и может ли большое количество радости  вредить организму">
            <a:extLst>
              <a:ext uri="{FF2B5EF4-FFF2-40B4-BE49-F238E27FC236}">
                <a16:creationId xmlns:a16="http://schemas.microsoft.com/office/drawing/2014/main" id="{7D002D17-9F79-41DB-A327-750E6D621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0" y="2833626"/>
            <a:ext cx="5940779" cy="334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5158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82910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en-US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</a:t>
            </a:r>
            <a:r>
              <a:rPr lang="ru-RU" sz="3200" dirty="0" err="1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nfinite</a:t>
            </a: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3200" dirty="0" err="1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scroll</a:t>
            </a: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как машина награждений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47041" y="1171633"/>
            <a:ext cx="5825160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Бесконечная лента удаляет все естественные «остановочные» точки: нет конца страницы, нет счётчика оставшихся элементов, нет «конца шоу». 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Мозг продолжает прокручивать в надежде, что где-то здесь спрятано «что-то стоящее». 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Плавная анимация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подгрузки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и отсутствие кнопок «вперёд/назад» переводят пользователя в состояние «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flow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», где счёт времени теряется.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C08EB58A-8B0F-4292-9D85-DDED4AFDC7D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966" y="1698625"/>
            <a:ext cx="4614333" cy="346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CA595F-FFA4-41F7-9D25-59A3A8977134}"/>
              </a:ext>
            </a:extLst>
          </p:cNvPr>
          <p:cNvSpPr txBox="1"/>
          <p:nvPr/>
        </p:nvSpPr>
        <p:spPr>
          <a:xfrm>
            <a:off x="307975" y="6172200"/>
            <a:ext cx="4796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4"/>
              </a:rPr>
              <a:t>Как остановить бесконечный скроллинг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10874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941330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Дизайн-триггеры и визуальные «ловушки»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47041" y="1171633"/>
            <a:ext cx="5825160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Анимация мерцающего значка уведомления, «пульсация» кнопки лайка, графические эффекты при получении реакции — всё это похоже на игровые элементы. 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Дизайнеры сознательно используют цветовые контрасты, микровибрации и «социальные доказательства» для активации привычек посещения и реакций «на автопилоте».</a:t>
            </a:r>
          </a:p>
        </p:txBody>
      </p:sp>
      <p:pic>
        <p:nvPicPr>
          <p:cNvPr id="10242" name="Picture 2" descr="PhotoshopSunduchok - Создаём анимированную кнопку для Вашего сайта">
            <a:extLst>
              <a:ext uri="{FF2B5EF4-FFF2-40B4-BE49-F238E27FC236}">
                <a16:creationId xmlns:a16="http://schemas.microsoft.com/office/drawing/2014/main" id="{51A87CA2-5FD1-4134-9692-3111AB253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1404876"/>
            <a:ext cx="4762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12143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941330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Переход от рекомендаций к активному управлению вниманием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78791" y="1698683"/>
            <a:ext cx="5825160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Эволюция рекомендательных систем.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Ранние рекомендации лишь подбирали похожий по содержанию контент. 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Сегодня же модели оптимизируют не «релевантность», а чисто коммерческие метрики: среднюю длительность сессии, глубину прокрутки, частоту возвращений (DAU/MAU). 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Алгоритм перестал быть «советчиком» — он превратился в «надсмотрщика», чья цель — удержать вас любой ценой.</a:t>
            </a:r>
          </a:p>
        </p:txBody>
      </p:sp>
      <p:pic>
        <p:nvPicPr>
          <p:cNvPr id="12290" name="Picture 2" descr="Надзиратель – Бесплатные иконки: профессии и работа">
            <a:extLst>
              <a:ext uri="{FF2B5EF4-FFF2-40B4-BE49-F238E27FC236}">
                <a16:creationId xmlns:a16="http://schemas.microsoft.com/office/drawing/2014/main" id="{28CA942E-9822-4BEB-9E69-8CB316944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750" y="1199275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2683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941330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Экономика внимания и «рента»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78791" y="1698683"/>
            <a:ext cx="5825160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Внимание пользователя стало новой валютой: платформы «сдают его в аренду» рекламодателям, продавая каждый просмотр, каждую секунду взаимодействия. 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Этот концепт «</a:t>
            </a:r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</a:rPr>
              <a:t>attention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</a:rPr>
              <a:t>rent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» выводит бизнес-модели за рамки качества контента: важнее удержать вас, чем дать вам действительно ценную информацию.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662FB58-8EB9-44E7-98AF-E4F6525156D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56959" y="1510653"/>
            <a:ext cx="5372100" cy="3139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7325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941330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Live A/B-тесты и непрозрачность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97841" y="1374833"/>
            <a:ext cx="5825160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Платформы ежедневно проводят тысячи A/B-тестов интерфейсных решений (дизайн кнопок, текст уведомлений, интервалы между роликами), не информируя об этом пользователя. 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Вы становитесь участником огромного социального эксперимента, где ваша психика изучается и корректируется в реальном времени — без вашего согласия и понимания.</a:t>
            </a:r>
          </a:p>
        </p:txBody>
      </p:sp>
      <p:pic>
        <p:nvPicPr>
          <p:cNvPr id="13314" name="Picture 2" descr="A/B-тестирование">
            <a:extLst>
              <a:ext uri="{FF2B5EF4-FFF2-40B4-BE49-F238E27FC236}">
                <a16:creationId xmlns:a16="http://schemas.microsoft.com/office/drawing/2014/main" id="{8E9B4BAC-09AD-4E4C-982E-3F4B23DB8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700" y="2451100"/>
            <a:ext cx="5478092" cy="2878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5536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941330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Влияние на автономию и эрозия контроля</a:t>
            </a:r>
            <a:endParaRPr lang="ru-RU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97841" y="1374833"/>
            <a:ext cx="3551859" cy="498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Автономия как контроль над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собой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Традиционно автономия означает способность действовать согласно собственным целям, а не реагировать на внешние импульсы. Алгоритмическая манипуляция подрывает этот контроль: бесконечный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скролл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и переменные награды формируют автоматические привычки, при которых вы «откладываете» свои намерения и становитесь «пассивным исполнителем» чужого сценария.</a:t>
            </a:r>
          </a:p>
        </p:txBody>
      </p:sp>
      <p:sp>
        <p:nvSpPr>
          <p:cNvPr id="6" name="Google Shape;605;p103">
            <a:extLst>
              <a:ext uri="{FF2B5EF4-FFF2-40B4-BE49-F238E27FC236}">
                <a16:creationId xmlns:a16="http://schemas.microsoft.com/office/drawing/2014/main" id="{D5072E07-AAF7-45FA-8AC5-6548AB3B9F6A}"/>
              </a:ext>
            </a:extLst>
          </p:cNvPr>
          <p:cNvSpPr txBox="1"/>
          <p:nvPr/>
        </p:nvSpPr>
        <p:spPr>
          <a:xfrm>
            <a:off x="4412145" y="1378066"/>
            <a:ext cx="3367709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Контроль над данными и действиями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Платформы собирают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микроданные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о каждом вашем клике, задержке взгляда и жесте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свайпа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, а затем используют их против вас же. 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Вы не знаете объёма собранной информации, вы не можете «выключить» эти сборы, и алгоритм принимает решения за вас — подбирает контент, формирует привычки, диктует темп.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63C076-141F-4C7D-BAAD-44B1018C3866}"/>
              </a:ext>
            </a:extLst>
          </p:cNvPr>
          <p:cNvSpPr txBox="1"/>
          <p:nvPr/>
        </p:nvSpPr>
        <p:spPr>
          <a:xfrm>
            <a:off x="8242299" y="1374833"/>
            <a:ext cx="379095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Системная эрозия автономии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Когда инструменты манипуляции включены по умолчанию в любой популярный сервис, у пользователя остаётся всё меньше «оффлайн-пространства», где можно побыть без психологических «крючков». 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Цифровая среда превращается в лабиринт, где каждый шаг продуман так, чтобы вы задерживались и возвращались снова, утрачивая способность сознательно регулировать своё время и внимание.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D28746CA-0DA0-463C-8479-E429FB4F975E}"/>
              </a:ext>
            </a:extLst>
          </p:cNvPr>
          <p:cNvCxnSpPr>
            <a:cxnSpLocks/>
          </p:cNvCxnSpPr>
          <p:nvPr/>
        </p:nvCxnSpPr>
        <p:spPr>
          <a:xfrm>
            <a:off x="4114800" y="1419283"/>
            <a:ext cx="0" cy="543871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8955EE3-E4D5-47E6-91E6-811663EB0AEF}"/>
              </a:ext>
            </a:extLst>
          </p:cNvPr>
          <p:cNvCxnSpPr>
            <a:cxnSpLocks/>
          </p:cNvCxnSpPr>
          <p:nvPr/>
        </p:nvCxnSpPr>
        <p:spPr>
          <a:xfrm>
            <a:off x="8108950" y="1419282"/>
            <a:ext cx="0" cy="543871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547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941330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Этика ИИ и пути противодействия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97841" y="1374833"/>
            <a:ext cx="5825160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Человеческий надзор и «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off-switch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»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Прозрачность алгоритмов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Запрет «тёмных паттернов»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Образование и цифровая грамотность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E8B7FE-693A-4FD8-B04B-459746108657}"/>
              </a:ext>
            </a:extLst>
          </p:cNvPr>
          <p:cNvSpPr txBox="1"/>
          <p:nvPr/>
        </p:nvSpPr>
        <p:spPr>
          <a:xfrm>
            <a:off x="155575" y="6187559"/>
            <a:ext cx="32480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 err="1">
                <a:solidFill>
                  <a:srgbClr val="292928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hlinkClick r:id="rId3"/>
              </a:rPr>
              <a:t>Trushworthy</a:t>
            </a:r>
            <a:r>
              <a:rPr lang="en-US" sz="1400" b="0" i="0" dirty="0">
                <a:solidFill>
                  <a:srgbClr val="292928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hlinkClick r:id="rId3"/>
              </a:rPr>
              <a:t> Artificial Intelligence</a:t>
            </a:r>
            <a:endParaRPr lang="en-US" sz="1400" b="0" i="0" dirty="0">
              <a:solidFill>
                <a:srgbClr val="292928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E74B6090-BE3F-4D5D-AED7-F8C5100B87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3800" y="2222499"/>
            <a:ext cx="5757089" cy="3838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6990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32027" y="3406840"/>
            <a:ext cx="8532823" cy="526918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43082" marR="6773" indent="-126997" algn="ctr">
              <a:lnSpc>
                <a:spcPct val="114999"/>
              </a:lnSpc>
              <a:spcBef>
                <a:spcPts val="133"/>
              </a:spcBef>
            </a:pPr>
            <a:r>
              <a:rPr lang="ru-RU" sz="3200" dirty="0">
                <a:latin typeface="Verdana" panose="020B0604030504040204" pitchFamily="34" charset="0"/>
                <a:ea typeface="Verdana" panose="020B0604030504040204" pitchFamily="34" charset="0"/>
              </a:rPr>
              <a:t>3. Этический дизайн интерфейса</a:t>
            </a:r>
            <a:endParaRPr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38309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941330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en-US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Human-Centered Design (HCD)</a:t>
            </a:r>
            <a:endParaRPr lang="ru-RU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97841" y="1374833"/>
            <a:ext cx="5825160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Human-</a:t>
            </a:r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</a:rPr>
              <a:t>Centered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 Design (HCD)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описан в международном стандарте 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  <a:hlinkClick r:id="rId3"/>
              </a:rPr>
              <a:t>ISO 9241-210:2019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как процесс разработки интерактивных систем, в основе которого лежат реальные потребности и возможности людей.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Ключевые составляющие этого подхода: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Глубокое понимание пользователей, задач и среды</a:t>
            </a:r>
          </a:p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Участие пользователей на всех этапах</a:t>
            </a:r>
          </a:p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Итеративность</a:t>
            </a:r>
          </a:p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Целостный взгляд на опыт</a:t>
            </a:r>
          </a:p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  <a:hlinkClick r:id="rId4"/>
              </a:rPr>
              <a:t>Мультидисциплинарная команда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5362" name="Picture 2" descr="Human Centred Design – Gemtex">
            <a:extLst>
              <a:ext uri="{FF2B5EF4-FFF2-40B4-BE49-F238E27FC236}">
                <a16:creationId xmlns:a16="http://schemas.microsoft.com/office/drawing/2014/main" id="{F2EAE44C-D0FA-4B22-B3A3-4EFB004D5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5050" y="0"/>
            <a:ext cx="3536950" cy="353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HCD Process Image">
            <a:extLst>
              <a:ext uri="{FF2B5EF4-FFF2-40B4-BE49-F238E27FC236}">
                <a16:creationId xmlns:a16="http://schemas.microsoft.com/office/drawing/2014/main" id="{89324652-895D-4F08-BD15-0D9D257EA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7963" y="3208337"/>
            <a:ext cx="3419475" cy="343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46948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941330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en-US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Value Sensitive Design (VSD)</a:t>
            </a:r>
            <a:endParaRPr lang="ru-RU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97841" y="1374833"/>
            <a:ext cx="5088559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Value </a:t>
            </a:r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</a:rPr>
              <a:t>Sensitive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 Design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— это подход, предложенный Батей Фридман и коллегами, ориентированный на учёт 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моральных и социальных ценностей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всех заинтересованных сторон в процессе проектирования технологий. 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Основные характеристики VSD: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Концептуальное исследование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Эмпирическое исследование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Техническое исследование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Итеративность и отзывчивость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6386" name="Picture 2" descr="Mapping value sensitive design onto AI for social good principles | AI and  Ethics">
            <a:extLst>
              <a:ext uri="{FF2B5EF4-FFF2-40B4-BE49-F238E27FC236}">
                <a16:creationId xmlns:a16="http://schemas.microsoft.com/office/drawing/2014/main" id="{C1BA5070-73DE-49E9-ACBE-5EC0DCA61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2288" y="1374833"/>
            <a:ext cx="6524625" cy="391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0883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941330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Как строить ИИ-системы, поддерживающие выбор пользователя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65125" y="1546283"/>
            <a:ext cx="5088559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buAutoNum type="arabicPeriod"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Регулируемая автономность (</a:t>
            </a:r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</a:rPr>
              <a:t>adjustable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</a:rPr>
              <a:t>autonomy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). 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Система должна позволять пользователю выбирать уровень автоматизации: от полного ручного контроля до расширенной помощи ИИ.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Human-</a:t>
            </a:r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</a:rPr>
              <a:t>in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-</a:t>
            </a:r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</a:rPr>
              <a:t>the-loop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. Критические решения (корректировка рекомендаций, подтверждение действия) всегда требуют явного согласия или вмешательства пользователя, а не происходят «за его спиной».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8FE869-4A06-4C5C-A71D-CCDFB2515F07}"/>
              </a:ext>
            </a:extLst>
          </p:cNvPr>
          <p:cNvSpPr txBox="1"/>
          <p:nvPr/>
        </p:nvSpPr>
        <p:spPr>
          <a:xfrm>
            <a:off x="6096000" y="1546283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1950" indent="-361950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3. </a:t>
            </a:r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</a:rPr>
              <a:t>Explainable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 AI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. Каждая рекомендация или прогноз снабжается понятным объяснением («показано, потому что вы ранее искали…»), что повышает чувство контроля и снижает фрустрацию от «чёрного ящика».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61950" indent="-361950"/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61950" indent="-361950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4. 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Многоуровневый выбор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. Вместо одного «лучшего» варианта система предлагает диапазон опций (например, 3–5 альтернатив), позволяя пользователю самостоятельно оценить риски и выгоды.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432A06-51F7-4BBD-B186-8E691218110D}"/>
              </a:ext>
            </a:extLst>
          </p:cNvPr>
          <p:cNvSpPr txBox="1"/>
          <p:nvPr/>
        </p:nvSpPr>
        <p:spPr>
          <a:xfrm>
            <a:off x="6454775" y="4618410"/>
            <a:ext cx="968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hlinkClick r:id="rId3"/>
              </a:rPr>
              <a:t>Статья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3855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941330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Технологии должны усиливать человека, а не заменять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65125" y="1546283"/>
            <a:ext cx="5088559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Современные дискуссии об этике ИИ всё чаще сводятся к дилемме «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automate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augment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». </a:t>
            </a:r>
          </a:p>
          <a:p>
            <a:endParaRPr lang="ru-RU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Stanford HAI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и ведущие исследователи (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Бренье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, Альтман, Ли) подчёркивают, что настоящий потенциал ИИ — в 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расширении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человеческих возможностей, а не в вытеснении человека из процесса.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8FE869-4A06-4C5C-A71D-CCDFB2515F07}"/>
              </a:ext>
            </a:extLst>
          </p:cNvPr>
          <p:cNvSpPr txBox="1"/>
          <p:nvPr/>
        </p:nvSpPr>
        <p:spPr>
          <a:xfrm>
            <a:off x="6096000" y="1546283"/>
            <a:ext cx="6096000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1950" indent="-361950"/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Основные тезисы: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61950" indent="-361950"/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sz="1600" b="1" dirty="0" err="1">
                <a:latin typeface="Verdana" panose="020B0604030504040204" pitchFamily="34" charset="0"/>
                <a:ea typeface="Verdana" panose="020B0604030504040204" pitchFamily="34" charset="0"/>
              </a:rPr>
              <a:t>Augmentation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: технологии берут на себя рутинные и тяжёлые части работы (сбор данных, первичную обработку), освобождая время и ресурсы для творческих и стратегических задач.</a:t>
            </a: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sz="1600" b="1" dirty="0" err="1">
                <a:latin typeface="Verdana" panose="020B0604030504040204" pitchFamily="34" charset="0"/>
                <a:ea typeface="Verdana" panose="020B0604030504040204" pitchFamily="34" charset="0"/>
              </a:rPr>
              <a:t>Symbiotic</a:t>
            </a:r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b="1" dirty="0" err="1">
                <a:latin typeface="Verdana" panose="020B0604030504040204" pitchFamily="34" charset="0"/>
                <a:ea typeface="Verdana" panose="020B0604030504040204" pitchFamily="34" charset="0"/>
              </a:rPr>
              <a:t>interaction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: человек и ИИ-ассистент координируют действия в реальном времени, каждый вносит свой вклад — машина опирается на вычислительную мощь, человек — на контекстуальное понимание и ценностные суждения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342900" indent="-342900">
              <a:buAutoNum type="arabicPeriod"/>
            </a:pPr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Долгосрочная мотивация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hlinkClick r:id="rId3"/>
              </a:rPr>
              <a:t>исследования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 показывают, что сотрудники, использующие ИИ как «соавтора», демонстрируют большую продуктивность, удовлетворённость и меньшее выгорание, чем те, кого система полностью автоматизировала </a:t>
            </a:r>
          </a:p>
          <a:p>
            <a:pPr marL="361950" indent="-361950"/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61950" indent="-361950"/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4879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128"/>
          <p:cNvSpPr txBox="1">
            <a:spLocks noGrp="1"/>
          </p:cNvSpPr>
          <p:nvPr>
            <p:ph type="title"/>
          </p:nvPr>
        </p:nvSpPr>
        <p:spPr>
          <a:xfrm>
            <a:off x="279267" y="234300"/>
            <a:ext cx="8240000" cy="2575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ru"/>
              <a:t>Спасибо </a:t>
            </a:r>
            <a:endParaRPr/>
          </a:p>
          <a:p>
            <a:r>
              <a:rPr lang="ru"/>
              <a:t>за внимание!</a:t>
            </a:r>
            <a:endParaRPr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CCB1E79-FFD8-4DD7-A906-B49D900FA338}"/>
              </a:ext>
            </a:extLst>
          </p:cNvPr>
          <p:cNvSpPr/>
          <p:nvPr/>
        </p:nvSpPr>
        <p:spPr>
          <a:xfrm>
            <a:off x="7854950" y="234300"/>
            <a:ext cx="4210050" cy="851550"/>
          </a:xfrm>
          <a:prstGeom prst="rect">
            <a:avLst/>
          </a:prstGeom>
          <a:solidFill>
            <a:srgbClr val="B4E915"/>
          </a:solidFill>
          <a:ln>
            <a:solidFill>
              <a:srgbClr val="B4E9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42229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4205</TotalTime>
  <Words>1534</Words>
  <Application>Microsoft Office PowerPoint</Application>
  <PresentationFormat>Широкоэкранный</PresentationFormat>
  <Paragraphs>171</Paragraphs>
  <Slides>30</Slides>
  <Notes>26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7" baseType="lpstr">
      <vt:lpstr>Arial</vt:lpstr>
      <vt:lpstr>Calibri</vt:lpstr>
      <vt:lpstr>Calibri Light</vt:lpstr>
      <vt:lpstr>Cambria Math</vt:lpstr>
      <vt:lpstr>Montserrat</vt:lpstr>
      <vt:lpstr>Verdana</vt:lpstr>
      <vt:lpstr>Тема Office</vt:lpstr>
      <vt:lpstr>Этика Искусственного Интеллекта </vt:lpstr>
      <vt:lpstr>План занятия</vt:lpstr>
      <vt:lpstr>1. Цифровая автономия </vt:lpstr>
      <vt:lpstr>Цифровая автономия</vt:lpstr>
      <vt:lpstr>Компоненты цифровой автономии</vt:lpstr>
      <vt:lpstr>Темные паттерны</vt:lpstr>
      <vt:lpstr>Происхождение</vt:lpstr>
      <vt:lpstr>Категории темных паттернов</vt:lpstr>
      <vt:lpstr>Информационные пузыри</vt:lpstr>
      <vt:lpstr>Как это работает</vt:lpstr>
      <vt:lpstr>Способы прорыва из пузыря</vt:lpstr>
      <vt:lpstr>2. Алгоритмическая манипуляция и зависимость</vt:lpstr>
      <vt:lpstr>Алгоритмическая манипуляция</vt:lpstr>
      <vt:lpstr>Технические механизмы</vt:lpstr>
      <vt:lpstr>Технические механизмы</vt:lpstr>
      <vt:lpstr>Технические механизмы</vt:lpstr>
      <vt:lpstr>Компрессия времени восприятия</vt:lpstr>
      <vt:lpstr>Infinite scroll как машина награждений</vt:lpstr>
      <vt:lpstr>Дизайн-триггеры и визуальные «ловушки»</vt:lpstr>
      <vt:lpstr>Переход от рекомендаций к активному управлению вниманием</vt:lpstr>
      <vt:lpstr>Экономика внимания и «рента»</vt:lpstr>
      <vt:lpstr>Live A/B-тесты и непрозрачность</vt:lpstr>
      <vt:lpstr>Влияние на автономию и эрозия контроля</vt:lpstr>
      <vt:lpstr>Этика ИИ и пути противодействия</vt:lpstr>
      <vt:lpstr>3. Этический дизайн интерфейса</vt:lpstr>
      <vt:lpstr>Human-Centered Design (HCD)</vt:lpstr>
      <vt:lpstr>Value Sensitive Design (VSD)</vt:lpstr>
      <vt:lpstr>Как строить ИИ-системы, поддерживающие выбор пользователя</vt:lpstr>
      <vt:lpstr>Технологии должны усиливать человека, а не заменять</vt:lpstr>
      <vt:lpstr>Спасибо 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Алгоритмы машинного обучения</dc:title>
  <dc:creator>Alex</dc:creator>
  <cp:lastModifiedBy>Константин Некрасов</cp:lastModifiedBy>
  <cp:revision>278</cp:revision>
  <dcterms:created xsi:type="dcterms:W3CDTF">2024-03-23T10:36:24Z</dcterms:created>
  <dcterms:modified xsi:type="dcterms:W3CDTF">2026-04-13T14:59:30Z</dcterms:modified>
</cp:coreProperties>
</file>