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7" r:id="rId2"/>
    <p:sldId id="360" r:id="rId3"/>
    <p:sldId id="258" r:id="rId4"/>
    <p:sldId id="263" r:id="rId5"/>
    <p:sldId id="260" r:id="rId6"/>
    <p:sldId id="424" r:id="rId7"/>
    <p:sldId id="425" r:id="rId8"/>
    <p:sldId id="426" r:id="rId9"/>
    <p:sldId id="427" r:id="rId10"/>
    <p:sldId id="428" r:id="rId11"/>
    <p:sldId id="429" r:id="rId12"/>
    <p:sldId id="430" r:id="rId13"/>
    <p:sldId id="431" r:id="rId14"/>
    <p:sldId id="432" r:id="rId15"/>
    <p:sldId id="433" r:id="rId16"/>
    <p:sldId id="434" r:id="rId17"/>
    <p:sldId id="435" r:id="rId18"/>
    <p:sldId id="436" r:id="rId19"/>
    <p:sldId id="437" r:id="rId20"/>
    <p:sldId id="438" r:id="rId21"/>
    <p:sldId id="439" r:id="rId22"/>
    <p:sldId id="440" r:id="rId23"/>
    <p:sldId id="441" r:id="rId24"/>
    <p:sldId id="442" r:id="rId25"/>
    <p:sldId id="443" r:id="rId26"/>
    <p:sldId id="444" r:id="rId27"/>
    <p:sldId id="445" r:id="rId28"/>
    <p:sldId id="446" r:id="rId29"/>
    <p:sldId id="447" r:id="rId30"/>
    <p:sldId id="448" r:id="rId31"/>
    <p:sldId id="449" r:id="rId32"/>
    <p:sldId id="450" r:id="rId33"/>
    <p:sldId id="451" r:id="rId34"/>
    <p:sldId id="365" r:id="rId35"/>
    <p:sldId id="453" r:id="rId36"/>
    <p:sldId id="452" r:id="rId37"/>
    <p:sldId id="454" r:id="rId38"/>
    <p:sldId id="455" r:id="rId39"/>
    <p:sldId id="456" r:id="rId40"/>
    <p:sldId id="457" r:id="rId41"/>
    <p:sldId id="458" r:id="rId42"/>
    <p:sldId id="459" r:id="rId43"/>
    <p:sldId id="460" r:id="rId44"/>
    <p:sldId id="415" r:id="rId45"/>
    <p:sldId id="461" r:id="rId46"/>
    <p:sldId id="462" r:id="rId47"/>
    <p:sldId id="463" r:id="rId48"/>
    <p:sldId id="464" r:id="rId49"/>
    <p:sldId id="282" r:id="rId5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Konn" initials="N" lastIdx="1" clrIdx="0">
    <p:extLst>
      <p:ext uri="{19B8F6BF-5375-455C-9EA6-DF929625EA0E}">
        <p15:presenceInfo xmlns:p15="http://schemas.microsoft.com/office/powerpoint/2012/main" userId="NeKon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AEE"/>
    <a:srgbClr val="B4E915"/>
    <a:srgbClr val="143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7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414" y="13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C1D90-9BFE-449E-8A2B-EF441C660636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8438D-B581-4013-99FC-FD4843C4A9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28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317fca73c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5317fca73c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33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823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102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933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9459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001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9232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7749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8084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644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0076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307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221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950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77941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49282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830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6167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8213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34006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66777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73266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44648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8026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3158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6925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68829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4088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38527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90619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6327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41372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06495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89600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4655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1578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95804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89910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11534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68413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9545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323768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28713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29072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19459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528d50a88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528d50a88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250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24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973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27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42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246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07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34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49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76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03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703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5">
  <p:cSld name="Титульный слайд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279233" y="240000"/>
            <a:ext cx="7485600" cy="2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53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" name="Google Shape;21;p4" descr="Название курса" title="Название курса"/>
          <p:cNvSpPr txBox="1">
            <a:spLocks noGrp="1"/>
          </p:cNvSpPr>
          <p:nvPr>
            <p:ph type="subTitle" idx="1"/>
          </p:nvPr>
        </p:nvSpPr>
        <p:spPr>
          <a:xfrm>
            <a:off x="306500" y="2415400"/>
            <a:ext cx="6548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4" descr="Название курса" title="Название курса"/>
          <p:cNvSpPr txBox="1">
            <a:spLocks noGrp="1"/>
          </p:cNvSpPr>
          <p:nvPr>
            <p:ph type="subTitle" idx="2"/>
          </p:nvPr>
        </p:nvSpPr>
        <p:spPr>
          <a:xfrm>
            <a:off x="333767" y="5510233"/>
            <a:ext cx="6548400" cy="10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9267" y="398401"/>
            <a:ext cx="3612733" cy="529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0430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0">
  <p:cSld name="TITLE_10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5" name="Google Shape;215;p4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16" name="Google Shape;216;p4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l"/>
            <a:fld id="{00000000-1234-1234-1234-123412341234}" type="slidenum">
              <a:rPr lang="ru" smtClean="0"/>
              <a:pPr algn="l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00344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2">
  <p:cSld name="Спасибо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5333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94" name="Google Shape;1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267" y="403200"/>
            <a:ext cx="3578367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0178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33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8714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 зеленое 1">
  <p:cSld name="Определение зеленое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>
            <a:spLocks noGrp="1"/>
          </p:cNvSpPr>
          <p:nvPr>
            <p:ph type="body" idx="1"/>
          </p:nvPr>
        </p:nvSpPr>
        <p:spPr>
          <a:xfrm>
            <a:off x="338400" y="2602700"/>
            <a:ext cx="7154400" cy="3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5333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57" name="Google Shape;1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267" y="403200"/>
            <a:ext cx="3578367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5921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86A48-F7E8-4AFD-B043-B1D10D746835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56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6" r:id="rId15"/>
    <p:sldLayoutId id="214748366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TGTG6GhUh5M0NTE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ethics.a-ai.ru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google/technology/ai/ai-principles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hyperlink" Target="https://www.bbc.com/russian/news-43657520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charter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index/our-approach-to-alignment-research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i.meta.com/responsible-ai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charter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habr.com/ru/news/558492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intelligenceact.eu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unesdoc.unesco.org/ark:/48223/pf0000381137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censes.ai/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hyperlink" Target="https://firstdonoharm.dev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ctrTitle"/>
          </p:nvPr>
        </p:nvSpPr>
        <p:spPr>
          <a:xfrm>
            <a:off x="279232" y="240000"/>
            <a:ext cx="8096417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Этика Искусственного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Интеллекта </a:t>
            </a:r>
            <a:endParaRPr dirty="0">
              <a:solidFill>
                <a:srgbClr val="FEFAE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CEA7C98-B589-43B2-B59E-8411C07C611B}"/>
              </a:ext>
            </a:extLst>
          </p:cNvPr>
          <p:cNvSpPr/>
          <p:nvPr/>
        </p:nvSpPr>
        <p:spPr>
          <a:xfrm>
            <a:off x="8153400" y="240000"/>
            <a:ext cx="3937168" cy="750600"/>
          </a:xfrm>
          <a:prstGeom prst="rect">
            <a:avLst/>
          </a:prstGeom>
          <a:solidFill>
            <a:srgbClr val="143091"/>
          </a:solidFill>
          <a:ln>
            <a:solidFill>
              <a:srgbClr val="1430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Google Shape;326;p68">
            <a:extLst>
              <a:ext uri="{FF2B5EF4-FFF2-40B4-BE49-F238E27FC236}">
                <a16:creationId xmlns:a16="http://schemas.microsoft.com/office/drawing/2014/main" id="{0E70C8B6-3809-489E-B49D-EDF940DFBFD0}"/>
              </a:ext>
            </a:extLst>
          </p:cNvPr>
          <p:cNvSpPr txBox="1">
            <a:spLocks/>
          </p:cNvSpPr>
          <p:nvPr/>
        </p:nvSpPr>
        <p:spPr>
          <a:xfrm>
            <a:off x="508000" y="4974127"/>
            <a:ext cx="6548400" cy="164387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>
            <a:lvl1pPr marL="228600" lvl="0" indent="-2286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Некрасов Константин Олегович</a:t>
            </a:r>
          </a:p>
          <a:p>
            <a:pPr marL="0" indent="0"/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Директор по разработке </a:t>
            </a:r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ML-</a:t>
            </a:r>
            <a:r>
              <a:rPr lang="ru-RU" sz="2000">
                <a:latin typeface="Verdana" panose="020B0604030504040204" pitchFamily="34" charset="0"/>
                <a:ea typeface="Verdana" panose="020B0604030504040204" pitchFamily="34" charset="0"/>
              </a:rPr>
              <a:t>моделей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/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АО «Газпромбанк»</a:t>
            </a:r>
          </a:p>
          <a:p>
            <a:pPr marL="0" indent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t.me/algolab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34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3867" y="321847"/>
            <a:ext cx="1001648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80" dirty="0">
                <a:latin typeface="Verdana" panose="020B0604030504040204" pitchFamily="34" charset="0"/>
                <a:ea typeface="Verdana" panose="020B0604030504040204" pitchFamily="34" charset="0"/>
              </a:rPr>
              <a:t>План</a:t>
            </a:r>
            <a:r>
              <a:rPr sz="3200" spc="-287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3200" spc="27" dirty="0">
                <a:latin typeface="Verdana" panose="020B0604030504040204" pitchFamily="34" charset="0"/>
                <a:ea typeface="Verdana" panose="020B0604030504040204" pitchFamily="34" charset="0"/>
              </a:rPr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3867" y="1077757"/>
            <a:ext cx="7996320" cy="105039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Модели корпоративной ответственности</a:t>
            </a:r>
          </a:p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Регуляторные подходы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9777" y="3067491"/>
            <a:ext cx="8570923" cy="165953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 algn="ctr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1. Модели корпоративной ответственности</a:t>
            </a:r>
            <a:b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-RU" sz="4000" dirty="0"/>
              <a:t>Этические комитеты по ИИ (AI </a:t>
            </a:r>
            <a:r>
              <a:rPr lang="ru-RU" sz="4000" dirty="0" err="1"/>
              <a:t>Ethics</a:t>
            </a:r>
            <a:r>
              <a:rPr lang="ru-RU" sz="4000" dirty="0"/>
              <a:t> </a:t>
            </a:r>
            <a:r>
              <a:rPr lang="ru-RU" sz="4000" dirty="0" err="1"/>
              <a:t>Committees</a:t>
            </a:r>
            <a:r>
              <a:rPr lang="ru-RU" sz="4000" dirty="0"/>
              <a:t>)</a:t>
            </a:r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— специализированная группа экспертов, создаваемая внутри организации или в рамках внешнего наблюдения, целью которой является оценка потенциальных этических, социальных и правовых последствий разработки и внедрения систем искусственного интеллекта.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4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Основные задачи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8462" y="1579854"/>
            <a:ext cx="6284809" cy="199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Оценка рисков </a:t>
            </a:r>
            <a:endParaRPr lang="en-US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Разработка рекомендаций </a:t>
            </a:r>
            <a:endParaRPr lang="en-US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Анализ и одобрение </a:t>
            </a:r>
            <a:endParaRPr lang="en-US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Поддержка принятия решений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Участие в обучении персонала</a:t>
            </a:r>
            <a:endParaRPr lang="en-US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Чем отличается цель от задачи: разбираемся на примерах">
            <a:extLst>
              <a:ext uri="{FF2B5EF4-FFF2-40B4-BE49-F238E27FC236}">
                <a16:creationId xmlns:a16="http://schemas.microsoft.com/office/drawing/2014/main" id="{C357A16B-4A08-494C-9B5A-D04C15079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363" y="1149927"/>
            <a:ext cx="6048375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670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Состав комитета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8462" y="1579854"/>
            <a:ext cx="6284809" cy="199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Инженеры и ML-специалисты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Этики и философы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Юристы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Представители заинтересованных сторон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Психологи, социологи и журналисты</a:t>
            </a:r>
          </a:p>
        </p:txBody>
      </p:sp>
      <p:pic>
        <p:nvPicPr>
          <p:cNvPr id="2050" name="Picture 2" descr="Управляющий комитет проекта - что это? - Цели, структура, функции">
            <a:extLst>
              <a:ext uri="{FF2B5EF4-FFF2-40B4-BE49-F238E27FC236}">
                <a16:creationId xmlns:a16="http://schemas.microsoft.com/office/drawing/2014/main" id="{A2E64842-4488-442B-9805-039369DCE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468" y="1626177"/>
            <a:ext cx="5670070" cy="300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670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Проблемы и ограничения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159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Консультативная роль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Конфликт интересов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Формальность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Слабая интеграция в бизнес-процессы</a:t>
            </a:r>
          </a:p>
        </p:txBody>
      </p:sp>
      <p:pic>
        <p:nvPicPr>
          <p:cNvPr id="3074" name="Picture 2" descr="Министерство земельных и имущественных отношений Республики Татарстан">
            <a:extLst>
              <a:ext uri="{FF2B5EF4-FFF2-40B4-BE49-F238E27FC236}">
                <a16:creationId xmlns:a16="http://schemas.microsoft.com/office/drawing/2014/main" id="{3B0237A3-AA37-4F24-8A90-B50828019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850" y="2436093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475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Лучшая практика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159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Четкая регламентация функций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Регулярные этические аудиты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Документирование обсуждений и решений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Обязательно заключение </a:t>
            </a:r>
            <a:r>
              <a:rPr lang="ru-RU" sz="180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коммитета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B1C70F-321F-4B79-98E4-AA553470EB4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58050" y="1087437"/>
            <a:ext cx="4381500" cy="334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07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-RU" sz="4000" dirty="0"/>
              <a:t>AI Governance (управление ИИ в организации)</a:t>
            </a:r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— комплекс внутренних политик, процессов, структур и инструментов, обеспечивающих ответственное, прозрачное и контролируемое управление ИИ на всех этапах его жизненного цикла: от сбора данных и обучения модели до эксплуатации и мониторинга её последствий.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736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Компоненты системы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3CC43CB-FBCB-4FED-996E-168A357F89EF}"/>
              </a:ext>
            </a:extLst>
          </p:cNvPr>
          <p:cNvSpPr/>
          <p:nvPr/>
        </p:nvSpPr>
        <p:spPr>
          <a:xfrm>
            <a:off x="1838899" y="1902373"/>
            <a:ext cx="2768600" cy="882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Политики и процедуры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0F4315F-0EC0-4685-9ED0-3473AF4593FC}"/>
              </a:ext>
            </a:extLst>
          </p:cNvPr>
          <p:cNvSpPr/>
          <p:nvPr/>
        </p:nvSpPr>
        <p:spPr>
          <a:xfrm>
            <a:off x="6108700" y="1902373"/>
            <a:ext cx="2768600" cy="882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Ответственность и роли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D85580D-32CD-4B31-82FC-F4BB26F862F0}"/>
              </a:ext>
            </a:extLst>
          </p:cNvPr>
          <p:cNvSpPr/>
          <p:nvPr/>
        </p:nvSpPr>
        <p:spPr>
          <a:xfrm>
            <a:off x="1838899" y="3689869"/>
            <a:ext cx="2768600" cy="882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Контроль жизненного цикла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AF56DBC-9872-47EF-A1A3-64825D37BA1C}"/>
              </a:ext>
            </a:extLst>
          </p:cNvPr>
          <p:cNvSpPr/>
          <p:nvPr/>
        </p:nvSpPr>
        <p:spPr>
          <a:xfrm>
            <a:off x="6108700" y="3689869"/>
            <a:ext cx="2768600" cy="8826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Механизмы интервенции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10F1993-D339-42F7-98D1-5A94E278B748}"/>
              </a:ext>
            </a:extLst>
          </p:cNvPr>
          <p:cNvCxnSpPr>
            <a:stCxn id="3" idx="3"/>
            <a:endCxn id="7" idx="1"/>
          </p:cNvCxnSpPr>
          <p:nvPr/>
        </p:nvCxnSpPr>
        <p:spPr>
          <a:xfrm>
            <a:off x="4607499" y="2343698"/>
            <a:ext cx="1501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E5A5BC34-8B57-4A7F-9224-EFEAB6A2C528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7493000" y="2785023"/>
            <a:ext cx="0" cy="9048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8BE50E3-FDD2-468B-B6E9-5F3698AE0536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>
            <a:off x="4607499" y="4131194"/>
            <a:ext cx="150120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089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Цели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2484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Обеспечить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подотчётность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за действия ИИ.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Сделать ИИ-системы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объяснимыми и проверяемыми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Минимизировать юридические и репутационные риски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Создать </a:t>
            </a:r>
            <a:r>
              <a:rPr lang="ru-RU" sz="18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трассируемость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решений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моделей (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auditability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5122" name="Picture 2" descr="Как написать цель и задачи курсовой работы: правила, пример">
            <a:extLst>
              <a:ext uri="{FF2B5EF4-FFF2-40B4-BE49-F238E27FC236}">
                <a16:creationId xmlns:a16="http://schemas.microsoft.com/office/drawing/2014/main" id="{70759FF5-D5C9-427B-BF9F-5FDF278DD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075" y="1192504"/>
            <a:ext cx="6397625" cy="3817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2124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2624241" y="2125954"/>
            <a:ext cx="6284809" cy="69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Основное отличие — сильная неопределённость и автономность ИИ, что требует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54897-6830-482C-B5AB-F53371DD8B53}"/>
              </a:ext>
            </a:extLst>
          </p:cNvPr>
          <p:cNvSpPr txBox="1"/>
          <p:nvPr/>
        </p:nvSpPr>
        <p:spPr>
          <a:xfrm>
            <a:off x="2718645" y="4808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AI Governance ≠ IT Governance.</a:t>
            </a:r>
            <a:endParaRPr lang="ru-RU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111452D6-E7BC-42F1-AD0E-5517023B96C4}"/>
              </a:ext>
            </a:extLst>
          </p:cNvPr>
          <p:cNvCxnSpPr>
            <a:stCxn id="13" idx="2"/>
          </p:cNvCxnSpPr>
          <p:nvPr/>
        </p:nvCxnSpPr>
        <p:spPr>
          <a:xfrm flipH="1">
            <a:off x="2718645" y="2821273"/>
            <a:ext cx="3048001" cy="9442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2E5ACAF6-C203-4EC5-AC1E-C2F7D5DC71C4}"/>
              </a:ext>
            </a:extLst>
          </p:cNvPr>
          <p:cNvCxnSpPr>
            <a:cxnSpLocks/>
          </p:cNvCxnSpPr>
          <p:nvPr/>
        </p:nvCxnSpPr>
        <p:spPr>
          <a:xfrm>
            <a:off x="5766645" y="2821273"/>
            <a:ext cx="3047153" cy="10630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Овал 9">
            <a:extLst>
              <a:ext uri="{FF2B5EF4-FFF2-40B4-BE49-F238E27FC236}">
                <a16:creationId xmlns:a16="http://schemas.microsoft.com/office/drawing/2014/main" id="{D5215645-87D2-4CA2-AD94-280B4C57A8F3}"/>
              </a:ext>
            </a:extLst>
          </p:cNvPr>
          <p:cNvSpPr/>
          <p:nvPr/>
        </p:nvSpPr>
        <p:spPr>
          <a:xfrm>
            <a:off x="1326513" y="3835400"/>
            <a:ext cx="2916132" cy="19005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Оценки социальной приемлемости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6B6D612D-6B09-464B-968C-D3A5792F96B5}"/>
              </a:ext>
            </a:extLst>
          </p:cNvPr>
          <p:cNvSpPr/>
          <p:nvPr/>
        </p:nvSpPr>
        <p:spPr>
          <a:xfrm>
            <a:off x="7355731" y="3947822"/>
            <a:ext cx="2916133" cy="19005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учёта непредсказуемых последствий и эмерджентных эффектов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454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sz="4000" dirty="0"/>
              <a:t>Code of Ethics (кодекс этики ИИ)</a:t>
            </a:r>
            <a:endParaRPr lang="ru-RU" sz="4000" dirty="0"/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— официальный документ, в котором организация закрепляет свои принципы, нормы и обязательства в области этичного проектирования, разработки и внедрения ИИ. 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756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Структура кодекса этики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26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Введение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Область применения</a:t>
            </a:r>
            <a:endParaRPr lang="en-US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Принципы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Практические нормы поведения</a:t>
            </a:r>
            <a:endParaRPr lang="en-US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Механизмы обратной связи и жалоб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Ответственность за нарушения и</a:t>
            </a:r>
            <a:b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процедуры пересмотра кодекса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96CE968-6D44-4C3F-BEA5-2A0DEC3D4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720" y="1436979"/>
            <a:ext cx="6283230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A3ACF7-24BD-4AD5-8E96-A9805F9703A1}"/>
              </a:ext>
            </a:extLst>
          </p:cNvPr>
          <p:cNvSpPr txBox="1"/>
          <p:nvPr/>
        </p:nvSpPr>
        <p:spPr>
          <a:xfrm>
            <a:off x="460375" y="55335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Почитать кодекс этики можно </a:t>
            </a:r>
            <a:r>
              <a:rPr lang="ru-RU" dirty="0">
                <a:hlinkClick r:id="rId4"/>
              </a:rPr>
              <a:t>тут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1667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Функции кодекса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318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Задаёт этический ориентир при принятии решений.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Помогает снизить неопределённость при проектировании систем.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Служит основой для обучения персонала и партнёров.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Повышает доверие пользователей и инвесторов.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Может использоваться в диалоге с регуляторами и общественностью.</a:t>
            </a:r>
          </a:p>
        </p:txBody>
      </p:sp>
    </p:spTree>
    <p:extLst>
      <p:ext uri="{BB962C8B-B14F-4D97-AF65-F5344CB8AC3E}">
        <p14:creationId xmlns:p14="http://schemas.microsoft.com/office/powerpoint/2010/main" val="1408900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Примеры внедрения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2382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Российские компании, придерживающиеся кодекса этики ИИ – </a:t>
            </a: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Сбер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Яндекс, ВК и другие.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Google, Microsoft, IBM и другие публично публикуют свои Code </a:t>
            </a: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Ethics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Некоторые компании (например, SAP) внедряют обязательное прохождение этического тренинга перед участием в AI-проектах.</a:t>
            </a:r>
          </a:p>
        </p:txBody>
      </p:sp>
      <p:pic>
        <p:nvPicPr>
          <p:cNvPr id="7170" name="Picture 2" descr="Логотип Сбер / Банки и финансы / TopLogos.ru">
            <a:extLst>
              <a:ext uri="{FF2B5EF4-FFF2-40B4-BE49-F238E27FC236}">
                <a16:creationId xmlns:a16="http://schemas.microsoft.com/office/drawing/2014/main" id="{5D70A0FE-17D5-41A1-A13E-A3F8B238E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450" y="417804"/>
            <a:ext cx="3876431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Яндекс Почта в приложении Яндекс">
            <a:extLst>
              <a:ext uri="{FF2B5EF4-FFF2-40B4-BE49-F238E27FC236}">
                <a16:creationId xmlns:a16="http://schemas.microsoft.com/office/drawing/2014/main" id="{E31A0C53-8BDA-4B82-A16D-5921A2C7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2300" y="1598904"/>
            <a:ext cx="2382319" cy="238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VK (компания) — Википедия">
            <a:extLst>
              <a:ext uri="{FF2B5EF4-FFF2-40B4-BE49-F238E27FC236}">
                <a16:creationId xmlns:a16="http://schemas.microsoft.com/office/drawing/2014/main" id="{53A4EC3C-B74B-4137-AB1A-59BC7E212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229" y="2159000"/>
            <a:ext cx="1947022" cy="194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Логотип Google — Википедия">
            <a:extLst>
              <a:ext uri="{FF2B5EF4-FFF2-40B4-BE49-F238E27FC236}">
                <a16:creationId xmlns:a16="http://schemas.microsoft.com/office/drawing/2014/main" id="{AA49D88D-797E-417E-A1F9-BC0425DD6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4195596"/>
            <a:ext cx="4133850" cy="1400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4" name="Picture 16" descr="Microsoft-logo – Teknei">
            <a:extLst>
              <a:ext uri="{FF2B5EF4-FFF2-40B4-BE49-F238E27FC236}">
                <a16:creationId xmlns:a16="http://schemas.microsoft.com/office/drawing/2014/main" id="{B86B9B0A-ADC3-4600-A015-4BAEA7FFB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921" y="5095936"/>
            <a:ext cx="23812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6" name="Picture 18">
            <a:extLst>
              <a:ext uri="{FF2B5EF4-FFF2-40B4-BE49-F238E27FC236}">
                <a16:creationId xmlns:a16="http://schemas.microsoft.com/office/drawing/2014/main" id="{4D0C63F9-4574-40FA-8C68-84466D7B3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537" y="5595938"/>
            <a:ext cx="2806700" cy="1056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64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218814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Примеры моделей корпоративной ответственности в ИИ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5A41D32-482C-49D8-A6B9-7BEB7F43551E}"/>
              </a:ext>
            </a:extLst>
          </p:cNvPr>
          <p:cNvSpPr/>
          <p:nvPr/>
        </p:nvSpPr>
        <p:spPr>
          <a:xfrm>
            <a:off x="552450" y="2362200"/>
            <a:ext cx="3225800" cy="177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Google AI Principles </a:t>
            </a:r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DC09ABD-DCFF-4510-872A-57D5C743E63F}"/>
              </a:ext>
            </a:extLst>
          </p:cNvPr>
          <p:cNvSpPr/>
          <p:nvPr/>
        </p:nvSpPr>
        <p:spPr>
          <a:xfrm>
            <a:off x="4425950" y="2366677"/>
            <a:ext cx="3225800" cy="177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OpenAI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Charter</a:t>
            </a:r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C5EDB70-B0F0-4F5D-AA28-F154FAFEB03D}"/>
              </a:ext>
            </a:extLst>
          </p:cNvPr>
          <p:cNvSpPr/>
          <p:nvPr/>
        </p:nvSpPr>
        <p:spPr>
          <a:xfrm>
            <a:off x="8299450" y="2362200"/>
            <a:ext cx="3225800" cy="177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Meta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Responsible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AI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8823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Google AI Principles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2872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 июне 2018 года Google официально опубликовала документ с 7 принципами разработки ИИ, получивший название </a:t>
            </a:r>
            <a:r>
              <a:rPr lang="ru-RU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AI </a:t>
            </a:r>
            <a:r>
              <a:rPr lang="ru-RU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at</a:t>
            </a:r>
            <a:r>
              <a:rPr lang="ru-RU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 Google: </a:t>
            </a:r>
            <a:r>
              <a:rPr lang="ru-RU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Our</a:t>
            </a:r>
            <a:r>
              <a:rPr lang="ru-RU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ru-RU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Principles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 Это было сделано в ответ на массовую внутреннюю критику участия компании в проекте </a:t>
            </a: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Maven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4"/>
              </a:rPr>
              <a:t>военное сотрудничество с Пентагоном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Документ стал одной из первых попыток задать публичный этический стандарт для коммерческой компании в сфере ИИ.</a:t>
            </a:r>
          </a:p>
        </p:txBody>
      </p:sp>
      <p:pic>
        <p:nvPicPr>
          <p:cNvPr id="8194" name="Picture 2" descr="Google Gemini AI Principles - Freehold Borough School District">
            <a:extLst>
              <a:ext uri="{FF2B5EF4-FFF2-40B4-BE49-F238E27FC236}">
                <a16:creationId xmlns:a16="http://schemas.microsoft.com/office/drawing/2014/main" id="{6B3902BD-3199-43A8-888D-CE3B0FF26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550" y="271462"/>
            <a:ext cx="4876800" cy="631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170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 принципов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3385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Приносили пользу обществу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Избегали создания или усиления несправедливости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Были безопасными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Были подотчётными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Были прозрачными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Соблюдали конфиденциальность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Избегали разработки технологий, которые могут нанести вред</a:t>
            </a:r>
          </a:p>
        </p:txBody>
      </p:sp>
    </p:spTree>
    <p:extLst>
      <p:ext uri="{BB962C8B-B14F-4D97-AF65-F5344CB8AC3E}">
        <p14:creationId xmlns:p14="http://schemas.microsoft.com/office/powerpoint/2010/main" val="3030648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Примеры реализации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159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TensorFlow Model Analysis (TFMA), What-If Tool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Responsible AI Practices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ru-RU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The most common usages of TensorFlow in python | by Daniel Wu | Medium">
            <a:extLst>
              <a:ext uri="{FF2B5EF4-FFF2-40B4-BE49-F238E27FC236}">
                <a16:creationId xmlns:a16="http://schemas.microsoft.com/office/drawing/2014/main" id="{222F0B38-24EE-45B0-8AA3-164C6645D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921" y="691474"/>
            <a:ext cx="3818095" cy="2147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Google launches &quot;What-if&quot; tool to analyze ML Models without writing any  code : r/compsci">
            <a:extLst>
              <a:ext uri="{FF2B5EF4-FFF2-40B4-BE49-F238E27FC236}">
                <a16:creationId xmlns:a16="http://schemas.microsoft.com/office/drawing/2014/main" id="{4E567B7C-2DF6-4A67-B03E-121B40D6D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250" y="2922588"/>
            <a:ext cx="4851400" cy="272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FB3BE0-3A36-4EC1-90E0-DBA45E5BE83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3900" y="3366466"/>
            <a:ext cx="521208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36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OpenAI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Charter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316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u="sng" dirty="0" err="1">
                <a:solidFill>
                  <a:srgbClr val="0000F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OpenAI</a:t>
            </a:r>
            <a:r>
              <a:rPr lang="ru-RU" sz="1800" u="sng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ru-RU" sz="1800" u="sng" dirty="0" err="1">
                <a:solidFill>
                  <a:srgbClr val="0000F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Charter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это декларация, опубликованная в 2018 году, в которой зафиксированы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миссия, цели и этические обязательства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организации, разработанной изначально как некоммерческая лаборатория (ныне —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capped-profit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организация).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OpenAI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нацелена на то, чтобы максимально безопасно и справедливо использовать достижения ИИ, особенно в условиях возможного создания так называемого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AGI (</a:t>
            </a:r>
            <a:r>
              <a:rPr lang="ru-RU" sz="18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Artificial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General Intelligence)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систем с человеческим уровнем интеллекта.</a:t>
            </a:r>
          </a:p>
        </p:txBody>
      </p:sp>
      <p:pic>
        <p:nvPicPr>
          <p:cNvPr id="10244" name="Picture 4" descr="D] OpenAI Charter : r/MachineLearning">
            <a:extLst>
              <a:ext uri="{FF2B5EF4-FFF2-40B4-BE49-F238E27FC236}">
                <a16:creationId xmlns:a16="http://schemas.microsoft.com/office/drawing/2014/main" id="{A5C4E845-FE8B-472F-9749-E1C3ADD23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800" y="1733549"/>
            <a:ext cx="5017309" cy="262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683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Основные положения хартии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199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ИИ должен служить всему человечеству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Безопасность — приоритет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Открытость и сотрудничество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Отказ от гонки вооружений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Поиск лучших путей регулирования</a:t>
            </a:r>
          </a:p>
        </p:txBody>
      </p:sp>
      <p:pic>
        <p:nvPicPr>
          <p:cNvPr id="12290" name="Picture 2" descr="OpenAI's Charter">
            <a:extLst>
              <a:ext uri="{FF2B5EF4-FFF2-40B4-BE49-F238E27FC236}">
                <a16:creationId xmlns:a16="http://schemas.microsoft.com/office/drawing/2014/main" id="{EA09E34F-8147-4B2A-8359-D054BE54D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1598904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1568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Примеры реализации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307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Публикация исходного кода и исследований (до GPT-3.5).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Интеграция </a:t>
            </a:r>
            <a:r>
              <a:rPr lang="ru-RU" sz="1800" u="sng" dirty="0" err="1">
                <a:solidFill>
                  <a:srgbClr val="0000F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alignment</a:t>
            </a:r>
            <a:r>
              <a:rPr lang="ru-RU" sz="1800" u="sng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ru-RU" sz="1800" u="sng" dirty="0" err="1">
                <a:solidFill>
                  <a:srgbClr val="0000F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research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исследовательская программа по безопасному обучению ИИ.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Создание </a:t>
            </a: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OpenAI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API с возможностью фильтрации, лимитов, запретов на чувствительные темы.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ru-RU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 descr="Superalignment or Superficial? The Disintegration of OpenAI's Ethical Core  | by Sam Vaseghi | AI Advances">
            <a:extLst>
              <a:ext uri="{FF2B5EF4-FFF2-40B4-BE49-F238E27FC236}">
                <a16:creationId xmlns:a16="http://schemas.microsoft.com/office/drawing/2014/main" id="{77B51D36-DB49-4B91-AFF0-129A1993C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025" y="4345937"/>
            <a:ext cx="389572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D5283C-62B7-4029-9C48-8EA18FDC8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889" y="568963"/>
            <a:ext cx="4836061" cy="337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85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Meta Responsible AI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2177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Meta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(бывшая Facebook) разработала собственную стратегию </a:t>
            </a:r>
            <a:r>
              <a:rPr lang="ru-RU" sz="18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Responsible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 AI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основанную не столько на декларативных принципах, сколько на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внедрении инструментов, процессов и проверок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которые помогают выявлять и устранять риски при разработке ИИ-моделей, особенно рекомендательных систем.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B8C3B8-D8DA-4095-9323-B527F11F6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500" y="1335516"/>
            <a:ext cx="4806950" cy="270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23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Основные принципы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2291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Выявление и устранение предвзятости (</a:t>
            </a: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bias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Инклюзивный подход к обучающим данным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Тестирование ИИ перед запуском (</a:t>
            </a: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sandboxing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Обратная связь от пользователей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Публикация открытых инструментов и исследований</a:t>
            </a:r>
          </a:p>
        </p:txBody>
      </p:sp>
    </p:spTree>
    <p:extLst>
      <p:ext uri="{BB962C8B-B14F-4D97-AF65-F5344CB8AC3E}">
        <p14:creationId xmlns:p14="http://schemas.microsoft.com/office/powerpoint/2010/main" val="12399527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Ключевые инструменты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92112" y="1598904"/>
            <a:ext cx="6284809" cy="159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Fairness Flow</a:t>
            </a:r>
            <a:endParaRPr lang="ru-RU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Responsible AI Sandbox</a:t>
            </a:r>
            <a:endParaRPr lang="ru-RU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Inclusive AI Framework</a:t>
            </a:r>
            <a:endParaRPr lang="ru-RU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ru-RU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270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Сравнение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154B10F3-878A-4C2B-9C83-C9D9013F5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833142"/>
              </p:ext>
            </p:extLst>
          </p:nvPr>
        </p:nvGraphicFramePr>
        <p:xfrm>
          <a:off x="1739900" y="1919816"/>
          <a:ext cx="8521700" cy="3677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117">
                  <a:extLst>
                    <a:ext uri="{9D8B030D-6E8A-4147-A177-3AD203B41FA5}">
                      <a16:colId xmlns:a16="http://schemas.microsoft.com/office/drawing/2014/main" val="4052132478"/>
                    </a:ext>
                  </a:extLst>
                </a:gridCol>
                <a:gridCol w="1399117">
                  <a:extLst>
                    <a:ext uri="{9D8B030D-6E8A-4147-A177-3AD203B41FA5}">
                      <a16:colId xmlns:a16="http://schemas.microsoft.com/office/drawing/2014/main" val="3494049192"/>
                    </a:ext>
                  </a:extLst>
                </a:gridCol>
                <a:gridCol w="1399117">
                  <a:extLst>
                    <a:ext uri="{9D8B030D-6E8A-4147-A177-3AD203B41FA5}">
                      <a16:colId xmlns:a16="http://schemas.microsoft.com/office/drawing/2014/main" val="4063358795"/>
                    </a:ext>
                  </a:extLst>
                </a:gridCol>
                <a:gridCol w="1399117">
                  <a:extLst>
                    <a:ext uri="{9D8B030D-6E8A-4147-A177-3AD203B41FA5}">
                      <a16:colId xmlns:a16="http://schemas.microsoft.com/office/drawing/2014/main" val="596147825"/>
                    </a:ext>
                  </a:extLst>
                </a:gridCol>
                <a:gridCol w="1452032">
                  <a:extLst>
                    <a:ext uri="{9D8B030D-6E8A-4147-A177-3AD203B41FA5}">
                      <a16:colId xmlns:a16="http://schemas.microsoft.com/office/drawing/2014/main" val="612600788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4288587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Компания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 / Модель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Публичность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Реализация на практике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Проблемы и критика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5250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Google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Principles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Этический кодекс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Инструменты, обучение, тестирование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Формальный подход, несостоявшийся ATEAC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05359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OpenAI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u="sng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OpenAI Charter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Хартия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Очень высокая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Модели, публикации, ограничения API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Разрыв между декларацией и практикой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7498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Meta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Responsible AI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Практический подход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Умеренная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Автоматические проверки,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fairness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tools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Конфликт интересов, репутационные риски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301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7379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Оценка ИИ не только по метрикам, но и по последствиям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732254"/>
            <a:ext cx="6284809" cy="297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Когда мы говорим об оценке эффективности систем искусственного интеллекта, на первый план чаще всего выходят количественные метрики: точность (</a:t>
            </a: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accuracy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), полнота (</a:t>
            </a: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recall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), F1-мера, ROC-AUC, MAE и т.д. 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Это удобные и формализованные способы измерения качества модели. 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Однако в последние годы становится всё более очевидным, что одних только чисел недостаточно.</a:t>
            </a:r>
          </a:p>
        </p:txBody>
      </p:sp>
    </p:spTree>
    <p:extLst>
      <p:ext uri="{BB962C8B-B14F-4D97-AF65-F5344CB8AC3E}">
        <p14:creationId xmlns:p14="http://schemas.microsoft.com/office/powerpoint/2010/main" val="3200071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218814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Почему традиционные метрики недостаточны?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5A41D32-482C-49D8-A6B9-7BEB7F43551E}"/>
              </a:ext>
            </a:extLst>
          </p:cNvPr>
          <p:cNvSpPr/>
          <p:nvPr/>
        </p:nvSpPr>
        <p:spPr>
          <a:xfrm>
            <a:off x="552450" y="2362200"/>
            <a:ext cx="3225800" cy="177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Проблема 1: метрики не отражают социальный контекст</a:t>
            </a:r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DC09ABD-DCFF-4510-872A-57D5C743E63F}"/>
              </a:ext>
            </a:extLst>
          </p:cNvPr>
          <p:cNvSpPr/>
          <p:nvPr/>
        </p:nvSpPr>
        <p:spPr>
          <a:xfrm>
            <a:off x="4425950" y="2366677"/>
            <a:ext cx="3225800" cy="1778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Проблема 2: бизнес-метрики игнорируют побочные эффекты</a:t>
            </a:r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C5EDB70-B0F0-4F5D-AA28-F154FAFEB03D}"/>
              </a:ext>
            </a:extLst>
          </p:cNvPr>
          <p:cNvSpPr/>
          <p:nvPr/>
        </p:nvSpPr>
        <p:spPr>
          <a:xfrm>
            <a:off x="8299450" y="2362200"/>
            <a:ext cx="3225800" cy="17780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Проблема 3: нет учёта уязвимых групп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1973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Оценка по последствиям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732254"/>
            <a:ext cx="4054475" cy="1880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Это подход, при котором эффективность ИИ измеряется не только по внутренним метрикам модели, но и по её влиянию на людей, общество и окружающую среду.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3E2C22-94C5-448B-B2EA-253385FE7453}"/>
              </a:ext>
            </a:extLst>
          </p:cNvPr>
          <p:cNvSpPr txBox="1"/>
          <p:nvPr/>
        </p:nvSpPr>
        <p:spPr>
          <a:xfrm>
            <a:off x="5461000" y="1732254"/>
            <a:ext cx="6096000" cy="4135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Вопросы, которые задаёт оценка последствий: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Какие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социальные изменения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вызывает использование ИИ?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Как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реагируют разные группы пользователей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?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 усиливает ли ИИ уже существующее неравенство?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Какие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непредвиденные эффекты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появляются после внедрения?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Кто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несёт ответственность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если модель привела к вреду?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48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Методы оценки последствий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732254"/>
            <a:ext cx="6284809" cy="2291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AI Impact Assessment (оценка воздействия ИИ)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AutoNum type="arabicPeriod"/>
              <a:tabLst>
                <a:tab pos="457200" algn="l"/>
              </a:tabLst>
            </a:pP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Контрфактический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анализ (</a:t>
            </a:r>
            <a:r>
              <a:rPr lang="en-US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Counterfactual Analysis)</a:t>
            </a:r>
            <a:endParaRPr lang="ru-RU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AutoNum type="arabicPeriod"/>
              <a:tabLst>
                <a:tab pos="457200" algn="l"/>
              </a:tabLst>
            </a:pPr>
            <a:r>
              <a:rPr lang="en-US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What-if Scenarios (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сценарный анализ)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Этические и социальные аудиты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AutoNum type="arabicPeriod"/>
              <a:tabLst>
                <a:tab pos="457200" algn="l"/>
              </a:tabLs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Обратная связь от пользователей</a:t>
            </a:r>
          </a:p>
        </p:txBody>
      </p:sp>
      <p:pic>
        <p:nvPicPr>
          <p:cNvPr id="15362" name="Picture 2" descr="An In-Depth Guide To Audit AI Models">
            <a:extLst>
              <a:ext uri="{FF2B5EF4-FFF2-40B4-BE49-F238E27FC236}">
                <a16:creationId xmlns:a16="http://schemas.microsoft.com/office/drawing/2014/main" id="{7501F615-1622-4C95-99A3-E993254D9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3905250"/>
            <a:ext cx="5905500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What-if Scenarios Tool - Naukri Code 360">
            <a:extLst>
              <a:ext uri="{FF2B5EF4-FFF2-40B4-BE49-F238E27FC236}">
                <a16:creationId xmlns:a16="http://schemas.microsoft.com/office/drawing/2014/main" id="{C07B85E6-D05E-4946-B828-854F97504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454" y="825500"/>
            <a:ext cx="4898571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Тренинг по навыкам обратной связи | Корпоративное обучение руководителей">
            <a:extLst>
              <a:ext uri="{FF2B5EF4-FFF2-40B4-BE49-F238E27FC236}">
                <a16:creationId xmlns:a16="http://schemas.microsoft.com/office/drawing/2014/main" id="{FA13DDB5-D0C6-431D-9F09-18944B731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0" y="4309603"/>
            <a:ext cx="4485034" cy="2262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4973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 оценки последствий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732254"/>
            <a:ext cx="6284809" cy="2484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Twitter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(X) провёл этический аудит алгоритмов обрезки изображений.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Проблема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алгоритм чаще выбирал лица белых мужчин при </a:t>
            </a: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кропе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dirty="0">
                <a:solidFill>
                  <a:srgbClr val="00B05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Решение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запуск баг-</a:t>
            </a:r>
            <a:r>
              <a:rPr lang="ru-RU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баунти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на выявление предвзятости и последующая замена системы.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ru-RU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386" name="Picture 2" descr="Twitter becomes &quot;X&quot;: stakes and symbolism of Elon Musk's new logo">
            <a:extLst>
              <a:ext uri="{FF2B5EF4-FFF2-40B4-BE49-F238E27FC236}">
                <a16:creationId xmlns:a16="http://schemas.microsoft.com/office/drawing/2014/main" id="{EC533BB7-0044-4C63-B7E4-BFF160AD5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063" y="1732254"/>
            <a:ext cx="5653087" cy="318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57D898-F459-4751-8EBF-94B898C5E83F}"/>
              </a:ext>
            </a:extLst>
          </p:cNvPr>
          <p:cNvSpPr txBox="1"/>
          <p:nvPr/>
        </p:nvSpPr>
        <p:spPr>
          <a:xfrm>
            <a:off x="552450" y="5365750"/>
            <a:ext cx="181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4"/>
              </a:rPr>
              <a:t>Статья на </a:t>
            </a:r>
            <a:r>
              <a:rPr lang="ru-RU" dirty="0" err="1">
                <a:hlinkClick r:id="rId4"/>
              </a:rPr>
              <a:t>хабр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4818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Почему это важно для корпоративной ответственности?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732254"/>
            <a:ext cx="6284809" cy="159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Юридические риски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Доверие пользователей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Снижение репутационных издержек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Превентивная этика (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ethics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by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design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7410" name="Picture 2" descr="КОРПОРАТИВНАЯ СОЦИАЛЬНАЯ ОТВЕТСТВЕННОСТЬ: Ваш бизнес с этической точки  зрения. От необходимости к призванию - Giannantonio Negretti">
            <a:extLst>
              <a:ext uri="{FF2B5EF4-FFF2-40B4-BE49-F238E27FC236}">
                <a16:creationId xmlns:a16="http://schemas.microsoft.com/office/drawing/2014/main" id="{B35BB75E-1045-4350-998E-0DEAB6C83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50" y="1860213"/>
            <a:ext cx="6020373" cy="333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2500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0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97227" y="3263386"/>
            <a:ext cx="6710373" cy="109322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 algn="ctr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2. Регуляторные подходы</a:t>
            </a:r>
            <a:b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012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ru-RU" sz="4000" dirty="0">
                <a:hlinkClick r:id="rId3"/>
              </a:rPr>
              <a:t>AI Act </a:t>
            </a:r>
            <a:r>
              <a:rPr lang="ru-RU" sz="4000" dirty="0"/>
              <a:t>(Закон об искусственном интеллекте ЕС)</a:t>
            </a:r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— первый в мире всеобъемлющий закон, направленный на регулирование систем ИИ. Он разработан Европейским Союзом и официально одобрен Европарламентом в 2024 году. 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2260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Цели 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AI Act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732254"/>
            <a:ext cx="6284809" cy="2484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Защитить фундаментальные права граждан ЕС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Обеспечить этичную и безопасную разработку ИИ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Содействовать инновациям путём прозрачных правил игры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Гармонизировать законодательство по ИИ внутри ЕС</a:t>
            </a:r>
          </a:p>
        </p:txBody>
      </p:sp>
      <p:pic>
        <p:nvPicPr>
          <p:cNvPr id="18434" name="Picture 2" descr="Регламент ЕC об Искусственном Интеллекте | OpenCode.md">
            <a:extLst>
              <a:ext uri="{FF2B5EF4-FFF2-40B4-BE49-F238E27FC236}">
                <a16:creationId xmlns:a16="http://schemas.microsoft.com/office/drawing/2014/main" id="{469050F0-D2D1-4C77-BD24-8C76C3611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644650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3048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Классификация ИИ по уровню риска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120B7432-52F6-46B8-92E9-995D0AA0A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346545"/>
              </p:ext>
            </p:extLst>
          </p:nvPr>
        </p:nvGraphicFramePr>
        <p:xfrm>
          <a:off x="1784350" y="1900766"/>
          <a:ext cx="8127999" cy="4019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63890891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3308110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958912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Уровень риска</a:t>
                      </a:r>
                      <a:endParaRPr lang="ru-RU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Примеры</a:t>
                      </a:r>
                      <a:endParaRPr lang="ru-RU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Регуляторные меры</a:t>
                      </a:r>
                      <a:endParaRPr lang="ru-RU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3987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Запрещённый ИИ</a:t>
                      </a: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400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Unacceptable</a:t>
                      </a: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risk</a:t>
                      </a: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Манипулятивные техники, социальный скоринг, массовый биометрический надзор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Полный запрет</a:t>
                      </a:r>
                      <a:endParaRPr lang="ru-RU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5882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Высокий риск</a:t>
                      </a:r>
                      <a:r>
                        <a:rPr lang="ru-RU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(High risk)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Системы в здравоохранении, образовании, банковской сфере, полиции, правосудии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Обязательные оценки рисков, документация, аудит, мониторинг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94724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Ограниченный риск</a:t>
                      </a:r>
                      <a:r>
                        <a:rPr lang="ru-RU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(Limited risk)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Чат-боты, генеративный ИИ (</a:t>
                      </a:r>
                      <a:r>
                        <a:rPr lang="ru-RU" sz="1400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ChatGPT</a:t>
                      </a: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и др.)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Обязательство </a:t>
                      </a:r>
                      <a:r>
                        <a:rPr lang="ru-RU" sz="14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разоблачения</a:t>
                      </a:r>
                      <a:r>
                        <a:rPr lang="ru-RU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(disclosure) – пользователи должны знать, что взаимодействуют с ИИ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89937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Минимальный риск</a:t>
                      </a:r>
                      <a:r>
                        <a:rPr lang="ru-RU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(Minimal risk)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Спам-фильтры, рекомендательные системы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Свобода использования, </a:t>
                      </a:r>
                      <a:r>
                        <a:rPr lang="ru-RU" sz="1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без регулирования</a:t>
                      </a:r>
                      <a:endParaRPr lang="ru-RU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81658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2553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155575" y="424154"/>
            <a:ext cx="5038725" cy="314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Обязанности для разработчиков и поставщиков: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Ведение </a:t>
            </a: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технической документации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 логов.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Назначение </a:t>
            </a: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уполномоченного лица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по ИИ (AI </a:t>
            </a:r>
            <a:r>
              <a:rPr lang="ru-RU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compliance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officer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Проведение </a:t>
            </a: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оценки соответствия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 маркировки CE для ИИ-продукта.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Мониторинг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модели в </a:t>
            </a:r>
            <a:r>
              <a:rPr lang="ru-RU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продакшне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 </a:t>
            </a: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упреждающий контроль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938377-EC4D-4E8A-9B72-7B8F1A3648F7}"/>
              </a:ext>
            </a:extLst>
          </p:cNvPr>
          <p:cNvSpPr txBox="1"/>
          <p:nvPr/>
        </p:nvSpPr>
        <p:spPr>
          <a:xfrm>
            <a:off x="5524500" y="424154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Особенности в отношении </a:t>
            </a:r>
            <a:r>
              <a:rPr lang="ru-RU" sz="1600" b="1" dirty="0" err="1">
                <a:latin typeface="Verdana" panose="020B0604030504040204" pitchFamily="34" charset="0"/>
                <a:ea typeface="Verdana" panose="020B0604030504040204" pitchFamily="34" charset="0"/>
              </a:rPr>
              <a:t>Generative</a:t>
            </a: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 AI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Системы вроде GPT, DALL·E и др. обязаны: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помечать сгенерированный контент;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публиковать данные об обучающих корпусах;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обеспечивать защиту авторских прав;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документировать механизмы безопасности (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alignment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filters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BFB770-3BFF-44D2-B554-9915B56EDB61}"/>
              </a:ext>
            </a:extLst>
          </p:cNvPr>
          <p:cNvSpPr txBox="1"/>
          <p:nvPr/>
        </p:nvSpPr>
        <p:spPr>
          <a:xfrm>
            <a:off x="5524500" y="3284771"/>
            <a:ext cx="6096000" cy="1591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Санкции: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Штрафы до </a:t>
            </a: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35 млн евро или 7% годового оборота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в зависимости от серьёзности нарушения.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Возможность </a:t>
            </a:r>
            <a:r>
              <a:rPr lang="ru-RU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приостановки внедрения модели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16370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sz="3200" dirty="0"/>
              <a:t>Принципы ЮНЕСКО по этике ИИ (</a:t>
            </a:r>
            <a:r>
              <a:rPr lang="en-US" sz="3200" dirty="0">
                <a:hlinkClick r:id="rId3"/>
              </a:rPr>
              <a:t>UNESCO Recommendation on the Ethics of Artificial Intelligence</a:t>
            </a:r>
            <a:r>
              <a:rPr lang="en-US" sz="3200" dirty="0"/>
              <a:t>)</a:t>
            </a:r>
            <a:endParaRPr lang="ru-RU" sz="3200" dirty="0"/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Приняты в ноябре 2021 года 193 странами-членами ЮНЕСКО, включая Россию, Индию, Китай, США. Это первый глобальный этический документ, призванный служить моральной основой и политическим ориентиром для национального и корпоративного регулирования в сфере ИИ.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8643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Основные принципы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732254"/>
            <a:ext cx="6284809" cy="2393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1. Человеческое достоинство и права человека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2. Этическая устойчивость (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Ethical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sustainability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3. Разнообразие и недискриминация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4. Прозрачность и объяснимость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5. Ответственность и подотчётность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6. Открытый доступ и общие блага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525D39C1-F7E9-4518-A4CE-B0E324FE0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5" y="1403350"/>
            <a:ext cx="344805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7074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Сравнительная таблица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3DA9BF33-85F1-49DD-A8FC-B60605A19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79084"/>
              </p:ext>
            </p:extLst>
          </p:nvPr>
        </p:nvGraphicFramePr>
        <p:xfrm>
          <a:off x="1841500" y="1615016"/>
          <a:ext cx="8128000" cy="4158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718248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494824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0806173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3720885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47181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Документ</a:t>
                      </a:r>
                      <a:endParaRPr lang="ru-RU" sz="16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Характер</a:t>
                      </a:r>
                      <a:endParaRPr lang="ru-RU" sz="16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Обязателен?</a:t>
                      </a:r>
                      <a:endParaRPr lang="ru-RU" sz="16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Уровень охвата</a:t>
                      </a:r>
                      <a:endParaRPr lang="ru-RU" sz="16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Основной фокус</a:t>
                      </a:r>
                      <a:endParaRPr lang="ru-RU" sz="16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120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AI Act (ЕС)</a:t>
                      </a:r>
                      <a:endParaRPr lang="ru-RU" sz="16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Закон ЕС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Европа + поставщики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Риск-ориентированное регулирование ИИ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76694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GDPR</a:t>
                      </a:r>
                      <a:endParaRPr lang="ru-RU" sz="16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Закон ЕС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Все, кто обрабатывает данные граждан ЕС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Защита персональных данных и автоматизация решений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36065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UNESCO Principles</a:t>
                      </a:r>
                      <a:endParaRPr lang="ru-RU" sz="16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Этическая хартия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Глобальный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Этические ориентиры и права человека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44241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5572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BCEFA7F-D2AE-4398-AA55-B056C5681C01}"/>
              </a:ext>
            </a:extLst>
          </p:cNvPr>
          <p:cNvSpPr/>
          <p:nvPr/>
        </p:nvSpPr>
        <p:spPr>
          <a:xfrm>
            <a:off x="1987550" y="349250"/>
            <a:ext cx="2044700" cy="50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 law</a:t>
            </a:r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7D24231-9AB2-4FB4-AFAE-4FB57ECF3ABE}"/>
              </a:ext>
            </a:extLst>
          </p:cNvPr>
          <p:cNvSpPr/>
          <p:nvPr/>
        </p:nvSpPr>
        <p:spPr>
          <a:xfrm>
            <a:off x="7448550" y="349250"/>
            <a:ext cx="2044700" cy="508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Soft law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7B097CA-1AF0-47AB-82F7-E2D18E02788C}"/>
              </a:ext>
            </a:extLst>
          </p:cNvPr>
          <p:cNvSpPr/>
          <p:nvPr/>
        </p:nvSpPr>
        <p:spPr>
          <a:xfrm>
            <a:off x="738187" y="1174750"/>
            <a:ext cx="4543425" cy="32448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Это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обязательные к исполнению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юридические нормы, законы, регламенты, принятые официальными государственными или наднациональными органами власти.</a:t>
            </a:r>
            <a:b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Нарушение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влечёт юридическую ответственность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включая санкции, запреты, штрафы или судебные иски.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AECF414-8273-4A18-B53D-180A4E39DC32}"/>
              </a:ext>
            </a:extLst>
          </p:cNvPr>
          <p:cNvSpPr/>
          <p:nvPr/>
        </p:nvSpPr>
        <p:spPr>
          <a:xfrm>
            <a:off x="6199187" y="1174750"/>
            <a:ext cx="4543425" cy="32448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Это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необязательные нормы, руководства, декларации и стандарты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принятые организациями, ассоциациями, академическим или корпоративным сообществом.</a:t>
            </a:r>
            <a:b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Нарушение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 влечёт прямой юридической ответственности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но может вызвать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репутационные, экономические или политические последствия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Прямоугольник: скругленные противолежащие углы 7">
            <a:extLst>
              <a:ext uri="{FF2B5EF4-FFF2-40B4-BE49-F238E27FC236}">
                <a16:creationId xmlns:a16="http://schemas.microsoft.com/office/drawing/2014/main" id="{B8C0B7EC-8196-4F38-AE82-CA2F65914FC8}"/>
              </a:ext>
            </a:extLst>
          </p:cNvPr>
          <p:cNvSpPr/>
          <p:nvPr/>
        </p:nvSpPr>
        <p:spPr>
          <a:xfrm>
            <a:off x="1416050" y="4953000"/>
            <a:ext cx="3492500" cy="1555750"/>
          </a:xfrm>
          <a:prstGeom prst="round2Diag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Примеры: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Act (</a:t>
            </a:r>
            <a:r>
              <a:rPr lang="ru-RU" dirty="0"/>
              <a:t>ЕС)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GDPR</a:t>
            </a:r>
            <a:endParaRPr lang="ru-RU" dirty="0"/>
          </a:p>
          <a:p>
            <a:pPr algn="ctr"/>
            <a:endParaRPr lang="ru-RU" dirty="0"/>
          </a:p>
        </p:txBody>
      </p:sp>
      <p:sp>
        <p:nvSpPr>
          <p:cNvPr id="15" name="Прямоугольник: скругленные противолежащие углы 14">
            <a:extLst>
              <a:ext uri="{FF2B5EF4-FFF2-40B4-BE49-F238E27FC236}">
                <a16:creationId xmlns:a16="http://schemas.microsoft.com/office/drawing/2014/main" id="{8F2C4DD3-552A-4DB9-9E81-E169FFB8E2CD}"/>
              </a:ext>
            </a:extLst>
          </p:cNvPr>
          <p:cNvSpPr/>
          <p:nvPr/>
        </p:nvSpPr>
        <p:spPr>
          <a:xfrm>
            <a:off x="6902450" y="4953000"/>
            <a:ext cx="3492500" cy="1555750"/>
          </a:xfrm>
          <a:prstGeom prst="round2Diag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Примеры: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OpenAI</a:t>
            </a:r>
            <a:r>
              <a:rPr lang="en-US" dirty="0"/>
              <a:t> Charter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Принципы ЮНЕСКО по этике 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Google AI Principles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86288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Сравнительная таблица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20DD765D-1F75-4DA3-9587-15033FC1D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915561"/>
              </p:ext>
            </p:extLst>
          </p:nvPr>
        </p:nvGraphicFramePr>
        <p:xfrm>
          <a:off x="1892300" y="1335616"/>
          <a:ext cx="8127999" cy="5043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796426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9618091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786925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Характеристика</a:t>
                      </a:r>
                      <a:endParaRPr lang="ru-RU" sz="16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Hard Law</a:t>
                      </a:r>
                      <a:endParaRPr lang="ru-RU" sz="16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Soft Law</a:t>
                      </a:r>
                      <a:endParaRPr lang="ru-RU" sz="16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10096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Юридическая сила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Обязателен к исполнению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Добровательный / рекомендательный характер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7716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Принцип действия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Принцип </a:t>
                      </a:r>
                      <a:r>
                        <a:rPr lang="ru-RU" sz="16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команды и контроля</a:t>
                      </a:r>
                      <a:endParaRPr lang="ru-RU" sz="16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Принцип </a:t>
                      </a:r>
                      <a:r>
                        <a:rPr lang="ru-RU" sz="16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убеждения и мотивации</a:t>
                      </a:r>
                      <a:endParaRPr lang="ru-RU" sz="16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71821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Санкции за нарушения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Да (штрафы, суд, запреты)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Нет прямых санкций, но возможна утрата доверия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63352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Принятие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Через парламент, регуляторы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Через сообщества, компании, международные организации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1967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Адаптивность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Жёсткая, меняется медленно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Гибкая, быстро адаптируется под вызовы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16456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Примеры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AI Act, GDPR, национальные законы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Unesco</a:t>
                      </a:r>
                      <a:r>
                        <a:rPr lang="en-US" sz="16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AI Principles, </a:t>
                      </a:r>
                      <a:r>
                        <a:rPr lang="en-US" sz="1600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OpenAI</a:t>
                      </a:r>
                      <a:r>
                        <a:rPr lang="en-US" sz="16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Charter, </a:t>
                      </a:r>
                      <a:r>
                        <a:rPr lang="ru-RU" sz="16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стандарты</a:t>
                      </a:r>
                      <a:r>
                        <a:rPr lang="en-US" sz="16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ISO</a:t>
                      </a:r>
                      <a:endParaRPr lang="ru-RU" sz="16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39183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38927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Плюсы и минусы каждого подхода</a:t>
            </a:r>
            <a:b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6BFE4D9-D7D7-4109-B85B-5BEB81C215E6}"/>
              </a:ext>
            </a:extLst>
          </p:cNvPr>
          <p:cNvSpPr/>
          <p:nvPr/>
        </p:nvSpPr>
        <p:spPr>
          <a:xfrm>
            <a:off x="672880" y="1248568"/>
            <a:ext cx="2344737" cy="52451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Плюсы </a:t>
            </a:r>
            <a:r>
              <a:rPr lang="en-US" dirty="0"/>
              <a:t>Hard law</a:t>
            </a:r>
            <a:r>
              <a:rPr lang="ru-RU" dirty="0"/>
              <a:t>: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Юридическая определённость </a:t>
            </a:r>
          </a:p>
          <a:p>
            <a:endParaRPr lang="ru-RU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ru-RU" dirty="0"/>
              <a:t>Принудительное исполнение</a:t>
            </a:r>
          </a:p>
          <a:p>
            <a:endParaRPr lang="ru-RU" dirty="0"/>
          </a:p>
          <a:p>
            <a:r>
              <a:rPr lang="ru-RU" dirty="0"/>
              <a:t>+ Защита прав граждан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78AE5C-2340-4FCB-93AC-F1D9FEA2728E}"/>
              </a:ext>
            </a:extLst>
          </p:cNvPr>
          <p:cNvSpPr/>
          <p:nvPr/>
        </p:nvSpPr>
        <p:spPr>
          <a:xfrm>
            <a:off x="3017618" y="1248568"/>
            <a:ext cx="2344737" cy="52451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Минусы</a:t>
            </a:r>
            <a:r>
              <a:rPr lang="en-US" dirty="0"/>
              <a:t> Hard law</a:t>
            </a:r>
            <a:r>
              <a:rPr lang="ru-RU" dirty="0"/>
              <a:t>: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marL="285750" indent="-285750">
              <a:buFontTx/>
              <a:buChar char="-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Медленная адаптация</a:t>
            </a:r>
          </a:p>
          <a:p>
            <a:pPr marL="285750" indent="-285750">
              <a:buFontTx/>
              <a:buChar char="-"/>
            </a:pPr>
            <a:endParaRPr lang="ru-RU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Переусложнение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регулирования</a:t>
            </a:r>
          </a:p>
          <a:p>
            <a:pPr marL="285750" indent="-285750">
              <a:buFontTx/>
              <a:buChar char="-"/>
            </a:pPr>
            <a:endParaRPr lang="ru-RU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Риск зарегулирования</a:t>
            </a:r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4945342-C5CD-41A2-8980-FCCAFC973878}"/>
              </a:ext>
            </a:extLst>
          </p:cNvPr>
          <p:cNvSpPr/>
          <p:nvPr/>
        </p:nvSpPr>
        <p:spPr>
          <a:xfrm>
            <a:off x="6804599" y="1248568"/>
            <a:ext cx="2344737" cy="52451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Плюсы </a:t>
            </a:r>
            <a:r>
              <a:rPr lang="en-US" dirty="0"/>
              <a:t>Soft law</a:t>
            </a:r>
            <a:r>
              <a:rPr lang="ru-RU" dirty="0"/>
              <a:t>: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Гибкость</a:t>
            </a:r>
          </a:p>
          <a:p>
            <a:endParaRPr lang="ru-RU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ru-RU" dirty="0"/>
              <a:t>Подходит для саморегуляции</a:t>
            </a:r>
          </a:p>
          <a:p>
            <a:endParaRPr lang="ru-RU" dirty="0"/>
          </a:p>
          <a:p>
            <a:r>
              <a:rPr lang="ru-RU" dirty="0"/>
              <a:t>+ Вдохновляет доверие и этическое лидерство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E9ECB29-08A6-448C-9D55-9255E5BA9D50}"/>
              </a:ext>
            </a:extLst>
          </p:cNvPr>
          <p:cNvSpPr/>
          <p:nvPr/>
        </p:nvSpPr>
        <p:spPr>
          <a:xfrm>
            <a:off x="9149337" y="1248568"/>
            <a:ext cx="2344737" cy="52451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Минусы</a:t>
            </a:r>
            <a:r>
              <a:rPr lang="en-US" dirty="0"/>
              <a:t> Soft law</a:t>
            </a:r>
            <a:r>
              <a:rPr lang="ru-RU" dirty="0"/>
              <a:t>: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marL="285750" indent="-285750">
              <a:buFontTx/>
              <a:buChar char="-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Отсутствие юридической силы</a:t>
            </a:r>
          </a:p>
          <a:p>
            <a:pPr marL="285750" indent="-285750">
              <a:buFontTx/>
              <a:buChar char="-"/>
            </a:pPr>
            <a:endParaRPr lang="ru-RU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Может быть инструментом PR, а не реальной ответственности</a:t>
            </a:r>
          </a:p>
          <a:p>
            <a:pPr marL="285750" indent="-285750">
              <a:buFontTx/>
              <a:buChar char="-"/>
            </a:pPr>
            <a:endParaRPr lang="ru-RU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Неравномерное применение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75482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sz="3200" dirty="0"/>
              <a:t>Этическая лицензия для разработчиков ИИ</a:t>
            </a:r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800" dirty="0"/>
              <a:t>— документ (или модель соглашения), который регулирует условия использования, распространения и внедрения систем ИИ, опираясь не только на юридические, но и на этические принципы.</a:t>
            </a: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8975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Цели введения этических лицензий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325060"/>
            <a:ext cx="6284809" cy="436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Превентивная защита от вредного использования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ИИ (намеренного или случайного).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Формирование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профессиональной этической культуры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среди разработчиков.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Обеспечение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прозрачности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намерений и допустимых сфер применения.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Создание механизмов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ограниченного доступа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 опасным или чувствительным ИИ-системам (AGI, LLM, биоинформатика, оружие, наблюдение и др.).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Поддержка </a:t>
            </a:r>
            <a:r>
              <a:rPr lang="ru-RU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общественного доверия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 ИИ-проектам через сертификацию и верификацию.</a:t>
            </a:r>
          </a:p>
        </p:txBody>
      </p:sp>
    </p:spTree>
    <p:extLst>
      <p:ext uri="{BB962C8B-B14F-4D97-AF65-F5344CB8AC3E}">
        <p14:creationId xmlns:p14="http://schemas.microsoft.com/office/powerpoint/2010/main" val="15925686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Примеры существующих этических лицензий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703679"/>
            <a:ext cx="6284809" cy="4878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RAIL — 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3"/>
              </a:rPr>
              <a:t>Responsible AI License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Разработана в 2021 году исследователями из 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Berkman Klein Center 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Гарварде.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4"/>
              </a:rPr>
              <a:t>Hippocratic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4"/>
              </a:rPr>
              <a:t>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hlinkClick r:id="rId4"/>
              </a:rPr>
              <a:t>License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Названа в честь </a:t>
            </a: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Гиппократовой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клятвы: «не навреди».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Community Licenses </a:t>
            </a:r>
            <a:r>
              <a:rPr lang="en-US" sz="1800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</a:t>
            </a:r>
            <a:r>
              <a:rPr lang="en-US" sz="18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Hugging Face</a:t>
            </a:r>
            <a:endParaRPr lang="ru-RU" sz="1800" b="1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ru-RU" sz="18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Hugging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Face предоставляет модели с вариативными лицензиями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15FFA6-42DB-406E-9DD4-EDEB33781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6251" y="1703679"/>
            <a:ext cx="4379797" cy="12241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6BA342-2A5E-415A-B8EF-2CBB895479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244" y="3500016"/>
            <a:ext cx="4992777" cy="180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7272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Механизмы реализации и контроля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325060"/>
            <a:ext cx="6284809" cy="119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Лицензия на модель / API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Этические соглашения с разработчиками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Сертификация разработчиков</a:t>
            </a:r>
          </a:p>
        </p:txBody>
      </p:sp>
      <p:pic>
        <p:nvPicPr>
          <p:cNvPr id="20482" name="Picture 2" descr="Реестр лицензий">
            <a:extLst>
              <a:ext uri="{FF2B5EF4-FFF2-40B4-BE49-F238E27FC236}">
                <a16:creationId xmlns:a16="http://schemas.microsoft.com/office/drawing/2014/main" id="{1564AEB8-7EF7-4C4E-9EEC-FCD3BA1AF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100" y="1732253"/>
            <a:ext cx="5495925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533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8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"/>
              <a:t>Спасибо </a:t>
            </a:r>
            <a:endParaRPr/>
          </a:p>
          <a:p>
            <a:r>
              <a:rPr lang="ru"/>
              <a:t>за внимание!</a:t>
            </a:r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CB1E79-FFD8-4DD7-A906-B49D900FA338}"/>
              </a:ext>
            </a:extLst>
          </p:cNvPr>
          <p:cNvSpPr/>
          <p:nvPr/>
        </p:nvSpPr>
        <p:spPr>
          <a:xfrm>
            <a:off x="7854950" y="234300"/>
            <a:ext cx="4210050" cy="851550"/>
          </a:xfrm>
          <a:prstGeom prst="rect">
            <a:avLst/>
          </a:prstGeom>
          <a:solidFill>
            <a:srgbClr val="B4E915"/>
          </a:solidFill>
          <a:ln>
            <a:solidFill>
              <a:srgbClr val="B4E9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2229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4487</TotalTime>
  <Words>1871</Words>
  <Application>Microsoft Office PowerPoint</Application>
  <PresentationFormat>Широкоэкранный</PresentationFormat>
  <Paragraphs>338</Paragraphs>
  <Slides>49</Slides>
  <Notes>46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7" baseType="lpstr">
      <vt:lpstr>Arial</vt:lpstr>
      <vt:lpstr>Calibri</vt:lpstr>
      <vt:lpstr>Calibri Light</vt:lpstr>
      <vt:lpstr>Montserrat</vt:lpstr>
      <vt:lpstr>Symbol</vt:lpstr>
      <vt:lpstr>Times New Roman</vt:lpstr>
      <vt:lpstr>Verdana</vt:lpstr>
      <vt:lpstr>Тема Office</vt:lpstr>
      <vt:lpstr>Этика Искусственного Интеллекта </vt:lpstr>
      <vt:lpstr>План занятия</vt:lpstr>
      <vt:lpstr>1. Модели корпоративной ответственности </vt:lpstr>
      <vt:lpstr>Этические комитеты по ИИ (AI Ethics Committees)</vt:lpstr>
      <vt:lpstr>Основные задачи</vt:lpstr>
      <vt:lpstr>Состав комитета</vt:lpstr>
      <vt:lpstr>Проблемы и ограничения</vt:lpstr>
      <vt:lpstr>Лучшая практика</vt:lpstr>
      <vt:lpstr>AI Governance (управление ИИ в организации)</vt:lpstr>
      <vt:lpstr>Компоненты системы</vt:lpstr>
      <vt:lpstr>Цели</vt:lpstr>
      <vt:lpstr>Презентация PowerPoint</vt:lpstr>
      <vt:lpstr>Code of Ethics (кодекс этики ИИ)</vt:lpstr>
      <vt:lpstr>Структура кодекса этики</vt:lpstr>
      <vt:lpstr>Функции кодекса</vt:lpstr>
      <vt:lpstr>Примеры внедрения</vt:lpstr>
      <vt:lpstr>Примеры моделей корпоративной ответственности в ИИ</vt:lpstr>
      <vt:lpstr>Google AI Principles</vt:lpstr>
      <vt:lpstr>Содержание принципов</vt:lpstr>
      <vt:lpstr>Примеры реализации</vt:lpstr>
      <vt:lpstr>OpenAI Charter</vt:lpstr>
      <vt:lpstr>Основные положения хартии</vt:lpstr>
      <vt:lpstr>Примеры реализации</vt:lpstr>
      <vt:lpstr>Meta Responsible AI</vt:lpstr>
      <vt:lpstr>Основные принципы</vt:lpstr>
      <vt:lpstr>Ключевые инструменты</vt:lpstr>
      <vt:lpstr>Сравнение</vt:lpstr>
      <vt:lpstr>Оценка ИИ не только по метрикам, но и по последствиям</vt:lpstr>
      <vt:lpstr>Почему традиционные метрики недостаточны?</vt:lpstr>
      <vt:lpstr>Оценка по последствиям</vt:lpstr>
      <vt:lpstr>Методы оценки последствий</vt:lpstr>
      <vt:lpstr>Пример оценки последствий</vt:lpstr>
      <vt:lpstr>Почему это важно для корпоративной ответственности?</vt:lpstr>
      <vt:lpstr>2. Регуляторные подходы </vt:lpstr>
      <vt:lpstr>AI Act (Закон об искусственном интеллекте ЕС)</vt:lpstr>
      <vt:lpstr>Цели AI Act</vt:lpstr>
      <vt:lpstr>Классификация ИИ по уровню риска</vt:lpstr>
      <vt:lpstr>Презентация PowerPoint</vt:lpstr>
      <vt:lpstr>Принципы ЮНЕСКО по этике ИИ (UNESCO Recommendation on the Ethics of Artificial Intelligence)</vt:lpstr>
      <vt:lpstr>Основные принципы</vt:lpstr>
      <vt:lpstr>Сравнительная таблица</vt:lpstr>
      <vt:lpstr>Презентация PowerPoint</vt:lpstr>
      <vt:lpstr>Сравнительная таблица</vt:lpstr>
      <vt:lpstr>Плюсы и минусы каждого подхода </vt:lpstr>
      <vt:lpstr>Этическая лицензия для разработчиков ИИ</vt:lpstr>
      <vt:lpstr>Цели введения этических лицензий</vt:lpstr>
      <vt:lpstr>Примеры существующих этических лицензий</vt:lpstr>
      <vt:lpstr>Механизмы реализации и контроля</vt:lpstr>
      <vt:lpstr>Спасибо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машинного обучения</dc:title>
  <dc:creator>Alex</dc:creator>
  <cp:lastModifiedBy>Константин Некрасов</cp:lastModifiedBy>
  <cp:revision>352</cp:revision>
  <dcterms:created xsi:type="dcterms:W3CDTF">2024-03-23T10:36:24Z</dcterms:created>
  <dcterms:modified xsi:type="dcterms:W3CDTF">2026-04-20T15:17:42Z</dcterms:modified>
</cp:coreProperties>
</file>