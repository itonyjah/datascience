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360" r:id="rId3"/>
    <p:sldId id="258" r:id="rId4"/>
    <p:sldId id="260" r:id="rId5"/>
    <p:sldId id="372" r:id="rId6"/>
    <p:sldId id="395" r:id="rId7"/>
    <p:sldId id="394" r:id="rId8"/>
    <p:sldId id="396" r:id="rId9"/>
    <p:sldId id="399" r:id="rId10"/>
    <p:sldId id="398" r:id="rId11"/>
    <p:sldId id="397" r:id="rId12"/>
    <p:sldId id="365" r:id="rId13"/>
    <p:sldId id="375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7" r:id="rId27"/>
    <p:sldId id="414" r:id="rId28"/>
    <p:sldId id="416" r:id="rId29"/>
    <p:sldId id="418" r:id="rId30"/>
    <p:sldId id="419" r:id="rId31"/>
    <p:sldId id="420" r:id="rId32"/>
    <p:sldId id="421" r:id="rId33"/>
    <p:sldId id="282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Konn" initials="N" lastIdx="1" clrIdx="0">
    <p:extLst>
      <p:ext uri="{19B8F6BF-5375-455C-9EA6-DF929625EA0E}">
        <p15:presenceInfo xmlns:p15="http://schemas.microsoft.com/office/powerpoint/2012/main" userId="NeKo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  <a:srgbClr val="B4E915"/>
    <a:srgbClr val="143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2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C1D90-9BFE-449E-8A2B-EF441C660636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8438D-B581-4013-99FC-FD4843C4A9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02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43082195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543082195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119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7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673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844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092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439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102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852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812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83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387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657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487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482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957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905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379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42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4863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335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859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43082195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543082195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50061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572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78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6097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7498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5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9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2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2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4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6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0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7" y="398401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43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034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7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1">
  <p:cSld name="TITLE_1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0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9" name="Google Shape;219;p50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20" name="Google Shape;220;p5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76404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1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6A48-F7E8-4AFD-B043-B1D10D746835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6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5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8.0831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publica.org/article/machine-bias-risk-assessments-in-criminal-sentenc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hyperlink" Target="https://par.nsf.gov/servlets/purl/10237395" TargetMode="External"/><Relationship Id="rId4" Type="http://schemas.openxmlformats.org/officeDocument/2006/relationships/hyperlink" Target="https://www.cmu.edu/news/stories/archives/2015/july/online-ads-research.html?utm_source=chatgpt.co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u.edu/news/stories/archives/2015/july/online-ads-research.html?utm_source=chatgpt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proceedings.mlr.press/v81/buolamwini18a/buolamwini18a.pdf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80964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Этика Искусственного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Интеллекта 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EA7C98-B589-43B2-B59E-8411C07C611B}"/>
              </a:ext>
            </a:extLst>
          </p:cNvPr>
          <p:cNvSpPr/>
          <p:nvPr/>
        </p:nvSpPr>
        <p:spPr>
          <a:xfrm>
            <a:off x="8153400" y="240000"/>
            <a:ext cx="3937168" cy="750600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26;p68">
            <a:extLst>
              <a:ext uri="{FF2B5EF4-FFF2-40B4-BE49-F238E27FC236}">
                <a16:creationId xmlns:a16="http://schemas.microsoft.com/office/drawing/2014/main" id="{0E70C8B6-3809-489E-B49D-EDF940DFBFD0}"/>
              </a:ext>
            </a:extLst>
          </p:cNvPr>
          <p:cNvSpPr txBox="1">
            <a:spLocks/>
          </p:cNvSpPr>
          <p:nvPr/>
        </p:nvSpPr>
        <p:spPr>
          <a:xfrm>
            <a:off x="508000" y="497412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2000">
                <a:latin typeface="Verdana" panose="020B0604030504040204" pitchFamily="34" charset="0"/>
                <a:ea typeface="Verdana" panose="020B0604030504040204" pitchFamily="34" charset="0"/>
              </a:rPr>
              <a:t>моделей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4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321847"/>
            <a:ext cx="1001648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80" dirty="0"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sz="3200" spc="-287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spc="27" dirty="0"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077757"/>
            <a:ext cx="7996320" cy="21583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Что такое алгоритмическая справедливость?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Цифровое неравенство и дискриминация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Метрики и подходы к справедливому машинному обучению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777" y="3067492"/>
            <a:ext cx="8570923" cy="165953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1. Что такое алгоритмическая справедливость?</a:t>
            </a:r>
            <a:b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Алгоритмическая несправедливость 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456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(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algorithmic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fairness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) — это набор этических, правовых и технических принципов, направленных на то, чтобы: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алгоритмы не дискриминировали определённые группы людей (по полу, расе, возрасту и др.),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принимали решения, которые можно назвать социально и морально оправданными,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были прозрачными, объяснимыми и одинаково эффективными для всех.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BE8EC2-65CF-4549-A578-EE96B1ED9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19200"/>
            <a:ext cx="56388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67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5;p103">
            <a:extLst>
              <a:ext uri="{FF2B5EF4-FFF2-40B4-BE49-F238E27FC236}">
                <a16:creationId xmlns:a16="http://schemas.microsoft.com/office/drawing/2014/main" id="{DE56742B-8234-4663-882B-9BC3BF3B87B7}"/>
              </a:ext>
            </a:extLst>
          </p:cNvPr>
          <p:cNvSpPr txBox="1"/>
          <p:nvPr/>
        </p:nvSpPr>
        <p:spPr>
          <a:xfrm>
            <a:off x="1648860" y="777933"/>
            <a:ext cx="8329130" cy="662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Виды алгоритмической справедливости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75625E1-2774-4DA4-9A0A-F6F6003E8B13}"/>
              </a:ext>
            </a:extLst>
          </p:cNvPr>
          <p:cNvSpPr/>
          <p:nvPr/>
        </p:nvSpPr>
        <p:spPr>
          <a:xfrm>
            <a:off x="1390650" y="2349500"/>
            <a:ext cx="2444750" cy="1250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Процедурная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FC0AE56-F5B5-4B32-8ACC-6B35D085A11D}"/>
              </a:ext>
            </a:extLst>
          </p:cNvPr>
          <p:cNvSpPr/>
          <p:nvPr/>
        </p:nvSpPr>
        <p:spPr>
          <a:xfrm>
            <a:off x="4591050" y="2349500"/>
            <a:ext cx="2444750" cy="1250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Распределительная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26D7CB-3501-4541-AE45-0DAC7FC355BD}"/>
              </a:ext>
            </a:extLst>
          </p:cNvPr>
          <p:cNvSpPr/>
          <p:nvPr/>
        </p:nvSpPr>
        <p:spPr>
          <a:xfrm>
            <a:off x="7791450" y="2349500"/>
            <a:ext cx="2444750" cy="125095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Коррективная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8EA1768-2A65-42FC-9EBD-55F2FD6B6E53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flipH="1">
            <a:off x="2613025" y="1440166"/>
            <a:ext cx="3200400" cy="909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55AE564-0987-48E8-A199-A3A1FDBD6DC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813425" y="1440166"/>
            <a:ext cx="0" cy="909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D9EED5C-328C-4530-824D-EC90179BF10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813425" y="1440166"/>
            <a:ext cx="3200400" cy="9093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11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Распределительная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472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Процедурная справедливость фокусируется не на результате, а на том, насколько сам процесс — прозрачный, понятный, доступный и равноправный.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ИИ должен быть объяснимым (почему принято то или иное решение?).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Должна быть возможность апелляции — вмешательства человека.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Не должно быть скрытых логик, «чёрных ящиков» без обратной связи.</a:t>
            </a:r>
          </a:p>
        </p:txBody>
      </p:sp>
      <p:pic>
        <p:nvPicPr>
          <p:cNvPr id="2051" name="Picture 3" descr="Что такое апелляция после экзамена и защиты диплома">
            <a:extLst>
              <a:ext uri="{FF2B5EF4-FFF2-40B4-BE49-F238E27FC236}">
                <a16:creationId xmlns:a16="http://schemas.microsoft.com/office/drawing/2014/main" id="{651EEFF6-53E6-4A0E-991D-3955A8F0D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00" y="3028950"/>
            <a:ext cx="4562475" cy="30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74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Процедурная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543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Справедливость результатов. Кто и что получил? Насколько равномерно распределяются выгоды, ресурсы и возможности?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Применение в ИИ: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распределения рекламных возможностей (например, кто видит объявления о вакансиях),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распределения контента (например, какие видео попадают в рекомендации),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доступа к помощи или льготам (например, автоматизированные системы назначения пособий).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B9E55-0957-4F0F-A392-3F5EB7D4C09B}"/>
              </a:ext>
            </a:extLst>
          </p:cNvPr>
          <p:cNvSpPr txBox="1"/>
          <p:nvPr/>
        </p:nvSpPr>
        <p:spPr>
          <a:xfrm>
            <a:off x="9430409" y="5956300"/>
            <a:ext cx="14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Статья</a:t>
            </a:r>
            <a:endParaRPr lang="ru-RU" dirty="0"/>
          </a:p>
        </p:txBody>
      </p:sp>
      <p:pic>
        <p:nvPicPr>
          <p:cNvPr id="2053" name="Picture 5" descr="картинки : youtube icon, logo youtube, социальные медиа, youtube video,  видео, youtube channel, костюм, полный, задний план, Презентация, рука,  Профессиональный, Привлекательн ..., должностное лицо, люди, Показ, мужской,  улыбка, менеджер, lsmart ...">
            <a:extLst>
              <a:ext uri="{FF2B5EF4-FFF2-40B4-BE49-F238E27FC236}">
                <a16:creationId xmlns:a16="http://schemas.microsoft.com/office/drawing/2014/main" id="{AAFA9799-66C2-4BB3-9B08-E31CFEB91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438" y="1854200"/>
            <a:ext cx="444835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66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Коррективная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5414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Связана с идеей, что в мире уже существуют глубокие и структурные несправедливости, и эти несправедливости нельзя игнорировать.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Коррективная справедливость предполагает, что алгоритм: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встраивает в себя механизмы компенсации,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делает дополнительные усилия, чтобы исправить предыдущий дисбаланс,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активно защищает те группы, которые были исторически ущемлены.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D5C6AF9-6476-4FA7-B565-7B969870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1314450"/>
            <a:ext cx="5613400" cy="549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16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Точность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605;p103"/>
              <p:cNvSpPr txBox="1"/>
              <p:nvPr/>
            </p:nvSpPr>
            <p:spPr>
              <a:xfrm>
                <a:off x="340690" y="1152583"/>
                <a:ext cx="6284809" cy="30947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ru-RU" sz="2000" b="1" dirty="0"/>
                  <a:t>Accuracy</a:t>
                </a:r>
                <a:r>
                  <a:rPr lang="ru-RU" sz="2000" dirty="0"/>
                  <a:t> — это доля правильных предсказаний модели:</a:t>
                </a:r>
              </a:p>
              <a:p>
                <a:endParaRPr lang="ru-RU" sz="2000" dirty="0"/>
              </a:p>
              <a:p>
                <a:endParaRPr lang="ru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Число верных предсказний</m:t>
                          </m:r>
                        </m:num>
                        <m:den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Общеее число примеров</m:t>
                          </m:r>
                        </m:den>
                      </m:f>
                    </m:oMath>
                  </m:oMathPara>
                </a14:m>
                <a:endParaRPr lang="ru-RU" sz="2000" dirty="0"/>
              </a:p>
              <a:p>
                <a:endParaRPr lang="ru-RU" sz="2000" dirty="0"/>
              </a:p>
              <a:p>
                <a:endParaRPr lang="ru-RU" sz="2000" dirty="0"/>
              </a:p>
              <a:p>
                <a:r>
                  <a:rPr lang="ru-RU" sz="2000" dirty="0"/>
                  <a:t>Эта метрика </a:t>
                </a:r>
                <a:r>
                  <a:rPr lang="ru-RU" sz="2000" b="1" dirty="0"/>
                  <a:t>универсальна</a:t>
                </a:r>
                <a:r>
                  <a:rPr lang="ru-RU" sz="2000" dirty="0"/>
                  <a:t>, но </a:t>
                </a:r>
                <a:r>
                  <a:rPr lang="ru-RU" sz="2000" b="1" dirty="0"/>
                  <a:t>одномерна</a:t>
                </a:r>
                <a:r>
                  <a:rPr lang="ru-RU" sz="2000" dirty="0"/>
                  <a:t> — она </a:t>
                </a:r>
                <a:r>
                  <a:rPr lang="ru-RU" sz="2000" b="1" dirty="0"/>
                  <a:t>не различает</a:t>
                </a:r>
                <a:r>
                  <a:rPr lang="ru-RU" sz="2000" dirty="0"/>
                  <a:t>, для кого именно модель работает хорошо, а для кого — плохо.</a:t>
                </a:r>
              </a:p>
            </p:txBody>
          </p:sp>
        </mc:Choice>
        <mc:Fallback xmlns="">
          <p:sp>
            <p:nvSpPr>
              <p:cNvPr id="13" name="Google Shape;605;p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90" y="1152583"/>
                <a:ext cx="6284809" cy="3094758"/>
              </a:xfrm>
              <a:prstGeom prst="rect">
                <a:avLst/>
              </a:prstGeom>
              <a:blipFill>
                <a:blip r:embed="rId3"/>
                <a:stretch>
                  <a:fillRect l="-2522" t="-2559" b="-41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083068-DCA4-4809-99F7-9DA52340C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843" y="0"/>
            <a:ext cx="4764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7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Справедливость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460375" y="1489133"/>
            <a:ext cx="6284809" cy="363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— это способность модели: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 допускать систематической дискриминации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одинаково хорошо работать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 для разных категорий пользователей (по полу, расе, возрасту и др.),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 усиливать социальное неравенство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Справедливость требует, ч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тобы качество предсказания (или ошибка)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было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сбалансировано по подгруппам</a:t>
            </a:r>
          </a:p>
          <a:p>
            <a:endParaRPr lang="ru-RU" sz="2000" dirty="0"/>
          </a:p>
        </p:txBody>
      </p:sp>
      <p:pic>
        <p:nvPicPr>
          <p:cNvPr id="5124" name="Picture 4" descr="Eliminating Bias with AI Ensuring Fair Justice in the Digital World Concept  Bias in AI Fair Justice Digital World Eliminating Bias Ensuring Fairness |  Premium AI-generated image">
            <a:extLst>
              <a:ext uri="{FF2B5EF4-FFF2-40B4-BE49-F238E27FC236}">
                <a16:creationId xmlns:a16="http://schemas.microsoft.com/office/drawing/2014/main" id="{DDA66017-98C2-43AC-BB72-D95B5E81B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3943350"/>
            <a:ext cx="5330826" cy="266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87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Точность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vs 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Справедливость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CCD4A-21E1-486D-B72F-324AFA5502FD}"/>
              </a:ext>
            </a:extLst>
          </p:cNvPr>
          <p:cNvSpPr txBox="1"/>
          <p:nvPr/>
        </p:nvSpPr>
        <p:spPr>
          <a:xfrm>
            <a:off x="9550400" y="5950634"/>
            <a:ext cx="176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ProPublica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3385D8-BFBF-435C-BD65-200AF2834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584" y="2027163"/>
            <a:ext cx="3696216" cy="3781953"/>
          </a:xfrm>
          <a:prstGeom prst="rect">
            <a:avLst/>
          </a:prstGeom>
        </p:spPr>
      </p:pic>
      <p:graphicFrame>
        <p:nvGraphicFramePr>
          <p:cNvPr id="9" name="Таблица 10">
            <a:extLst>
              <a:ext uri="{FF2B5EF4-FFF2-40B4-BE49-F238E27FC236}">
                <a16:creationId xmlns:a16="http://schemas.microsoft.com/office/drawing/2014/main" id="{8010A4AC-7AD1-4E1A-B2A9-50D47CF41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351803"/>
              </p:ext>
            </p:extLst>
          </p:nvPr>
        </p:nvGraphicFramePr>
        <p:xfrm>
          <a:off x="228343" y="4326701"/>
          <a:ext cx="8127999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086500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32195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92760563"/>
                    </a:ext>
                  </a:extLst>
                </a:gridCol>
              </a:tblGrid>
              <a:tr h="250379">
                <a:tc>
                  <a:txBody>
                    <a:bodyPr/>
                    <a:lstStyle/>
                    <a:p>
                      <a:r>
                        <a:rPr lang="ru-RU" dirty="0"/>
                        <a:t>Группа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False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Positive</a:t>
                      </a:r>
                      <a:r>
                        <a:rPr lang="ru-RU" dirty="0"/>
                        <a:t> Rate (ошибка: «рецидивист», но не совершил)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False Negative Rate (ошибка: «не рецидивист», но совершил)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11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/>
                        <a:t>Афроамериканцы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/>
                        <a:t>45%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16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/>
                        <a:t>Белые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48%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27242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60CABB9-2734-43F6-8F92-63EFC1FBF327}"/>
              </a:ext>
            </a:extLst>
          </p:cNvPr>
          <p:cNvSpPr txBox="1"/>
          <p:nvPr/>
        </p:nvSpPr>
        <p:spPr>
          <a:xfrm>
            <a:off x="368300" y="2889250"/>
            <a:ext cx="606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</a:t>
            </a:r>
            <a:r>
              <a:rPr lang="en-US" dirty="0" err="1"/>
              <a:t>Compas</a:t>
            </a:r>
            <a:r>
              <a:rPr lang="en-US" dirty="0"/>
              <a:t> </a:t>
            </a:r>
            <a:r>
              <a:rPr lang="ru-RU" dirty="0"/>
              <a:t>доходило до 65%, при этом матрица корреляций была примерно следующей:</a:t>
            </a:r>
          </a:p>
        </p:txBody>
      </p:sp>
    </p:spTree>
    <p:extLst>
      <p:ext uri="{BB962C8B-B14F-4D97-AF65-F5344CB8AC3E}">
        <p14:creationId xmlns:p14="http://schemas.microsoft.com/office/powerpoint/2010/main" val="99151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8177" y="2882386"/>
            <a:ext cx="610277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2. Цифровое неравенство и дискриминация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012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Цифровое неравенство 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349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— это неравный доступ к: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цифровым технологиям (устройствам, интернету),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цифровым навыкам (умение пользоваться ИТ),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алгоритмическим системам (например, ИИ-сервисам, голосовым помощникам, онлайн-услугам).</a:t>
            </a:r>
          </a:p>
        </p:txBody>
      </p:sp>
    </p:spTree>
    <p:extLst>
      <p:ext uri="{BB962C8B-B14F-4D97-AF65-F5344CB8AC3E}">
        <p14:creationId xmlns:p14="http://schemas.microsoft.com/office/powerpoint/2010/main" val="2736233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Формы цифрового неравенства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2436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По полу (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gender-based digital divide)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По языку (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linguistic digital divide)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По инвалидности и особым потребностям (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disability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divide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)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93839B-E073-4A6B-A787-9EB97A0F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624" y="2998553"/>
            <a:ext cx="5915851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11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 полу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1" y="1152583"/>
            <a:ext cx="5240960" cy="469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Проблемы: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1.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Женщины в мире реже имеют доступ к компьютерам и интернету (особенно в развивающихся странах).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2. Женщины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меньше представлены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 разработке ИИ и ИТ-сфере в целом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AutoNum type="arabicPeriod"/>
              <a:tabLst>
                <a:tab pos="457200" algn="l"/>
              </a:tabLst>
            </a:pP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ИИ, обученный на данных, где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женщины представлены в более уязвимом положении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может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ошибаться чаще при работе с ними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CACD21-228D-4FB5-AA47-2E6E1733F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97" y="3346321"/>
            <a:ext cx="4600953" cy="3563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F2E9BC-8CAD-4607-972F-0968D2E4290D}"/>
              </a:ext>
            </a:extLst>
          </p:cNvPr>
          <p:cNvSpPr txBox="1"/>
          <p:nvPr/>
        </p:nvSpPr>
        <p:spPr>
          <a:xfrm>
            <a:off x="340691" y="5829300"/>
            <a:ext cx="188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Статья</a:t>
            </a:r>
            <a:endParaRPr lang="ru-RU" dirty="0"/>
          </a:p>
          <a:p>
            <a:r>
              <a:rPr lang="ru-RU" dirty="0">
                <a:hlinkClick r:id="rId5"/>
              </a:rPr>
              <a:t>Статья</a:t>
            </a:r>
            <a:endParaRPr lang="ru-RU" dirty="0"/>
          </a:p>
        </p:txBody>
      </p:sp>
      <p:pic>
        <p:nvPicPr>
          <p:cNvPr id="7170" name="Picture 2" descr="Решение цифрового «уравнения» кроется в раскрытии потенциала женщин в  области высоких технологий | United Nations Development Programme">
            <a:extLst>
              <a:ext uri="{FF2B5EF4-FFF2-40B4-BE49-F238E27FC236}">
                <a16:creationId xmlns:a16="http://schemas.microsoft.com/office/drawing/2014/main" id="{D6449706-E120-4887-A344-89B958F4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034" y="160338"/>
            <a:ext cx="5472716" cy="307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411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 языку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340690" y="1152583"/>
            <a:ext cx="6284809" cy="42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Проблемы: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Большинство ИИ-моделей (особенно LLM и GPT) обучены в первую очередь на английском языке и других «мировых» языках.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Малоязычные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и миноритарные сообщества практически не представлены в данных → их интересы и культурные особенности не учитываются.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95304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 инвалидности и особым потребностям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340690" y="1152583"/>
            <a:ext cx="6284809" cy="420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Проблемы: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Многие алгоритмы и интерфейсы не учитывают особенности восприятия, моторики, слуха, зрения,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нейродивергентности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Разработка систем часто проходит без участия людей с инвалидностью.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Алгоритмы могут некорректно интерпретировать поведение таких пользователей.</a:t>
            </a:r>
          </a:p>
        </p:txBody>
      </p:sp>
      <p:pic>
        <p:nvPicPr>
          <p:cNvPr id="6146" name="Picture 2" descr="CAPTCHA Busted? AI Company Claims to Have Broken the Internet's Favorite  Protection System | Science | AAAS">
            <a:extLst>
              <a:ext uri="{FF2B5EF4-FFF2-40B4-BE49-F238E27FC236}">
                <a16:creationId xmlns:a16="http://schemas.microsoft.com/office/drawing/2014/main" id="{C6004DAD-F245-4ED3-85D9-B2C8E22DA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049" y="933449"/>
            <a:ext cx="4215261" cy="348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6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цифровое неравенство становится алгоритмической дискриминацией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79999" y="1895533"/>
            <a:ext cx="6284809" cy="464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ИИ не создаёт дискриминацию с нуля — он переносит и усиливает уже существующие структурные перекосы.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Как это происходит: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Данные для обучения собираются преимущественно среди привилегированных групп.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Алгоритмы оптимизируются по “среднему” пользователю, а не по всем группам.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Тестирование проводится в условиях, которые не отражают многообразие общества.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Нормативные рамки (закон, этика, стандарты) часто не поспевают за технологией.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30354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Алгоритмическое подтверждение социальных и гендерных иерархий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79999" y="1895533"/>
            <a:ext cx="628480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это процесс, при котором ИИ-системы не просто отражают уже существующие социальные и гендерные иерархии (власть, привилегии, неравенство), но укрепляют, закрепляют и усиливают их через свои предсказания, рекомендации и поведение.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6D831D2-EFFB-4E57-AE5B-AC0FB0073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50" y="1533582"/>
            <a:ext cx="3308311" cy="496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500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это происходит?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50450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ИИ-модели обучаются:</a:t>
            </a:r>
          </a:p>
          <a:p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 на исторических данных,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 текущем поведении пользователей,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 предвзятых источниках (интернет, соцсети, старые решения людей).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05123-A68E-4B14-8666-9A8C5E2E58CD}"/>
              </a:ext>
            </a:extLst>
          </p:cNvPr>
          <p:cNvSpPr txBox="1"/>
          <p:nvPr/>
        </p:nvSpPr>
        <p:spPr>
          <a:xfrm>
            <a:off x="5715000" y="1520883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 данные отражают: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гендерные стереотипы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(мужчина = лидер, женщина = забота),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расовые и классовые иерархии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(белые мужчины — эксперты; бедные и маргинализированные — объект наблюдения),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неравный доступ к знаниям, ресурсам и влиянию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pic>
        <p:nvPicPr>
          <p:cNvPr id="9218" name="Picture 2" descr="Мужчина - лидер - как его вычислить и какой он в отношениях и семье">
            <a:extLst>
              <a:ext uri="{FF2B5EF4-FFF2-40B4-BE49-F238E27FC236}">
                <a16:creationId xmlns:a16="http://schemas.microsoft.com/office/drawing/2014/main" id="{A376E120-F12F-4BDE-936F-ACEAF2484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4032192"/>
            <a:ext cx="552450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966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5045075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Гендерная дискриминация в онлайн-рекламе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Carnegie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Mellon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, 2015)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Систематическая ошибка в распознавании лиц (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MIT Media Lab, 2018)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Генерация текста и изображений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Судебные алгоритмы (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COMPAS)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4183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Как это работает на системном уровне?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504507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Алгоритмы встраиваются: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поисковые системы (Google,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Bing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),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социальные сети (YouTube,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TikTok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Facebook),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госуслуги (автоматическое распределение пособий,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scoring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),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рекрутинг, кредиты, обучение, медицину.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10242" name="Picture 2" descr="Search - Microsoft Bing">
            <a:extLst>
              <a:ext uri="{FF2B5EF4-FFF2-40B4-BE49-F238E27FC236}">
                <a16:creationId xmlns:a16="http://schemas.microsoft.com/office/drawing/2014/main" id="{41B6FF99-67F0-4D04-9E08-5308EFA91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150" y="1446937"/>
            <a:ext cx="3492500" cy="139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YouTube Community Guidelines &amp; Policies - How YouTube Works">
            <a:extLst>
              <a:ext uri="{FF2B5EF4-FFF2-40B4-BE49-F238E27FC236}">
                <a16:creationId xmlns:a16="http://schemas.microsoft.com/office/drawing/2014/main" id="{1DDAE4B6-6D48-4B0F-9FBE-3620482DB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2774442"/>
            <a:ext cx="2889250" cy="151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Telegram: View @gosuslugi">
            <a:extLst>
              <a:ext uri="{FF2B5EF4-FFF2-40B4-BE49-F238E27FC236}">
                <a16:creationId xmlns:a16="http://schemas.microsoft.com/office/drawing/2014/main" id="{78857706-DB3F-4D9B-89A5-F11AFAA3A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7" y="3478568"/>
            <a:ext cx="1814513" cy="181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Как Machine Learning используют банки в России и за рубежом">
            <a:extLst>
              <a:ext uri="{FF2B5EF4-FFF2-40B4-BE49-F238E27FC236}">
                <a16:creationId xmlns:a16="http://schemas.microsoft.com/office/drawing/2014/main" id="{38640838-4751-4A98-92DE-25FDE00E3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775" y="4385824"/>
            <a:ext cx="33337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103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2027" y="3123686"/>
            <a:ext cx="853282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3. Метрики и подходы к справедливому машинному обучению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830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Зачем нужны метрики Fair ML?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715327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Чтобы оценить справедливость модели, требуются специальные метрики, которые позволяют: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сравнивать качество работы модели для разных групп (по полу, расе, возрасту и т.д.),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выявлять перекосы и дискриминацию,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принимать решения о корректировке алгоритмов.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9511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Demographic Parity (DP)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509050-F2AB-4BCB-9B78-D349F6E90909}"/>
                  </a:ext>
                </a:extLst>
              </p:cNvPr>
              <p:cNvSpPr txBox="1"/>
              <p:nvPr/>
            </p:nvSpPr>
            <p:spPr>
              <a:xfrm>
                <a:off x="1314450" y="1825625"/>
                <a:ext cx="3501536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509050-F2AB-4BCB-9B78-D349F6E90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1825625"/>
                <a:ext cx="3501536" cy="312650"/>
              </a:xfrm>
              <a:prstGeom prst="rect">
                <a:avLst/>
              </a:prstGeom>
              <a:blipFill>
                <a:blip r:embed="rId3"/>
                <a:stretch>
                  <a:fillRect l="-1220" t="-11538" r="-2091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0A9C0-5FD9-4084-B2A7-96A978BA3C56}"/>
                  </a:ext>
                </a:extLst>
              </p:cNvPr>
              <p:cNvSpPr txBox="1"/>
              <p:nvPr/>
            </p:nvSpPr>
            <p:spPr>
              <a:xfrm>
                <a:off x="762000" y="2463711"/>
                <a:ext cx="60960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где: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ru-RU" dirty="0"/>
                  <a:t>— предсказание модели,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A — чувствительный признак (например, A=0 — мужчины, A=1 — женщины).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0A9C0-5FD9-4084-B2A7-96A978BA3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463711"/>
                <a:ext cx="6096000" cy="1200329"/>
              </a:xfrm>
              <a:prstGeom prst="rect">
                <a:avLst/>
              </a:prstGeom>
              <a:blipFill>
                <a:blip r:embed="rId4"/>
                <a:stretch>
                  <a:fillRect l="-800" t="-2538" b="-76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821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Equalized Odds (EO)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509050-F2AB-4BCB-9B78-D349F6E90909}"/>
                  </a:ext>
                </a:extLst>
              </p:cNvPr>
              <p:cNvSpPr txBox="1"/>
              <p:nvPr/>
            </p:nvSpPr>
            <p:spPr>
              <a:xfrm>
                <a:off x="1314450" y="1825625"/>
                <a:ext cx="5001690" cy="902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509050-F2AB-4BCB-9B78-D349F6E90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1825625"/>
                <a:ext cx="5001690" cy="902298"/>
              </a:xfrm>
              <a:prstGeom prst="rect">
                <a:avLst/>
              </a:prstGeom>
              <a:blipFill>
                <a:blip r:embed="rId3"/>
                <a:stretch>
                  <a:fillRect t="-4054" r="-6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0A9C0-5FD9-4084-B2A7-96A978BA3C56}"/>
                  </a:ext>
                </a:extLst>
              </p:cNvPr>
              <p:cNvSpPr txBox="1"/>
              <p:nvPr/>
            </p:nvSpPr>
            <p:spPr>
              <a:xfrm>
                <a:off x="762000" y="2463711"/>
                <a:ext cx="6096000" cy="1484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где: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ru-RU" dirty="0"/>
                  <a:t>— предсказание модели,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dirty="0"/>
                  <a:t> — исходная метка,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A — чувствительный признак (например, A=0 — мужчины, A=1 — женщины).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0A9C0-5FD9-4084-B2A7-96A978BA3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463711"/>
                <a:ext cx="6096000" cy="1484765"/>
              </a:xfrm>
              <a:prstGeom prst="rect">
                <a:avLst/>
              </a:prstGeom>
              <a:blipFill>
                <a:blip r:embed="rId4"/>
                <a:stretch>
                  <a:fillRect l="-800" t="-2049" b="-53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370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Сравнение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EB3DFB1-066C-46B7-8A7C-47C121510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950822"/>
              </p:ext>
            </p:extLst>
          </p:nvPr>
        </p:nvGraphicFramePr>
        <p:xfrm>
          <a:off x="1741774" y="2116666"/>
          <a:ext cx="86995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626">
                  <a:extLst>
                    <a:ext uri="{9D8B030D-6E8A-4147-A177-3AD203B41FA5}">
                      <a16:colId xmlns:a16="http://schemas.microsoft.com/office/drawing/2014/main" val="1119981938"/>
                    </a:ext>
                  </a:extLst>
                </a:gridCol>
                <a:gridCol w="1597174">
                  <a:extLst>
                    <a:ext uri="{9D8B030D-6E8A-4147-A177-3AD203B41FA5}">
                      <a16:colId xmlns:a16="http://schemas.microsoft.com/office/drawing/2014/main" val="1955540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774969447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150753663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576505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Метрика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сравнивает?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Плюсы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Минусы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79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Demographic Parity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Доли положительных исходов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Реклама, обучение, рекрутинг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Простая и понятная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Игнорирует истинные метки (</a:t>
                      </a:r>
                      <a:r>
                        <a:rPr lang="en-US"/>
                        <a:t>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07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Equalized Odds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TPR и FPR между группами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Медицина, суд, социальные выплаты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Учитывает истинные метки, более гибкая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Сложнее достигнуть, может снижать точность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104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798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5;p103">
            <a:extLst>
              <a:ext uri="{FF2B5EF4-FFF2-40B4-BE49-F238E27FC236}">
                <a16:creationId xmlns:a16="http://schemas.microsoft.com/office/drawing/2014/main" id="{DE56742B-8234-4663-882B-9BC3BF3B87B7}"/>
              </a:ext>
            </a:extLst>
          </p:cNvPr>
          <p:cNvSpPr txBox="1"/>
          <p:nvPr/>
        </p:nvSpPr>
        <p:spPr>
          <a:xfrm>
            <a:off x="1316555" y="790633"/>
            <a:ext cx="8993740" cy="662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Методы борьбы с несправедливостью в ML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75625E1-2774-4DA4-9A0A-F6F6003E8B13}"/>
              </a:ext>
            </a:extLst>
          </p:cNvPr>
          <p:cNvSpPr/>
          <p:nvPr/>
        </p:nvSpPr>
        <p:spPr>
          <a:xfrm>
            <a:off x="1390650" y="2349500"/>
            <a:ext cx="2444750" cy="1250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Удаление признаков (</a:t>
            </a:r>
            <a:r>
              <a:rPr lang="en-US" dirty="0"/>
              <a:t>Feature Suppression)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FC0AE56-F5B5-4B32-8ACC-6B35D085A11D}"/>
              </a:ext>
            </a:extLst>
          </p:cNvPr>
          <p:cNvSpPr/>
          <p:nvPr/>
        </p:nvSpPr>
        <p:spPr>
          <a:xfrm>
            <a:off x="4591050" y="2349500"/>
            <a:ext cx="2444750" cy="1250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Re-weighting (</a:t>
            </a:r>
            <a:r>
              <a:rPr lang="ru-RU" dirty="0"/>
              <a:t>взвешивание примеров)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26D7CB-3501-4541-AE45-0DAC7FC355BD}"/>
              </a:ext>
            </a:extLst>
          </p:cNvPr>
          <p:cNvSpPr/>
          <p:nvPr/>
        </p:nvSpPr>
        <p:spPr>
          <a:xfrm>
            <a:off x="7791450" y="2349500"/>
            <a:ext cx="2444750" cy="125095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Fairness</a:t>
            </a:r>
            <a:r>
              <a:rPr lang="ru-RU" dirty="0"/>
              <a:t> </a:t>
            </a:r>
            <a:r>
              <a:rPr lang="ru-RU" dirty="0" err="1"/>
              <a:t>Constraints</a:t>
            </a:r>
            <a:r>
              <a:rPr lang="ru-RU" dirty="0"/>
              <a:t> (ограничения на обучение)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8EA1768-2A65-42FC-9EBD-55F2FD6B6E53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flipH="1">
            <a:off x="2613025" y="1452866"/>
            <a:ext cx="3200400" cy="896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55AE564-0987-48E8-A199-A3A1FDBD6DC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813425" y="1452866"/>
            <a:ext cx="0" cy="896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D9EED5C-328C-4530-824D-EC90179BF10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813425" y="1452866"/>
            <a:ext cx="3200400" cy="896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24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Удаление признаков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71532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Самый простой и интуитивный метод: не использовать чувствительный признак (например, пол, расу, возраст) при обучении модели.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ED76AC-010E-498A-8093-92FF2F4F6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616173"/>
            <a:ext cx="2915057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66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Re-weighting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715327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Метод предобработки данных, при котором примерам из разных групп назначаются разные веса — чтобы: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модель не переучивалась на более крупной группе,</a:t>
            </a:r>
          </a:p>
          <a:p>
            <a:pPr marL="285750" indent="-285750">
              <a:buFontTx/>
              <a:buChar char="-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ошибки на меньшинствах имели большее влияние при обучении.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275972-C5E5-42FA-8A22-9A405DF69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53" y="3983231"/>
            <a:ext cx="6220693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95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Fairness Constraints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71532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Метод встроенной справедливости во время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обучения.Мы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добавляем в алгоритм ограничение, которое говорит: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«Обучайся, но при этом соблюдай условие справедливости».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F23DC8-47E3-47F6-9A4E-425085BE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3716531"/>
            <a:ext cx="616353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53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Дискуссия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92D1207F-617F-4841-B6DE-52CD14795072}"/>
              </a:ext>
            </a:extLst>
          </p:cNvPr>
          <p:cNvSpPr txBox="1"/>
          <p:nvPr/>
        </p:nvSpPr>
        <p:spPr>
          <a:xfrm>
            <a:off x="460375" y="1520883"/>
            <a:ext cx="10588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Стоит ли жертвовать точностью модели ради обеспечения справедливости?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60502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B1E79-FFD8-4DD7-A906-B49D900FA338}"/>
              </a:ext>
            </a:extLst>
          </p:cNvPr>
          <p:cNvSpPr/>
          <p:nvPr/>
        </p:nvSpPr>
        <p:spPr>
          <a:xfrm>
            <a:off x="7854950" y="234300"/>
            <a:ext cx="4210050" cy="851550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22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3911</TotalTime>
  <Words>1262</Words>
  <Application>Microsoft Office PowerPoint</Application>
  <PresentationFormat>Широкоэкранный</PresentationFormat>
  <Paragraphs>194</Paragraphs>
  <Slides>33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Montserrat</vt:lpstr>
      <vt:lpstr>Verdana</vt:lpstr>
      <vt:lpstr>Тема Office</vt:lpstr>
      <vt:lpstr>Этика Искусственного Интеллекта </vt:lpstr>
      <vt:lpstr>План занятия</vt:lpstr>
      <vt:lpstr>1. Что такое алгоритмическая справедливость? </vt:lpstr>
      <vt:lpstr>Алгоритмическая несправедливость </vt:lpstr>
      <vt:lpstr>Презентация PowerPoint</vt:lpstr>
      <vt:lpstr>Распределительная</vt:lpstr>
      <vt:lpstr>Процедурная</vt:lpstr>
      <vt:lpstr>Коррективная</vt:lpstr>
      <vt:lpstr>Точность</vt:lpstr>
      <vt:lpstr>Справедливость</vt:lpstr>
      <vt:lpstr>Точность vs Справедливость</vt:lpstr>
      <vt:lpstr>2. Цифровое неравенство и дискриминация</vt:lpstr>
      <vt:lpstr>Цифровое неравенство </vt:lpstr>
      <vt:lpstr>Формы цифрового неравенства</vt:lpstr>
      <vt:lpstr>По полу</vt:lpstr>
      <vt:lpstr>По языку</vt:lpstr>
      <vt:lpstr>По инвалидности и особым потребностям</vt:lpstr>
      <vt:lpstr>Как цифровое неравенство становится алгоритмической дискриминацией</vt:lpstr>
      <vt:lpstr>Алгоритмическое подтверждение социальных и гендерных иерархий</vt:lpstr>
      <vt:lpstr>Почему это происходит?</vt:lpstr>
      <vt:lpstr>Примеры </vt:lpstr>
      <vt:lpstr> Как это работает на системном уровне?</vt:lpstr>
      <vt:lpstr>3. Метрики и подходы к справедливому машинному обучению</vt:lpstr>
      <vt:lpstr> Зачем нужны метрики Fair ML?</vt:lpstr>
      <vt:lpstr> Demographic Parity (DP)</vt:lpstr>
      <vt:lpstr> Equalized Odds (EO)</vt:lpstr>
      <vt:lpstr>Сравнение</vt:lpstr>
      <vt:lpstr>Презентация PowerPoint</vt:lpstr>
      <vt:lpstr> Удаление признаков</vt:lpstr>
      <vt:lpstr> Re-weighting</vt:lpstr>
      <vt:lpstr> Fairness Constraints</vt:lpstr>
      <vt:lpstr> Дискуссия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машинного обучения</dc:title>
  <dc:creator>Alex</dc:creator>
  <cp:lastModifiedBy>Константин Некрасов</cp:lastModifiedBy>
  <cp:revision>247</cp:revision>
  <dcterms:created xsi:type="dcterms:W3CDTF">2024-03-23T10:36:24Z</dcterms:created>
  <dcterms:modified xsi:type="dcterms:W3CDTF">2026-04-10T14:32:16Z</dcterms:modified>
</cp:coreProperties>
</file>