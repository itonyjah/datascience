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360" r:id="rId3"/>
    <p:sldId id="323" r:id="rId4"/>
    <p:sldId id="258" r:id="rId5"/>
    <p:sldId id="260" r:id="rId6"/>
    <p:sldId id="361" r:id="rId7"/>
    <p:sldId id="362" r:id="rId8"/>
    <p:sldId id="363" r:id="rId9"/>
    <p:sldId id="364" r:id="rId10"/>
    <p:sldId id="365" r:id="rId11"/>
    <p:sldId id="263" r:id="rId12"/>
    <p:sldId id="265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9" r:id="rId25"/>
    <p:sldId id="378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282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Konn" initials="N" lastIdx="1" clrIdx="0">
    <p:extLst>
      <p:ext uri="{19B8F6BF-5375-455C-9EA6-DF929625EA0E}">
        <p15:presenceInfo xmlns:p15="http://schemas.microsoft.com/office/powerpoint/2012/main" userId="NeKo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  <a:srgbClr val="B4E915"/>
    <a:srgbClr val="143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2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C1D90-9BFE-449E-8A2B-EF441C66063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8438D-B581-4013-99FC-FD4843C4A9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02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6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54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155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5459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823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43082195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543082195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495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749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498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5513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829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43082195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543082195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451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543082195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543082195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119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039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217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852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253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914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9035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468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140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831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8760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716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9884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0472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471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836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3605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865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5992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5789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9682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5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9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2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2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4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6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0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7" y="398401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43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034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7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 зеленое 1">
  <p:cSld name="Определение зеленое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38400" y="2602700"/>
            <a:ext cx="7154400" cy="3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5587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1">
  <p:cSld name="TITLE_1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0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9" name="Google Shape;219;p50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20" name="Google Shape;220;p5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76404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1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6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meduza.io/shapito/2016/03/24/iskusstvennyy-intellekt-ot-microsoft-za-sutki-polyubil-gitlera-i-voznenavidel-feministo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habr.com/ru/articles/392215/" TargetMode="External"/><Relationship Id="rId5" Type="http://schemas.openxmlformats.org/officeDocument/2006/relationships/hyperlink" Target="https://dzen.ru/a/ZxLi0cbsLig8Pwvw" TargetMode="Externa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fax.ru/world/71278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ass.ru/obschestvo/1114035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zeta.ru/social/2020/09/16/13253677.s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80964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Этика Искусственного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Интеллекта 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EA7C98-B589-43B2-B59E-8411C07C611B}"/>
              </a:ext>
            </a:extLst>
          </p:cNvPr>
          <p:cNvSpPr/>
          <p:nvPr/>
        </p:nvSpPr>
        <p:spPr>
          <a:xfrm>
            <a:off x="8153400" y="240000"/>
            <a:ext cx="3937168" cy="750600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26;p68">
            <a:extLst>
              <a:ext uri="{FF2B5EF4-FFF2-40B4-BE49-F238E27FC236}">
                <a16:creationId xmlns:a16="http://schemas.microsoft.com/office/drawing/2014/main" id="{0E70C8B6-3809-489E-B49D-EDF940DFBFD0}"/>
              </a:ext>
            </a:extLst>
          </p:cNvPr>
          <p:cNvSpPr txBox="1">
            <a:spLocks/>
          </p:cNvSpPr>
          <p:nvPr/>
        </p:nvSpPr>
        <p:spPr>
          <a:xfrm>
            <a:off x="508000" y="497412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Ведущий аналитик-исследователь  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4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321847"/>
            <a:ext cx="1001648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80" dirty="0"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sz="3200" spc="-287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spc="27" dirty="0"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077757"/>
            <a:ext cx="7996320" cy="21583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Знакомство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Почему Этика ИИ Важна?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Основные понятия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Основные проблемы этики 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algn="ctr">
              <a:lnSpc>
                <a:spcPct val="100000"/>
              </a:lnSpc>
              <a:spcBef>
                <a:spcPts val="133"/>
              </a:spcBef>
            </a:pPr>
            <a:r>
              <a:rPr lang="ru-RU" spc="73" dirty="0">
                <a:latin typeface="Verdana" panose="020B0604030504040204" pitchFamily="34" charset="0"/>
                <a:ea typeface="Verdana" panose="020B0604030504040204" pitchFamily="34" charset="0"/>
              </a:rPr>
              <a:t>Кратко о себе</a:t>
            </a:r>
            <a:endParaRPr spc="1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2040" y="5156200"/>
            <a:ext cx="6029960" cy="1178763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16086" algn="ctr">
              <a:spcBef>
                <a:spcPts val="513"/>
              </a:spcBef>
              <a:tabLst>
                <a:tab pos="590112" algn="l"/>
                <a:tab pos="590959" algn="l"/>
              </a:tabLst>
            </a:pPr>
            <a:r>
              <a:rPr lang="ru-RU" sz="2133" b="1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Константин Некрасов</a:t>
            </a:r>
          </a:p>
          <a:p>
            <a:pPr marL="16086" algn="ctr">
              <a:spcBef>
                <a:spcPts val="513"/>
              </a:spcBef>
              <a:tabLst>
                <a:tab pos="590112" algn="l"/>
                <a:tab pos="590959" algn="l"/>
              </a:tabLst>
            </a:pPr>
            <a:r>
              <a:rPr lang="ru-RU" sz="2133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Директор по разработке </a:t>
            </a:r>
            <a:r>
              <a:rPr lang="en-US" sz="2133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ML-</a:t>
            </a:r>
            <a:r>
              <a:rPr lang="ru-RU" sz="2133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моделей </a:t>
            </a:r>
          </a:p>
          <a:p>
            <a:pPr marL="16086" algn="ctr">
              <a:spcBef>
                <a:spcPts val="513"/>
              </a:spcBef>
              <a:tabLst>
                <a:tab pos="590112" algn="l"/>
                <a:tab pos="590959" algn="l"/>
              </a:tabLst>
            </a:pPr>
            <a:r>
              <a:rPr lang="ru-RU" sz="2133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АО «Газпромбанк»</a:t>
            </a:r>
            <a:endParaRPr sz="2133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315" y="4022372"/>
            <a:ext cx="4333240" cy="186677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90112" marR="6773" indent="-574026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90112" algn="l"/>
                <a:tab pos="590959" algn="l"/>
              </a:tabLst>
            </a:pPr>
            <a:r>
              <a:rPr lang="ru-RU" sz="2133" spc="87" dirty="0">
                <a:latin typeface="Verdana"/>
                <a:cs typeface="Verdana"/>
              </a:rPr>
              <a:t>Занимаюсь разработкой</a:t>
            </a:r>
            <a:r>
              <a:rPr lang="en-US" sz="2133" spc="87" dirty="0">
                <a:latin typeface="Verdana"/>
                <a:cs typeface="Verdana"/>
              </a:rPr>
              <a:t> </a:t>
            </a:r>
            <a:r>
              <a:rPr lang="en-US" sz="2133" b="1" spc="87" dirty="0">
                <a:latin typeface="Verdana"/>
                <a:cs typeface="Verdana"/>
              </a:rPr>
              <a:t>ML </a:t>
            </a:r>
            <a:r>
              <a:rPr lang="ru-RU" sz="2133" b="1" spc="87" dirty="0">
                <a:latin typeface="Verdana"/>
                <a:cs typeface="Verdana"/>
              </a:rPr>
              <a:t>моделей</a:t>
            </a:r>
            <a:r>
              <a:rPr lang="ru-RU" sz="2133" spc="87" dirty="0">
                <a:latin typeface="Verdana"/>
                <a:cs typeface="Verdana"/>
              </a:rPr>
              <a:t> для клиентов банка и внутренних подразделений  </a:t>
            </a:r>
            <a:endParaRPr sz="2133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976" y="1961788"/>
            <a:ext cx="4001347" cy="722291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590112" indent="-574026">
              <a:spcBef>
                <a:spcPts val="513"/>
              </a:spcBef>
              <a:buFont typeface="MS PGothic"/>
              <a:buChar char="➔"/>
              <a:tabLst>
                <a:tab pos="590112" algn="l"/>
                <a:tab pos="590959" algn="l"/>
              </a:tabLst>
            </a:pPr>
            <a:r>
              <a:rPr lang="ru-RU" sz="2133" spc="140" dirty="0">
                <a:latin typeface="Verdana"/>
                <a:cs typeface="Verdana"/>
              </a:rPr>
              <a:t>Окончил </a:t>
            </a:r>
            <a:r>
              <a:rPr lang="ru-RU" sz="2133" b="1" spc="140" dirty="0">
                <a:latin typeface="Verdana"/>
                <a:cs typeface="Verdana"/>
              </a:rPr>
              <a:t>Физтех</a:t>
            </a:r>
            <a:r>
              <a:rPr lang="ru-RU" sz="2133" spc="140" dirty="0">
                <a:latin typeface="Verdana"/>
                <a:cs typeface="Verdana"/>
              </a:rPr>
              <a:t> с отличием</a:t>
            </a:r>
            <a:endParaRPr sz="2133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976" y="2985988"/>
            <a:ext cx="4744720" cy="7344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90112" marR="6773" indent="-574026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90112" algn="l"/>
                <a:tab pos="590959" algn="l"/>
              </a:tabLst>
            </a:pPr>
            <a:r>
              <a:rPr lang="ru-RU" sz="2133" spc="67" dirty="0">
                <a:latin typeface="Verdana"/>
                <a:cs typeface="Verdana"/>
              </a:rPr>
              <a:t>3-й год</a:t>
            </a:r>
            <a:r>
              <a:rPr lang="en-US" sz="2133" spc="67" dirty="0">
                <a:latin typeface="Verdana"/>
                <a:cs typeface="Verdana"/>
              </a:rPr>
              <a:t> </a:t>
            </a:r>
            <a:r>
              <a:rPr lang="ru-RU" sz="2133" spc="67" dirty="0">
                <a:latin typeface="Verdana"/>
                <a:cs typeface="Verdana"/>
              </a:rPr>
              <a:t>работаю </a:t>
            </a:r>
            <a:r>
              <a:rPr lang="en-US" sz="2133" spc="67" dirty="0">
                <a:latin typeface="Verdana"/>
                <a:cs typeface="Verdana"/>
              </a:rPr>
              <a:t>Data Scientist  </a:t>
            </a:r>
            <a:endParaRPr sz="2133" dirty="0">
              <a:latin typeface="Verdana"/>
              <a:cs typeface="Verdana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5DA10E7-A6DE-4B05-9409-FBD119D0B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336" y="1835944"/>
            <a:ext cx="3186112" cy="318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4984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0727" y="3005151"/>
            <a:ext cx="6102773" cy="526918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1. Что такое этика ИИ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6492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этика ИИ важна?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456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ИИ может усиливать и закреплять социальные неравенства.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Непрозрачность алгоритмов может приводить к ошибочным решениям без возможности объяснения.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Автономные системы могут действовать без вмешательства человека — кто тогда несёт ответственность?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Нарушение прав и свобод возможно через слежку, дискриминацию, цензуру и даже автоматизированное принятие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177367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6492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этика ИИ важна?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331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Этика ИИ отвечает на ключевые вопросы: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Что такое "справедливый" ИИ?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Кто несёт ответственность за ошибки ИИ?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Должен ли ИИ подчиняться тем же моральным нормам, что и человек?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Имеем ли мы право делегировать ИИ принятие жизненно важных решений?</a:t>
            </a:r>
          </a:p>
        </p:txBody>
      </p:sp>
    </p:spTree>
    <p:extLst>
      <p:ext uri="{BB962C8B-B14F-4D97-AF65-F5344CB8AC3E}">
        <p14:creationId xmlns:p14="http://schemas.microsoft.com/office/powerpoint/2010/main" val="413845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64923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Tay 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Microsoft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297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марте 2016 года компания Microsoft запустила в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Twitter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чат-бота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Tay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, основанного на машинном обучении.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Через 16 часов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Tay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превратился в генератор расистских, сексистских, нацистских и оскорбительных заявлений.</a:t>
            </a:r>
          </a:p>
        </p:txBody>
      </p:sp>
      <p:pic>
        <p:nvPicPr>
          <p:cNvPr id="2050" name="Picture 2" descr="-2">
            <a:extLst>
              <a:ext uri="{FF2B5EF4-FFF2-40B4-BE49-F238E27FC236}">
                <a16:creationId xmlns:a16="http://schemas.microsoft.com/office/drawing/2014/main" id="{20EA73F7-4100-4BBA-ACDD-F61E8A803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898" y="3220519"/>
            <a:ext cx="6722102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ay от Microsoft">
            <a:extLst>
              <a:ext uri="{FF2B5EF4-FFF2-40B4-BE49-F238E27FC236}">
                <a16:creationId xmlns:a16="http://schemas.microsoft.com/office/drawing/2014/main" id="{7965102D-F069-4FE1-9712-43A13B1AE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898" y="107950"/>
            <a:ext cx="4742560" cy="295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952DC3-C2B8-40EB-8134-C50B05549E0A}"/>
              </a:ext>
            </a:extLst>
          </p:cNvPr>
          <p:cNvSpPr txBox="1"/>
          <p:nvPr/>
        </p:nvSpPr>
        <p:spPr>
          <a:xfrm>
            <a:off x="307975" y="5289550"/>
            <a:ext cx="1606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/>
              </a:rPr>
              <a:t>Дзен</a:t>
            </a:r>
            <a:endParaRPr lang="ru-RU" dirty="0"/>
          </a:p>
          <a:p>
            <a:r>
              <a:rPr lang="ru-RU" dirty="0" err="1">
                <a:hlinkClick r:id="rId6"/>
              </a:rPr>
              <a:t>Хабр</a:t>
            </a:r>
            <a:endParaRPr lang="ru-RU" dirty="0"/>
          </a:p>
          <a:p>
            <a:r>
              <a:rPr lang="ru-RU" dirty="0">
                <a:hlinkClick r:id="rId7"/>
              </a:rPr>
              <a:t>Медуза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015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Алгоритм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COMPAS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474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COMPAS (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Correctional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Offender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Management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Profiling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for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Alternative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Sanctions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) — алгоритм, используемый в США для оценки вероятности рецидива (повторного преступления).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Его применяли для определения, отпускать ли подозреваемого под залог, а также при вынесении приговора.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2016 году организация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ProPublica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провела исследование, показавшее, что алгоритм систематически завышал риск повторного преступления у афроамериканцев и занижал — у белых.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52DC3-C2B8-40EB-8134-C50B05549E0A}"/>
              </a:ext>
            </a:extLst>
          </p:cNvPr>
          <p:cNvSpPr txBox="1"/>
          <p:nvPr/>
        </p:nvSpPr>
        <p:spPr>
          <a:xfrm>
            <a:off x="243749" y="5956138"/>
            <a:ext cx="138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Интерфакс</a:t>
            </a:r>
            <a:endParaRPr lang="ru-RU" dirty="0"/>
          </a:p>
        </p:txBody>
      </p:sp>
      <p:pic>
        <p:nvPicPr>
          <p:cNvPr id="3077" name="Picture 5" descr="Amazon Rekognition: сервис по распознаванию лиц, способный на глубокий ...">
            <a:extLst>
              <a:ext uri="{FF2B5EF4-FFF2-40B4-BE49-F238E27FC236}">
                <a16:creationId xmlns:a16="http://schemas.microsoft.com/office/drawing/2014/main" id="{D2AEDE18-7AA2-4F5F-92D0-63E2FAD71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578" y="1152583"/>
            <a:ext cx="5280772" cy="49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Amazon </a:t>
            </a:r>
            <a:r>
              <a:rPr lang="en-US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Rekognition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403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2018 году Американский союз гражданских свобод (ACLU) провёл тест, в котором загрузил фотографии 535 членов Конгресса США и сравнил их с базой данных 25 тыс. арестованных.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28 человек были ошибочно определены как преступники.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Среди ошибочно идентифицированных — преимущественно темнокожие и латиноамериканские политики.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52DC3-C2B8-40EB-8134-C50B05549E0A}"/>
              </a:ext>
            </a:extLst>
          </p:cNvPr>
          <p:cNvSpPr txBox="1"/>
          <p:nvPr/>
        </p:nvSpPr>
        <p:spPr>
          <a:xfrm>
            <a:off x="243749" y="5429088"/>
            <a:ext cx="127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hlinkClick r:id="rId3"/>
              </a:rPr>
              <a:t>Тасс</a:t>
            </a:r>
            <a:endParaRPr lang="ru-RU" dirty="0"/>
          </a:p>
        </p:txBody>
      </p:sp>
      <p:pic>
        <p:nvPicPr>
          <p:cNvPr id="3075" name="Picture 3" descr="Система распознавания лиц Amazon Rekognition перепутала американских ...">
            <a:extLst>
              <a:ext uri="{FF2B5EF4-FFF2-40B4-BE49-F238E27FC236}">
                <a16:creationId xmlns:a16="http://schemas.microsoft.com/office/drawing/2014/main" id="{AFCA7D39-E1E6-4817-8EE8-5A7C0E354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499" y="1898252"/>
            <a:ext cx="5035550" cy="283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53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0727" y="3005151"/>
            <a:ext cx="6102773" cy="526918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2. Основные понятия ИИ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012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-RU" dirty="0"/>
              <a:t>Искусственный интеллект</a:t>
            </a:r>
            <a:endParaRPr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- это способность системы интерпретировать внешние данные, учиться из этих данных и использовать полученные знания для достижения конкретных целей.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4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6580" y="831584"/>
            <a:ext cx="7438840" cy="387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8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Ограниченный (узкий) ИИ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12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- это ИИ, созданный для выполнения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одной конкретной задачи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(или ограниченного набора задач).</a:t>
            </a:r>
          </a:p>
        </p:txBody>
      </p:sp>
      <p:pic>
        <p:nvPicPr>
          <p:cNvPr id="4102" name="Picture 6" descr="Face ID expanding beyond smartphones - Telecom Review">
            <a:extLst>
              <a:ext uri="{FF2B5EF4-FFF2-40B4-BE49-F238E27FC236}">
                <a16:creationId xmlns:a16="http://schemas.microsoft.com/office/drawing/2014/main" id="{503A2A75-2DEE-44F5-BD70-4D2FA6250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8" y="3429000"/>
            <a:ext cx="6886572" cy="344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Купить Умная колонка Яндекс Станция Мини (с часами), серый опал по цене 7  990 ₽ в Тюмени | IceApple">
            <a:extLst>
              <a:ext uri="{FF2B5EF4-FFF2-40B4-BE49-F238E27FC236}">
                <a16:creationId xmlns:a16="http://schemas.microsoft.com/office/drawing/2014/main" id="{EEC7925B-BFF1-415F-AC15-FCF745105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344" y="3314699"/>
            <a:ext cx="3921780" cy="367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OpenAI Adjusts Strategy as 'GPT' AI Progress Slows! - All About AI">
            <a:extLst>
              <a:ext uri="{FF2B5EF4-FFF2-40B4-BE49-F238E27FC236}">
                <a16:creationId xmlns:a16="http://schemas.microsoft.com/office/drawing/2014/main" id="{616BADA4-4553-47A5-B3D6-65E854FC0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1" y="300038"/>
            <a:ext cx="5359399" cy="301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Google Переводчик: скрытые функции, о которых знают не все">
            <a:extLst>
              <a:ext uri="{FF2B5EF4-FFF2-40B4-BE49-F238E27FC236}">
                <a16:creationId xmlns:a16="http://schemas.microsoft.com/office/drawing/2014/main" id="{F1306A6C-EA70-4090-935A-11BA5EFAC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9" y="2327490"/>
            <a:ext cx="43200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96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Общий ИИ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15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-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sym typeface="Montserrat"/>
              </a:rPr>
              <a:t>э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то гипотетическая форма ИИ, обладающая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универсальными когнитивными способностями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сопоставимыми (или превосходящими) человеческие.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5128" name="Picture 8" descr="Джарвис в телефоне: гаджет Железного человека появится на платформе iOS —  Новости на Фильм Про">
            <a:extLst>
              <a:ext uri="{FF2B5EF4-FFF2-40B4-BE49-F238E27FC236}">
                <a16:creationId xmlns:a16="http://schemas.microsoft.com/office/drawing/2014/main" id="{236C77D3-90E8-4270-9F95-EB890AAE8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469" y="2971430"/>
            <a:ext cx="6667500" cy="375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Data – Enterprise Lab Group">
            <a:extLst>
              <a:ext uri="{FF2B5EF4-FFF2-40B4-BE49-F238E27FC236}">
                <a16:creationId xmlns:a16="http://schemas.microsoft.com/office/drawing/2014/main" id="{21F90F60-53F3-47F8-BE61-F544A6B90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252" y="113291"/>
            <a:ext cx="2795510" cy="279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Amazon.com: Moebius Models 1:1 Hal 9000-2001: A Space ...">
            <a:extLst>
              <a:ext uri="{FF2B5EF4-FFF2-40B4-BE49-F238E27FC236}">
                <a16:creationId xmlns:a16="http://schemas.microsoft.com/office/drawing/2014/main" id="{765E9840-4F35-478F-85D9-58B607D05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38" y="2735067"/>
            <a:ext cx="1852083" cy="380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92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Сравнение 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37B0638-13B8-4CFD-A20E-6873ED1B3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556514"/>
              </p:ext>
            </p:extLst>
          </p:nvPr>
        </p:nvGraphicFramePr>
        <p:xfrm>
          <a:off x="1307306" y="1719790"/>
          <a:ext cx="10129839" cy="4173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613">
                  <a:extLst>
                    <a:ext uri="{9D8B030D-6E8A-4147-A177-3AD203B41FA5}">
                      <a16:colId xmlns:a16="http://schemas.microsoft.com/office/drawing/2014/main" val="1850975969"/>
                    </a:ext>
                  </a:extLst>
                </a:gridCol>
                <a:gridCol w="3376613">
                  <a:extLst>
                    <a:ext uri="{9D8B030D-6E8A-4147-A177-3AD203B41FA5}">
                      <a16:colId xmlns:a16="http://schemas.microsoft.com/office/drawing/2014/main" val="524243090"/>
                    </a:ext>
                  </a:extLst>
                </a:gridCol>
                <a:gridCol w="3376613">
                  <a:extLst>
                    <a:ext uri="{9D8B030D-6E8A-4147-A177-3AD203B41FA5}">
                      <a16:colId xmlns:a16="http://schemas.microsoft.com/office/drawing/2014/main" val="982563262"/>
                    </a:ext>
                  </a:extLst>
                </a:gridCol>
              </a:tblGrid>
              <a:tr h="454758">
                <a:tc>
                  <a:txBody>
                    <a:bodyPr/>
                    <a:lstStyle/>
                    <a:p>
                      <a:r>
                        <a:rPr lang="ru-RU" dirty="0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Ограниченный (узкий) ИИ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Общий ИИ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1343279"/>
                  </a:ext>
                </a:extLst>
              </a:tr>
              <a:tr h="454758">
                <a:tc>
                  <a:txBody>
                    <a:bodyPr/>
                    <a:lstStyle/>
                    <a:p>
                      <a:r>
                        <a:rPr lang="ru-RU"/>
                        <a:t>Область применения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Одна конкретная задача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Универсальный интеллект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41884"/>
                  </a:ext>
                </a:extLst>
              </a:tr>
              <a:tr h="784924">
                <a:tc>
                  <a:txBody>
                    <a:bodyPr/>
                    <a:lstStyle/>
                    <a:p>
                      <a:r>
                        <a:rPr lang="ru-RU"/>
                        <a:t>Примеры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Siri, </a:t>
                      </a:r>
                      <a:r>
                        <a:rPr lang="en-US" dirty="0" err="1"/>
                        <a:t>ChatGPT</a:t>
                      </a:r>
                      <a:r>
                        <a:rPr lang="en-US" dirty="0"/>
                        <a:t>, DeepMind AlphaGo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Jarvis, HAL 9000 (</a:t>
                      </a:r>
                      <a:r>
                        <a:rPr lang="ru-RU" dirty="0"/>
                        <a:t>гипотетически)</a:t>
                      </a:r>
                      <a:r>
                        <a:rPr lang="en-US" dirty="0"/>
                        <a:t>, Data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789173"/>
                  </a:ext>
                </a:extLst>
              </a:tr>
              <a:tr h="784924">
                <a:tc>
                  <a:txBody>
                    <a:bodyPr/>
                    <a:lstStyle/>
                    <a:p>
                      <a:r>
                        <a:rPr lang="ru-RU"/>
                        <a:t>Обучаемость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Ограниченная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Обширная, кросс-дисциплинарная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751336"/>
                  </a:ext>
                </a:extLst>
              </a:tr>
              <a:tr h="454758">
                <a:tc>
                  <a:txBody>
                    <a:bodyPr/>
                    <a:lstStyle/>
                    <a:p>
                      <a:r>
                        <a:rPr lang="ru-RU"/>
                        <a:t>Самосознание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Предположительно — 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014827"/>
                  </a:ext>
                </a:extLst>
              </a:tr>
              <a:tr h="784924">
                <a:tc>
                  <a:txBody>
                    <a:bodyPr/>
                    <a:lstStyle/>
                    <a:p>
                      <a:r>
                        <a:rPr lang="ru-RU"/>
                        <a:t>Текущий статус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Существует и широко применяется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На этапе исследований и теорий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750623"/>
                  </a:ext>
                </a:extLst>
              </a:tr>
              <a:tr h="454758">
                <a:tc>
                  <a:txBody>
                    <a:bodyPr/>
                    <a:lstStyle/>
                    <a:p>
                      <a:r>
                        <a:rPr lang="ru-RU"/>
                        <a:t>Этический контроль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Ограниченный (но необходим)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Критически важный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589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dirty="0"/>
              <a:t>Этика</a:t>
            </a:r>
            <a:endParaRPr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- это раздел философии, который изучает:</a:t>
            </a:r>
          </a:p>
          <a:p>
            <a:pPr marL="342900" indent="-34290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ru-RU" sz="2133" dirty="0"/>
              <a:t>что такое добро и зло;</a:t>
            </a:r>
          </a:p>
          <a:p>
            <a:pPr marL="342900" indent="-34290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ru-RU" sz="2133" dirty="0"/>
              <a:t>что значит поступать правильно;</a:t>
            </a:r>
          </a:p>
          <a:p>
            <a:pPr marL="342900" indent="-34290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ru-RU" sz="2133" dirty="0"/>
              <a:t>какие моральные принципы должны направлять поведение человека.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268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5;p103">
            <a:extLst>
              <a:ext uri="{FF2B5EF4-FFF2-40B4-BE49-F238E27FC236}">
                <a16:creationId xmlns:a16="http://schemas.microsoft.com/office/drawing/2014/main" id="{DE56742B-8234-4663-882B-9BC3BF3B87B7}"/>
              </a:ext>
            </a:extLst>
          </p:cNvPr>
          <p:cNvSpPr txBox="1"/>
          <p:nvPr/>
        </p:nvSpPr>
        <p:spPr>
          <a:xfrm>
            <a:off x="575640" y="993833"/>
            <a:ext cx="6284809" cy="331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Этика помогает нам отвечать на такие вопросы, как: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Что справедливо?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Что я должен делать в данной ситуации?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Могу ли я причинить вред ради пользы?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Есть ли универсальные моральные правила?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FC6FE-084A-4135-A980-6FA1A0D3ECFD}"/>
              </a:ext>
            </a:extLst>
          </p:cNvPr>
          <p:cNvSpPr txBox="1"/>
          <p:nvPr/>
        </p:nvSpPr>
        <p:spPr>
          <a:xfrm>
            <a:off x="3314700" y="490220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latin typeface="Verdana" panose="020B0604030504040204" pitchFamily="34" charset="0"/>
                <a:ea typeface="Verdana" panose="020B0604030504040204" pitchFamily="34" charset="0"/>
              </a:rPr>
              <a:t> Этика ≠ Закон</a:t>
            </a:r>
          </a:p>
        </p:txBody>
      </p:sp>
      <p:pic>
        <p:nvPicPr>
          <p:cNvPr id="7170" name="Picture 2" descr="Этика">
            <a:extLst>
              <a:ext uri="{FF2B5EF4-FFF2-40B4-BE49-F238E27FC236}">
                <a16:creationId xmlns:a16="http://schemas.microsoft.com/office/drawing/2014/main" id="{D922969F-80EC-410C-B2D5-82B213C75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171450"/>
            <a:ext cx="4783314" cy="47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079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5;p103">
            <a:extLst>
              <a:ext uri="{FF2B5EF4-FFF2-40B4-BE49-F238E27FC236}">
                <a16:creationId xmlns:a16="http://schemas.microsoft.com/office/drawing/2014/main" id="{DE56742B-8234-4663-882B-9BC3BF3B87B7}"/>
              </a:ext>
            </a:extLst>
          </p:cNvPr>
          <p:cNvSpPr txBox="1"/>
          <p:nvPr/>
        </p:nvSpPr>
        <p:spPr>
          <a:xfrm>
            <a:off x="3382341" y="822383"/>
            <a:ext cx="4986960" cy="662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Основные теории этики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75625E1-2774-4DA4-9A0A-F6F6003E8B13}"/>
              </a:ext>
            </a:extLst>
          </p:cNvPr>
          <p:cNvSpPr/>
          <p:nvPr/>
        </p:nvSpPr>
        <p:spPr>
          <a:xfrm>
            <a:off x="1390650" y="2349500"/>
            <a:ext cx="2444750" cy="1250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Утилитаризм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FC0AE56-F5B5-4B32-8ACC-6B35D085A11D}"/>
              </a:ext>
            </a:extLst>
          </p:cNvPr>
          <p:cNvSpPr/>
          <p:nvPr/>
        </p:nvSpPr>
        <p:spPr>
          <a:xfrm>
            <a:off x="4591050" y="2349500"/>
            <a:ext cx="2444750" cy="1250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Деонтология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26D7CB-3501-4541-AE45-0DAC7FC355BD}"/>
              </a:ext>
            </a:extLst>
          </p:cNvPr>
          <p:cNvSpPr/>
          <p:nvPr/>
        </p:nvSpPr>
        <p:spPr>
          <a:xfrm>
            <a:off x="7791450" y="2349500"/>
            <a:ext cx="2444750" cy="125095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Этика добродетели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8EA1768-2A65-42FC-9EBD-55F2FD6B6E53}"/>
              </a:ext>
            </a:extLst>
          </p:cNvPr>
          <p:cNvCxnSpPr>
            <a:stCxn id="4" idx="2"/>
            <a:endCxn id="3" idx="0"/>
          </p:cNvCxnSpPr>
          <p:nvPr/>
        </p:nvCxnSpPr>
        <p:spPr>
          <a:xfrm flipH="1">
            <a:off x="2613025" y="1484616"/>
            <a:ext cx="3262796" cy="864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55AE564-0987-48E8-A199-A3A1FDBD6DC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875821" y="1484616"/>
            <a:ext cx="0" cy="915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D9EED5C-328C-4530-824D-EC90179BF108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5875821" y="1484616"/>
            <a:ext cx="3138004" cy="864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117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Утилитаризм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15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Утилитаризм — это теория, согласно которой правильным считается то действие, которое приносит наибольшее благо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наибольшему числу людей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7612A-7DCC-45BD-9A02-D007B7DF181B}"/>
              </a:ext>
            </a:extLst>
          </p:cNvPr>
          <p:cNvSpPr txBox="1"/>
          <p:nvPr/>
        </p:nvSpPr>
        <p:spPr>
          <a:xfrm>
            <a:off x="307975" y="354003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в контексте ИИ: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Если беспилотный автомобиль может выбрать — сбить одного пешехода или пятерых, — утилитарный подход потребует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минимизации ущерба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(сбить одного).</a:t>
            </a:r>
          </a:p>
        </p:txBody>
      </p:sp>
      <p:pic>
        <p:nvPicPr>
          <p:cNvPr id="8194" name="Picture 2" descr="Что такое утилитаризм? | Журнал Интроверта">
            <a:extLst>
              <a:ext uri="{FF2B5EF4-FFF2-40B4-BE49-F238E27FC236}">
                <a16:creationId xmlns:a16="http://schemas.microsoft.com/office/drawing/2014/main" id="{8E750D0D-AD3E-4430-A574-11DF55B04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499" y="2217505"/>
            <a:ext cx="4683057" cy="264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607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Деонтология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12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Деонтология утверждает, что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некоторые действия всегда этически правильны или неправильны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, независимо от последствий.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7612A-7DCC-45BD-9A02-D007B7DF181B}"/>
              </a:ext>
            </a:extLst>
          </p:cNvPr>
          <p:cNvSpPr txBox="1"/>
          <p:nvPr/>
        </p:nvSpPr>
        <p:spPr>
          <a:xfrm>
            <a:off x="307975" y="354003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в контексте ИИ: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Даже если обман пользователя повысит прибыль,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ИИ не должен лгать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потому что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обман — морально недопустим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pic>
        <p:nvPicPr>
          <p:cNvPr id="9218" name="Picture 2" descr="Деонтологическая этика, утилитаризм и ИИ">
            <a:extLst>
              <a:ext uri="{FF2B5EF4-FFF2-40B4-BE49-F238E27FC236}">
                <a16:creationId xmlns:a16="http://schemas.microsoft.com/office/drawing/2014/main" id="{30F55B45-1C36-4B5D-BB16-F82791BA0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13" y="1908370"/>
            <a:ext cx="3703637" cy="240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53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Этика добродетели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12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Этика добродетели фокусируется не на действиях и их последствиях, а на характере человека, который совершает эти действия.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7612A-7DCC-45BD-9A02-D007B7DF181B}"/>
              </a:ext>
            </a:extLst>
          </p:cNvPr>
          <p:cNvSpPr txBox="1"/>
          <p:nvPr/>
        </p:nvSpPr>
        <p:spPr>
          <a:xfrm>
            <a:off x="307975" y="354003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 в контексте ИИ: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Разработчик, воспитанный в духе этики добродетели, не создаст систему, которая причиняет вред, даже если это законно и прибыльно.</a:t>
            </a:r>
          </a:p>
        </p:txBody>
      </p:sp>
      <p:pic>
        <p:nvPicPr>
          <p:cNvPr id="10242" name="Picture 2" descr="Десять мифов об айтишниках: правда или заблуждение? – Продукты и технологии  | IT-World.ru">
            <a:extLst>
              <a:ext uri="{FF2B5EF4-FFF2-40B4-BE49-F238E27FC236}">
                <a16:creationId xmlns:a16="http://schemas.microsoft.com/office/drawing/2014/main" id="{D523B0B1-1775-44EC-B682-FB6EF18E9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524" y="2299620"/>
            <a:ext cx="5904843" cy="435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233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Сравнение 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562CC726-66E8-4FEB-A284-47A75CBCA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421060"/>
              </p:ext>
            </p:extLst>
          </p:nvPr>
        </p:nvGraphicFramePr>
        <p:xfrm>
          <a:off x="1250950" y="1754716"/>
          <a:ext cx="9550401" cy="3242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7">
                  <a:extLst>
                    <a:ext uri="{9D8B030D-6E8A-4147-A177-3AD203B41FA5}">
                      <a16:colId xmlns:a16="http://schemas.microsoft.com/office/drawing/2014/main" val="3978162380"/>
                    </a:ext>
                  </a:extLst>
                </a:gridCol>
                <a:gridCol w="2167467">
                  <a:extLst>
                    <a:ext uri="{9D8B030D-6E8A-4147-A177-3AD203B41FA5}">
                      <a16:colId xmlns:a16="http://schemas.microsoft.com/office/drawing/2014/main" val="1537789025"/>
                    </a:ext>
                  </a:extLst>
                </a:gridCol>
                <a:gridCol w="2167467">
                  <a:extLst>
                    <a:ext uri="{9D8B030D-6E8A-4147-A177-3AD203B41FA5}">
                      <a16:colId xmlns:a16="http://schemas.microsoft.com/office/drawing/2014/main" val="21691795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0925297"/>
                    </a:ext>
                  </a:extLst>
                </a:gridCol>
              </a:tblGrid>
              <a:tr h="423470">
                <a:tc>
                  <a:txBody>
                    <a:bodyPr/>
                    <a:lstStyle/>
                    <a:p>
                      <a:r>
                        <a:rPr lang="ru-RU" dirty="0"/>
                        <a:t>Теория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Основной 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Преимущество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Недостаток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231404"/>
                  </a:ext>
                </a:extLst>
              </a:tr>
              <a:tr h="1044172">
                <a:tc>
                  <a:txBody>
                    <a:bodyPr/>
                    <a:lstStyle/>
                    <a:p>
                      <a:r>
                        <a:rPr lang="ru-RU"/>
                        <a:t>Утилитаризм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Последствия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Ориентирован на общественную пользу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Может оправдать аморальные средства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757355"/>
                  </a:ext>
                </a:extLst>
              </a:tr>
              <a:tr h="730920">
                <a:tc>
                  <a:txBody>
                    <a:bodyPr/>
                    <a:lstStyle/>
                    <a:p>
                      <a:r>
                        <a:rPr lang="ru-RU"/>
                        <a:t>Деонтология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Правила и долг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Защита прав, универсальность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Игнорирует последствия, негибкость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098771"/>
                  </a:ext>
                </a:extLst>
              </a:tr>
              <a:tr h="1044172">
                <a:tc>
                  <a:txBody>
                    <a:bodyPr/>
                    <a:lstStyle/>
                    <a:p>
                      <a:r>
                        <a:rPr lang="ru-RU"/>
                        <a:t>Этика добродетели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Характер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Учитывает намерения, мотивацию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Трудна в применении к алгоритмам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424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951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dirty="0"/>
              <a:t>Этика ИИ</a:t>
            </a:r>
            <a:endParaRPr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- это область, которая изучает моральные последствия разработки, применения и влияния искусственного интеллекта на человека и общество.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199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0894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Отличия этики ИИ от классической этики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19C8DBE-D800-426F-AA2F-63D8947C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694570"/>
              </p:ext>
            </p:extLst>
          </p:nvPr>
        </p:nvGraphicFramePr>
        <p:xfrm>
          <a:off x="603250" y="1494366"/>
          <a:ext cx="10693401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467">
                  <a:extLst>
                    <a:ext uri="{9D8B030D-6E8A-4147-A177-3AD203B41FA5}">
                      <a16:colId xmlns:a16="http://schemas.microsoft.com/office/drawing/2014/main" val="2949341941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1660074727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1310383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Особенность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Классическая этика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Этика 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53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Объекты рассмотрения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Люди, группы, общественные институты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Люди + алгоритмы, данные, автономные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26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Сфера применения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Все аспекты человеческого поведения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Искусственный интеллект и автоматизация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52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Ответственность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Всегда персонализированная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Распределённая: разработчик, заказчик, ИИ?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53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Проблемы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Моральный выбор, долг, добродетель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Автономность ИИ, прозрачность, предвзятость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286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Подход к регулированию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Этические нормы, кодексы, личные убеждения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Нормы + программная реализация, юридическая ответственность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61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Изменяемость поведения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Этические принципы могут быть пересмотрены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Поведение ИИ зависит от кода и данных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635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010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ИИ требует особой этики?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558983"/>
            <a:ext cx="6284809" cy="20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Непрозрачность (черный ящик)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Непредсказуемость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Распределенная ответственность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Отсутствие сознания</a:t>
            </a:r>
          </a:p>
        </p:txBody>
      </p:sp>
    </p:spTree>
    <p:extLst>
      <p:ext uri="{BB962C8B-B14F-4D97-AF65-F5344CB8AC3E}">
        <p14:creationId xmlns:p14="http://schemas.microsoft.com/office/powerpoint/2010/main" val="3179318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Этика ИИ ≠ добавка к ИИ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558983"/>
            <a:ext cx="6284809" cy="312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Этика должна быть встроена на всех этапах: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— проектирование,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— обучение,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— тестирование,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— внедрение,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— мониторинг.</a:t>
            </a:r>
          </a:p>
        </p:txBody>
      </p:sp>
    </p:spTree>
    <p:extLst>
      <p:ext uri="{BB962C8B-B14F-4D97-AF65-F5344CB8AC3E}">
        <p14:creationId xmlns:p14="http://schemas.microsoft.com/office/powerpoint/2010/main" val="3752457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13027" y="3036901"/>
            <a:ext cx="7408873" cy="526918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4. Основные проблемы этики ИИ</a:t>
            </a:r>
            <a:endParaRPr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099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 (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предвзятость)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558983"/>
            <a:ext cx="6284809" cy="1936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— это систематическое отклонение в алгоритмах, данных или выводах, которое приводит к несправедливым или ошибочным результатам, особенно в отношении определённых групп людей.</a:t>
            </a:r>
          </a:p>
        </p:txBody>
      </p:sp>
      <p:pic>
        <p:nvPicPr>
          <p:cNvPr id="12292" name="Picture 4" descr="How To Prevent Unconscious Bias In The Workplace">
            <a:extLst>
              <a:ext uri="{FF2B5EF4-FFF2-40B4-BE49-F238E27FC236}">
                <a16:creationId xmlns:a16="http://schemas.microsoft.com/office/drawing/2014/main" id="{479552D9-8D32-409D-BAC2-67B64A955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0" y="2632655"/>
            <a:ext cx="6235622" cy="4157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293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Откуда берётся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Bias?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558983"/>
            <a:ext cx="6284809" cy="1561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обучающих данных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выборе признаков (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features)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 интерпретации и применении модели</a:t>
            </a:r>
          </a:p>
        </p:txBody>
      </p:sp>
      <p:pic>
        <p:nvPicPr>
          <p:cNvPr id="13314" name="Picture 2" descr="Humans Absorb Bias from AI—And Keep It after They Stop Using the Algorithm  | Scientific American">
            <a:extLst>
              <a:ext uri="{FF2B5EF4-FFF2-40B4-BE49-F238E27FC236}">
                <a16:creationId xmlns:a16="http://schemas.microsoft.com/office/drawing/2014/main" id="{8EDAA624-1776-48FB-9AF9-D7972AFA0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800" y="3013800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213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 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ИИ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2EFE78F5-00B3-4091-8C5F-86BC250AE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84170"/>
              </p:ext>
            </p:extLst>
          </p:nvPr>
        </p:nvGraphicFramePr>
        <p:xfrm>
          <a:off x="460375" y="1514475"/>
          <a:ext cx="52578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45909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Data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967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Historical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85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Measurement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348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Label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723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Algorithmic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26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Deployment 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5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27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</a:t>
            </a: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— это серьёзная проблема?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307975" y="1349365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Ущемление прав человека.</a:t>
            </a: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Юридические последствия.</a:t>
            </a: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Потеря доверия к технологиям.</a:t>
            </a:r>
          </a:p>
        </p:txBody>
      </p:sp>
      <p:pic>
        <p:nvPicPr>
          <p:cNvPr id="15362" name="Picture 2" descr="Исторический парк - &quot;Не верю!&quot;, - фраза, ставшая легендарной в мире кино,  театра и в бытовой сфере после того, как её стал употреблять в качестве  режиссёрского приёма Константин Сергеевич Станиславский 🎭 ⠀">
            <a:extLst>
              <a:ext uri="{FF2B5EF4-FFF2-40B4-BE49-F238E27FC236}">
                <a16:creationId xmlns:a16="http://schemas.microsoft.com/office/drawing/2014/main" id="{B1A6EE65-9594-450B-B12D-846DBF5D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799" y="4726215"/>
            <a:ext cx="2686049" cy="213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Права человека в Украине - Отчет 2020 года о нарушениях прав человека -  ZN.ua">
            <a:extLst>
              <a:ext uri="{FF2B5EF4-FFF2-40B4-BE49-F238E27FC236}">
                <a16:creationId xmlns:a16="http://schemas.microsoft.com/office/drawing/2014/main" id="{92DC5785-E31B-4C70-B2E9-7082AEE8C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799" y="984320"/>
            <a:ext cx="268605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CB6CCA-499C-4708-9D70-D6C2D8AE2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798" y="2831083"/>
            <a:ext cx="2686050" cy="17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71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бороться с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Bias?</a:t>
            </a:r>
            <a:endParaRPr lang="ru-RU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307975" y="1349365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1. Сбор и анализ сбалансированных данных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включение разнообразных групп населения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удаление прокси-признаков дискриминации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2. Тестирование моделей на справедливость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использование метрик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fairness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disparate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impact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equal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opportunity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demographic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parity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Explainable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AI (объяснимый ИИ)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алгоритмы, которые можно интерпретировать и объяснить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3. Аудит моделей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независимая проверка этических и технических характеристик модели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4. Регулирование и контроль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внедрение нормативов, запрещающих дискриминационные алгоритмы</a:t>
            </a:r>
          </a:p>
          <a:p>
            <a:pPr>
              <a:buFont typeface="+mj-lt"/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50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Конфиденциальность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307975" y="134936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это право человека контролировать, какие личные данные собираются, используются, хранятся и передаются.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F8405-9001-4772-A7EE-BD15B56D0A72}"/>
              </a:ext>
            </a:extLst>
          </p:cNvPr>
          <p:cNvSpPr txBox="1"/>
          <p:nvPr/>
        </p:nvSpPr>
        <p:spPr>
          <a:xfrm>
            <a:off x="307975" y="2537510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ИИ-системы могут собирать, обрабатывать и анализировать 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огромные массивы чувствительной информации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изображения лиц;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голосовые данные;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местоположение;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поведение в сети;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биометрические данные;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эмоции; 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намерения (на основе анализа паттернов).</a:t>
            </a:r>
          </a:p>
        </p:txBody>
      </p:sp>
      <p:pic>
        <p:nvPicPr>
          <p:cNvPr id="1026" name="Picture 2" descr="Конфиденциальность">
            <a:extLst>
              <a:ext uri="{FF2B5EF4-FFF2-40B4-BE49-F238E27FC236}">
                <a16:creationId xmlns:a16="http://schemas.microsoft.com/office/drawing/2014/main" id="{E8113CC4-5522-4E70-846A-C136192E9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3352801"/>
            <a:ext cx="5821076" cy="278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633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ИИ и распознавание лиц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155575" y="134936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Как работает?</a:t>
            </a:r>
          </a:p>
          <a:p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1. Камеры фиксируют лицо.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2. Система распознаёт черты, сравнивает с базой данных.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3. Результат — идентификация личности или определение эмоций, пола, возраста и др.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F8405-9001-4772-A7EE-BD15B56D0A72}"/>
              </a:ext>
            </a:extLst>
          </p:cNvPr>
          <p:cNvSpPr txBox="1"/>
          <p:nvPr/>
        </p:nvSpPr>
        <p:spPr>
          <a:xfrm>
            <a:off x="155575" y="3754310"/>
            <a:ext cx="5654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Где используется?</a:t>
            </a:r>
          </a:p>
          <a:p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Полиция и слежка в общественных местах.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Аэропорты (идентификация пассажиров).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Пропускная система в офисах.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Социальные сети (Facebook, VK).</a:t>
            </a: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- Реклама (эмоциональный анализ для таргетинга).</a:t>
            </a:r>
          </a:p>
        </p:txBody>
      </p:sp>
      <p:pic>
        <p:nvPicPr>
          <p:cNvPr id="2050" name="Picture 2" descr="Пример готовой системы распознавания лиц с открытым кодом Github">
            <a:extLst>
              <a:ext uri="{FF2B5EF4-FFF2-40B4-BE49-F238E27FC236}">
                <a16:creationId xmlns:a16="http://schemas.microsoft.com/office/drawing/2014/main" id="{7284CDEE-522A-42BC-AC81-5FC2973C3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324" y="160338"/>
            <a:ext cx="5469426" cy="308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rteco Honored with Industry Awards for Intelligent Face Recognition  Solution - Arteco">
            <a:extLst>
              <a:ext uri="{FF2B5EF4-FFF2-40B4-BE49-F238E27FC236}">
                <a16:creationId xmlns:a16="http://schemas.microsoft.com/office/drawing/2014/main" id="{7ED5B0BA-6145-43D5-BF33-8705E59B3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3279775"/>
            <a:ext cx="62865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1441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Этические и социальные проблемы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460375" y="139640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Нарушение права на частную жизнь;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Массовая слежка;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Дискриминация и ошибки;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Отсутствие прозрачности.</a:t>
            </a:r>
          </a:p>
          <a:p>
            <a:pPr marL="342900" indent="-342900">
              <a:buAutoNum type="arabicPeriod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074" name="Picture 2" descr="Дискриминация есть, а понятия нет">
            <a:extLst>
              <a:ext uri="{FF2B5EF4-FFF2-40B4-BE49-F238E27FC236}">
                <a16:creationId xmlns:a16="http://schemas.microsoft.com/office/drawing/2014/main" id="{AEC63017-632C-441C-831D-004E79BDB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676" y="997527"/>
            <a:ext cx="3976175" cy="326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884535-D6CA-490F-99F9-D6542B5D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650" y="3704725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55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Правовые документы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460375" y="1396401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GDPR (General Data Protection </a:t>
            </a:r>
            <a:r>
              <a:rPr lang="ru-RU" sz="1600" b="1" dirty="0" err="1">
                <a:latin typeface="Verdana" panose="020B0604030504040204" pitchFamily="34" charset="0"/>
                <a:ea typeface="Verdana" panose="020B0604030504040204" pitchFamily="34" charset="0"/>
              </a:rPr>
              <a:t>Regulation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— Общий регламент по защите персональных данных, принятый в ЕС в 2016 году, вступил в силу с мая 2018.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Тезисы: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Принцип законности и прозрачности;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Права субъектов данных;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Минимизация и ограничение целей;</a:t>
            </a:r>
          </a:p>
          <a:p>
            <a:pPr marL="285750" indent="-285750">
              <a:buFontTx/>
              <a:buChar char="-"/>
            </a:pP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Privacy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by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Design и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Privacy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by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Default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Ответственность и отчётность.</a:t>
            </a:r>
          </a:p>
          <a:p>
            <a:pPr marL="285750" indent="-285750">
              <a:buFontTx/>
              <a:buChar char="-"/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2. 152-ФЗ «О персональных данных»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Тезисы: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Законность обработки и цель сбора;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Согласие субъекта и другие основания;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Права субъекта;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Требования к операторам;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Локализация и трансграничная передача;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Технические и организационные меры;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Ответственность и контроль.</a:t>
            </a:r>
          </a:p>
        </p:txBody>
      </p:sp>
      <p:pic>
        <p:nvPicPr>
          <p:cNvPr id="4098" name="Picture 2" descr="Seven tips for compliance with the General Data Protection Regulation (GDPR)  - Ackcent">
            <a:extLst>
              <a:ext uri="{FF2B5EF4-FFF2-40B4-BE49-F238E27FC236}">
                <a16:creationId xmlns:a16="http://schemas.microsoft.com/office/drawing/2014/main" id="{8932AD47-ECE0-421A-84F8-91C2AE28B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434" y="547276"/>
            <a:ext cx="5686566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Закон о персональных данных 152 ФЗ: как не нарушить – PR-CY Блог">
            <a:extLst>
              <a:ext uri="{FF2B5EF4-FFF2-40B4-BE49-F238E27FC236}">
                <a16:creationId xmlns:a16="http://schemas.microsoft.com/office/drawing/2014/main" id="{D8005DC9-9E9A-41D5-9320-8B8D17DF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434" y="3827532"/>
            <a:ext cx="5686566" cy="284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595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Этические дилеммы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460375" y="1396401"/>
            <a:ext cx="6096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Что важнее: безопасность или приватность?</a:t>
            </a:r>
            <a:b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Камеры на улице могут предотвратить преступление, но при этом нарушают конфиденциальность всех прохожих.</a:t>
            </a:r>
          </a:p>
          <a:p>
            <a:pPr marL="342900" indent="-342900">
              <a:buAutoNum type="arabicPeriod"/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Можно ли собирать «анонимные» данные?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Даже обезличенные данные могут быть повторно идентифицированы с помощью ИИ.</a:t>
            </a:r>
          </a:p>
          <a:p>
            <a:pPr marL="342900" indent="-342900">
              <a:buAutoNum type="arabicPeriod"/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Как быть с ИИ, обученным на личных данных?</a:t>
            </a:r>
            <a:b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Даже если удалить данные, ИИ уже «усвоил» их — это необратимо?</a:t>
            </a:r>
          </a:p>
        </p:txBody>
      </p:sp>
    </p:spTree>
    <p:extLst>
      <p:ext uri="{BB962C8B-B14F-4D97-AF65-F5344CB8AC3E}">
        <p14:creationId xmlns:p14="http://schemas.microsoft.com/office/powerpoint/2010/main" val="2388547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60375" y="160338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Автономность ИИ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370819" y="72628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 это способность системы действовать без прямого вмешательства человека, принимая решения на основе собственных алгоритмов, сенсоров и данных из окружающей среды.</a:t>
            </a: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Примеры автономных ИИ-систем:</a:t>
            </a:r>
          </a:p>
          <a:p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Беспилотные автомобили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autonomous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vehicles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);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Военные дроны и боевые роботы;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Системы автоматического назначения пособий/штрафов;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ИИ в медицине, рекомендующий лечение.</a:t>
            </a:r>
          </a:p>
        </p:txBody>
      </p:sp>
      <p:pic>
        <p:nvPicPr>
          <p:cNvPr id="5122" name="Picture 2" descr="Как выглядят беспилотные автомобили Яндекса нового поколения — Блог Яндекса">
            <a:extLst>
              <a:ext uri="{FF2B5EF4-FFF2-40B4-BE49-F238E27FC236}">
                <a16:creationId xmlns:a16="http://schemas.microsoft.com/office/drawing/2014/main" id="{3564FB03-17BB-4281-9513-852B78E3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818" y="160338"/>
            <a:ext cx="5216607" cy="347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Роботы-хирурги берут сердце в свои руки: 400 успешных операций,  выживаемость 98% / Хабр">
            <a:extLst>
              <a:ext uri="{FF2B5EF4-FFF2-40B4-BE49-F238E27FC236}">
                <a16:creationId xmlns:a16="http://schemas.microsoft.com/office/drawing/2014/main" id="{1D1E6EA7-7206-421B-93CC-9BA68C984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763" y="3633788"/>
            <a:ext cx="4681537" cy="323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69F1E8-9D2B-4201-B9EC-E62461651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6" y="4419600"/>
            <a:ext cx="4335887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52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60375" y="160338"/>
            <a:ext cx="112230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Этическая дилемма 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61CA-7871-4E42-8E98-670F06DD8DDD}"/>
              </a:ext>
            </a:extLst>
          </p:cNvPr>
          <p:cNvSpPr txBox="1"/>
          <p:nvPr/>
        </p:nvSpPr>
        <p:spPr>
          <a:xfrm>
            <a:off x="460375" y="1951831"/>
            <a:ext cx="5709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Можем ли мы позволить машине самостоятельно принимать решения, от которых зависят человеческие жизни?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3D21F-BE84-4A35-AE58-AC08F809228A}"/>
              </a:ext>
            </a:extLst>
          </p:cNvPr>
          <p:cNvSpPr txBox="1"/>
          <p:nvPr/>
        </p:nvSpPr>
        <p:spPr>
          <a:xfrm>
            <a:off x="520700" y="5702300"/>
            <a:ext cx="208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hlinkClick r:id="rId3"/>
              </a:rPr>
              <a:t>Газета.ру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AB93E67-4FB3-47A1-845A-EEE2D65AF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900" y="1117600"/>
            <a:ext cx="59055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378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B1E79-FFD8-4DD7-A906-B49D900FA338}"/>
              </a:ext>
            </a:extLst>
          </p:cNvPr>
          <p:cNvSpPr/>
          <p:nvPr/>
        </p:nvSpPr>
        <p:spPr>
          <a:xfrm>
            <a:off x="7854950" y="234300"/>
            <a:ext cx="4210050" cy="851550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22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3721</TotalTime>
  <Words>1455</Words>
  <Application>Microsoft Office PowerPoint</Application>
  <PresentationFormat>Широкоэкранный</PresentationFormat>
  <Paragraphs>275</Paragraphs>
  <Slides>40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8" baseType="lpstr">
      <vt:lpstr>MS PGothic</vt:lpstr>
      <vt:lpstr>Arial</vt:lpstr>
      <vt:lpstr>Calibri</vt:lpstr>
      <vt:lpstr>Calibri Light</vt:lpstr>
      <vt:lpstr>Montserrat</vt:lpstr>
      <vt:lpstr>Tahoma</vt:lpstr>
      <vt:lpstr>Verdana</vt:lpstr>
      <vt:lpstr>Тема Office</vt:lpstr>
      <vt:lpstr>Этика Искусственного Интеллекта </vt:lpstr>
      <vt:lpstr>План занятия</vt:lpstr>
      <vt:lpstr>Кратко о себе</vt:lpstr>
      <vt:lpstr>1. Что такое этика ИИ</vt:lpstr>
      <vt:lpstr>Почему этика ИИ важна?</vt:lpstr>
      <vt:lpstr>Почему этика ИИ важна?</vt:lpstr>
      <vt:lpstr>Tay от Microsoft</vt:lpstr>
      <vt:lpstr>Алгоритм COMPAS</vt:lpstr>
      <vt:lpstr>Amazon Rekognition</vt:lpstr>
      <vt:lpstr>2. Основные понятия ИИ</vt:lpstr>
      <vt:lpstr>Искусственный интеллект</vt:lpstr>
      <vt:lpstr>Презентация PowerPoint</vt:lpstr>
      <vt:lpstr>Ограниченный (узкий) ИИ</vt:lpstr>
      <vt:lpstr>Общий ИИ</vt:lpstr>
      <vt:lpstr>Сравнение </vt:lpstr>
      <vt:lpstr>Этика</vt:lpstr>
      <vt:lpstr>Презентация PowerPoint</vt:lpstr>
      <vt:lpstr>Презентация PowerPoint</vt:lpstr>
      <vt:lpstr>Утилитаризм</vt:lpstr>
      <vt:lpstr>Деонтология</vt:lpstr>
      <vt:lpstr>Этика добродетели</vt:lpstr>
      <vt:lpstr>Сравнение </vt:lpstr>
      <vt:lpstr>Этика ИИ</vt:lpstr>
      <vt:lpstr>Отличия этики ИИ от классической этики</vt:lpstr>
      <vt:lpstr>Почему ИИ требует особой этики?</vt:lpstr>
      <vt:lpstr>Этика ИИ ≠ добавка к ИИ</vt:lpstr>
      <vt:lpstr>4. Основные проблемы этики ИИ</vt:lpstr>
      <vt:lpstr>Bias (предвзятость)</vt:lpstr>
      <vt:lpstr>Откуда берётся Bias?</vt:lpstr>
      <vt:lpstr>Виды Bias в ИИ</vt:lpstr>
      <vt:lpstr>Почему Bias — это серьёзная проблема?</vt:lpstr>
      <vt:lpstr>Как бороться с Bias?</vt:lpstr>
      <vt:lpstr>Конфиденциальность</vt:lpstr>
      <vt:lpstr>ИИ и распознавание лиц</vt:lpstr>
      <vt:lpstr>Этические и социальные проблемы</vt:lpstr>
      <vt:lpstr>Правовые документы</vt:lpstr>
      <vt:lpstr>Этические дилеммы</vt:lpstr>
      <vt:lpstr>Автономность ИИ</vt:lpstr>
      <vt:lpstr>Этическая дилемма 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машинного обучения</dc:title>
  <dc:creator>Alex</dc:creator>
  <cp:lastModifiedBy>Константин Некрасов</cp:lastModifiedBy>
  <cp:revision>207</cp:revision>
  <dcterms:created xsi:type="dcterms:W3CDTF">2024-03-23T10:36:24Z</dcterms:created>
  <dcterms:modified xsi:type="dcterms:W3CDTF">2026-03-03T05:11:24Z</dcterms:modified>
</cp:coreProperties>
</file>