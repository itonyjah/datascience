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60" r:id="rId3"/>
    <p:sldId id="258" r:id="rId4"/>
    <p:sldId id="263" r:id="rId5"/>
    <p:sldId id="452" r:id="rId6"/>
    <p:sldId id="456" r:id="rId7"/>
    <p:sldId id="457" r:id="rId8"/>
    <p:sldId id="458" r:id="rId9"/>
    <p:sldId id="459" r:id="rId10"/>
    <p:sldId id="460" r:id="rId11"/>
    <p:sldId id="462" r:id="rId12"/>
    <p:sldId id="461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28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3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649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237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498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574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373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48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09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184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3970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203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368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48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627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61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8812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571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881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8600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 зеленое 1">
  <p:cSld name="Определение зеленое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38400" y="2602700"/>
            <a:ext cx="7154400" cy="3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592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7.1059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sigmaearth.com/ru/%D1%83%D0%B3%D0%BB%D0%B5%D1%80%D0%BE%D0%B4%D0%BD%D1%8B%D0%B9-%D1%81%D0%BB%D0%B5%D0%B4-%D1%87%D0%B0%D1%82%D0%B3%D0%BF%D1%82%D1%81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gscience.huggingface.c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iz.ru/1595973/alena-svetunkova/ii-svoe-vozmet-kak-neiroseti-pomogaiut-reshat-ekologicheskie-problemy" TargetMode="External"/><Relationship Id="rId4" Type="http://schemas.openxmlformats.org/officeDocument/2006/relationships/hyperlink" Target="https://www.unep.org/ru/novosti-i-istorii/istoriya/iskusstvennyy-intellekt-sozdaet-ekologicheskie-problemy-chto-my-mozhe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iomed.ru/blog/obzor-rossiiskikh-sistem-iskusstvennogo-intellekta-dlia-zdravookhraneniia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eg"/><Relationship Id="rId4" Type="http://schemas.openxmlformats.org/officeDocument/2006/relationships/hyperlink" Target="https://ecowiki.ru/ecovica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xapien.com/case-studies/leading-private-equity-firm-xapien-success-story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hyperlink" Target="https://huggingface.co/bigscience/bloom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hyperlink" Target="https://www.masakhane.io/" TargetMode="External"/><Relationship Id="rId4" Type="http://schemas.openxmlformats.org/officeDocument/2006/relationships/hyperlink" Target="https://aiforgood.itu.int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sovmash.com/node/348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dards.ieee.org/initiatives/autonomous-intelligence-systems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la.or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>
                <a:latin typeface="Verdana" panose="020B0604030504040204" pitchFamily="34" charset="0"/>
                <a:ea typeface="Verdana" panose="020B0604030504040204" pitchFamily="34" charset="0"/>
              </a:rPr>
              <a:t>Ведущий аналитик-исследователь  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4963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Устойчивое </a:t>
            </a:r>
            <a:r>
              <a:rPr lang="ru-RU" sz="2400">
                <a:latin typeface="Verdana" panose="020B0604030504040204" pitchFamily="34" charset="0"/>
                <a:ea typeface="Verdana" panose="020B0604030504040204" pitchFamily="34" charset="0"/>
              </a:rPr>
              <a:t>развитие ИИ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77" y="3067491"/>
            <a:ext cx="8570923" cy="165953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Модели корпоративной ответственности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sz="4000" dirty="0"/>
              <a:t>Зелёный ИИ (</a:t>
            </a:r>
            <a:r>
              <a:rPr lang="en-US" sz="4000" dirty="0"/>
              <a:t>Green AI)</a:t>
            </a:r>
            <a:endParaRPr lang="ru-RU" sz="4000"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подход к ИИ-исследованиям и разработке, при котором ставится цель минимизировать вычислительные и энергетические издержки, одновременно сохраняя или даже улучшая точность моделей.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sz="1400" dirty="0">
                <a:hlinkClick r:id="rId3"/>
              </a:rPr>
              <a:t>Green AI</a:t>
            </a:r>
            <a:endParaRPr lang="ru-RU" sz="14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4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Энергопотребление современных ИИ-моделей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97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GPT-3 (175B параметров):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обучение ≈ 1.287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ГВт·ч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энергии (сопоставимо с годовым потреблением 100+ домов в США).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BLOOM (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BigScience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):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коллективно обучалась с контролем углеродного следа.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ImageNet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vs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EfficientNet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развитие архитектур CNN показывает, что можно достичь той же точности в 10–100 раз меньшими затратами при грамотном дизайне.</a:t>
            </a:r>
          </a:p>
        </p:txBody>
      </p:sp>
      <p:pic>
        <p:nvPicPr>
          <p:cNvPr id="1026" name="Picture 2" descr="Социальная норма потребления электроэнергии и энергосберегающие пластиковые  окна">
            <a:extLst>
              <a:ext uri="{FF2B5EF4-FFF2-40B4-BE49-F238E27FC236}">
                <a16:creationId xmlns:a16="http://schemas.microsoft.com/office/drawing/2014/main" id="{FC21F3FA-2B3B-4772-87A8-6A8889915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0" y="1732254"/>
            <a:ext cx="4425782" cy="304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04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Энергоэффективность и экологическая цена 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347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Современные LLM, рекомендательные системы и модели генерации контента требуют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огромных вычислительных мощностей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что ведёт к: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росту потребления электричества,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увеличению углеродного следа,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необходимости постоянного охлаждения дата-центров,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неравномерному распределению доступа (большие корпорации обладают ресурсами, а университеты и NPO — нет).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33DB9E-C02D-42FD-BE4A-364150F4B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58" y="1486175"/>
            <a:ext cx="5291667" cy="396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12246-8820-4C0A-B05F-441027196023}"/>
              </a:ext>
            </a:extLst>
          </p:cNvPr>
          <p:cNvSpPr txBox="1"/>
          <p:nvPr/>
        </p:nvSpPr>
        <p:spPr>
          <a:xfrm>
            <a:off x="307975" y="6083300"/>
            <a:ext cx="301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Углеродный след </a:t>
            </a:r>
            <a:r>
              <a:rPr lang="en-US" dirty="0" err="1">
                <a:hlinkClick r:id="rId4"/>
              </a:rPr>
              <a:t>ChatGPT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62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Подходы к </a:t>
            </a: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энергооптимизации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50008"/>
            <a:ext cx="3813175" cy="267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Архитектурные инновации: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EfficientNet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MobileNet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компактные модели для мобильных устройств.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Switch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Transformers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/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Sparse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Mixture-of-Experts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активируют лишь часть параметров при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inference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→ меньше потребление.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BC4E2-2DB3-41E8-BD3A-BEDB763725B3}"/>
              </a:ext>
            </a:extLst>
          </p:cNvPr>
          <p:cNvSpPr txBox="1"/>
          <p:nvPr/>
        </p:nvSpPr>
        <p:spPr>
          <a:xfrm>
            <a:off x="4273550" y="1750008"/>
            <a:ext cx="3937000" cy="220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Тренировки с ограничениями: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Использование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early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stopping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меньшего количества эпох.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Transfer </a:t>
            </a:r>
            <a:r>
              <a:rPr lang="ru-RU" sz="16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learning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дообучение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вместо обучения с нуля.</a:t>
            </a:r>
          </a:p>
          <a:p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Few-shot / zero-shot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подходы в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LLM.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FF34E72-CB86-4A1A-9CD4-5857BE533604}"/>
              </a:ext>
            </a:extLst>
          </p:cNvPr>
          <p:cNvCxnSpPr/>
          <p:nvPr/>
        </p:nvCxnSpPr>
        <p:spPr>
          <a:xfrm>
            <a:off x="4210050" y="1641709"/>
            <a:ext cx="0" cy="2895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029851F-6847-4417-8E62-0011D75035E9}"/>
              </a:ext>
            </a:extLst>
          </p:cNvPr>
          <p:cNvCxnSpPr/>
          <p:nvPr/>
        </p:nvCxnSpPr>
        <p:spPr>
          <a:xfrm>
            <a:off x="8216900" y="1641709"/>
            <a:ext cx="0" cy="2895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D08737-B511-4070-9A3E-2B3673D07F97}"/>
              </a:ext>
            </a:extLst>
          </p:cNvPr>
          <p:cNvSpPr txBox="1"/>
          <p:nvPr/>
        </p:nvSpPr>
        <p:spPr>
          <a:xfrm>
            <a:off x="8274049" y="1750008"/>
            <a:ext cx="3614452" cy="264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Аппаратное ускорение: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Использование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TPU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Tensor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Processing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Units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от Google — более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энергоэффективны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чем традиционные GPU.</a:t>
            </a:r>
            <a:endParaRPr lang="en-US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Edge AI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перенос моделей ближе к устройствам → снижение сетевого трафика и нагрузок на сервер.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48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Роль Open Source в устойчивом 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Прозрачность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Повторное использование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Демократизация ИИ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Экосистемы совместной оптимизации</a:t>
            </a:r>
          </a:p>
        </p:txBody>
      </p:sp>
      <p:pic>
        <p:nvPicPr>
          <p:cNvPr id="3074" name="Picture 2" descr="Generative AI and Open Source Software Licenses | Jones Day">
            <a:extLst>
              <a:ext uri="{FF2B5EF4-FFF2-40B4-BE49-F238E27FC236}">
                <a16:creationId xmlns:a16="http://schemas.microsoft.com/office/drawing/2014/main" id="{8821C948-7977-4FB0-AF48-F945D6712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1787525"/>
            <a:ext cx="6565900" cy="328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0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BigScience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&amp; BLOOM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38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Большой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open-source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проект, обучивший LLM с минимально возможным углеродным следом.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Полный отчёт об экологическом воздействии: сколько энергии, какие дата-центры, как компенсировали выбросы CO₂.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Прозрачность архитектуры и обучающих данных.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4AABE-C4F6-4266-A12B-6193CFF0B657}"/>
              </a:ext>
            </a:extLst>
          </p:cNvPr>
          <p:cNvSpPr txBox="1"/>
          <p:nvPr/>
        </p:nvSpPr>
        <p:spPr>
          <a:xfrm>
            <a:off x="400050" y="606425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3"/>
              </a:rPr>
              <a:t>BigScience</a:t>
            </a:r>
            <a:r>
              <a:rPr lang="en-US" dirty="0">
                <a:hlinkClick r:id="rId3"/>
              </a:rPr>
              <a:t> Project</a:t>
            </a:r>
            <a:endParaRPr lang="ru-RU" dirty="0"/>
          </a:p>
        </p:txBody>
      </p:sp>
      <p:pic>
        <p:nvPicPr>
          <p:cNvPr id="4098" name="Picture 2" descr="BLOOM">
            <a:extLst>
              <a:ext uri="{FF2B5EF4-FFF2-40B4-BE49-F238E27FC236}">
                <a16:creationId xmlns:a16="http://schemas.microsoft.com/office/drawing/2014/main" id="{68B5883D-A8FC-409B-BB5C-5E0951013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2233904"/>
            <a:ext cx="5016629" cy="194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790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Этика и устойчивость: как это связано?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2030704"/>
            <a:ext cx="6284809" cy="119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Моральная обязанность минимизировать вред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Доступность ≠ эксплуатация ресурсов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Устойчивый ИИ ≠ зелёный ИИ только</a:t>
            </a:r>
          </a:p>
        </p:txBody>
      </p:sp>
      <p:pic>
        <p:nvPicPr>
          <p:cNvPr id="5122" name="Picture 2" descr="Мораль – Бесплатные иконки: разнообразный">
            <a:extLst>
              <a:ext uri="{FF2B5EF4-FFF2-40B4-BE49-F238E27FC236}">
                <a16:creationId xmlns:a16="http://schemas.microsoft.com/office/drawing/2014/main" id="{93B30164-9FFC-45BF-B28A-225010530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126365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73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sz="4000" dirty="0"/>
              <a:t>Этичный ИИ как общественное благо </a:t>
            </a:r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 такие технологии, которые создаются не ради прибыли, а ради пользы для общества; доступны, справедливы и инклюзивны; уважают права человека и экологические принципы; не усиливают неравенство, контроль и манипуляции.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sz="2133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74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Проблемы, мешающие ИИ быть общественным благом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2030704"/>
            <a:ext cx="6284809" cy="119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Централизация и монополизация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Коммерческая направленность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Отсутствие социальное подотчетности</a:t>
            </a:r>
          </a:p>
        </p:txBody>
      </p:sp>
      <p:pic>
        <p:nvPicPr>
          <p:cNvPr id="2050" name="Picture 2" descr="Передовые технологии во благо общества">
            <a:extLst>
              <a:ext uri="{FF2B5EF4-FFF2-40B4-BE49-F238E27FC236}">
                <a16:creationId xmlns:a16="http://schemas.microsoft.com/office/drawing/2014/main" id="{F32613AC-A0DD-49DF-B05E-BD9CEB64F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714" y="1585812"/>
            <a:ext cx="5769353" cy="384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285378-8646-45CC-93E4-16D7105419D0}"/>
              </a:ext>
            </a:extLst>
          </p:cNvPr>
          <p:cNvSpPr txBox="1"/>
          <p:nvPr/>
        </p:nvSpPr>
        <p:spPr>
          <a:xfrm>
            <a:off x="479999" y="5799726"/>
            <a:ext cx="441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Экологические проблемы вызванные ИИ</a:t>
            </a:r>
            <a:endParaRPr lang="ru-RU" dirty="0"/>
          </a:p>
          <a:p>
            <a:r>
              <a:rPr lang="ru-RU" dirty="0">
                <a:hlinkClick r:id="rId5"/>
              </a:rPr>
              <a:t>Вред от использования 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810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«Этичный ИИ как благо» на практике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531779" y="1540374"/>
            <a:ext cx="6284809" cy="39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Образование и наука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ACD08A-193F-4109-89AF-35E322783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9" y="2243433"/>
            <a:ext cx="5449738" cy="280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52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«Этичный ИИ как благо» на практике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557357" y="1361330"/>
            <a:ext cx="6284809" cy="39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Медицина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DF666-4058-4623-BADF-261FFCC5B134}"/>
              </a:ext>
            </a:extLst>
          </p:cNvPr>
          <p:cNvSpPr txBox="1"/>
          <p:nvPr/>
        </p:nvSpPr>
        <p:spPr>
          <a:xfrm>
            <a:off x="155575" y="6135185"/>
            <a:ext cx="609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Российские системы ИИ для здравоохранения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C4CDEC0-CB24-4B31-8CC4-C8451F1D6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687" y="1760285"/>
            <a:ext cx="5976626" cy="4267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01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«Этичный ИИ как благо» на практике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557357" y="1361330"/>
            <a:ext cx="6284809" cy="39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Экология и устойчивое развитие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50DFBC-38B2-48E8-B5D3-73243226308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20" y="1968852"/>
            <a:ext cx="1933845" cy="800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EEF1B-93BB-4207-844D-EF7E6AD9B14A}"/>
              </a:ext>
            </a:extLst>
          </p:cNvPr>
          <p:cNvSpPr txBox="1"/>
          <p:nvPr/>
        </p:nvSpPr>
        <p:spPr>
          <a:xfrm>
            <a:off x="557357" y="2977631"/>
            <a:ext cx="100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hlinkClick r:id="rId4"/>
              </a:rPr>
              <a:t>Эковики</a:t>
            </a:r>
            <a:endParaRPr lang="ru-RU" dirty="0"/>
          </a:p>
        </p:txBody>
      </p:sp>
      <p:pic>
        <p:nvPicPr>
          <p:cNvPr id="4098" name="Picture 2" descr="IBM Green Horizon — Korad.co">
            <a:extLst>
              <a:ext uri="{FF2B5EF4-FFF2-40B4-BE49-F238E27FC236}">
                <a16:creationId xmlns:a16="http://schemas.microsoft.com/office/drawing/2014/main" id="{D693B638-9700-4E9C-A084-7EB5BB705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561" y="2202363"/>
            <a:ext cx="6240218" cy="351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607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«Этичный ИИ как благо» на практике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557357" y="1361330"/>
            <a:ext cx="6284809" cy="39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Гражданское участие и права человека</a:t>
            </a:r>
          </a:p>
        </p:txBody>
      </p:sp>
      <p:pic>
        <p:nvPicPr>
          <p:cNvPr id="5122" name="Picture 2" descr="__wf_reserved_inherit">
            <a:extLst>
              <a:ext uri="{FF2B5EF4-FFF2-40B4-BE49-F238E27FC236}">
                <a16:creationId xmlns:a16="http://schemas.microsoft.com/office/drawing/2014/main" id="{A283964F-93E6-42B0-88BC-4577B8D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155" y="1560807"/>
            <a:ext cx="6576609" cy="483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BA8498-F103-4344-B711-3B6B3A12C4E0}"/>
              </a:ext>
            </a:extLst>
          </p:cNvPr>
          <p:cNvSpPr txBox="1"/>
          <p:nvPr/>
        </p:nvSpPr>
        <p:spPr>
          <a:xfrm>
            <a:off x="883472" y="5857275"/>
            <a:ext cx="130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4"/>
              </a:rPr>
              <a:t>Xapien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0509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Условия, при которых ИИ становится общественным благом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203070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Открытость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Инклюзивность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Защита прав человека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Ответственность и подотчетность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Передовые практики и пути совершенствования: как использовать зарубежный  опыт национальных систем защиты прав человека - HSE Daily">
            <a:extLst>
              <a:ext uri="{FF2B5EF4-FFF2-40B4-BE49-F238E27FC236}">
                <a16:creationId xmlns:a16="http://schemas.microsoft.com/office/drawing/2014/main" id="{CBF80DEA-3F7E-4E1A-8827-9A3BEB772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705" y="1587508"/>
            <a:ext cx="6733320" cy="466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284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Кейсы и инициативы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2030704"/>
            <a:ext cx="6284809" cy="279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BigScience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&amp; 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BLOOM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AI for Good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(ITU, ООН)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5"/>
              </a:rPr>
              <a:t>Masakhane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5"/>
              </a:rPr>
              <a:t> Project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BigScience Logo">
            <a:extLst>
              <a:ext uri="{FF2B5EF4-FFF2-40B4-BE49-F238E27FC236}">
                <a16:creationId xmlns:a16="http://schemas.microsoft.com/office/drawing/2014/main" id="{075DD424-7245-4A4B-A3CE-052F6D85C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442" y="1509394"/>
            <a:ext cx="3840684" cy="118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B2AE1B-334E-4543-8425-748E422B27D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2442" y="3176158"/>
            <a:ext cx="2578621" cy="656973"/>
          </a:xfrm>
          <a:prstGeom prst="rect">
            <a:avLst/>
          </a:prstGeom>
        </p:spPr>
      </p:pic>
      <p:pic>
        <p:nvPicPr>
          <p:cNvPr id="7172" name="Picture 4" descr="Masakhane -- Machine Translation For Africa | InstaDeep - Decision-Making  AI For The Enterprise">
            <a:extLst>
              <a:ext uri="{FF2B5EF4-FFF2-40B4-BE49-F238E27FC236}">
                <a16:creationId xmlns:a16="http://schemas.microsoft.com/office/drawing/2014/main" id="{9D791FF1-2B3B-4F5E-A510-60BC2A137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442" y="4112582"/>
            <a:ext cx="4270696" cy="165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673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Глобальные этические принципы</a:t>
            </a:r>
            <a:b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C203D2A-27EE-4C1B-97DC-98D5264130BE}"/>
              </a:ext>
            </a:extLst>
          </p:cNvPr>
          <p:cNvSpPr/>
          <p:nvPr/>
        </p:nvSpPr>
        <p:spPr>
          <a:xfrm>
            <a:off x="1931110" y="2525790"/>
            <a:ext cx="1975872" cy="1202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Asilomar</a:t>
            </a:r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DDD2859-F458-43EF-A40D-C3468204E99C}"/>
              </a:ext>
            </a:extLst>
          </p:cNvPr>
          <p:cNvSpPr/>
          <p:nvPr/>
        </p:nvSpPr>
        <p:spPr>
          <a:xfrm>
            <a:off x="4999359" y="2525790"/>
            <a:ext cx="1975872" cy="1202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E869CC0-8B90-4D4E-815D-886F70DADB02}"/>
              </a:ext>
            </a:extLst>
          </p:cNvPr>
          <p:cNvSpPr/>
          <p:nvPr/>
        </p:nvSpPr>
        <p:spPr>
          <a:xfrm>
            <a:off x="8285018" y="2525790"/>
            <a:ext cx="1975872" cy="12021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IFLA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03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pt-BR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Принципы Asilomar </a:t>
            </a:r>
            <a:b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BR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(Asilomar AI Principles)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2030704"/>
            <a:ext cx="6284809" cy="258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Приняты в январе 2017 года на конференции "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Beneficial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AI" в городе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Асимомар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Калифорния.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Включает 23 принципа, сгруппированных по 3 категориям: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1. Исследования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2. Этика и ценности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3. Долгосрочные вопросы</a:t>
            </a:r>
          </a:p>
        </p:txBody>
      </p:sp>
      <p:pic>
        <p:nvPicPr>
          <p:cNvPr id="8194" name="Picture 2" descr="ASILOMAR AI PRINCIPLES | FOLI | SATYAVEDISM">
            <a:extLst>
              <a:ext uri="{FF2B5EF4-FFF2-40B4-BE49-F238E27FC236}">
                <a16:creationId xmlns:a16="http://schemas.microsoft.com/office/drawing/2014/main" id="{D6B6795C-0A69-4CAB-AEA5-3F870BBA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658" y="0"/>
            <a:ext cx="58613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B5B281-83DD-4291-AF65-0D5395B2BF22}"/>
              </a:ext>
            </a:extLst>
          </p:cNvPr>
          <p:cNvSpPr txBox="1"/>
          <p:nvPr/>
        </p:nvSpPr>
        <p:spPr>
          <a:xfrm>
            <a:off x="307975" y="5985163"/>
            <a:ext cx="338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23 принципа </a:t>
            </a:r>
            <a:r>
              <a:rPr lang="ru-RU" dirty="0" err="1">
                <a:hlinkClick r:id="rId4"/>
              </a:rPr>
              <a:t>Асиломара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485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IEEE Ethically Aligned Design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218453" y="1122699"/>
            <a:ext cx="6284809" cy="567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IEEE (Institute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of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Electrical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and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Electronics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Engineers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)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крупнейшая международная техническая организация, насчитывающая более 400 000 участников.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Основные ценности: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Человеческое благополучие (Human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Wellbeing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Ответственность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Прозрачность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Права и свободы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Непредвзятость и справедливость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Инклюзивность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Согласие и автономия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Экологическая устойчивость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13E7AB-6920-4206-9107-310EFACB7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340" y="2234847"/>
            <a:ext cx="7117660" cy="462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13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IFLA Principles on AI and Data Ethics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479999" y="1493575"/>
            <a:ext cx="6284809" cy="331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IFLA</a:t>
            </a:r>
            <a:r>
              <a:rPr lang="en-US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(International Federation of Library Associations and Institutions) 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глобальная федерация библиотек, архивов и информационных организаций.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Ключевые принципы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Открытость информации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Цифровая инклюзия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Алгоритмическая справедливость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Цифровая грамотность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IFLA - International Federation of Library Associations and Institutions">
            <a:extLst>
              <a:ext uri="{FF2B5EF4-FFF2-40B4-BE49-F238E27FC236}">
                <a16:creationId xmlns:a16="http://schemas.microsoft.com/office/drawing/2014/main" id="{D256644A-B1D1-4DF7-922F-DCF6B6A0A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0" y="1493575"/>
            <a:ext cx="179070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42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</TotalTime>
  <Words>648</Words>
  <Application>Microsoft Office PowerPoint</Application>
  <PresentationFormat>Широкоэкранный</PresentationFormat>
  <Paragraphs>116</Paragraphs>
  <Slides>23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Montserrat</vt:lpstr>
      <vt:lpstr>Symbol</vt:lpstr>
      <vt:lpstr>Times New Roman</vt:lpstr>
      <vt:lpstr>Verdana</vt:lpstr>
      <vt:lpstr>Тема Office</vt:lpstr>
      <vt:lpstr>Этика Искусственного Интеллекта </vt:lpstr>
      <vt:lpstr>План занятия</vt:lpstr>
      <vt:lpstr>1. Модели корпоративной ответственности </vt:lpstr>
      <vt:lpstr>Зелёный ИИ (Green AI)</vt:lpstr>
      <vt:lpstr>Энергопотребление современных ИИ-моделей</vt:lpstr>
      <vt:lpstr>Энергоэффективность и экологическая цена ИИ</vt:lpstr>
      <vt:lpstr>Подходы к энергооптимизации</vt:lpstr>
      <vt:lpstr>Роль Open Source в устойчивом ИИ</vt:lpstr>
      <vt:lpstr>BigScience &amp; BLOOM</vt:lpstr>
      <vt:lpstr>Этика и устойчивость: как это связано?</vt:lpstr>
      <vt:lpstr>Этичный ИИ как общественное благо </vt:lpstr>
      <vt:lpstr>Проблемы, мешающие ИИ быть общественным благом</vt:lpstr>
      <vt:lpstr>«Этичный ИИ как благо» на практике</vt:lpstr>
      <vt:lpstr>«Этичный ИИ как благо» на практике</vt:lpstr>
      <vt:lpstr>«Этичный ИИ как благо» на практике</vt:lpstr>
      <vt:lpstr>«Этичный ИИ как благо» на практике</vt:lpstr>
      <vt:lpstr>Условия, при которых ИИ становится общественным благом</vt:lpstr>
      <vt:lpstr>Кейсы и инициативы</vt:lpstr>
      <vt:lpstr>Глобальные этические принципы </vt:lpstr>
      <vt:lpstr>Принципы Asilomar  (Asilomar AI Principles)</vt:lpstr>
      <vt:lpstr>IEEE Ethically Aligned Design</vt:lpstr>
      <vt:lpstr>IFLA Principles on AI and Data Ethics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370</cp:revision>
  <dcterms:created xsi:type="dcterms:W3CDTF">2024-03-23T10:36:24Z</dcterms:created>
  <dcterms:modified xsi:type="dcterms:W3CDTF">2026-03-03T05:12:18Z</dcterms:modified>
</cp:coreProperties>
</file>